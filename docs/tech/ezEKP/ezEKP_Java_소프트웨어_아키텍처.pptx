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4660"/>
  </p:normalViewPr>
  <p:slideViewPr>
    <p:cSldViewPr snapToGrid="0">
      <p:cViewPr>
        <p:scale>
          <a:sx n="100" d="100"/>
          <a:sy n="100" d="100"/>
        </p:scale>
        <p:origin x="-36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D39D6-A52C-4F37-A7DA-0238A468EFEB}" type="datetimeFigureOut">
              <a:rPr lang="ko-KR" altLang="en-US" smtClean="0"/>
              <a:t>2018-12-17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61A8A-A701-406C-A18E-0AE6BB1F02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900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D39D6-A52C-4F37-A7DA-0238A468EFEB}" type="datetimeFigureOut">
              <a:rPr lang="ko-KR" altLang="en-US" smtClean="0"/>
              <a:t>2018-12-17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61A8A-A701-406C-A18E-0AE6BB1F02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485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D39D6-A52C-4F37-A7DA-0238A468EFEB}" type="datetimeFigureOut">
              <a:rPr lang="ko-KR" altLang="en-US" smtClean="0"/>
              <a:t>2018-12-17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61A8A-A701-406C-A18E-0AE6BB1F02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1543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D39D6-A52C-4F37-A7DA-0238A468EFEB}" type="datetimeFigureOut">
              <a:rPr lang="ko-KR" altLang="en-US" smtClean="0"/>
              <a:t>2018-12-17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61A8A-A701-406C-A18E-0AE6BB1F02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8080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D39D6-A52C-4F37-A7DA-0238A468EFEB}" type="datetimeFigureOut">
              <a:rPr lang="ko-KR" altLang="en-US" smtClean="0"/>
              <a:t>2018-12-17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61A8A-A701-406C-A18E-0AE6BB1F02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8740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D39D6-A52C-4F37-A7DA-0238A468EFEB}" type="datetimeFigureOut">
              <a:rPr lang="ko-KR" altLang="en-US" smtClean="0"/>
              <a:t>2018-12-17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61A8A-A701-406C-A18E-0AE6BB1F02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0842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D39D6-A52C-4F37-A7DA-0238A468EFEB}" type="datetimeFigureOut">
              <a:rPr lang="ko-KR" altLang="en-US" smtClean="0"/>
              <a:t>2018-12-17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61A8A-A701-406C-A18E-0AE6BB1F02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0408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D39D6-A52C-4F37-A7DA-0238A468EFEB}" type="datetimeFigureOut">
              <a:rPr lang="ko-KR" altLang="en-US" smtClean="0"/>
              <a:t>2018-12-17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61A8A-A701-406C-A18E-0AE6BB1F02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73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D39D6-A52C-4F37-A7DA-0238A468EFEB}" type="datetimeFigureOut">
              <a:rPr lang="ko-KR" altLang="en-US" smtClean="0"/>
              <a:t>2018-12-17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61A8A-A701-406C-A18E-0AE6BB1F02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9438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D39D6-A52C-4F37-A7DA-0238A468EFEB}" type="datetimeFigureOut">
              <a:rPr lang="ko-KR" altLang="en-US" smtClean="0"/>
              <a:t>2018-12-17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61A8A-A701-406C-A18E-0AE6BB1F02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597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D39D6-A52C-4F37-A7DA-0238A468EFEB}" type="datetimeFigureOut">
              <a:rPr lang="ko-KR" altLang="en-US" smtClean="0"/>
              <a:t>2018-12-17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61A8A-A701-406C-A18E-0AE6BB1F02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08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DD39D6-A52C-4F37-A7DA-0238A468EFEB}" type="datetimeFigureOut">
              <a:rPr lang="ko-KR" altLang="en-US" smtClean="0"/>
              <a:t>2018-12-17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61A8A-A701-406C-A18E-0AE6BB1F02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793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1143000" y="692698"/>
            <a:ext cx="9906000" cy="5582165"/>
          </a:xfrm>
          <a:prstGeom prst="rect">
            <a:avLst/>
          </a:prstGeom>
          <a:solidFill>
            <a:srgbClr val="99CC00">
              <a:alpha val="20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tIns="0" anchor="ctr"/>
          <a:lstStyle/>
          <a:p>
            <a:endParaRPr lang="ko-KR" altLang="en-US" dirty="0"/>
          </a:p>
        </p:txBody>
      </p:sp>
      <p:sp>
        <p:nvSpPr>
          <p:cNvPr id="61" name="Rectangle 42"/>
          <p:cNvSpPr>
            <a:spLocks noChangeArrowheads="1"/>
          </p:cNvSpPr>
          <p:nvPr/>
        </p:nvSpPr>
        <p:spPr bwMode="auto">
          <a:xfrm>
            <a:off x="3099738" y="842786"/>
            <a:ext cx="2996262" cy="1091614"/>
          </a:xfrm>
          <a:prstGeom prst="rect">
            <a:avLst/>
          </a:prstGeom>
          <a:solidFill>
            <a:srgbClr val="99CC00">
              <a:alpha val="20000"/>
            </a:srgbClr>
          </a:solidFill>
          <a:ln w="9525">
            <a:solidFill>
              <a:srgbClr val="99CC00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endParaRPr lang="ko-KR" altLang="en-US"/>
          </a:p>
        </p:txBody>
      </p:sp>
      <p:sp>
        <p:nvSpPr>
          <p:cNvPr id="29" name="Rectangle 53"/>
          <p:cNvSpPr>
            <a:spLocks noChangeArrowheads="1"/>
          </p:cNvSpPr>
          <p:nvPr/>
        </p:nvSpPr>
        <p:spPr bwMode="auto">
          <a:xfrm>
            <a:off x="8436260" y="4934697"/>
            <a:ext cx="2262252" cy="648000"/>
          </a:xfrm>
          <a:prstGeom prst="rect">
            <a:avLst/>
          </a:prstGeom>
          <a:solidFill>
            <a:srgbClr val="99CC00">
              <a:alpha val="30196"/>
            </a:srgbClr>
          </a:solidFill>
          <a:ln w="9525">
            <a:solidFill>
              <a:srgbClr val="808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/>
          </a:p>
        </p:txBody>
      </p:sp>
      <p:sp>
        <p:nvSpPr>
          <p:cNvPr id="9" name="Rectangle 26"/>
          <p:cNvSpPr>
            <a:spLocks noChangeArrowheads="1"/>
          </p:cNvSpPr>
          <p:nvPr/>
        </p:nvSpPr>
        <p:spPr bwMode="auto">
          <a:xfrm>
            <a:off x="1143000" y="6252769"/>
            <a:ext cx="9906000" cy="416593"/>
          </a:xfrm>
          <a:prstGeom prst="rect">
            <a:avLst/>
          </a:prstGeom>
          <a:solidFill>
            <a:srgbClr val="99CC00">
              <a:alpha val="30196"/>
            </a:srgbClr>
          </a:solidFill>
          <a:ln w="9525">
            <a:noFill/>
            <a:miter lim="800000"/>
            <a:headEnd/>
            <a:tailEnd/>
          </a:ln>
        </p:spPr>
        <p:txBody>
          <a:bodyPr wrap="none" tIns="0" anchor="ctr"/>
          <a:lstStyle/>
          <a:p>
            <a:endParaRPr lang="ko-KR" altLang="en-US"/>
          </a:p>
        </p:txBody>
      </p:sp>
      <p:sp>
        <p:nvSpPr>
          <p:cNvPr id="10" name="Text Box 28"/>
          <p:cNvSpPr txBox="1">
            <a:spLocks noChangeArrowheads="1"/>
          </p:cNvSpPr>
          <p:nvPr/>
        </p:nvSpPr>
        <p:spPr bwMode="auto">
          <a:xfrm>
            <a:off x="2603581" y="6357943"/>
            <a:ext cx="6846793" cy="25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551" tIns="0" rIns="99551" bIns="49777">
            <a:spAutoFit/>
          </a:bodyPr>
          <a:lstStyle/>
          <a:p>
            <a:pPr algn="ctr" defTabSz="995363">
              <a:spcBef>
                <a:spcPct val="0"/>
              </a:spcBef>
            </a:pPr>
            <a:r>
              <a:rPr lang="en-US" altLang="ko-KR" sz="1300" b="1" dirty="0" smtClean="0"/>
              <a:t>CentOS(or RHEL) 7</a:t>
            </a:r>
            <a:r>
              <a:rPr lang="en-US" altLang="ko-KR" sz="1300" b="1" dirty="0" smtClean="0"/>
              <a:t> </a:t>
            </a:r>
            <a:r>
              <a:rPr lang="en-US" altLang="ko-KR" sz="1300" b="1" dirty="0"/>
              <a:t>or Later(64bit only)</a:t>
            </a:r>
          </a:p>
        </p:txBody>
      </p:sp>
      <p:sp>
        <p:nvSpPr>
          <p:cNvPr id="11" name="Rectangle 38"/>
          <p:cNvSpPr>
            <a:spLocks noChangeArrowheads="1"/>
          </p:cNvSpPr>
          <p:nvPr/>
        </p:nvSpPr>
        <p:spPr bwMode="auto">
          <a:xfrm>
            <a:off x="1143000" y="404664"/>
            <a:ext cx="9906000" cy="288032"/>
          </a:xfrm>
          <a:prstGeom prst="rect">
            <a:avLst/>
          </a:prstGeom>
          <a:solidFill>
            <a:srgbClr val="99CCFF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tIns="0" anchor="ctr"/>
          <a:lstStyle/>
          <a:p>
            <a:endParaRPr lang="ko-KR" altLang="en-US"/>
          </a:p>
        </p:txBody>
      </p:sp>
      <p:sp>
        <p:nvSpPr>
          <p:cNvPr id="12" name="Text Box 39"/>
          <p:cNvSpPr txBox="1">
            <a:spLocks noChangeArrowheads="1"/>
          </p:cNvSpPr>
          <p:nvPr/>
        </p:nvSpPr>
        <p:spPr bwMode="auto">
          <a:xfrm>
            <a:off x="4468671" y="442378"/>
            <a:ext cx="3315177" cy="25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551" tIns="0" rIns="99551" bIns="49777">
            <a:spAutoFit/>
          </a:bodyPr>
          <a:lstStyle/>
          <a:p>
            <a:pPr defTabSz="995363">
              <a:spcBef>
                <a:spcPct val="0"/>
              </a:spcBef>
            </a:pPr>
            <a:r>
              <a:rPr lang="ko-KR" altLang="en-US" sz="1300" b="1" dirty="0"/>
              <a:t>웹 브라우저</a:t>
            </a:r>
            <a:r>
              <a:rPr lang="en-US" altLang="ko-KR" sz="1300" b="1" dirty="0"/>
              <a:t>(IE </a:t>
            </a:r>
            <a:r>
              <a:rPr lang="en-US" altLang="ko-KR" sz="1300" b="1" dirty="0" smtClean="0"/>
              <a:t>10, IE 11, Chrome, Safari)</a:t>
            </a:r>
            <a:endParaRPr lang="en-US" altLang="ko-KR" sz="1300" b="1" dirty="0"/>
          </a:p>
        </p:txBody>
      </p:sp>
      <p:sp>
        <p:nvSpPr>
          <p:cNvPr id="15" name="Rectangle 46"/>
          <p:cNvSpPr>
            <a:spLocks noChangeArrowheads="1"/>
          </p:cNvSpPr>
          <p:nvPr/>
        </p:nvSpPr>
        <p:spPr bwMode="auto">
          <a:xfrm>
            <a:off x="7104864" y="836714"/>
            <a:ext cx="2574512" cy="1107459"/>
          </a:xfrm>
          <a:prstGeom prst="rect">
            <a:avLst/>
          </a:prstGeom>
          <a:solidFill>
            <a:srgbClr val="99CC00">
              <a:alpha val="20000"/>
            </a:srgbClr>
          </a:solidFill>
          <a:ln w="9525">
            <a:solidFill>
              <a:srgbClr val="99CC00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endParaRPr lang="ko-KR" altLang="en-US"/>
          </a:p>
        </p:txBody>
      </p:sp>
      <p:sp>
        <p:nvSpPr>
          <p:cNvPr id="16" name="Rectangle 53"/>
          <p:cNvSpPr>
            <a:spLocks noChangeArrowheads="1"/>
          </p:cNvSpPr>
          <p:nvPr/>
        </p:nvSpPr>
        <p:spPr bwMode="auto">
          <a:xfrm>
            <a:off x="7182873" y="1135193"/>
            <a:ext cx="2389165" cy="673058"/>
          </a:xfrm>
          <a:prstGeom prst="rect">
            <a:avLst/>
          </a:prstGeom>
          <a:solidFill>
            <a:srgbClr val="99CC00">
              <a:alpha val="30196"/>
            </a:srgbClr>
          </a:solidFill>
          <a:ln w="9525">
            <a:solidFill>
              <a:srgbClr val="808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17" name="Text Box 55"/>
          <p:cNvSpPr txBox="1">
            <a:spLocks noChangeArrowheads="1"/>
          </p:cNvSpPr>
          <p:nvPr/>
        </p:nvSpPr>
        <p:spPr bwMode="auto">
          <a:xfrm>
            <a:off x="7572916" y="884875"/>
            <a:ext cx="2184243" cy="25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551" tIns="0" rIns="99551" bIns="49777">
            <a:spAutoFit/>
          </a:bodyPr>
          <a:lstStyle/>
          <a:p>
            <a:pPr defTabSz="995363">
              <a:spcBef>
                <a:spcPct val="0"/>
              </a:spcBef>
            </a:pPr>
            <a:r>
              <a:rPr lang="en-US" altLang="ko-KR" sz="1300" b="1" dirty="0" smtClean="0"/>
              <a:t>MariaDB or Oracle</a:t>
            </a:r>
            <a:endParaRPr lang="ko-KR" altLang="en-US" sz="13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143001" y="0"/>
            <a:ext cx="2573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소프트웨어 </a:t>
            </a:r>
            <a:r>
              <a:rPr lang="ko-KR" altLang="en-US" b="1" dirty="0" smtClean="0"/>
              <a:t>아키텍</a:t>
            </a:r>
            <a:r>
              <a:rPr lang="ko-KR" altLang="en-US" b="1" dirty="0"/>
              <a:t>처</a:t>
            </a:r>
            <a:endParaRPr lang="ko-KR" altLang="en-US" b="1" dirty="0"/>
          </a:p>
        </p:txBody>
      </p:sp>
      <p:sp>
        <p:nvSpPr>
          <p:cNvPr id="25" name="Rectangle 46"/>
          <p:cNvSpPr>
            <a:spLocks noChangeArrowheads="1"/>
          </p:cNvSpPr>
          <p:nvPr/>
        </p:nvSpPr>
        <p:spPr bwMode="auto">
          <a:xfrm>
            <a:off x="1144272" y="5733256"/>
            <a:ext cx="9632248" cy="465536"/>
          </a:xfrm>
          <a:prstGeom prst="rect">
            <a:avLst/>
          </a:prstGeom>
          <a:solidFill>
            <a:srgbClr val="99CC00">
              <a:alpha val="20000"/>
            </a:srgbClr>
          </a:solidFill>
          <a:ln w="9525">
            <a:solidFill>
              <a:srgbClr val="99CC00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endParaRPr lang="ko-KR" altLang="en-US"/>
          </a:p>
        </p:txBody>
      </p:sp>
      <p:sp>
        <p:nvSpPr>
          <p:cNvPr id="26" name="Rectangle 53"/>
          <p:cNvSpPr>
            <a:spLocks noChangeArrowheads="1"/>
          </p:cNvSpPr>
          <p:nvPr/>
        </p:nvSpPr>
        <p:spPr bwMode="auto">
          <a:xfrm>
            <a:off x="1259464" y="5805266"/>
            <a:ext cx="9439049" cy="359967"/>
          </a:xfrm>
          <a:prstGeom prst="rect">
            <a:avLst/>
          </a:prstGeom>
          <a:solidFill>
            <a:srgbClr val="99CC00">
              <a:alpha val="30196"/>
            </a:srgbClr>
          </a:solidFill>
          <a:ln w="9525">
            <a:solidFill>
              <a:srgbClr val="808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/>
          </a:p>
        </p:txBody>
      </p:sp>
      <p:sp>
        <p:nvSpPr>
          <p:cNvPr id="28" name="Rectangle 46"/>
          <p:cNvSpPr>
            <a:spLocks noChangeArrowheads="1"/>
          </p:cNvSpPr>
          <p:nvPr/>
        </p:nvSpPr>
        <p:spPr bwMode="auto">
          <a:xfrm>
            <a:off x="1143001" y="4797152"/>
            <a:ext cx="9617255" cy="936104"/>
          </a:xfrm>
          <a:prstGeom prst="rect">
            <a:avLst/>
          </a:prstGeom>
          <a:solidFill>
            <a:srgbClr val="99CC00">
              <a:alpha val="20000"/>
            </a:srgbClr>
          </a:solidFill>
          <a:ln w="9525">
            <a:solidFill>
              <a:srgbClr val="99CC00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endParaRPr lang="ko-KR" altLang="en-US"/>
          </a:p>
        </p:txBody>
      </p:sp>
      <p:sp>
        <p:nvSpPr>
          <p:cNvPr id="31" name="Rectangle 53"/>
          <p:cNvSpPr>
            <a:spLocks noChangeArrowheads="1"/>
          </p:cNvSpPr>
          <p:nvPr/>
        </p:nvSpPr>
        <p:spPr bwMode="auto">
          <a:xfrm>
            <a:off x="6469835" y="4934697"/>
            <a:ext cx="1878098" cy="648000"/>
          </a:xfrm>
          <a:prstGeom prst="rect">
            <a:avLst/>
          </a:prstGeom>
          <a:solidFill>
            <a:srgbClr val="99CC00">
              <a:alpha val="30196"/>
            </a:srgbClr>
          </a:solidFill>
          <a:ln w="9525">
            <a:solidFill>
              <a:srgbClr val="808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/>
          </a:p>
        </p:txBody>
      </p:sp>
      <p:sp>
        <p:nvSpPr>
          <p:cNvPr id="32" name="Text Box 55"/>
          <p:cNvSpPr txBox="1">
            <a:spLocks noChangeArrowheads="1"/>
          </p:cNvSpPr>
          <p:nvPr/>
        </p:nvSpPr>
        <p:spPr bwMode="auto">
          <a:xfrm>
            <a:off x="6573198" y="5076977"/>
            <a:ext cx="1667850" cy="450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551" tIns="0" rIns="99551" bIns="49777">
            <a:spAutoFit/>
          </a:bodyPr>
          <a:lstStyle/>
          <a:p>
            <a:pPr algn="ctr" defTabSz="995363">
              <a:spcBef>
                <a:spcPct val="0"/>
              </a:spcBef>
            </a:pPr>
            <a:r>
              <a:rPr lang="en-US" altLang="ko-KR" sz="1300" b="1" dirty="0" smtClean="0"/>
              <a:t>JDBC</a:t>
            </a:r>
          </a:p>
          <a:p>
            <a:pPr algn="ctr" defTabSz="995363">
              <a:spcBef>
                <a:spcPct val="0"/>
              </a:spcBef>
            </a:pPr>
            <a:r>
              <a:rPr lang="en-US" altLang="ko-KR" sz="1300" b="1" dirty="0" smtClean="0"/>
              <a:t>Database Access</a:t>
            </a:r>
            <a:endParaRPr lang="ko-KR" altLang="en-US" sz="1300" b="1" dirty="0"/>
          </a:p>
        </p:txBody>
      </p:sp>
      <p:sp>
        <p:nvSpPr>
          <p:cNvPr id="33" name="Rectangle 53"/>
          <p:cNvSpPr>
            <a:spLocks noChangeArrowheads="1"/>
          </p:cNvSpPr>
          <p:nvPr/>
        </p:nvSpPr>
        <p:spPr bwMode="auto">
          <a:xfrm>
            <a:off x="4613836" y="4934697"/>
            <a:ext cx="1778882" cy="648000"/>
          </a:xfrm>
          <a:prstGeom prst="rect">
            <a:avLst/>
          </a:prstGeom>
          <a:solidFill>
            <a:srgbClr val="99CC00">
              <a:alpha val="30196"/>
            </a:srgbClr>
          </a:solidFill>
          <a:ln w="9525">
            <a:solidFill>
              <a:srgbClr val="808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/>
          </a:p>
        </p:txBody>
      </p:sp>
      <p:sp>
        <p:nvSpPr>
          <p:cNvPr id="34" name="Text Box 55"/>
          <p:cNvSpPr txBox="1">
            <a:spLocks noChangeArrowheads="1"/>
          </p:cNvSpPr>
          <p:nvPr/>
        </p:nvSpPr>
        <p:spPr bwMode="auto">
          <a:xfrm>
            <a:off x="4698807" y="5087212"/>
            <a:ext cx="1610582" cy="450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551" tIns="0" rIns="99551" bIns="49777">
            <a:spAutoFit/>
          </a:bodyPr>
          <a:lstStyle/>
          <a:p>
            <a:pPr algn="ctr" defTabSz="995363">
              <a:spcBef>
                <a:spcPct val="0"/>
              </a:spcBef>
            </a:pPr>
            <a:r>
              <a:rPr lang="en-US" altLang="ko-KR" sz="1300" b="1" dirty="0" smtClean="0"/>
              <a:t>JPA ORM</a:t>
            </a:r>
          </a:p>
          <a:p>
            <a:pPr algn="ctr" defTabSz="995363">
              <a:spcBef>
                <a:spcPct val="0"/>
              </a:spcBef>
            </a:pPr>
            <a:r>
              <a:rPr lang="en-US" altLang="ko-KR" sz="1300" b="1" dirty="0" smtClean="0"/>
              <a:t>(Object Relational)</a:t>
            </a:r>
          </a:p>
        </p:txBody>
      </p:sp>
      <p:sp>
        <p:nvSpPr>
          <p:cNvPr id="13" name="Rectangle 42"/>
          <p:cNvSpPr>
            <a:spLocks noChangeArrowheads="1"/>
          </p:cNvSpPr>
          <p:nvPr/>
        </p:nvSpPr>
        <p:spPr bwMode="auto">
          <a:xfrm>
            <a:off x="6573198" y="2345780"/>
            <a:ext cx="4187058" cy="2406249"/>
          </a:xfrm>
          <a:prstGeom prst="rect">
            <a:avLst/>
          </a:prstGeom>
          <a:solidFill>
            <a:srgbClr val="99CC00">
              <a:alpha val="20000"/>
            </a:srgbClr>
          </a:solidFill>
          <a:ln w="9525">
            <a:solidFill>
              <a:srgbClr val="99CC00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endParaRPr lang="ko-KR" altLang="en-US"/>
          </a:p>
        </p:txBody>
      </p:sp>
      <p:sp>
        <p:nvSpPr>
          <p:cNvPr id="14" name="AutoShape 43"/>
          <p:cNvSpPr>
            <a:spLocks noChangeArrowheads="1"/>
          </p:cNvSpPr>
          <p:nvPr/>
        </p:nvSpPr>
        <p:spPr bwMode="auto">
          <a:xfrm>
            <a:off x="6975174" y="3457800"/>
            <a:ext cx="1625275" cy="426658"/>
          </a:xfrm>
          <a:prstGeom prst="roundRect">
            <a:avLst>
              <a:gd name="adj" fmla="val 16667"/>
            </a:avLst>
          </a:prstGeom>
          <a:solidFill>
            <a:srgbClr val="C0E5A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9551" tIns="0" rIns="99551" bIns="49777" anchor="ctr"/>
          <a:lstStyle/>
          <a:p>
            <a:pPr algn="ctr" defTabSz="995363">
              <a:spcBef>
                <a:spcPct val="0"/>
              </a:spcBef>
            </a:pPr>
            <a:r>
              <a:rPr lang="en-US" altLang="ko-KR" sz="1000" dirty="0" smtClean="0"/>
              <a:t>ezMobile Gateway Server</a:t>
            </a:r>
            <a:endParaRPr lang="en-US" altLang="ko-KR" sz="1000" dirty="0"/>
          </a:p>
        </p:txBody>
      </p:sp>
      <p:sp>
        <p:nvSpPr>
          <p:cNvPr id="38" name="AutoShape 43"/>
          <p:cNvSpPr>
            <a:spLocks noChangeArrowheads="1"/>
          </p:cNvSpPr>
          <p:nvPr/>
        </p:nvSpPr>
        <p:spPr bwMode="auto">
          <a:xfrm>
            <a:off x="8767184" y="3445585"/>
            <a:ext cx="1499779" cy="426658"/>
          </a:xfrm>
          <a:prstGeom prst="roundRect">
            <a:avLst>
              <a:gd name="adj" fmla="val 16667"/>
            </a:avLst>
          </a:prstGeom>
          <a:solidFill>
            <a:srgbClr val="C0E5A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9551" tIns="0" rIns="99551" bIns="49777" anchor="ctr"/>
          <a:lstStyle/>
          <a:p>
            <a:pPr algn="ctr" defTabSz="995363">
              <a:spcBef>
                <a:spcPct val="0"/>
              </a:spcBef>
            </a:pPr>
            <a:r>
              <a:rPr lang="en-US" altLang="ko-KR" sz="1000" dirty="0" smtClean="0"/>
              <a:t>ezTalk Server</a:t>
            </a:r>
            <a:endParaRPr lang="en-US" altLang="ko-KR" sz="1000" dirty="0"/>
          </a:p>
        </p:txBody>
      </p:sp>
      <p:sp>
        <p:nvSpPr>
          <p:cNvPr id="39" name="AutoShape 43"/>
          <p:cNvSpPr>
            <a:spLocks noChangeArrowheads="1"/>
          </p:cNvSpPr>
          <p:nvPr/>
        </p:nvSpPr>
        <p:spPr bwMode="auto">
          <a:xfrm>
            <a:off x="6982935" y="2953744"/>
            <a:ext cx="1630421" cy="426658"/>
          </a:xfrm>
          <a:prstGeom prst="roundRect">
            <a:avLst>
              <a:gd name="adj" fmla="val 16667"/>
            </a:avLst>
          </a:prstGeom>
          <a:solidFill>
            <a:srgbClr val="C0E5A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9551" tIns="0" rIns="99551" bIns="49777" anchor="ctr"/>
          <a:lstStyle/>
          <a:p>
            <a:pPr algn="ctr" defTabSz="995363">
              <a:spcBef>
                <a:spcPct val="0"/>
              </a:spcBef>
            </a:pPr>
            <a:r>
              <a:rPr lang="en-US" altLang="ko-KR" sz="1000" dirty="0" smtClean="0"/>
              <a:t>JMocha Java Mail Server</a:t>
            </a:r>
            <a:endParaRPr lang="en-US" altLang="ko-KR" sz="1000" dirty="0"/>
          </a:p>
        </p:txBody>
      </p:sp>
      <p:sp>
        <p:nvSpPr>
          <p:cNvPr id="40" name="AutoShape 43"/>
          <p:cNvSpPr>
            <a:spLocks noChangeArrowheads="1"/>
          </p:cNvSpPr>
          <p:nvPr/>
        </p:nvSpPr>
        <p:spPr bwMode="auto">
          <a:xfrm>
            <a:off x="8769374" y="2941529"/>
            <a:ext cx="1511719" cy="426658"/>
          </a:xfrm>
          <a:prstGeom prst="roundRect">
            <a:avLst>
              <a:gd name="adj" fmla="val 16667"/>
            </a:avLst>
          </a:prstGeom>
          <a:solidFill>
            <a:srgbClr val="C0E5A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9551" tIns="0" rIns="99551" bIns="49777" anchor="ctr"/>
          <a:lstStyle/>
          <a:p>
            <a:pPr algn="ctr" defTabSz="995363">
              <a:spcBef>
                <a:spcPct val="0"/>
              </a:spcBef>
            </a:pPr>
            <a:r>
              <a:rPr lang="en-US" altLang="ko-KR" sz="1000" dirty="0" smtClean="0"/>
              <a:t>RESTful API Server</a:t>
            </a:r>
            <a:endParaRPr lang="en-US" altLang="ko-KR" sz="1000" dirty="0"/>
          </a:p>
        </p:txBody>
      </p:sp>
      <p:sp>
        <p:nvSpPr>
          <p:cNvPr id="41" name="AutoShape 43"/>
          <p:cNvSpPr>
            <a:spLocks noChangeArrowheads="1"/>
          </p:cNvSpPr>
          <p:nvPr/>
        </p:nvSpPr>
        <p:spPr bwMode="auto">
          <a:xfrm>
            <a:off x="6975174" y="3949641"/>
            <a:ext cx="1630421" cy="426658"/>
          </a:xfrm>
          <a:prstGeom prst="roundRect">
            <a:avLst>
              <a:gd name="adj" fmla="val 16667"/>
            </a:avLst>
          </a:prstGeom>
          <a:solidFill>
            <a:srgbClr val="C0E5A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9551" tIns="0" rIns="99551" bIns="49777" anchor="ctr"/>
          <a:lstStyle/>
          <a:p>
            <a:pPr algn="ctr" defTabSz="995363">
              <a:spcBef>
                <a:spcPct val="0"/>
              </a:spcBef>
            </a:pPr>
            <a:r>
              <a:rPr lang="en-US" altLang="ko-KR" sz="1000" dirty="0" smtClean="0"/>
              <a:t>Mobile Push Server</a:t>
            </a:r>
            <a:endParaRPr lang="en-US" altLang="ko-KR" sz="1000" dirty="0"/>
          </a:p>
        </p:txBody>
      </p:sp>
      <p:sp>
        <p:nvSpPr>
          <p:cNvPr id="42" name="AutoShape 43"/>
          <p:cNvSpPr>
            <a:spLocks noChangeArrowheads="1"/>
          </p:cNvSpPr>
          <p:nvPr/>
        </p:nvSpPr>
        <p:spPr bwMode="auto">
          <a:xfrm>
            <a:off x="8767184" y="3949641"/>
            <a:ext cx="1499779" cy="426658"/>
          </a:xfrm>
          <a:prstGeom prst="roundRect">
            <a:avLst>
              <a:gd name="adj" fmla="val 16667"/>
            </a:avLst>
          </a:prstGeom>
          <a:solidFill>
            <a:srgbClr val="C0E5A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9551" tIns="0" rIns="99551" bIns="49777" anchor="ctr"/>
          <a:lstStyle/>
          <a:p>
            <a:pPr algn="ctr" defTabSz="995363">
              <a:spcBef>
                <a:spcPct val="0"/>
              </a:spcBef>
            </a:pPr>
            <a:r>
              <a:rPr lang="ko-KR" altLang="en-US" sz="1000" dirty="0" smtClean="0"/>
              <a:t>인사연동 서버</a:t>
            </a:r>
            <a:endParaRPr lang="en-US" altLang="ko-KR" sz="1000" dirty="0"/>
          </a:p>
        </p:txBody>
      </p:sp>
      <p:sp>
        <p:nvSpPr>
          <p:cNvPr id="62" name="AutoShape 47"/>
          <p:cNvSpPr>
            <a:spLocks noChangeArrowheads="1"/>
          </p:cNvSpPr>
          <p:nvPr/>
        </p:nvSpPr>
        <p:spPr bwMode="auto">
          <a:xfrm>
            <a:off x="3267933" y="1077964"/>
            <a:ext cx="1235412" cy="288032"/>
          </a:xfrm>
          <a:prstGeom prst="roundRect">
            <a:avLst>
              <a:gd name="adj" fmla="val 7715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9551" tIns="0" rIns="99551" bIns="49777" anchor="ctr"/>
          <a:lstStyle/>
          <a:p>
            <a:pPr algn="ctr" defTabSz="995363">
              <a:spcBef>
                <a:spcPct val="0"/>
              </a:spcBef>
            </a:pPr>
            <a:r>
              <a:rPr lang="en-US" altLang="ko-KR" sz="1200" dirty="0" smtClean="0"/>
              <a:t>Outlook</a:t>
            </a:r>
            <a:endParaRPr lang="en-US" altLang="ko-KR" sz="1200" dirty="0"/>
          </a:p>
        </p:txBody>
      </p:sp>
      <p:sp>
        <p:nvSpPr>
          <p:cNvPr id="30" name="Text Box 55"/>
          <p:cNvSpPr txBox="1">
            <a:spLocks noChangeArrowheads="1"/>
          </p:cNvSpPr>
          <p:nvPr/>
        </p:nvSpPr>
        <p:spPr bwMode="auto">
          <a:xfrm>
            <a:off x="8678309" y="5078716"/>
            <a:ext cx="1917502" cy="450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551" tIns="0" rIns="99551" bIns="49777">
            <a:spAutoFit/>
          </a:bodyPr>
          <a:lstStyle/>
          <a:p>
            <a:pPr algn="ctr" defTabSz="995363">
              <a:spcBef>
                <a:spcPct val="0"/>
              </a:spcBef>
            </a:pPr>
            <a:r>
              <a:rPr lang="en-US" altLang="ko-KR" sz="1300" b="1" dirty="0" smtClean="0"/>
              <a:t>RESTful API</a:t>
            </a:r>
          </a:p>
          <a:p>
            <a:pPr algn="ctr" defTabSz="995363">
              <a:spcBef>
                <a:spcPct val="0"/>
              </a:spcBef>
            </a:pPr>
            <a:r>
              <a:rPr lang="en-US" altLang="ko-KR" sz="1300" b="1" dirty="0" smtClean="0"/>
              <a:t>Architecture</a:t>
            </a:r>
            <a:endParaRPr lang="ko-KR" altLang="en-US" sz="1300" b="1" dirty="0"/>
          </a:p>
        </p:txBody>
      </p:sp>
      <p:sp>
        <p:nvSpPr>
          <p:cNvPr id="163" name="Rectangle 46"/>
          <p:cNvSpPr>
            <a:spLocks noChangeArrowheads="1"/>
          </p:cNvSpPr>
          <p:nvPr/>
        </p:nvSpPr>
        <p:spPr bwMode="auto">
          <a:xfrm>
            <a:off x="1181456" y="2364922"/>
            <a:ext cx="4032228" cy="2376264"/>
          </a:xfrm>
          <a:prstGeom prst="rect">
            <a:avLst/>
          </a:prstGeom>
          <a:solidFill>
            <a:srgbClr val="99CC00">
              <a:alpha val="20000"/>
            </a:srgbClr>
          </a:solidFill>
          <a:ln w="9525">
            <a:solidFill>
              <a:srgbClr val="99CC00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endParaRPr lang="ko-KR" altLang="en-US"/>
          </a:p>
        </p:txBody>
      </p:sp>
      <p:sp>
        <p:nvSpPr>
          <p:cNvPr id="49" name="AutoShape 47"/>
          <p:cNvSpPr>
            <a:spLocks noChangeArrowheads="1"/>
          </p:cNvSpPr>
          <p:nvPr/>
        </p:nvSpPr>
        <p:spPr bwMode="auto">
          <a:xfrm>
            <a:off x="3203076" y="3007964"/>
            <a:ext cx="1716191" cy="428766"/>
          </a:xfrm>
          <a:prstGeom prst="roundRect">
            <a:avLst>
              <a:gd name="adj" fmla="val 10169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9551" tIns="0" rIns="99551" bIns="49777" anchor="ctr"/>
          <a:lstStyle/>
          <a:p>
            <a:pPr algn="ctr" defTabSz="995363">
              <a:spcBef>
                <a:spcPct val="0"/>
              </a:spcBef>
            </a:pPr>
            <a:r>
              <a:rPr lang="en-US" altLang="ko-KR" sz="1100" dirty="0" smtClean="0"/>
              <a:t>ezMobile</a:t>
            </a:r>
            <a:endParaRPr lang="ko-KR" altLang="en-US" sz="1100" dirty="0"/>
          </a:p>
        </p:txBody>
      </p:sp>
      <p:sp>
        <p:nvSpPr>
          <p:cNvPr id="168" name="AutoShape 47"/>
          <p:cNvSpPr>
            <a:spLocks noChangeArrowheads="1"/>
          </p:cNvSpPr>
          <p:nvPr/>
        </p:nvSpPr>
        <p:spPr bwMode="auto">
          <a:xfrm>
            <a:off x="3203076" y="3512020"/>
            <a:ext cx="1716191" cy="428766"/>
          </a:xfrm>
          <a:prstGeom prst="roundRect">
            <a:avLst>
              <a:gd name="adj" fmla="val 10169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9551" tIns="0" rIns="99551" bIns="49777" anchor="ctr"/>
          <a:lstStyle/>
          <a:p>
            <a:pPr algn="ctr" defTabSz="995363">
              <a:spcBef>
                <a:spcPct val="0"/>
              </a:spcBef>
            </a:pPr>
            <a:r>
              <a:rPr lang="en-US" altLang="ko-KR" sz="1100" dirty="0" smtClean="0"/>
              <a:t>ezWebFolder</a:t>
            </a:r>
            <a:endParaRPr lang="ko-KR" altLang="en-US" sz="1100" dirty="0"/>
          </a:p>
        </p:txBody>
      </p:sp>
      <p:sp>
        <p:nvSpPr>
          <p:cNvPr id="48" name="Text Box 55"/>
          <p:cNvSpPr txBox="1">
            <a:spLocks noChangeArrowheads="1"/>
          </p:cNvSpPr>
          <p:nvPr/>
        </p:nvSpPr>
        <p:spPr bwMode="auto">
          <a:xfrm>
            <a:off x="2500998" y="2500626"/>
            <a:ext cx="1540985" cy="450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551" tIns="0" rIns="99551" bIns="49777">
            <a:spAutoFit/>
          </a:bodyPr>
          <a:lstStyle/>
          <a:p>
            <a:pPr algn="ctr" defTabSz="995363">
              <a:spcBef>
                <a:spcPct val="0"/>
              </a:spcBef>
            </a:pPr>
            <a:r>
              <a:rPr lang="en-US" altLang="ko-KR" sz="1300" b="1" dirty="0" smtClean="0"/>
              <a:t>User Applications</a:t>
            </a:r>
            <a:r>
              <a:rPr lang="en-US" altLang="ko-KR" sz="1300" b="1" dirty="0" smtClean="0"/>
              <a:t> </a:t>
            </a:r>
            <a:endParaRPr lang="ko-KR" altLang="en-US" sz="1300" b="1" dirty="0"/>
          </a:p>
        </p:txBody>
      </p:sp>
      <p:sp>
        <p:nvSpPr>
          <p:cNvPr id="192" name="AutoShape 47"/>
          <p:cNvSpPr>
            <a:spLocks noChangeArrowheads="1"/>
          </p:cNvSpPr>
          <p:nvPr/>
        </p:nvSpPr>
        <p:spPr bwMode="auto">
          <a:xfrm>
            <a:off x="3203076" y="4016076"/>
            <a:ext cx="1716191" cy="428766"/>
          </a:xfrm>
          <a:prstGeom prst="roundRect">
            <a:avLst>
              <a:gd name="adj" fmla="val 10169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9551" tIns="0" rIns="99551" bIns="49777" anchor="ctr"/>
          <a:lstStyle/>
          <a:p>
            <a:pPr algn="ctr" defTabSz="995363">
              <a:spcBef>
                <a:spcPct val="0"/>
              </a:spcBef>
            </a:pPr>
            <a:r>
              <a:rPr lang="en-US" altLang="ko-KR" sz="1100" dirty="0" smtClean="0"/>
              <a:t>ezTalk</a:t>
            </a:r>
            <a:endParaRPr lang="ko-KR" altLang="en-US" sz="1100" dirty="0"/>
          </a:p>
        </p:txBody>
      </p:sp>
      <p:sp>
        <p:nvSpPr>
          <p:cNvPr id="37" name="Text Box 55"/>
          <p:cNvSpPr txBox="1">
            <a:spLocks noChangeArrowheads="1"/>
          </p:cNvSpPr>
          <p:nvPr/>
        </p:nvSpPr>
        <p:spPr bwMode="auto">
          <a:xfrm>
            <a:off x="6819155" y="2519478"/>
            <a:ext cx="3520708" cy="25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551" tIns="0" rIns="99551" bIns="49777">
            <a:spAutoFit/>
          </a:bodyPr>
          <a:lstStyle/>
          <a:p>
            <a:pPr algn="ctr" defTabSz="995363">
              <a:spcBef>
                <a:spcPct val="0"/>
              </a:spcBef>
            </a:pPr>
            <a:r>
              <a:rPr lang="en-US" altLang="ko-KR" sz="1300" b="1" dirty="0" smtClean="0"/>
              <a:t>Server Products</a:t>
            </a:r>
            <a:endParaRPr lang="ko-KR" altLang="en-US" sz="1300" b="1" dirty="0"/>
          </a:p>
        </p:txBody>
      </p:sp>
      <p:pic>
        <p:nvPicPr>
          <p:cNvPr id="88" name="Picture 105" descr="db0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4F9F3"/>
              </a:clrFrom>
              <a:clrTo>
                <a:srgbClr val="F4F9F3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118976" y="1511456"/>
            <a:ext cx="546061" cy="260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9" name="Text Box 81"/>
          <p:cNvSpPr txBox="1">
            <a:spLocks noChangeArrowheads="1"/>
          </p:cNvSpPr>
          <p:nvPr/>
        </p:nvSpPr>
        <p:spPr bwMode="auto">
          <a:xfrm>
            <a:off x="7252555" y="1258113"/>
            <a:ext cx="2210259" cy="204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551" tIns="0" rIns="99551" bIns="49777">
            <a:spAutoFit/>
          </a:bodyPr>
          <a:lstStyle/>
          <a:p>
            <a:pPr algn="ctr" defTabSz="995363">
              <a:spcBef>
                <a:spcPct val="0"/>
              </a:spcBef>
            </a:pPr>
            <a:r>
              <a:rPr lang="ko-KR" altLang="en-US" sz="1000" dirty="0" smtClean="0">
                <a:latin typeface="+mn-ea"/>
              </a:rPr>
              <a:t>전자결재</a:t>
            </a:r>
            <a:r>
              <a:rPr lang="en-US" altLang="ko-KR" sz="1000" dirty="0" smtClean="0">
                <a:latin typeface="+mn-ea"/>
              </a:rPr>
              <a:t>, </a:t>
            </a:r>
            <a:r>
              <a:rPr lang="ko-KR" altLang="en-US" sz="1000" dirty="0" smtClean="0">
                <a:latin typeface="+mn-ea"/>
              </a:rPr>
              <a:t>메일</a:t>
            </a:r>
            <a:r>
              <a:rPr lang="en-US" altLang="ko-KR" sz="1000" dirty="0" smtClean="0">
                <a:latin typeface="+mn-ea"/>
              </a:rPr>
              <a:t>, </a:t>
            </a:r>
            <a:r>
              <a:rPr lang="ko-KR" altLang="en-US" sz="1000" dirty="0" smtClean="0">
                <a:latin typeface="+mn-ea"/>
              </a:rPr>
              <a:t>일정</a:t>
            </a:r>
            <a:r>
              <a:rPr lang="en-US" altLang="ko-KR" sz="1000" dirty="0" smtClean="0">
                <a:latin typeface="+mn-ea"/>
              </a:rPr>
              <a:t>, </a:t>
            </a:r>
            <a:r>
              <a:rPr lang="ko-KR" altLang="en-US" sz="1000" dirty="0" smtClean="0">
                <a:latin typeface="+mn-ea"/>
              </a:rPr>
              <a:t>게시판</a:t>
            </a:r>
            <a:r>
              <a:rPr lang="en-US" altLang="ko-KR" sz="1000" dirty="0" smtClean="0">
                <a:latin typeface="+mn-ea"/>
              </a:rPr>
              <a:t> DB</a:t>
            </a:r>
            <a:endParaRPr lang="en-US" altLang="ko-KR" sz="1000" dirty="0">
              <a:latin typeface="+mn-ea"/>
            </a:endParaRPr>
          </a:p>
        </p:txBody>
      </p:sp>
      <p:sp>
        <p:nvSpPr>
          <p:cNvPr id="92" name="Rectangle 46"/>
          <p:cNvSpPr>
            <a:spLocks noChangeArrowheads="1"/>
          </p:cNvSpPr>
          <p:nvPr/>
        </p:nvSpPr>
        <p:spPr bwMode="auto">
          <a:xfrm>
            <a:off x="9757157" y="840674"/>
            <a:ext cx="941354" cy="1103498"/>
          </a:xfrm>
          <a:prstGeom prst="rect">
            <a:avLst/>
          </a:prstGeom>
          <a:solidFill>
            <a:srgbClr val="99CC00">
              <a:alpha val="20000"/>
            </a:srgbClr>
          </a:solidFill>
          <a:ln w="9525">
            <a:solidFill>
              <a:srgbClr val="99CC00"/>
            </a:solidFill>
            <a:miter lim="800000"/>
            <a:headEnd/>
            <a:tailEnd/>
          </a:ln>
        </p:spPr>
        <p:txBody>
          <a:bodyPr wrap="none" tIns="0" anchor="ctr"/>
          <a:lstStyle/>
          <a:p>
            <a:endParaRPr lang="ko-KR" altLang="en-US"/>
          </a:p>
        </p:txBody>
      </p:sp>
      <p:sp>
        <p:nvSpPr>
          <p:cNvPr id="93" name="Text Box 55"/>
          <p:cNvSpPr txBox="1">
            <a:spLocks noChangeArrowheads="1"/>
          </p:cNvSpPr>
          <p:nvPr/>
        </p:nvSpPr>
        <p:spPr bwMode="auto">
          <a:xfrm>
            <a:off x="9762408" y="904472"/>
            <a:ext cx="1014113" cy="258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551" tIns="0" rIns="99551" bIns="49777">
            <a:spAutoFit/>
          </a:bodyPr>
          <a:lstStyle/>
          <a:p>
            <a:pPr defTabSz="995363">
              <a:spcBef>
                <a:spcPct val="0"/>
              </a:spcBef>
            </a:pPr>
            <a:r>
              <a:rPr lang="en-US" altLang="ko-KR" sz="1300" b="1" dirty="0"/>
              <a:t>Storage</a:t>
            </a:r>
            <a:endParaRPr lang="ko-KR" altLang="en-US" sz="1300" b="1" dirty="0"/>
          </a:p>
        </p:txBody>
      </p:sp>
      <p:pic>
        <p:nvPicPr>
          <p:cNvPr id="70" name="Picture 9" descr="server"/>
          <p:cNvPicPr>
            <a:picLocks noGrp="1"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837925" y="1221980"/>
            <a:ext cx="548553" cy="54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" name="Text Box 55"/>
          <p:cNvSpPr txBox="1">
            <a:spLocks noChangeArrowheads="1"/>
          </p:cNvSpPr>
          <p:nvPr/>
        </p:nvSpPr>
        <p:spPr bwMode="auto">
          <a:xfrm>
            <a:off x="2429593" y="5842978"/>
            <a:ext cx="7176796" cy="25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551" tIns="0" rIns="99551" bIns="49777">
            <a:spAutoFit/>
          </a:bodyPr>
          <a:lstStyle/>
          <a:p>
            <a:pPr algn="ctr" defTabSz="995363">
              <a:spcBef>
                <a:spcPct val="0"/>
              </a:spcBef>
            </a:pPr>
            <a:r>
              <a:rPr lang="en-US" altLang="ko-KR" sz="1300" b="1" dirty="0" smtClean="0"/>
              <a:t>Tomcat 8</a:t>
            </a:r>
            <a:endParaRPr lang="ko-KR" altLang="en-US" sz="1300" b="1" dirty="0"/>
          </a:p>
        </p:txBody>
      </p:sp>
      <p:sp>
        <p:nvSpPr>
          <p:cNvPr id="103" name="Rectangle 53"/>
          <p:cNvSpPr>
            <a:spLocks noChangeArrowheads="1"/>
          </p:cNvSpPr>
          <p:nvPr/>
        </p:nvSpPr>
        <p:spPr bwMode="auto">
          <a:xfrm>
            <a:off x="1337473" y="4941168"/>
            <a:ext cx="3198355" cy="648000"/>
          </a:xfrm>
          <a:prstGeom prst="rect">
            <a:avLst/>
          </a:prstGeom>
          <a:solidFill>
            <a:srgbClr val="99CC00">
              <a:alpha val="30196"/>
            </a:srgbClr>
          </a:solidFill>
          <a:ln w="9525">
            <a:solidFill>
              <a:srgbClr val="808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/>
          </a:p>
        </p:txBody>
      </p:sp>
      <p:sp>
        <p:nvSpPr>
          <p:cNvPr id="35" name="Text Box 55"/>
          <p:cNvSpPr txBox="1">
            <a:spLocks noChangeArrowheads="1"/>
          </p:cNvSpPr>
          <p:nvPr/>
        </p:nvSpPr>
        <p:spPr bwMode="auto">
          <a:xfrm>
            <a:off x="1571499" y="5056408"/>
            <a:ext cx="2730303" cy="4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551" tIns="0" rIns="99551" bIns="49777">
            <a:spAutoFit/>
          </a:bodyPr>
          <a:lstStyle/>
          <a:p>
            <a:pPr algn="ctr" defTabSz="995363">
              <a:spcBef>
                <a:spcPct val="0"/>
              </a:spcBef>
            </a:pPr>
            <a:r>
              <a:rPr lang="ko-KR" altLang="en-US" sz="1400" b="1" dirty="0" smtClean="0"/>
              <a:t>전자정부 표준 프레임워크</a:t>
            </a:r>
            <a:endParaRPr lang="en-US" altLang="ko-KR" sz="1400" b="1" dirty="0" smtClean="0"/>
          </a:p>
          <a:p>
            <a:pPr algn="ctr" defTabSz="995363">
              <a:spcBef>
                <a:spcPct val="0"/>
              </a:spcBef>
            </a:pPr>
            <a:r>
              <a:rPr lang="en-US" altLang="ko-KR" sz="1400" b="1" dirty="0" smtClean="0"/>
              <a:t>(Spring Framework)</a:t>
            </a:r>
            <a:endParaRPr lang="ko-KR" altLang="en-US" sz="1400" b="1" dirty="0"/>
          </a:p>
        </p:txBody>
      </p:sp>
      <p:sp>
        <p:nvSpPr>
          <p:cNvPr id="106" name="AutoShape 47"/>
          <p:cNvSpPr>
            <a:spLocks noChangeArrowheads="1"/>
          </p:cNvSpPr>
          <p:nvPr/>
        </p:nvSpPr>
        <p:spPr bwMode="auto">
          <a:xfrm>
            <a:off x="1486886" y="4016076"/>
            <a:ext cx="1560173" cy="428766"/>
          </a:xfrm>
          <a:prstGeom prst="roundRect">
            <a:avLst>
              <a:gd name="adj" fmla="val 10169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9551" tIns="0" rIns="99551" bIns="49777" anchor="ctr"/>
          <a:lstStyle/>
          <a:p>
            <a:pPr algn="ctr" defTabSz="995363">
              <a:spcBef>
                <a:spcPct val="0"/>
              </a:spcBef>
            </a:pPr>
            <a:r>
              <a:rPr lang="en-US" altLang="ko-KR" sz="1100" dirty="0" smtClean="0"/>
              <a:t>ezPIMS</a:t>
            </a:r>
            <a:endParaRPr lang="ko-KR" altLang="en-US" sz="1100" dirty="0"/>
          </a:p>
        </p:txBody>
      </p:sp>
      <p:cxnSp>
        <p:nvCxnSpPr>
          <p:cNvPr id="118" name="꺾인 연결선 117"/>
          <p:cNvCxnSpPr/>
          <p:nvPr/>
        </p:nvCxnSpPr>
        <p:spPr>
          <a:xfrm flipV="1">
            <a:off x="5220855" y="1414140"/>
            <a:ext cx="1891180" cy="1129034"/>
          </a:xfrm>
          <a:prstGeom prst="bent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AutoShape 47"/>
          <p:cNvSpPr>
            <a:spLocks noChangeArrowheads="1"/>
          </p:cNvSpPr>
          <p:nvPr/>
        </p:nvSpPr>
        <p:spPr bwMode="auto">
          <a:xfrm>
            <a:off x="1486886" y="3512020"/>
            <a:ext cx="1560173" cy="428766"/>
          </a:xfrm>
          <a:prstGeom prst="roundRect">
            <a:avLst>
              <a:gd name="adj" fmla="val 10169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9551" tIns="0" rIns="99551" bIns="49777" anchor="ctr"/>
          <a:lstStyle/>
          <a:p>
            <a:pPr algn="ctr" defTabSz="995363">
              <a:spcBef>
                <a:spcPct val="0"/>
              </a:spcBef>
            </a:pPr>
            <a:r>
              <a:rPr lang="en-US" altLang="ko-KR" sz="1100" dirty="0" smtClean="0"/>
              <a:t>ezPortal</a:t>
            </a:r>
            <a:endParaRPr lang="ko-KR" altLang="en-US" sz="1100" dirty="0"/>
          </a:p>
        </p:txBody>
      </p:sp>
      <p:cxnSp>
        <p:nvCxnSpPr>
          <p:cNvPr id="125" name="꺾인 연결선 124"/>
          <p:cNvCxnSpPr>
            <a:stCxn id="13" idx="0"/>
            <a:endCxn id="15" idx="2"/>
          </p:cNvCxnSpPr>
          <p:nvPr/>
        </p:nvCxnSpPr>
        <p:spPr>
          <a:xfrm rot="16200000" flipV="1">
            <a:off x="8328621" y="2007673"/>
            <a:ext cx="401607" cy="274607"/>
          </a:xfrm>
          <a:prstGeom prst="bent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ectangle 42"/>
          <p:cNvSpPr>
            <a:spLocks noChangeArrowheads="1"/>
          </p:cNvSpPr>
          <p:nvPr/>
        </p:nvSpPr>
        <p:spPr bwMode="auto">
          <a:xfrm>
            <a:off x="1167063" y="836712"/>
            <a:ext cx="1676636" cy="1091614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tIns="0" anchor="ctr"/>
          <a:lstStyle/>
          <a:p>
            <a:endParaRPr lang="ko-KR" altLang="en-US"/>
          </a:p>
        </p:txBody>
      </p:sp>
      <p:sp>
        <p:nvSpPr>
          <p:cNvPr id="131" name="Text Box 55"/>
          <p:cNvSpPr txBox="1">
            <a:spLocks noChangeArrowheads="1"/>
          </p:cNvSpPr>
          <p:nvPr/>
        </p:nvSpPr>
        <p:spPr bwMode="auto">
          <a:xfrm>
            <a:off x="1143001" y="836712"/>
            <a:ext cx="1014113" cy="258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551" tIns="0" rIns="99551" bIns="49777">
            <a:spAutoFit/>
          </a:bodyPr>
          <a:lstStyle/>
          <a:p>
            <a:pPr defTabSz="995363">
              <a:spcBef>
                <a:spcPct val="0"/>
              </a:spcBef>
            </a:pPr>
            <a:r>
              <a:rPr lang="ko-KR" altLang="en-US" sz="1300" b="1" dirty="0"/>
              <a:t>범례</a:t>
            </a:r>
          </a:p>
        </p:txBody>
      </p:sp>
      <p:sp>
        <p:nvSpPr>
          <p:cNvPr id="132" name="AutoShape 47"/>
          <p:cNvSpPr>
            <a:spLocks noChangeArrowheads="1"/>
          </p:cNvSpPr>
          <p:nvPr/>
        </p:nvSpPr>
        <p:spPr bwMode="auto">
          <a:xfrm>
            <a:off x="1219555" y="1124744"/>
            <a:ext cx="1560173" cy="288032"/>
          </a:xfrm>
          <a:prstGeom prst="roundRect">
            <a:avLst>
              <a:gd name="adj" fmla="val 7715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9551" tIns="0" rIns="99551" bIns="49777" anchor="ctr"/>
          <a:lstStyle/>
          <a:p>
            <a:pPr algn="ctr" defTabSz="995363">
              <a:spcBef>
                <a:spcPct val="0"/>
              </a:spcBef>
            </a:pPr>
            <a:r>
              <a:rPr lang="en-US" altLang="ko-KR" sz="1100" dirty="0" smtClean="0"/>
              <a:t>User Applications</a:t>
            </a:r>
            <a:endParaRPr lang="en-US" altLang="ko-KR" sz="1100" dirty="0"/>
          </a:p>
        </p:txBody>
      </p:sp>
      <p:sp>
        <p:nvSpPr>
          <p:cNvPr id="134" name="AutoShape 43"/>
          <p:cNvSpPr>
            <a:spLocks noChangeArrowheads="1"/>
          </p:cNvSpPr>
          <p:nvPr/>
        </p:nvSpPr>
        <p:spPr bwMode="auto">
          <a:xfrm>
            <a:off x="1222684" y="1556792"/>
            <a:ext cx="1547519" cy="288032"/>
          </a:xfrm>
          <a:prstGeom prst="roundRect">
            <a:avLst>
              <a:gd name="adj" fmla="val 16667"/>
            </a:avLst>
          </a:prstGeom>
          <a:solidFill>
            <a:srgbClr val="C0E5A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9551" tIns="0" rIns="99551" bIns="49777" anchor="ctr"/>
          <a:lstStyle/>
          <a:p>
            <a:pPr algn="ctr" defTabSz="995363">
              <a:spcBef>
                <a:spcPct val="0"/>
              </a:spcBef>
            </a:pPr>
            <a:r>
              <a:rPr lang="en-US" altLang="ko-KR" sz="1100" dirty="0" smtClean="0"/>
              <a:t>Server Products</a:t>
            </a:r>
            <a:endParaRPr lang="en-US" altLang="ko-KR" sz="1100" dirty="0"/>
          </a:p>
        </p:txBody>
      </p:sp>
      <p:sp>
        <p:nvSpPr>
          <p:cNvPr id="136" name="AutoShape 47"/>
          <p:cNvSpPr>
            <a:spLocks noChangeArrowheads="1"/>
          </p:cNvSpPr>
          <p:nvPr/>
        </p:nvSpPr>
        <p:spPr bwMode="auto">
          <a:xfrm>
            <a:off x="1486886" y="3011246"/>
            <a:ext cx="1560173" cy="428766"/>
          </a:xfrm>
          <a:prstGeom prst="roundRect">
            <a:avLst>
              <a:gd name="adj" fmla="val 10169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9551" tIns="0" rIns="99551" bIns="49777" anchor="ctr"/>
          <a:lstStyle/>
          <a:p>
            <a:pPr algn="ctr" defTabSz="995363">
              <a:spcBef>
                <a:spcPct val="0"/>
              </a:spcBef>
            </a:pPr>
            <a:r>
              <a:rPr lang="en-US" altLang="ko-KR" sz="1100" dirty="0" smtClean="0"/>
              <a:t>ezFlow</a:t>
            </a:r>
            <a:endParaRPr lang="ko-KR" altLang="en-US" sz="1100" dirty="0"/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5213684" y="3296652"/>
            <a:ext cx="1359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 Box 55"/>
          <p:cNvSpPr txBox="1">
            <a:spLocks noChangeArrowheads="1"/>
          </p:cNvSpPr>
          <p:nvPr/>
        </p:nvSpPr>
        <p:spPr bwMode="auto">
          <a:xfrm>
            <a:off x="5348319" y="3052829"/>
            <a:ext cx="1128626" cy="25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551" tIns="0" rIns="99551" bIns="49777">
            <a:spAutoFit/>
          </a:bodyPr>
          <a:lstStyle/>
          <a:p>
            <a:pPr defTabSz="995363">
              <a:spcBef>
                <a:spcPct val="0"/>
              </a:spcBef>
            </a:pPr>
            <a:r>
              <a:rPr lang="en-US" altLang="ko-KR" sz="1300" b="1" dirty="0" smtClean="0"/>
              <a:t>RESTful API</a:t>
            </a:r>
            <a:endParaRPr lang="ko-KR" altLang="en-US" sz="1300" b="1" dirty="0"/>
          </a:p>
        </p:txBody>
      </p:sp>
      <p:cxnSp>
        <p:nvCxnSpPr>
          <p:cNvPr id="85" name="직선 화살표 연결선 84"/>
          <p:cNvCxnSpPr/>
          <p:nvPr/>
        </p:nvCxnSpPr>
        <p:spPr>
          <a:xfrm>
            <a:off x="5206513" y="3751137"/>
            <a:ext cx="1359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Box 55"/>
          <p:cNvSpPr txBox="1">
            <a:spLocks noChangeArrowheads="1"/>
          </p:cNvSpPr>
          <p:nvPr/>
        </p:nvSpPr>
        <p:spPr bwMode="auto">
          <a:xfrm>
            <a:off x="5341148" y="3507314"/>
            <a:ext cx="1222904" cy="25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551" tIns="0" rIns="99551" bIns="49777">
            <a:spAutoFit/>
          </a:bodyPr>
          <a:lstStyle/>
          <a:p>
            <a:pPr defTabSz="995363">
              <a:spcBef>
                <a:spcPct val="0"/>
              </a:spcBef>
            </a:pPr>
            <a:r>
              <a:rPr lang="en-US" altLang="ko-KR" sz="1300" b="1" dirty="0" smtClean="0"/>
              <a:t>SMTP/IMAP</a:t>
            </a:r>
            <a:endParaRPr lang="ko-KR" altLang="en-US" sz="1300" b="1" dirty="0"/>
          </a:p>
        </p:txBody>
      </p:sp>
      <p:cxnSp>
        <p:nvCxnSpPr>
          <p:cNvPr id="91" name="직선 화살표 연결선 90"/>
          <p:cNvCxnSpPr/>
          <p:nvPr/>
        </p:nvCxnSpPr>
        <p:spPr>
          <a:xfrm>
            <a:off x="5206513" y="4169772"/>
            <a:ext cx="1359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 Box 55"/>
          <p:cNvSpPr txBox="1">
            <a:spLocks noChangeArrowheads="1"/>
          </p:cNvSpPr>
          <p:nvPr/>
        </p:nvSpPr>
        <p:spPr bwMode="auto">
          <a:xfrm>
            <a:off x="5341148" y="3925949"/>
            <a:ext cx="1222904" cy="25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551" tIns="0" rIns="99551" bIns="49777">
            <a:spAutoFit/>
          </a:bodyPr>
          <a:lstStyle/>
          <a:p>
            <a:pPr defTabSz="995363">
              <a:spcBef>
                <a:spcPct val="0"/>
              </a:spcBef>
            </a:pPr>
            <a:r>
              <a:rPr lang="en-US" altLang="ko-KR" sz="1300" b="1" dirty="0" smtClean="0"/>
              <a:t>Custom TCP</a:t>
            </a:r>
            <a:endParaRPr lang="ko-KR" altLang="en-US" sz="1300" b="1" dirty="0"/>
          </a:p>
        </p:txBody>
      </p:sp>
      <p:sp>
        <p:nvSpPr>
          <p:cNvPr id="97" name="AutoShape 47"/>
          <p:cNvSpPr>
            <a:spLocks noChangeArrowheads="1"/>
          </p:cNvSpPr>
          <p:nvPr/>
        </p:nvSpPr>
        <p:spPr bwMode="auto">
          <a:xfrm>
            <a:off x="4698366" y="1070142"/>
            <a:ext cx="1235412" cy="288032"/>
          </a:xfrm>
          <a:prstGeom prst="roundRect">
            <a:avLst>
              <a:gd name="adj" fmla="val 7715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9551" tIns="0" rIns="99551" bIns="49777" anchor="ctr"/>
          <a:lstStyle/>
          <a:p>
            <a:pPr algn="ctr" defTabSz="995363">
              <a:spcBef>
                <a:spcPct val="0"/>
              </a:spcBef>
            </a:pPr>
            <a:r>
              <a:rPr lang="en-US" altLang="ko-KR" sz="1200" dirty="0" smtClean="0"/>
              <a:t>Outlook Mobile</a:t>
            </a:r>
            <a:endParaRPr lang="en-US" altLang="ko-KR" sz="1200" dirty="0"/>
          </a:p>
        </p:txBody>
      </p:sp>
      <p:sp>
        <p:nvSpPr>
          <p:cNvPr id="99" name="AutoShape 47"/>
          <p:cNvSpPr>
            <a:spLocks noChangeArrowheads="1"/>
          </p:cNvSpPr>
          <p:nvPr/>
        </p:nvSpPr>
        <p:spPr bwMode="auto">
          <a:xfrm>
            <a:off x="3267933" y="1487576"/>
            <a:ext cx="1235412" cy="288032"/>
          </a:xfrm>
          <a:prstGeom prst="roundRect">
            <a:avLst>
              <a:gd name="adj" fmla="val 7715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9551" tIns="0" rIns="99551" bIns="49777" anchor="ctr"/>
          <a:lstStyle/>
          <a:p>
            <a:pPr algn="ctr" defTabSz="995363">
              <a:spcBef>
                <a:spcPct val="0"/>
              </a:spcBef>
            </a:pPr>
            <a:r>
              <a:rPr lang="en-US" altLang="ko-KR" sz="1200" dirty="0" smtClean="0"/>
              <a:t>Thunderbird</a:t>
            </a:r>
            <a:endParaRPr lang="en-US" altLang="ko-KR" sz="1200" dirty="0"/>
          </a:p>
        </p:txBody>
      </p:sp>
      <p:sp>
        <p:nvSpPr>
          <p:cNvPr id="100" name="AutoShape 47"/>
          <p:cNvSpPr>
            <a:spLocks noChangeArrowheads="1"/>
          </p:cNvSpPr>
          <p:nvPr/>
        </p:nvSpPr>
        <p:spPr bwMode="auto">
          <a:xfrm>
            <a:off x="4696383" y="1502262"/>
            <a:ext cx="1235412" cy="288032"/>
          </a:xfrm>
          <a:prstGeom prst="roundRect">
            <a:avLst>
              <a:gd name="adj" fmla="val 7715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9551" tIns="0" rIns="99551" bIns="49777" anchor="ctr"/>
          <a:lstStyle/>
          <a:p>
            <a:pPr algn="ctr" defTabSz="995363">
              <a:spcBef>
                <a:spcPct val="0"/>
              </a:spcBef>
            </a:pPr>
            <a:r>
              <a:rPr lang="en-US" altLang="ko-KR" sz="1200" dirty="0" smtClean="0"/>
              <a:t>iPhone Mail</a:t>
            </a:r>
            <a:endParaRPr lang="en-US" altLang="ko-KR" sz="1200" dirty="0"/>
          </a:p>
        </p:txBody>
      </p:sp>
      <p:cxnSp>
        <p:nvCxnSpPr>
          <p:cNvPr id="74" name="꺾인 연결선 73"/>
          <p:cNvCxnSpPr/>
          <p:nvPr/>
        </p:nvCxnSpPr>
        <p:spPr>
          <a:xfrm rot="16200000" flipH="1">
            <a:off x="5917358" y="1400620"/>
            <a:ext cx="1129183" cy="771901"/>
          </a:xfrm>
          <a:prstGeom prst="bentConnector3">
            <a:avLst>
              <a:gd name="adj1" fmla="val 169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 Box 55"/>
          <p:cNvSpPr txBox="1">
            <a:spLocks noChangeArrowheads="1"/>
          </p:cNvSpPr>
          <p:nvPr/>
        </p:nvSpPr>
        <p:spPr bwMode="auto">
          <a:xfrm>
            <a:off x="6024362" y="844647"/>
            <a:ext cx="1222904" cy="450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551" tIns="0" rIns="99551" bIns="49777">
            <a:spAutoFit/>
          </a:bodyPr>
          <a:lstStyle/>
          <a:p>
            <a:pPr defTabSz="995363">
              <a:spcBef>
                <a:spcPct val="0"/>
              </a:spcBef>
            </a:pPr>
            <a:r>
              <a:rPr lang="en-US" altLang="ko-KR" sz="1300" b="1" dirty="0" smtClean="0"/>
              <a:t>SMTP/IMAP</a:t>
            </a:r>
          </a:p>
          <a:p>
            <a:pPr defTabSz="995363">
              <a:spcBef>
                <a:spcPct val="0"/>
              </a:spcBef>
            </a:pPr>
            <a:r>
              <a:rPr lang="en-US" altLang="ko-KR" sz="1300" b="1" dirty="0" smtClean="0"/>
              <a:t>/POP3</a:t>
            </a:r>
            <a:endParaRPr lang="ko-KR" altLang="en-US" sz="1300" b="1" dirty="0"/>
          </a:p>
        </p:txBody>
      </p:sp>
    </p:spTree>
    <p:extLst>
      <p:ext uri="{BB962C8B-B14F-4D97-AF65-F5344CB8AC3E}">
        <p14:creationId xmlns:p14="http://schemas.microsoft.com/office/powerpoint/2010/main" val="2187121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Words>102</Words>
  <Application>Microsoft Office PowerPoint</Application>
  <PresentationFormat>와이드스크린</PresentationFormat>
  <Paragraphs>41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이효섭</dc:creator>
  <cp:lastModifiedBy>Administrator</cp:lastModifiedBy>
  <cp:revision>36</cp:revision>
  <dcterms:created xsi:type="dcterms:W3CDTF">2014-07-31T00:58:24Z</dcterms:created>
  <dcterms:modified xsi:type="dcterms:W3CDTF">2018-12-17T16:16:57Z</dcterms:modified>
</cp:coreProperties>
</file>