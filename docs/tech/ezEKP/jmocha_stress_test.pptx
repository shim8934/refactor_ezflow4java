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  <p:sldMasterId id="2147483672" r:id="rId5"/>
  </p:sldMasterIdLst>
  <p:notesMasterIdLst>
    <p:notesMasterId r:id="rId22"/>
  </p:notesMasterIdLst>
  <p:handoutMasterIdLst>
    <p:handoutMasterId r:id="rId23"/>
  </p:handoutMasterIdLst>
  <p:sldIdLst>
    <p:sldId id="1223" r:id="rId6"/>
    <p:sldId id="1219" r:id="rId7"/>
    <p:sldId id="1224" r:id="rId8"/>
    <p:sldId id="1225" r:id="rId9"/>
    <p:sldId id="1226" r:id="rId10"/>
    <p:sldId id="1227" r:id="rId11"/>
    <p:sldId id="1228" r:id="rId12"/>
    <p:sldId id="1237" r:id="rId13"/>
    <p:sldId id="1229" r:id="rId14"/>
    <p:sldId id="1230" r:id="rId15"/>
    <p:sldId id="1231" r:id="rId16"/>
    <p:sldId id="1232" r:id="rId17"/>
    <p:sldId id="1233" r:id="rId18"/>
    <p:sldId id="1234" r:id="rId19"/>
    <p:sldId id="1235" r:id="rId20"/>
    <p:sldId id="1236" r:id="rId21"/>
  </p:sldIdLst>
  <p:sldSz cx="9906000" cy="6858000" type="A4"/>
  <p:notesSz cx="6735763" cy="985678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굴림체" pitchFamily="49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굴림체" pitchFamily="49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굴림체" pitchFamily="49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굴림체" pitchFamily="49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굴림체" pitchFamily="49" charset="-127"/>
        <a:cs typeface="+mn-cs"/>
      </a:defRPr>
    </a:lvl5pPr>
    <a:lvl6pPr marL="22860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굴림체" pitchFamily="49" charset="-127"/>
        <a:cs typeface="+mn-cs"/>
      </a:defRPr>
    </a:lvl6pPr>
    <a:lvl7pPr marL="27432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굴림체" pitchFamily="49" charset="-127"/>
        <a:cs typeface="+mn-cs"/>
      </a:defRPr>
    </a:lvl7pPr>
    <a:lvl8pPr marL="32004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굴림체" pitchFamily="49" charset="-127"/>
        <a:cs typeface="+mn-cs"/>
      </a:defRPr>
    </a:lvl8pPr>
    <a:lvl9pPr marL="36576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굴림체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orient="horz" pos="346">
          <p15:clr>
            <a:srgbClr val="A4A3A4"/>
          </p15:clr>
        </p15:guide>
        <p15:guide id="4" orient="horz" pos="845">
          <p15:clr>
            <a:srgbClr val="A4A3A4"/>
          </p15:clr>
        </p15:guide>
        <p15:guide id="5" orient="horz" pos="527">
          <p15:clr>
            <a:srgbClr val="A4A3A4"/>
          </p15:clr>
        </p15:guide>
        <p15:guide id="6" orient="horz" pos="4156">
          <p15:clr>
            <a:srgbClr val="A4A3A4"/>
          </p15:clr>
        </p15:guide>
        <p15:guide id="7" orient="horz" pos="709">
          <p15:clr>
            <a:srgbClr val="A4A3A4"/>
          </p15:clr>
        </p15:guide>
        <p15:guide id="8" pos="59">
          <p15:clr>
            <a:srgbClr val="A4A3A4"/>
          </p15:clr>
        </p15:guide>
        <p15:guide id="9" pos="6182">
          <p15:clr>
            <a:srgbClr val="A4A3A4"/>
          </p15:clr>
        </p15:guide>
        <p15:guide id="10" pos="3120">
          <p15:clr>
            <a:srgbClr val="A4A3A4"/>
          </p15:clr>
        </p15:guide>
        <p15:guide id="11" pos="444">
          <p15:clr>
            <a:srgbClr val="A4A3A4"/>
          </p15:clr>
        </p15:guide>
        <p15:guide id="12" pos="2893">
          <p15:clr>
            <a:srgbClr val="A4A3A4"/>
          </p15:clr>
        </p15:guide>
        <p15:guide id="13" pos="172">
          <p15:clr>
            <a:srgbClr val="A4A3A4"/>
          </p15:clr>
        </p15:guide>
        <p15:guide id="14" pos="2780">
          <p15:clr>
            <a:srgbClr val="A4A3A4"/>
          </p15:clr>
        </p15:guide>
        <p15:guide id="15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5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F7FAD6"/>
    <a:srgbClr val="0099CC"/>
    <a:srgbClr val="FFFFCC"/>
    <a:srgbClr val="006666"/>
    <a:srgbClr val="003366"/>
    <a:srgbClr val="3366CC"/>
    <a:srgbClr val="102F82"/>
    <a:srgbClr val="FF00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89085" autoAdjust="0"/>
  </p:normalViewPr>
  <p:slideViewPr>
    <p:cSldViewPr>
      <p:cViewPr varScale="1">
        <p:scale>
          <a:sx n="87" d="100"/>
          <a:sy n="87" d="100"/>
        </p:scale>
        <p:origin x="894" y="66"/>
      </p:cViewPr>
      <p:guideLst>
        <p:guide orient="horz" pos="1026"/>
        <p:guide orient="horz" pos="4065"/>
        <p:guide orient="horz" pos="346"/>
        <p:guide orient="horz" pos="845"/>
        <p:guide orient="horz" pos="527"/>
        <p:guide orient="horz" pos="4156"/>
        <p:guide orient="horz" pos="709"/>
        <p:guide pos="59"/>
        <p:guide pos="6182"/>
        <p:guide pos="3120"/>
        <p:guide pos="444"/>
        <p:guide pos="2893"/>
        <p:guide pos="172"/>
        <p:guide pos="2780"/>
        <p:guide pos="6068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9960"/>
    </p:cViewPr>
  </p:sorterViewPr>
  <p:notesViewPr>
    <p:cSldViewPr>
      <p:cViewPr varScale="1">
        <p:scale>
          <a:sx n="67" d="100"/>
          <a:sy n="67" d="100"/>
        </p:scale>
        <p:origin x="-1764" y="-108"/>
      </p:cViewPr>
      <p:guideLst>
        <p:guide orient="horz" pos="3105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27" tIns="47314" rIns="94627" bIns="47314" numCol="1" anchor="t" anchorCtr="0" compatLnSpc="1">
            <a:prstTxWarp prst="textNoShape">
              <a:avLst/>
            </a:prstTxWarp>
          </a:bodyPr>
          <a:lstStyle>
            <a:lvl1pPr defTabSz="947947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27" tIns="47314" rIns="94627" bIns="47314" numCol="1" anchor="t" anchorCtr="0" compatLnSpc="1">
            <a:prstTxWarp prst="textNoShape">
              <a:avLst/>
            </a:prstTxWarp>
          </a:bodyPr>
          <a:lstStyle>
            <a:lvl1pPr algn="r" defTabSz="947947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3075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27" tIns="47314" rIns="94627" bIns="47314" numCol="1" anchor="b" anchorCtr="0" compatLnSpc="1">
            <a:prstTxWarp prst="textNoShape">
              <a:avLst/>
            </a:prstTxWarp>
          </a:bodyPr>
          <a:lstStyle>
            <a:lvl1pPr defTabSz="947947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63075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27" tIns="47314" rIns="94627" bIns="47314" numCol="1" anchor="b" anchorCtr="0" compatLnSpc="1">
            <a:prstTxWarp prst="textNoShape">
              <a:avLst/>
            </a:prstTxWarp>
          </a:bodyPr>
          <a:lstStyle>
            <a:lvl1pPr algn="r" defTabSz="947947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6418E3B-C541-4199-9F3D-B941FBD8B0E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03524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9" tIns="45940" rIns="91879" bIns="45940" numCol="1" anchor="t" anchorCtr="0" compatLnSpc="1">
            <a:prstTxWarp prst="textNoShape">
              <a:avLst/>
            </a:prstTxWarp>
          </a:bodyPr>
          <a:lstStyle>
            <a:lvl1pPr defTabSz="918029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863" y="0"/>
            <a:ext cx="2849562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9" tIns="45940" rIns="91879" bIns="45940" numCol="1" anchor="t" anchorCtr="0" compatLnSpc="1">
            <a:prstTxWarp prst="textNoShape">
              <a:avLst/>
            </a:prstTxWarp>
          </a:bodyPr>
          <a:lstStyle>
            <a:lvl1pPr algn="r" defTabSz="918029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8188" y="765175"/>
            <a:ext cx="5300662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667250"/>
            <a:ext cx="4932362" cy="443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9" tIns="45940" rIns="91879" bIns="459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003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29738"/>
            <a:ext cx="2928938" cy="53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9" tIns="45940" rIns="91879" bIns="45940" numCol="1" anchor="b" anchorCtr="0" compatLnSpc="1">
            <a:prstTxWarp prst="textNoShape">
              <a:avLst/>
            </a:prstTxWarp>
          </a:bodyPr>
          <a:lstStyle>
            <a:lvl1pPr defTabSz="918029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03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863" y="9329738"/>
            <a:ext cx="2849562" cy="53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9" tIns="45940" rIns="91879" bIns="45940" numCol="1" anchor="b" anchorCtr="0" compatLnSpc="1">
            <a:prstTxWarp prst="textNoShape">
              <a:avLst/>
            </a:prstTxWarp>
          </a:bodyPr>
          <a:lstStyle>
            <a:lvl1pPr algn="r" defTabSz="918029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F7B14324-63A0-4780-B32E-C2AC2C8E2F0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79538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74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1pPr>
            <a:lvl2pPr marL="747644" indent="-287555" defTabSz="921774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2pPr>
            <a:lvl3pPr marL="1150221" indent="-230045" defTabSz="921774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3pPr>
            <a:lvl4pPr marL="1610309" indent="-230045" defTabSz="921774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4pPr>
            <a:lvl5pPr marL="2070396" indent="-230045" defTabSz="921774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5pPr>
            <a:lvl6pPr marL="2530485" indent="-230045" defTabSz="921774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q"/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6pPr>
            <a:lvl7pPr marL="2990573" indent="-230045" defTabSz="921774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q"/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7pPr>
            <a:lvl8pPr marL="3450661" indent="-230045" defTabSz="921774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q"/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8pPr>
            <a:lvl9pPr marL="3910750" indent="-230045" defTabSz="921774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q"/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9pPr>
          </a:lstStyle>
          <a:p>
            <a:fld id="{4602C7D5-5DC7-4D44-8973-362E971F981A}" type="slidenum">
              <a:rPr lang="en-US" altLang="ko-KR" b="0" smtClean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1</a:t>
            </a:fld>
            <a:endParaRPr lang="en-US" altLang="ko-KR" b="0" smtClean="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217972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2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380338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3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761319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4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403982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5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714673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6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92365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7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674570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8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064259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9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976476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10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944840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11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145693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12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818791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13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900202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14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455687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15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2503451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774"/>
            <a:fld id="{BAF1EFF8-EB59-43FA-B6F7-AA5ADC9BD5E7}" type="slidenum">
              <a:rPr lang="en-US" altLang="ko-KR" smtClean="0">
                <a:solidFill>
                  <a:prstClr val="black"/>
                </a:solidFill>
              </a:rPr>
              <a:pPr defTabSz="921774"/>
              <a:t>16</a:t>
            </a:fld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633953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9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4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1" y="1600204"/>
            <a:ext cx="4381501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199" y="1600204"/>
            <a:ext cx="4381501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8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8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499" y="273052"/>
            <a:ext cx="5537201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2" y="274639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274638"/>
            <a:ext cx="89154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4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C:\Users\DC-150\Desktop\요소모음\ppt_A3가로표지_blank.jp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5" descr="C:\Users\DC-150\Desktop\요소모음\logo_kaoni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242300" y="6318250"/>
            <a:ext cx="131127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28" name="그룹 10"/>
          <p:cNvGrpSpPr>
            <a:grpSpLocks/>
          </p:cNvGrpSpPr>
          <p:nvPr userDrawn="1"/>
        </p:nvGrpSpPr>
        <p:grpSpPr bwMode="auto">
          <a:xfrm>
            <a:off x="-28575" y="138113"/>
            <a:ext cx="2268538" cy="720725"/>
            <a:chOff x="-28575" y="138807"/>
            <a:chExt cx="2268000" cy="720000"/>
          </a:xfrm>
        </p:grpSpPr>
        <p:sp>
          <p:nvSpPr>
            <p:cNvPr id="9" name="직사각형 8"/>
            <p:cNvSpPr/>
            <p:nvPr userDrawn="1"/>
          </p:nvSpPr>
          <p:spPr bwMode="auto">
            <a:xfrm>
              <a:off x="-28575" y="138807"/>
              <a:ext cx="2268000" cy="720000"/>
            </a:xfrm>
            <a:prstGeom prst="rect">
              <a:avLst/>
            </a:prstGeom>
            <a:solidFill>
              <a:srgbClr val="102F82">
                <a:alpha val="60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eaLnBrk="0" latinLnBrk="0" hangingPunct="0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Font typeface="Wingdings" pitchFamily="2" charset="2"/>
                <a:buChar char="q"/>
                <a:defRPr/>
              </a:pPr>
              <a:endParaRPr lang="ko-KR" altLang="en-US">
                <a:latin typeface="Arial" pitchFamily="34" charset="0"/>
              </a:endParaRPr>
            </a:p>
          </p:txBody>
        </p:sp>
        <p:pic>
          <p:nvPicPr>
            <p:cNvPr id="1030" name="Picture 6" descr="C:\Users\DC-150\Desktop\요소모음\slogan.png"/>
            <p:cNvPicPr>
              <a:picLocks noChangeAspect="1" noChangeArrowheads="1"/>
            </p:cNvPicPr>
            <p:nvPr userDrawn="1"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387350" y="328975"/>
              <a:ext cx="1503474" cy="324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0" descr="D:\05_컨설팅_제안서\제안서템플릿_2009\요소모음\ppt_A4가로내지하양배경_blank_01.jpg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56"/>
          <p:cNvSpPr>
            <a:spLocks noChangeArrowheads="1"/>
          </p:cNvSpPr>
          <p:nvPr userDrawn="1"/>
        </p:nvSpPr>
        <p:spPr bwMode="auto">
          <a:xfrm>
            <a:off x="4376738" y="6632575"/>
            <a:ext cx="1127125" cy="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fld id="{A3C83FE6-F855-4769-B4D9-814281DF5B30}" type="slidenum">
              <a:rPr kumimoji="1" lang="en-US" altLang="ko-KR" sz="1000"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kumimoji="1"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5604" name="Picture 5" descr="C:\Users\DC-150\Desktop\요소모음\logo_kaoni.png"/>
          <p:cNvPicPr>
            <a:picLocks noChangeAspect="1" noChangeArrowheads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8888413" y="6570663"/>
            <a:ext cx="89852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5605" name="그룹 15"/>
          <p:cNvGrpSpPr>
            <a:grpSpLocks/>
          </p:cNvGrpSpPr>
          <p:nvPr userDrawn="1"/>
        </p:nvGrpSpPr>
        <p:grpSpPr bwMode="auto">
          <a:xfrm>
            <a:off x="0" y="0"/>
            <a:ext cx="9906000" cy="4114800"/>
            <a:chOff x="0" y="0"/>
            <a:chExt cx="9928800" cy="4115043"/>
          </a:xfrm>
        </p:grpSpPr>
        <p:sp>
          <p:nvSpPr>
            <p:cNvPr id="12" name="직사각형 11"/>
            <p:cNvSpPr/>
            <p:nvPr userDrawn="1"/>
          </p:nvSpPr>
          <p:spPr bwMode="auto">
            <a:xfrm>
              <a:off x="0" y="617574"/>
              <a:ext cx="9928800" cy="3497469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eaLnBrk="0" latinLnBrk="0" hangingPunct="0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Font typeface="Wingdings" pitchFamily="2" charset="2"/>
                <a:buChar char="q"/>
                <a:defRPr/>
              </a:pPr>
              <a:endParaRPr lang="ko-KR" altLang="en-US">
                <a:latin typeface="Arial" pitchFamily="34" charset="0"/>
              </a:endParaRPr>
            </a:p>
          </p:txBody>
        </p:sp>
        <p:sp>
          <p:nvSpPr>
            <p:cNvPr id="10" name="직사각형 9"/>
            <p:cNvSpPr/>
            <p:nvPr userDrawn="1"/>
          </p:nvSpPr>
          <p:spPr bwMode="auto">
            <a:xfrm>
              <a:off x="0" y="0"/>
              <a:ext cx="9928800" cy="611224"/>
            </a:xfrm>
            <a:prstGeom prst="rect">
              <a:avLst/>
            </a:prstGeom>
            <a:solidFill>
              <a:srgbClr val="102F82">
                <a:alpha val="60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eaLnBrk="0" latinLnBrk="0" hangingPunct="0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Font typeface="Wingdings" pitchFamily="2" charset="2"/>
                <a:buChar char="q"/>
                <a:defRPr/>
              </a:pPr>
              <a:endParaRPr lang="ko-KR" altLang="en-US" dirty="0">
                <a:latin typeface="Arial" pitchFamily="34" charset="0"/>
              </a:endParaRPr>
            </a:p>
          </p:txBody>
        </p:sp>
      </p:grpSp>
      <p:sp>
        <p:nvSpPr>
          <p:cNvPr id="16" name="제목 1"/>
          <p:cNvSpPr txBox="1">
            <a:spLocks/>
          </p:cNvSpPr>
          <p:nvPr userDrawn="1"/>
        </p:nvSpPr>
        <p:spPr>
          <a:xfrm>
            <a:off x="273050" y="39688"/>
            <a:ext cx="8915400" cy="571500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endParaRPr kumimoji="1" lang="ko-KR" altLang="en-US" sz="2400" b="0" kern="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  <p:sldLayoutId id="2147483696" r:id="rId12"/>
    <p:sldLayoutId id="2147483695" r:id="rId1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620180" y="2272021"/>
            <a:ext cx="8405812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20000"/>
              </a:spcBef>
            </a:pPr>
            <a:r>
              <a:rPr kumimoji="1" lang="ko-KR" altLang="en-US" sz="3600" dirty="0" smtClean="0">
                <a:solidFill>
                  <a:srgbClr val="000099"/>
                </a:solidFill>
                <a:latin typeface="HY헤드라인M" pitchFamily="18" charset="-127"/>
                <a:ea typeface="HY헤드라인M" pitchFamily="18" charset="-127"/>
              </a:rPr>
              <a:t>자바 웹메일 시스템</a:t>
            </a:r>
            <a:endParaRPr kumimoji="1" lang="en-US" altLang="ko-KR" sz="3600" dirty="0" smtClean="0">
              <a:solidFill>
                <a:srgbClr val="000099"/>
              </a:solidFill>
              <a:latin typeface="HY헤드라인M" pitchFamily="18" charset="-127"/>
              <a:ea typeface="HY헤드라인M" pitchFamily="18" charset="-127"/>
            </a:endParaRPr>
          </a:p>
          <a:p>
            <a:pPr algn="ctr">
              <a:lnSpc>
                <a:spcPct val="120000"/>
              </a:lnSpc>
              <a:spcBef>
                <a:spcPct val="20000"/>
              </a:spcBef>
            </a:pPr>
            <a:r>
              <a:rPr kumimoji="1" lang="en-US" altLang="ko-KR" sz="3600" dirty="0" err="1" smtClean="0">
                <a:solidFill>
                  <a:srgbClr val="000099"/>
                </a:solidFill>
                <a:latin typeface="HY헤드라인M" pitchFamily="18" charset="-127"/>
                <a:ea typeface="HY헤드라인M" pitchFamily="18" charset="-127"/>
              </a:rPr>
              <a:t>JMocha</a:t>
            </a:r>
            <a:r>
              <a:rPr kumimoji="1" lang="ko-KR" altLang="en-US" sz="3600" dirty="0" smtClean="0">
                <a:solidFill>
                  <a:srgbClr val="000099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kumimoji="1" lang="en-US" altLang="ko-KR" sz="3600" dirty="0" smtClean="0">
                <a:solidFill>
                  <a:srgbClr val="000099"/>
                </a:solidFill>
                <a:latin typeface="HY헤드라인M" pitchFamily="18" charset="-127"/>
                <a:ea typeface="HY헤드라인M" pitchFamily="18" charset="-127"/>
              </a:rPr>
              <a:t>Sizing</a:t>
            </a:r>
            <a:endParaRPr kumimoji="1" lang="ko-KR" altLang="en-US" sz="3600" dirty="0">
              <a:solidFill>
                <a:srgbClr val="000099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8195" name="Text Box 9"/>
          <p:cNvSpPr txBox="1">
            <a:spLocks noChangeArrowheads="1"/>
          </p:cNvSpPr>
          <p:nvPr/>
        </p:nvSpPr>
        <p:spPr bwMode="auto">
          <a:xfrm>
            <a:off x="8049344" y="5229200"/>
            <a:ext cx="156966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q"/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q"/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q"/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q"/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ko-KR" sz="1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2016. 9. </a:t>
            </a:r>
            <a:r>
              <a:rPr lang="en-US" altLang="ko-KR" sz="1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24</a:t>
            </a:r>
            <a:endParaRPr lang="en-US" altLang="ko-KR" sz="1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None/>
            </a:pPr>
            <a:r>
              <a:rPr lang="ko-KR" altLang="en-US" sz="1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오픈솔루션팀</a:t>
            </a:r>
            <a:endParaRPr lang="en-US" altLang="ko-KR" sz="18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None/>
            </a:pPr>
            <a:r>
              <a:rPr lang="ko-KR" altLang="en-US" sz="1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이 동호</a:t>
            </a:r>
            <a:endParaRPr lang="en-US" altLang="ko-KR" sz="1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876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Sizing Test Workload Model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2480" y="1052736"/>
            <a:ext cx="8650125" cy="4493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/>
              <a:t>총 사용자 수 </a:t>
            </a:r>
            <a:endParaRPr lang="en-US" altLang="ko-KR" sz="2200" dirty="0" smtClean="0"/>
          </a:p>
          <a:p>
            <a:r>
              <a:rPr lang="en-US" altLang="ko-KR" sz="2200" dirty="0" smtClean="0"/>
              <a:t>       - 3000</a:t>
            </a:r>
            <a:r>
              <a:rPr lang="ko-KR" altLang="en-US" sz="2200" dirty="0" smtClean="0"/>
              <a:t>명</a:t>
            </a:r>
            <a:endParaRPr lang="en-US" altLang="ko-KR" sz="22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/>
              <a:t>주요 메일 사용 시간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- </a:t>
            </a:r>
            <a:r>
              <a:rPr lang="ko-KR" altLang="en-US" sz="2200" dirty="0" smtClean="0"/>
              <a:t>하루 </a:t>
            </a:r>
            <a:r>
              <a:rPr lang="en-US" altLang="ko-KR" sz="2200" dirty="0" smtClean="0"/>
              <a:t>10</a:t>
            </a:r>
            <a:r>
              <a:rPr lang="ko-KR" altLang="en-US" sz="2200" dirty="0" smtClean="0"/>
              <a:t>시간</a:t>
            </a:r>
            <a:r>
              <a:rPr lang="en-US" altLang="ko-KR" sz="2200" dirty="0" smtClean="0"/>
              <a:t>(</a:t>
            </a:r>
            <a:r>
              <a:rPr lang="ko-KR" altLang="en-US" sz="2200" dirty="0" smtClean="0"/>
              <a:t>오전 </a:t>
            </a:r>
            <a:r>
              <a:rPr lang="en-US" altLang="ko-KR" sz="2200" dirty="0" smtClean="0"/>
              <a:t>9</a:t>
            </a:r>
            <a:r>
              <a:rPr lang="ko-KR" altLang="en-US" sz="2200" dirty="0" smtClean="0"/>
              <a:t>시 </a:t>
            </a:r>
            <a:r>
              <a:rPr lang="en-US" altLang="ko-KR" sz="2200" dirty="0" smtClean="0"/>
              <a:t>~ </a:t>
            </a:r>
            <a:r>
              <a:rPr lang="ko-KR" altLang="en-US" sz="2200" dirty="0" smtClean="0"/>
              <a:t>오후 </a:t>
            </a:r>
            <a:r>
              <a:rPr lang="en-US" altLang="ko-KR" sz="2200" dirty="0" smtClean="0"/>
              <a:t>7</a:t>
            </a:r>
            <a:r>
              <a:rPr lang="ko-KR" altLang="en-US" sz="2200" dirty="0" smtClean="0"/>
              <a:t>시</a:t>
            </a:r>
            <a:r>
              <a:rPr lang="en-US" altLang="ko-KR" sz="2200" dirty="0" smtClean="0"/>
              <a:t>)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>
                <a:solidFill>
                  <a:srgbClr val="000000"/>
                </a:solidFill>
              </a:rPr>
              <a:t>평균 메일 크기</a:t>
            </a:r>
            <a:endParaRPr lang="en-US" altLang="ko-KR" sz="2200" dirty="0">
              <a:solidFill>
                <a:srgbClr val="000000"/>
              </a:solidFill>
            </a:endParaRPr>
          </a:p>
          <a:p>
            <a:r>
              <a:rPr lang="en-US" altLang="ko-KR" sz="2200" dirty="0" smtClean="0"/>
              <a:t>       - 170KB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/>
              <a:t>수신 메일 수 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</a:t>
            </a:r>
            <a:r>
              <a:rPr lang="en-US" altLang="ko-KR" sz="2200" dirty="0"/>
              <a:t>-</a:t>
            </a:r>
            <a:r>
              <a:rPr lang="en-US" altLang="ko-KR" sz="2200" dirty="0" smtClean="0"/>
              <a:t> </a:t>
            </a:r>
            <a:r>
              <a:rPr lang="ko-KR" altLang="en-US" sz="2200" dirty="0" smtClean="0"/>
              <a:t>각 사람당 하루 </a:t>
            </a:r>
            <a:r>
              <a:rPr lang="en-US" altLang="ko-KR" sz="2200" dirty="0" smtClean="0"/>
              <a:t>100</a:t>
            </a:r>
            <a:r>
              <a:rPr lang="ko-KR" altLang="en-US" sz="2200" dirty="0" smtClean="0"/>
              <a:t>통</a:t>
            </a:r>
            <a:r>
              <a:rPr lang="en-US" altLang="ko-KR" sz="2200" dirty="0" smtClean="0"/>
              <a:t>, 3000*100 = </a:t>
            </a:r>
            <a:r>
              <a:rPr lang="ko-KR" altLang="en-US" sz="2200" dirty="0" smtClean="0"/>
              <a:t>총 </a:t>
            </a:r>
            <a:r>
              <a:rPr lang="en-US" altLang="ko-KR" sz="2200" dirty="0" smtClean="0"/>
              <a:t>300,000</a:t>
            </a:r>
            <a:r>
              <a:rPr lang="ko-KR" altLang="en-US" sz="2200" dirty="0" smtClean="0"/>
              <a:t>통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- </a:t>
            </a:r>
            <a:r>
              <a:rPr lang="ko-KR" altLang="en-US" sz="2200" dirty="0" smtClean="0"/>
              <a:t>이 경우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초당 </a:t>
            </a:r>
            <a:r>
              <a:rPr lang="en-US" altLang="ko-KR" sz="2200" dirty="0" smtClean="0"/>
              <a:t>9</a:t>
            </a:r>
            <a:r>
              <a:rPr lang="ko-KR" altLang="en-US" sz="2200" dirty="0" smtClean="0"/>
              <a:t>통</a:t>
            </a:r>
            <a:r>
              <a:rPr lang="en-US" altLang="ko-KR" sz="2200" dirty="0" smtClean="0"/>
              <a:t>(9/s)</a:t>
            </a:r>
            <a:r>
              <a:rPr lang="ko-KR" altLang="en-US" sz="2200" dirty="0" smtClean="0"/>
              <a:t>이면 </a:t>
            </a:r>
            <a:r>
              <a:rPr lang="en-US" altLang="ko-KR" sz="2200" dirty="0" smtClean="0"/>
              <a:t>10</a:t>
            </a:r>
            <a:r>
              <a:rPr lang="ko-KR" altLang="en-US" sz="2200" dirty="0" smtClean="0"/>
              <a:t>시간</a:t>
            </a:r>
            <a:r>
              <a:rPr lang="en-US" altLang="ko-KR" sz="2200" dirty="0" smtClean="0"/>
              <a:t>*3600</a:t>
            </a:r>
            <a:r>
              <a:rPr lang="ko-KR" altLang="en-US" sz="2200" dirty="0" smtClean="0"/>
              <a:t>초</a:t>
            </a:r>
            <a:r>
              <a:rPr lang="en-US" altLang="ko-KR" sz="2200" dirty="0" smtClean="0"/>
              <a:t>*9 = 324,000</a:t>
            </a:r>
            <a:r>
              <a:rPr lang="ko-KR" altLang="en-US" sz="2200" dirty="0" smtClean="0"/>
              <a:t>통으로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  </a:t>
            </a:r>
            <a:r>
              <a:rPr lang="ko-KR" altLang="en-US" sz="2200" dirty="0" smtClean="0"/>
              <a:t>충분하지만 초당 </a:t>
            </a:r>
            <a:r>
              <a:rPr lang="en-US" altLang="ko-KR" sz="2200" dirty="0" smtClean="0"/>
              <a:t>10</a:t>
            </a:r>
            <a:r>
              <a:rPr lang="ko-KR" altLang="en-US" sz="2200" dirty="0" smtClean="0"/>
              <a:t>통</a:t>
            </a:r>
            <a:r>
              <a:rPr lang="en-US" altLang="ko-KR" sz="2200" dirty="0" smtClean="0"/>
              <a:t>(10/s)</a:t>
            </a:r>
            <a:r>
              <a:rPr lang="ko-KR" altLang="en-US" sz="2200" dirty="0" smtClean="0"/>
              <a:t>을 테스트 기준으로 함</a:t>
            </a:r>
            <a:r>
              <a:rPr lang="en-US" altLang="ko-KR" sz="2200" dirty="0" smtClean="0"/>
              <a:t>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>
                <a:solidFill>
                  <a:srgbClr val="000000"/>
                </a:solidFill>
              </a:rPr>
              <a:t>읽는 </a:t>
            </a:r>
            <a:r>
              <a:rPr lang="ko-KR" altLang="en-US" sz="2200" dirty="0">
                <a:solidFill>
                  <a:srgbClr val="000000"/>
                </a:solidFill>
              </a:rPr>
              <a:t>메일 수 </a:t>
            </a:r>
            <a:endParaRPr lang="en-US" altLang="ko-KR" sz="2200" dirty="0">
              <a:solidFill>
                <a:srgbClr val="000000"/>
              </a:solidFill>
            </a:endParaRPr>
          </a:p>
          <a:p>
            <a:r>
              <a:rPr lang="en-US" altLang="ko-KR" sz="2200" dirty="0" smtClean="0"/>
              <a:t>       - </a:t>
            </a:r>
            <a:r>
              <a:rPr lang="ko-KR" altLang="en-US" sz="2200" dirty="0" smtClean="0"/>
              <a:t>각 사람이 수신한 </a:t>
            </a:r>
            <a:r>
              <a:rPr lang="en-US" altLang="ko-KR" sz="2200" dirty="0" smtClean="0"/>
              <a:t>10</a:t>
            </a:r>
            <a:r>
              <a:rPr lang="ko-KR" altLang="en-US" sz="2200" dirty="0" smtClean="0"/>
              <a:t>통을 모두 읽는다고 가정할 때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수신 메일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  </a:t>
            </a:r>
            <a:r>
              <a:rPr lang="ko-KR" altLang="en-US" sz="2200" dirty="0" smtClean="0"/>
              <a:t>수와 동일한 초당 </a:t>
            </a:r>
            <a:r>
              <a:rPr lang="en-US" altLang="ko-KR" sz="2200" dirty="0" smtClean="0"/>
              <a:t>10</a:t>
            </a:r>
            <a:r>
              <a:rPr lang="ko-KR" altLang="en-US" sz="2200" dirty="0" smtClean="0"/>
              <a:t>통</a:t>
            </a:r>
            <a:r>
              <a:rPr lang="en-US" altLang="ko-KR" sz="2200" dirty="0" smtClean="0"/>
              <a:t>(10/s)</a:t>
            </a:r>
            <a:r>
              <a:rPr lang="ko-KR" altLang="en-US" sz="2200" dirty="0" smtClean="0"/>
              <a:t>을 테스트 기준으로 함</a:t>
            </a:r>
            <a:r>
              <a:rPr lang="en-US" altLang="ko-KR" sz="2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55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Sizing Test Workload Model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2480" y="1052736"/>
            <a:ext cx="9762609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/>
              <a:t>메일 작성 수 </a:t>
            </a:r>
            <a:endParaRPr lang="en-US" altLang="ko-KR" sz="2200" dirty="0" smtClean="0"/>
          </a:p>
          <a:p>
            <a:r>
              <a:rPr lang="en-US" altLang="ko-KR" sz="2200" dirty="0" smtClean="0"/>
              <a:t>       - </a:t>
            </a:r>
            <a:r>
              <a:rPr lang="ko-KR" altLang="en-US" sz="2200" dirty="0" smtClean="0"/>
              <a:t>하루 </a:t>
            </a:r>
            <a:r>
              <a:rPr lang="en-US" altLang="ko-KR" sz="2200" dirty="0" smtClean="0"/>
              <a:t>100</a:t>
            </a:r>
            <a:r>
              <a:rPr lang="ko-KR" altLang="en-US" sz="2200" dirty="0" smtClean="0"/>
              <a:t>통을 수신할 경우 </a:t>
            </a:r>
            <a:r>
              <a:rPr lang="en-US" altLang="ko-KR" sz="2200" dirty="0" smtClean="0"/>
              <a:t>20%</a:t>
            </a:r>
            <a:r>
              <a:rPr lang="ko-KR" altLang="en-US" sz="2200" dirty="0" smtClean="0"/>
              <a:t>에 답장을 보내는 것으로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   </a:t>
            </a:r>
            <a:r>
              <a:rPr lang="ko-KR" altLang="en-US" sz="2200" dirty="0" smtClean="0"/>
              <a:t>가정하여 초당 </a:t>
            </a:r>
            <a:r>
              <a:rPr lang="en-US" altLang="ko-KR" sz="2200" dirty="0" smtClean="0"/>
              <a:t>2</a:t>
            </a:r>
            <a:r>
              <a:rPr lang="ko-KR" altLang="en-US" sz="2200" dirty="0" smtClean="0"/>
              <a:t>통</a:t>
            </a:r>
            <a:r>
              <a:rPr lang="en-US" altLang="ko-KR" sz="2200" dirty="0" smtClean="0"/>
              <a:t>(2/s)</a:t>
            </a:r>
            <a:r>
              <a:rPr lang="ko-KR" altLang="en-US" sz="2200" dirty="0" smtClean="0"/>
              <a:t>를 테스트 기준으로 함</a:t>
            </a:r>
            <a:r>
              <a:rPr lang="en-US" altLang="ko-KR" sz="2200" dirty="0" smtClean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/>
              <a:t>메일 목록 보기 빈도 수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- </a:t>
            </a:r>
            <a:r>
              <a:rPr lang="ko-KR" altLang="en-US" sz="2200" dirty="0" smtClean="0"/>
              <a:t>각 사용자가 </a:t>
            </a:r>
            <a:r>
              <a:rPr lang="en-US" altLang="ko-KR" sz="2200" dirty="0" smtClean="0"/>
              <a:t>5</a:t>
            </a:r>
            <a:r>
              <a:rPr lang="ko-KR" altLang="en-US" sz="2200" dirty="0" smtClean="0"/>
              <a:t>분마다 메일 목록을 </a:t>
            </a:r>
            <a:r>
              <a:rPr lang="en-US" altLang="ko-KR" sz="2200" dirty="0" smtClean="0"/>
              <a:t>refresh</a:t>
            </a:r>
            <a:r>
              <a:rPr lang="ko-KR" altLang="en-US" sz="2200" dirty="0"/>
              <a:t>하</a:t>
            </a:r>
            <a:r>
              <a:rPr lang="ko-KR" altLang="en-US" sz="2200" dirty="0" smtClean="0"/>
              <a:t>고 균등하게 분포되어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  </a:t>
            </a:r>
            <a:r>
              <a:rPr lang="ko-KR" altLang="en-US" sz="2200" dirty="0" smtClean="0"/>
              <a:t>있다고 가정할 경우 </a:t>
            </a:r>
            <a:r>
              <a:rPr lang="en-US" altLang="ko-KR" sz="2200" dirty="0" smtClean="0"/>
              <a:t>3000</a:t>
            </a:r>
            <a:r>
              <a:rPr lang="ko-KR" altLang="en-US" sz="2200" dirty="0" smtClean="0"/>
              <a:t>회</a:t>
            </a:r>
            <a:r>
              <a:rPr lang="en-US" altLang="ko-KR" sz="2200" dirty="0" smtClean="0"/>
              <a:t>/5</a:t>
            </a:r>
            <a:r>
              <a:rPr lang="ko-KR" altLang="en-US" sz="2200" dirty="0" smtClean="0"/>
              <a:t>분</a:t>
            </a:r>
            <a:r>
              <a:rPr lang="en-US" altLang="ko-KR" sz="2200" dirty="0" smtClean="0"/>
              <a:t>(300</a:t>
            </a:r>
            <a:r>
              <a:rPr lang="ko-KR" altLang="en-US" sz="2200" dirty="0" smtClean="0"/>
              <a:t>초</a:t>
            </a:r>
            <a:r>
              <a:rPr lang="en-US" altLang="ko-KR" sz="2200" dirty="0" smtClean="0"/>
              <a:t>) = 10</a:t>
            </a:r>
            <a:r>
              <a:rPr lang="ko-KR" altLang="en-US" sz="2200" dirty="0" smtClean="0"/>
              <a:t>회</a:t>
            </a:r>
            <a:r>
              <a:rPr lang="en-US" altLang="ko-KR" sz="2200" dirty="0" smtClean="0"/>
              <a:t>/s</a:t>
            </a:r>
            <a:r>
              <a:rPr lang="ko-KR" altLang="en-US" sz="2200" dirty="0" smtClean="0"/>
              <a:t>를 테스트 기준으로 함</a:t>
            </a:r>
            <a:r>
              <a:rPr lang="en-US" altLang="ko-KR" sz="2200" dirty="0" smtClean="0"/>
              <a:t>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>
                <a:solidFill>
                  <a:srgbClr val="000000"/>
                </a:solidFill>
              </a:rPr>
              <a:t>위와 같이 </a:t>
            </a:r>
            <a:r>
              <a:rPr lang="en-US" altLang="ko-KR" sz="2200" dirty="0" smtClean="0">
                <a:solidFill>
                  <a:srgbClr val="000000"/>
                </a:solidFill>
              </a:rPr>
              <a:t>4</a:t>
            </a:r>
            <a:r>
              <a:rPr lang="ko-KR" altLang="en-US" sz="2200" dirty="0" smtClean="0">
                <a:solidFill>
                  <a:srgbClr val="000000"/>
                </a:solidFill>
              </a:rPr>
              <a:t>가지 주요 </a:t>
            </a:r>
            <a:r>
              <a:rPr lang="en-US" altLang="ko-KR" sz="2200" dirty="0" smtClean="0">
                <a:solidFill>
                  <a:srgbClr val="000000"/>
                </a:solidFill>
              </a:rPr>
              <a:t>Operation(</a:t>
            </a:r>
            <a:r>
              <a:rPr lang="ko-KR" altLang="en-US" sz="2200" dirty="0" smtClean="0">
                <a:solidFill>
                  <a:srgbClr val="000000"/>
                </a:solidFill>
              </a:rPr>
              <a:t>메일 읽기</a:t>
            </a:r>
            <a:r>
              <a:rPr lang="en-US" altLang="ko-KR" sz="2200" dirty="0" smtClean="0">
                <a:solidFill>
                  <a:srgbClr val="000000"/>
                </a:solidFill>
              </a:rPr>
              <a:t>, </a:t>
            </a:r>
            <a:r>
              <a:rPr lang="ko-KR" altLang="en-US" sz="2200" dirty="0" smtClean="0">
                <a:solidFill>
                  <a:srgbClr val="000000"/>
                </a:solidFill>
              </a:rPr>
              <a:t>메일 쓰기</a:t>
            </a:r>
            <a:r>
              <a:rPr lang="en-US" altLang="ko-KR" sz="2200" dirty="0" smtClean="0">
                <a:solidFill>
                  <a:srgbClr val="000000"/>
                </a:solidFill>
              </a:rPr>
              <a:t>, </a:t>
            </a:r>
            <a:r>
              <a:rPr lang="ko-KR" altLang="en-US" sz="2200" dirty="0" smtClean="0">
                <a:solidFill>
                  <a:srgbClr val="000000"/>
                </a:solidFill>
              </a:rPr>
              <a:t>메일 수신</a:t>
            </a:r>
            <a:r>
              <a:rPr lang="en-US" altLang="ko-KR" sz="2200" dirty="0" smtClean="0">
                <a:solidFill>
                  <a:srgbClr val="000000"/>
                </a:solidFill>
              </a:rPr>
              <a:t>, </a:t>
            </a:r>
            <a:r>
              <a:rPr lang="ko-KR" altLang="en-US" sz="2200" dirty="0" smtClean="0">
                <a:solidFill>
                  <a:srgbClr val="000000"/>
                </a:solidFill>
              </a:rPr>
              <a:t> </a:t>
            </a:r>
            <a:endParaRPr lang="en-US" altLang="ko-KR" sz="2200" dirty="0" smtClean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</a:t>
            </a:r>
            <a:r>
              <a:rPr lang="ko-KR" altLang="en-US" sz="2200" dirty="0" smtClean="0">
                <a:solidFill>
                  <a:srgbClr val="000000"/>
                </a:solidFill>
              </a:rPr>
              <a:t>메일 목록</a:t>
            </a:r>
            <a:r>
              <a:rPr lang="en-US" altLang="ko-KR" sz="2200" dirty="0" smtClean="0">
                <a:solidFill>
                  <a:srgbClr val="000000"/>
                </a:solidFill>
              </a:rPr>
              <a:t>)</a:t>
            </a:r>
            <a:r>
              <a:rPr lang="ko-KR" altLang="en-US" sz="2200" dirty="0" smtClean="0">
                <a:solidFill>
                  <a:srgbClr val="000000"/>
                </a:solidFill>
              </a:rPr>
              <a:t>을 기준으로 </a:t>
            </a:r>
            <a:r>
              <a:rPr lang="en-US" altLang="ko-KR" sz="2200" dirty="0" smtClean="0">
                <a:solidFill>
                  <a:srgbClr val="000000"/>
                </a:solidFill>
              </a:rPr>
              <a:t>Sizing </a:t>
            </a:r>
            <a:r>
              <a:rPr lang="ko-KR" altLang="en-US" sz="2200" dirty="0" smtClean="0">
                <a:solidFill>
                  <a:srgbClr val="000000"/>
                </a:solidFill>
              </a:rPr>
              <a:t>테스트를 수행함</a:t>
            </a:r>
            <a:r>
              <a:rPr lang="en-US" altLang="ko-KR" sz="2200" dirty="0" smtClean="0">
                <a:solidFill>
                  <a:srgbClr val="000000"/>
                </a:solidFill>
              </a:rPr>
              <a:t>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>
                <a:solidFill>
                  <a:srgbClr val="000000"/>
                </a:solidFill>
              </a:rPr>
              <a:t>메일 읽기와 목록은 </a:t>
            </a:r>
            <a:r>
              <a:rPr lang="en-US" altLang="ko-KR" sz="2200" dirty="0" smtClean="0">
                <a:solidFill>
                  <a:srgbClr val="000000"/>
                </a:solidFill>
              </a:rPr>
              <a:t>Read Operation, </a:t>
            </a:r>
            <a:r>
              <a:rPr lang="ko-KR" altLang="en-US" sz="2200" dirty="0" smtClean="0">
                <a:solidFill>
                  <a:srgbClr val="000000"/>
                </a:solidFill>
              </a:rPr>
              <a:t>메일 쓰기와 수신은 </a:t>
            </a:r>
            <a:r>
              <a:rPr lang="en-US" altLang="ko-KR" sz="2200" dirty="0" smtClean="0">
                <a:solidFill>
                  <a:srgbClr val="000000"/>
                </a:solidFill>
              </a:rPr>
              <a:t>Write </a:t>
            </a: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Operation</a:t>
            </a:r>
            <a:r>
              <a:rPr lang="ko-KR" altLang="en-US" sz="2200" dirty="0" smtClean="0">
                <a:solidFill>
                  <a:srgbClr val="000000"/>
                </a:solidFill>
              </a:rPr>
              <a:t>으로 분류됨</a:t>
            </a:r>
            <a:r>
              <a:rPr lang="en-US" altLang="ko-KR" sz="2200" dirty="0" smtClean="0">
                <a:solidFill>
                  <a:srgbClr val="000000"/>
                </a:solidFill>
              </a:rPr>
              <a:t>.</a:t>
            </a:r>
            <a:endParaRPr lang="en-US" altLang="ko-KR" sz="2200" dirty="0">
              <a:solidFill>
                <a:srgbClr val="000000"/>
              </a:solidFill>
            </a:endParaRPr>
          </a:p>
          <a:p>
            <a:pPr lvl="0"/>
            <a:endParaRPr lang="en-US" altLang="ko-KR" sz="22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93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Sizing Test Server Machine Spec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2480" y="1052736"/>
            <a:ext cx="9204764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200" dirty="0" smtClean="0"/>
              <a:t>CPU </a:t>
            </a:r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- Intel Xeon E3-1240 v5 3.50 GHz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200" dirty="0" smtClean="0"/>
              <a:t>RAM </a:t>
            </a:r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- 32GB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altLang="ko-KR" sz="2200" dirty="0" smtClean="0">
                <a:solidFill>
                  <a:srgbClr val="000000"/>
                </a:solidFill>
              </a:rPr>
              <a:t>HDD 1</a:t>
            </a: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- SAS 600GB 10,000 rpm</a:t>
            </a: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  : </a:t>
            </a:r>
            <a:r>
              <a:rPr lang="ko-KR" altLang="en-US" sz="2200" dirty="0" smtClean="0">
                <a:solidFill>
                  <a:srgbClr val="000000"/>
                </a:solidFill>
              </a:rPr>
              <a:t>메일 서버 애플리케이션 및 메일박스</a:t>
            </a:r>
            <a:r>
              <a:rPr lang="en-US" altLang="ko-KR" sz="2200" dirty="0" smtClean="0">
                <a:solidFill>
                  <a:srgbClr val="000000"/>
                </a:solidFill>
              </a:rPr>
              <a:t>(MariaDB</a:t>
            </a:r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Database)</a:t>
            </a:r>
            <a:r>
              <a:rPr lang="ko-KR" altLang="en-US" sz="2200" dirty="0" smtClean="0">
                <a:solidFill>
                  <a:srgbClr val="000000"/>
                </a:solidFill>
              </a:rPr>
              <a:t> 저장용</a:t>
            </a:r>
            <a:endParaRPr lang="en-US" altLang="ko-KR" sz="2200" dirty="0" smtClean="0">
              <a:solidFill>
                <a:srgbClr val="000000"/>
              </a:solidFill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altLang="ko-KR" sz="2200" dirty="0">
                <a:solidFill>
                  <a:srgbClr val="000000"/>
                </a:solidFill>
              </a:rPr>
              <a:t>HDD </a:t>
            </a:r>
            <a:r>
              <a:rPr lang="en-US" altLang="ko-KR" sz="2200" dirty="0" smtClean="0">
                <a:solidFill>
                  <a:srgbClr val="000000"/>
                </a:solidFill>
              </a:rPr>
              <a:t>2</a:t>
            </a:r>
            <a:endParaRPr lang="en-US" altLang="ko-KR" sz="2200" dirty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      - SAS 600GB 10,000 rpm</a:t>
            </a: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        : </a:t>
            </a:r>
            <a:r>
              <a:rPr lang="ko-KR" altLang="en-US" sz="2200" dirty="0">
                <a:solidFill>
                  <a:srgbClr val="000000"/>
                </a:solidFill>
              </a:rPr>
              <a:t>메일 서버 애플리케이션 로그 </a:t>
            </a:r>
            <a:r>
              <a:rPr lang="ko-KR" altLang="en-US" sz="2200" dirty="0" smtClean="0">
                <a:solidFill>
                  <a:srgbClr val="000000"/>
                </a:solidFill>
              </a:rPr>
              <a:t>저장용</a:t>
            </a:r>
            <a:endParaRPr lang="en-US" altLang="ko-KR" sz="2200" dirty="0">
              <a:solidFill>
                <a:srgbClr val="000000"/>
              </a:solidFill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altLang="ko-KR" sz="2200" dirty="0" smtClean="0">
                <a:solidFill>
                  <a:srgbClr val="000000"/>
                </a:solidFill>
              </a:rPr>
              <a:t>SSD</a:t>
            </a:r>
            <a:endParaRPr lang="en-US" altLang="ko-KR" sz="2200" dirty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      - </a:t>
            </a:r>
            <a:r>
              <a:rPr lang="en-US" altLang="ko-KR" sz="2200" dirty="0" smtClean="0">
                <a:solidFill>
                  <a:srgbClr val="000000"/>
                </a:solidFill>
              </a:rPr>
              <a:t>SATA3 128GB</a:t>
            </a:r>
            <a:endParaRPr lang="en-US" altLang="ko-KR" sz="2200" dirty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        : </a:t>
            </a:r>
            <a:r>
              <a:rPr lang="ko-KR" altLang="en-US" sz="2200" dirty="0" smtClean="0">
                <a:solidFill>
                  <a:srgbClr val="000000"/>
                </a:solidFill>
              </a:rPr>
              <a:t>메일큐 및 </a:t>
            </a:r>
            <a:r>
              <a:rPr lang="en-US" altLang="ko-KR" sz="2200" dirty="0" smtClean="0">
                <a:solidFill>
                  <a:srgbClr val="000000"/>
                </a:solidFill>
              </a:rPr>
              <a:t>MariaDB Redo(Transaction) Log </a:t>
            </a:r>
            <a:r>
              <a:rPr lang="ko-KR" altLang="en-US" sz="2200" dirty="0" smtClean="0">
                <a:solidFill>
                  <a:srgbClr val="000000"/>
                </a:solidFill>
              </a:rPr>
              <a:t>파일 저장용</a:t>
            </a:r>
            <a:endParaRPr lang="en-US" altLang="ko-KR" sz="2200" dirty="0" smtClean="0">
              <a:solidFill>
                <a:srgbClr val="000000"/>
              </a:solidFill>
            </a:endParaRPr>
          </a:p>
          <a:p>
            <a:pPr lvl="0"/>
            <a:endParaRPr lang="en-US" altLang="ko-KR" sz="2200" dirty="0">
              <a:solidFill>
                <a:srgbClr val="000000"/>
              </a:solidFill>
            </a:endParaRPr>
          </a:p>
          <a:p>
            <a:pPr lvl="0"/>
            <a:r>
              <a:rPr lang="ko-KR" altLang="ko-KR" sz="2000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☞</a:t>
            </a:r>
            <a:r>
              <a:rPr lang="ko-KR" altLang="en-US" sz="2000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2000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메일의 임시 저장소인 메일큐와 고정 크기인 </a:t>
            </a:r>
            <a:r>
              <a:rPr lang="en-US" altLang="ko-KR" sz="2000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Redo Log </a:t>
            </a:r>
            <a:r>
              <a:rPr lang="ko-KR" altLang="en-US" sz="2000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파일을 고성능의 </a:t>
            </a:r>
            <a:endParaRPr lang="en-US" altLang="ko-KR" sz="2000" dirty="0" smtClean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2000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SSD</a:t>
            </a:r>
            <a:r>
              <a:rPr lang="ko-KR" altLang="en-US" sz="2000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에 할당하여 성능을 향상시킴</a:t>
            </a:r>
            <a:endParaRPr lang="en-US" altLang="ko-KR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30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Test Result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2480" y="1052736"/>
            <a:ext cx="9116598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/>
              <a:t>메일 수신 성능 </a:t>
            </a:r>
            <a:endParaRPr lang="en-US" altLang="ko-KR" sz="2200" dirty="0" smtClean="0"/>
          </a:p>
          <a:p>
            <a:r>
              <a:rPr lang="en-US" altLang="ko-KR" sz="2200" dirty="0" smtClean="0"/>
              <a:t>       - </a:t>
            </a:r>
            <a:r>
              <a:rPr lang="ko-KR" altLang="en-US" sz="2200" dirty="0" smtClean="0"/>
              <a:t>최대 </a:t>
            </a:r>
            <a:r>
              <a:rPr lang="en-US" altLang="ko-KR" sz="2200" dirty="0" smtClean="0"/>
              <a:t>50</a:t>
            </a:r>
            <a:r>
              <a:rPr lang="ko-KR" altLang="en-US" sz="2200" dirty="0" smtClean="0"/>
              <a:t>통</a:t>
            </a:r>
            <a:r>
              <a:rPr lang="en-US" altLang="ko-KR" sz="2200" dirty="0" smtClean="0"/>
              <a:t>/s(CPU </a:t>
            </a:r>
            <a:r>
              <a:rPr lang="ko-KR" altLang="en-US" sz="2200" dirty="0" smtClean="0"/>
              <a:t>사용률</a:t>
            </a:r>
            <a:r>
              <a:rPr lang="en-US" altLang="ko-KR" sz="2200" dirty="0" smtClean="0"/>
              <a:t>: 50 ~ 60%)</a:t>
            </a:r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- 10</a:t>
            </a:r>
            <a:r>
              <a:rPr lang="ko-KR" altLang="en-US" sz="2200" dirty="0" smtClean="0"/>
              <a:t>통</a:t>
            </a:r>
            <a:r>
              <a:rPr lang="en-US" altLang="ko-KR" sz="2200" dirty="0" smtClean="0"/>
              <a:t>/s(CPU </a:t>
            </a:r>
            <a:r>
              <a:rPr lang="ko-KR" altLang="en-US" sz="2200" dirty="0" smtClean="0"/>
              <a:t>사용률</a:t>
            </a:r>
            <a:r>
              <a:rPr lang="en-US" altLang="ko-KR" sz="2200" dirty="0" smtClean="0"/>
              <a:t>: </a:t>
            </a:r>
            <a:r>
              <a:rPr lang="ko-KR" altLang="en-US" sz="2200" dirty="0" smtClean="0"/>
              <a:t>약 </a:t>
            </a:r>
            <a:r>
              <a:rPr lang="en-US" altLang="ko-KR" sz="2200" dirty="0" smtClean="0"/>
              <a:t>20%)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/>
              <a:t>메일 읽기 성능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- </a:t>
            </a:r>
            <a:r>
              <a:rPr lang="ko-KR" altLang="en-US" sz="2200" dirty="0" smtClean="0"/>
              <a:t>최대 </a:t>
            </a:r>
            <a:r>
              <a:rPr lang="en-US" altLang="ko-KR" sz="2200" dirty="0" smtClean="0"/>
              <a:t>35</a:t>
            </a:r>
            <a:r>
              <a:rPr lang="ko-KR" altLang="en-US" sz="2200" dirty="0" smtClean="0"/>
              <a:t>통</a:t>
            </a:r>
            <a:r>
              <a:rPr lang="en-US" altLang="ko-KR" sz="2200" dirty="0" smtClean="0"/>
              <a:t>/s(CPU </a:t>
            </a:r>
            <a:r>
              <a:rPr lang="ko-KR" altLang="en-US" sz="2200" dirty="0" smtClean="0"/>
              <a:t>사용률</a:t>
            </a:r>
            <a:r>
              <a:rPr lang="en-US" altLang="ko-KR" sz="2200" dirty="0" smtClean="0"/>
              <a:t>: 95%</a:t>
            </a:r>
            <a:r>
              <a:rPr lang="ko-KR" altLang="en-US" sz="2200" dirty="0" smtClean="0"/>
              <a:t>이상</a:t>
            </a:r>
            <a:r>
              <a:rPr lang="en-US" altLang="ko-KR" sz="2200" dirty="0" smtClean="0"/>
              <a:t>)</a:t>
            </a:r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- 10</a:t>
            </a:r>
            <a:r>
              <a:rPr lang="ko-KR" altLang="en-US" sz="2200" dirty="0" smtClean="0"/>
              <a:t>통</a:t>
            </a:r>
            <a:r>
              <a:rPr lang="en-US" altLang="ko-KR" sz="2200" dirty="0" smtClean="0"/>
              <a:t>/s(CPU </a:t>
            </a:r>
            <a:r>
              <a:rPr lang="ko-KR" altLang="en-US" sz="2200" dirty="0" smtClean="0"/>
              <a:t>사용률</a:t>
            </a:r>
            <a:r>
              <a:rPr lang="en-US" altLang="ko-KR" sz="2200" dirty="0" smtClean="0"/>
              <a:t>: </a:t>
            </a:r>
            <a:r>
              <a:rPr lang="ko-KR" altLang="en-US" sz="2200" dirty="0" smtClean="0"/>
              <a:t>약 </a:t>
            </a:r>
            <a:r>
              <a:rPr lang="en-US" altLang="ko-KR" sz="2200" dirty="0" smtClean="0"/>
              <a:t>30%)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>
                <a:solidFill>
                  <a:srgbClr val="000000"/>
                </a:solidFill>
              </a:rPr>
              <a:t>메일 쓰기 성능</a:t>
            </a:r>
            <a:endParaRPr lang="en-US" altLang="ko-KR" sz="2200" dirty="0">
              <a:solidFill>
                <a:srgbClr val="000000"/>
              </a:solidFill>
            </a:endParaRPr>
          </a:p>
          <a:p>
            <a:r>
              <a:rPr lang="en-US" altLang="ko-KR" sz="2200" dirty="0" smtClean="0"/>
              <a:t>       - </a:t>
            </a:r>
            <a:r>
              <a:rPr lang="ko-KR" altLang="en-US" sz="2200" dirty="0" smtClean="0"/>
              <a:t>최대 </a:t>
            </a:r>
            <a:r>
              <a:rPr lang="en-US" altLang="ko-KR" sz="2200" dirty="0" smtClean="0"/>
              <a:t>30</a:t>
            </a:r>
            <a:r>
              <a:rPr lang="ko-KR" altLang="en-US" sz="2200" dirty="0" smtClean="0"/>
              <a:t>통</a:t>
            </a:r>
            <a:r>
              <a:rPr lang="en-US" altLang="ko-KR" sz="2200" dirty="0" smtClean="0"/>
              <a:t>/s(CPU </a:t>
            </a:r>
            <a:r>
              <a:rPr lang="ko-KR" altLang="en-US" sz="2200" dirty="0" smtClean="0"/>
              <a:t>사용률</a:t>
            </a:r>
            <a:r>
              <a:rPr lang="en-US" altLang="ko-KR" sz="2200" dirty="0" smtClean="0"/>
              <a:t>: 95%</a:t>
            </a:r>
            <a:r>
              <a:rPr lang="ko-KR" altLang="en-US" sz="2200" dirty="0" smtClean="0"/>
              <a:t>이상</a:t>
            </a:r>
            <a:r>
              <a:rPr lang="en-US" altLang="ko-KR" sz="2200" dirty="0" smtClean="0"/>
              <a:t>)</a:t>
            </a:r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- 2</a:t>
            </a:r>
            <a:r>
              <a:rPr lang="ko-KR" altLang="en-US" sz="2200" dirty="0" smtClean="0"/>
              <a:t>통</a:t>
            </a:r>
            <a:r>
              <a:rPr lang="en-US" altLang="ko-KR" sz="2200" dirty="0" smtClean="0"/>
              <a:t>/s(CPU </a:t>
            </a:r>
            <a:r>
              <a:rPr lang="ko-KR" altLang="en-US" sz="2200" dirty="0" smtClean="0"/>
              <a:t>사용률</a:t>
            </a:r>
            <a:r>
              <a:rPr lang="en-US" altLang="ko-KR" sz="2200" dirty="0" smtClean="0"/>
              <a:t>: </a:t>
            </a:r>
            <a:r>
              <a:rPr lang="ko-KR" altLang="en-US" sz="2200" dirty="0" smtClean="0"/>
              <a:t>약 </a:t>
            </a:r>
            <a:r>
              <a:rPr lang="en-US" altLang="ko-KR" sz="2200" dirty="0" smtClean="0"/>
              <a:t>10%)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/>
              <a:t>메일 목록 성능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</a:t>
            </a:r>
            <a:r>
              <a:rPr lang="en-US" altLang="ko-KR" sz="2200" dirty="0"/>
              <a:t>-</a:t>
            </a:r>
            <a:r>
              <a:rPr lang="en-US" altLang="ko-KR" sz="2200" dirty="0" smtClean="0"/>
              <a:t> </a:t>
            </a:r>
            <a:r>
              <a:rPr lang="ko-KR" altLang="en-US" sz="2200" dirty="0" smtClean="0"/>
              <a:t>최대 </a:t>
            </a:r>
            <a:r>
              <a:rPr lang="en-US" altLang="ko-KR" sz="2200" dirty="0" smtClean="0"/>
              <a:t>25</a:t>
            </a:r>
            <a:r>
              <a:rPr lang="ko-KR" altLang="en-US" sz="2200" dirty="0" smtClean="0"/>
              <a:t>회</a:t>
            </a:r>
            <a:r>
              <a:rPr lang="en-US" altLang="ko-KR" sz="2200" dirty="0" smtClean="0"/>
              <a:t>/s(CPU </a:t>
            </a:r>
            <a:r>
              <a:rPr lang="ko-KR" altLang="en-US" sz="2200" dirty="0" smtClean="0"/>
              <a:t>사용률</a:t>
            </a:r>
            <a:r>
              <a:rPr lang="en-US" altLang="ko-KR" sz="2200" dirty="0" smtClean="0"/>
              <a:t>: 95%</a:t>
            </a:r>
            <a:r>
              <a:rPr lang="ko-KR" altLang="en-US" sz="2200" dirty="0" smtClean="0"/>
              <a:t>이상</a:t>
            </a:r>
            <a:r>
              <a:rPr lang="en-US" altLang="ko-KR" sz="2200" dirty="0" smtClean="0"/>
              <a:t>)</a:t>
            </a:r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- 10</a:t>
            </a:r>
            <a:r>
              <a:rPr lang="ko-KR" altLang="en-US" sz="2200" dirty="0"/>
              <a:t>회</a:t>
            </a:r>
            <a:r>
              <a:rPr lang="en-US" altLang="ko-KR" sz="2200" dirty="0" smtClean="0"/>
              <a:t>/s(CPU </a:t>
            </a:r>
            <a:r>
              <a:rPr lang="ko-KR" altLang="en-US" sz="2200" dirty="0" smtClean="0"/>
              <a:t>사용률</a:t>
            </a:r>
            <a:r>
              <a:rPr lang="en-US" altLang="ko-KR" sz="2200" dirty="0" smtClean="0"/>
              <a:t>: </a:t>
            </a:r>
            <a:r>
              <a:rPr lang="ko-KR" altLang="en-US" sz="2200" dirty="0" smtClean="0"/>
              <a:t>약 </a:t>
            </a:r>
            <a:r>
              <a:rPr lang="en-US" altLang="ko-KR" sz="2200" dirty="0" smtClean="0"/>
              <a:t>35%)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>
                <a:solidFill>
                  <a:srgbClr val="000000"/>
                </a:solidFill>
              </a:rPr>
              <a:t>메일 수신 </a:t>
            </a:r>
            <a:r>
              <a:rPr lang="en-US" altLang="ko-KR" sz="2200" dirty="0" smtClean="0">
                <a:solidFill>
                  <a:srgbClr val="000000"/>
                </a:solidFill>
              </a:rPr>
              <a:t>10</a:t>
            </a:r>
            <a:r>
              <a:rPr lang="ko-KR" altLang="en-US" sz="2200" dirty="0" smtClean="0">
                <a:solidFill>
                  <a:srgbClr val="000000"/>
                </a:solidFill>
              </a:rPr>
              <a:t>통</a:t>
            </a:r>
            <a:r>
              <a:rPr lang="en-US" altLang="ko-KR" sz="2200" dirty="0" smtClean="0">
                <a:solidFill>
                  <a:srgbClr val="000000"/>
                </a:solidFill>
              </a:rPr>
              <a:t>/s + </a:t>
            </a:r>
            <a:r>
              <a:rPr lang="ko-KR" altLang="en-US" sz="2200" dirty="0" smtClean="0">
                <a:solidFill>
                  <a:srgbClr val="000000"/>
                </a:solidFill>
              </a:rPr>
              <a:t>읽기 </a:t>
            </a:r>
            <a:r>
              <a:rPr lang="en-US" altLang="ko-KR" sz="2200" dirty="0" smtClean="0">
                <a:solidFill>
                  <a:srgbClr val="000000"/>
                </a:solidFill>
              </a:rPr>
              <a:t>10</a:t>
            </a:r>
            <a:r>
              <a:rPr lang="ko-KR" altLang="en-US" sz="2200" dirty="0" smtClean="0">
                <a:solidFill>
                  <a:srgbClr val="000000"/>
                </a:solidFill>
              </a:rPr>
              <a:t>통</a:t>
            </a:r>
            <a:r>
              <a:rPr lang="en-US" altLang="ko-KR" sz="2200" dirty="0" smtClean="0">
                <a:solidFill>
                  <a:srgbClr val="000000"/>
                </a:solidFill>
              </a:rPr>
              <a:t>/s + </a:t>
            </a:r>
            <a:r>
              <a:rPr lang="ko-KR" altLang="en-US" sz="2200" dirty="0" smtClean="0">
                <a:solidFill>
                  <a:srgbClr val="000000"/>
                </a:solidFill>
              </a:rPr>
              <a:t>쓰기 </a:t>
            </a:r>
            <a:r>
              <a:rPr lang="en-US" altLang="ko-KR" sz="2200" dirty="0" smtClean="0">
                <a:solidFill>
                  <a:srgbClr val="000000"/>
                </a:solidFill>
              </a:rPr>
              <a:t>2</a:t>
            </a:r>
            <a:r>
              <a:rPr lang="ko-KR" altLang="en-US" sz="2200" dirty="0" smtClean="0">
                <a:solidFill>
                  <a:srgbClr val="000000"/>
                </a:solidFill>
              </a:rPr>
              <a:t>통</a:t>
            </a:r>
            <a:r>
              <a:rPr lang="en-US" altLang="ko-KR" sz="2200" dirty="0" smtClean="0">
                <a:solidFill>
                  <a:srgbClr val="000000"/>
                </a:solidFill>
              </a:rPr>
              <a:t>/s + </a:t>
            </a:r>
            <a:r>
              <a:rPr lang="ko-KR" altLang="en-US" sz="2200" dirty="0" smtClean="0">
                <a:solidFill>
                  <a:srgbClr val="000000"/>
                </a:solidFill>
              </a:rPr>
              <a:t>목록 </a:t>
            </a:r>
            <a:r>
              <a:rPr lang="en-US" altLang="ko-KR" sz="2200" dirty="0" smtClean="0">
                <a:solidFill>
                  <a:srgbClr val="000000"/>
                </a:solidFill>
              </a:rPr>
              <a:t>10</a:t>
            </a:r>
            <a:r>
              <a:rPr lang="ko-KR" altLang="en-US" sz="2200" dirty="0" smtClean="0">
                <a:solidFill>
                  <a:srgbClr val="000000"/>
                </a:solidFill>
              </a:rPr>
              <a:t>회</a:t>
            </a:r>
            <a:r>
              <a:rPr lang="en-US" altLang="ko-KR" sz="2200" dirty="0" smtClean="0">
                <a:solidFill>
                  <a:srgbClr val="000000"/>
                </a:solidFill>
              </a:rPr>
              <a:t>/s</a:t>
            </a:r>
            <a:r>
              <a:rPr lang="ko-KR" altLang="en-US" sz="2200" dirty="0" smtClean="0">
                <a:solidFill>
                  <a:srgbClr val="000000"/>
                </a:solidFill>
              </a:rPr>
              <a:t>의 경우 </a:t>
            </a:r>
            <a:endParaRPr lang="en-US" altLang="ko-KR" sz="2200" dirty="0">
              <a:solidFill>
                <a:srgbClr val="000000"/>
              </a:solidFill>
            </a:endParaRPr>
          </a:p>
          <a:p>
            <a:r>
              <a:rPr lang="en-US" altLang="ko-KR" sz="2200" dirty="0" smtClean="0"/>
              <a:t>       - CPU </a:t>
            </a:r>
            <a:r>
              <a:rPr lang="ko-KR" altLang="en-US" sz="2200" dirty="0" smtClean="0"/>
              <a:t>사용률 </a:t>
            </a:r>
            <a:r>
              <a:rPr lang="en-US" altLang="ko-KR" sz="2200" dirty="0" smtClean="0"/>
              <a:t>95%</a:t>
            </a:r>
            <a:r>
              <a:rPr lang="ko-KR" altLang="en-US" sz="2200" dirty="0" smtClean="0"/>
              <a:t>이상이며 메일 수신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읽기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쓰기는 모두 처리하나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  </a:t>
            </a:r>
            <a:r>
              <a:rPr lang="ko-KR" altLang="en-US" sz="2200" dirty="0" smtClean="0"/>
              <a:t>목록은 </a:t>
            </a:r>
            <a:r>
              <a:rPr lang="en-US" altLang="ko-KR" sz="2200" dirty="0" smtClean="0"/>
              <a:t>7</a:t>
            </a:r>
            <a:r>
              <a:rPr lang="ko-KR" altLang="en-US" sz="2200" dirty="0" smtClean="0"/>
              <a:t>회</a:t>
            </a:r>
            <a:r>
              <a:rPr lang="en-US" altLang="ko-KR" sz="2200" dirty="0" smtClean="0"/>
              <a:t>/s </a:t>
            </a:r>
            <a:r>
              <a:rPr lang="ko-KR" altLang="en-US" sz="2200" dirty="0" smtClean="0"/>
              <a:t>정도로 처리됨</a:t>
            </a:r>
            <a:r>
              <a:rPr lang="en-US" altLang="ko-KR" sz="2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877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Conclusion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2480" y="1052736"/>
            <a:ext cx="9781204" cy="4493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200" dirty="0" smtClean="0"/>
              <a:t>3000</a:t>
            </a:r>
            <a:r>
              <a:rPr lang="ko-KR" altLang="en-US" sz="2200" dirty="0" smtClean="0"/>
              <a:t>명을 기준으로 한 </a:t>
            </a:r>
            <a:r>
              <a:rPr lang="en-US" altLang="ko-KR" sz="2200" dirty="0" smtClean="0"/>
              <a:t>Workload Model</a:t>
            </a:r>
            <a:r>
              <a:rPr lang="ko-KR" altLang="en-US" sz="2200" dirty="0" smtClean="0"/>
              <a:t>에서 테스트 서버는 약간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</a:t>
            </a:r>
            <a:r>
              <a:rPr lang="ko-KR" altLang="en-US" sz="2200" dirty="0" smtClean="0"/>
              <a:t>버거운 성능을 나타냄</a:t>
            </a:r>
            <a:r>
              <a:rPr lang="en-US" altLang="ko-KR" sz="2200" dirty="0" smtClean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200" dirty="0" smtClean="0"/>
              <a:t>1000</a:t>
            </a:r>
            <a:r>
              <a:rPr lang="ko-KR" altLang="en-US" sz="2200" dirty="0"/>
              <a:t>명을 </a:t>
            </a:r>
            <a:r>
              <a:rPr lang="ko-KR" altLang="en-US" sz="2200" dirty="0" smtClean="0"/>
              <a:t>대상으로 할 경우 테스트 서버는 충분한 성능으로 판단됨</a:t>
            </a:r>
            <a:r>
              <a:rPr lang="en-US" altLang="ko-KR" sz="2200" dirty="0" smtClean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200" dirty="0" smtClean="0"/>
              <a:t>4-core</a:t>
            </a:r>
            <a:r>
              <a:rPr lang="ko-KR" altLang="en-US" sz="2200" dirty="0" smtClean="0"/>
              <a:t>인 테스트 서버 대신 </a:t>
            </a:r>
            <a:r>
              <a:rPr lang="en-US" altLang="ko-KR" sz="2200" dirty="0" smtClean="0"/>
              <a:t>8-core </a:t>
            </a:r>
            <a:r>
              <a:rPr lang="ko-KR" altLang="en-US" sz="2200" dirty="0" smtClean="0"/>
              <a:t>서버를 사용한다면 </a:t>
            </a:r>
            <a:r>
              <a:rPr lang="en-US" altLang="ko-KR" sz="2200" dirty="0" smtClean="0"/>
              <a:t>3000</a:t>
            </a:r>
            <a:r>
              <a:rPr lang="ko-KR" altLang="en-US" sz="2200" dirty="0" smtClean="0"/>
              <a:t>명을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</a:t>
            </a:r>
            <a:r>
              <a:rPr lang="ko-KR" altLang="en-US" sz="2200" dirty="0" smtClean="0"/>
              <a:t>지원할 수 있을 것으로 추정됨</a:t>
            </a:r>
            <a:r>
              <a:rPr lang="en-US" altLang="ko-KR" sz="2200" dirty="0" smtClean="0"/>
              <a:t>. 8-core</a:t>
            </a:r>
            <a:r>
              <a:rPr lang="ko-KR" altLang="en-US" sz="2200" dirty="0" smtClean="0"/>
              <a:t>는 </a:t>
            </a:r>
            <a:r>
              <a:rPr lang="en-US" altLang="ko-KR" sz="2200" dirty="0" smtClean="0"/>
              <a:t>Xeon E3 </a:t>
            </a:r>
            <a:r>
              <a:rPr lang="ko-KR" altLang="en-US" sz="2200" dirty="0" smtClean="0"/>
              <a:t>제품군에는 없고</a:t>
            </a:r>
            <a:endParaRPr lang="en-US" altLang="ko-KR" sz="2200" dirty="0" smtClean="0"/>
          </a:p>
          <a:p>
            <a:r>
              <a:rPr lang="en-US" altLang="ko-KR" sz="2200" dirty="0"/>
              <a:t> </a:t>
            </a:r>
            <a:r>
              <a:rPr lang="en-US" altLang="ko-KR" sz="2200" dirty="0" smtClean="0"/>
              <a:t>      E5 </a:t>
            </a:r>
            <a:r>
              <a:rPr lang="ko-KR" altLang="en-US" sz="2200" dirty="0" smtClean="0"/>
              <a:t>제품군을 사용해야 함</a:t>
            </a:r>
            <a:r>
              <a:rPr lang="en-US" altLang="ko-KR" sz="2200" dirty="0" smtClean="0"/>
              <a:t>. Xeon E5-1680 v4</a:t>
            </a:r>
            <a:r>
              <a:rPr lang="ko-KR" altLang="en-US" sz="2200" dirty="0" smtClean="0"/>
              <a:t>가 적절한 후보로 보임</a:t>
            </a:r>
            <a:r>
              <a:rPr lang="en-US" altLang="ko-KR" sz="2200" dirty="0" smtClean="0"/>
              <a:t>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altLang="ko-KR" sz="2200" dirty="0">
                <a:solidFill>
                  <a:srgbClr val="000000"/>
                </a:solidFill>
              </a:rPr>
              <a:t>1000</a:t>
            </a:r>
            <a:r>
              <a:rPr lang="ko-KR" altLang="en-US" sz="2200" dirty="0" smtClean="0">
                <a:solidFill>
                  <a:srgbClr val="000000"/>
                </a:solidFill>
              </a:rPr>
              <a:t>명일 때는 메일 서버</a:t>
            </a:r>
            <a:r>
              <a:rPr lang="en-US" altLang="ko-KR" sz="2200" dirty="0" smtClean="0">
                <a:solidFill>
                  <a:srgbClr val="000000"/>
                </a:solidFill>
              </a:rPr>
              <a:t>(MariaDB </a:t>
            </a:r>
            <a:r>
              <a:rPr lang="ko-KR" altLang="en-US" sz="2200" dirty="0" smtClean="0">
                <a:solidFill>
                  <a:srgbClr val="000000"/>
                </a:solidFill>
              </a:rPr>
              <a:t>포함</a:t>
            </a:r>
            <a:r>
              <a:rPr lang="en-US" altLang="ko-KR" sz="2200" dirty="0" smtClean="0">
                <a:solidFill>
                  <a:srgbClr val="000000"/>
                </a:solidFill>
              </a:rPr>
              <a:t>)</a:t>
            </a:r>
            <a:r>
              <a:rPr lang="ko-KR" altLang="en-US" sz="2200" dirty="0" smtClean="0">
                <a:solidFill>
                  <a:srgbClr val="000000"/>
                </a:solidFill>
              </a:rPr>
              <a:t>외에 </a:t>
            </a:r>
            <a:r>
              <a:rPr lang="en-US" altLang="ko-KR" sz="2200" dirty="0" smtClean="0">
                <a:solidFill>
                  <a:srgbClr val="000000"/>
                </a:solidFill>
              </a:rPr>
              <a:t>WAS(Web App Server)</a:t>
            </a:r>
            <a:r>
              <a:rPr lang="ko-KR" altLang="en-US" sz="2200" dirty="0" smtClean="0">
                <a:solidFill>
                  <a:srgbClr val="000000"/>
                </a:solidFill>
              </a:rPr>
              <a:t>인</a:t>
            </a:r>
            <a:endParaRPr lang="en-US" altLang="ko-KR" sz="2200" dirty="0" smtClean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</a:t>
            </a:r>
            <a:r>
              <a:rPr lang="ko-KR" altLang="en-US" sz="2200" dirty="0" smtClean="0">
                <a:solidFill>
                  <a:srgbClr val="000000"/>
                </a:solidFill>
              </a:rPr>
              <a:t>톰캣 서버까지 모두 한 서버 머신 안에 설치하여 운영할 수 있을 것으로</a:t>
            </a:r>
            <a:endParaRPr lang="en-US" altLang="ko-KR" sz="2200" dirty="0" smtClean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</a:t>
            </a:r>
            <a:r>
              <a:rPr lang="ko-KR" altLang="en-US" sz="2200" dirty="0" smtClean="0">
                <a:solidFill>
                  <a:srgbClr val="000000"/>
                </a:solidFill>
              </a:rPr>
              <a:t>보이나</a:t>
            </a:r>
            <a:r>
              <a:rPr lang="en-US" altLang="ko-KR" sz="2200" dirty="0" smtClean="0">
                <a:solidFill>
                  <a:srgbClr val="000000"/>
                </a:solidFill>
              </a:rPr>
              <a:t>, 3000</a:t>
            </a:r>
            <a:r>
              <a:rPr lang="ko-KR" altLang="en-US" sz="2200" dirty="0" smtClean="0">
                <a:solidFill>
                  <a:srgbClr val="000000"/>
                </a:solidFill>
              </a:rPr>
              <a:t>명 부터는 </a:t>
            </a:r>
            <a:r>
              <a:rPr lang="en-US" altLang="ko-KR" sz="2200" dirty="0" smtClean="0">
                <a:solidFill>
                  <a:srgbClr val="000000"/>
                </a:solidFill>
              </a:rPr>
              <a:t>Web </a:t>
            </a:r>
            <a:r>
              <a:rPr lang="ko-KR" altLang="en-US" sz="2200" dirty="0" smtClean="0">
                <a:solidFill>
                  <a:srgbClr val="000000"/>
                </a:solidFill>
              </a:rPr>
              <a:t>요청을 처리하는 </a:t>
            </a:r>
            <a:r>
              <a:rPr lang="en-US" altLang="ko-KR" sz="2200" dirty="0" smtClean="0">
                <a:solidFill>
                  <a:srgbClr val="000000"/>
                </a:solidFill>
              </a:rPr>
              <a:t>WAS </a:t>
            </a:r>
            <a:r>
              <a:rPr lang="ko-KR" altLang="en-US" sz="2200" dirty="0" smtClean="0">
                <a:solidFill>
                  <a:srgbClr val="000000"/>
                </a:solidFill>
              </a:rPr>
              <a:t>서버를 별도의 서버</a:t>
            </a:r>
            <a:endParaRPr lang="en-US" altLang="ko-KR" sz="2200" dirty="0" smtClean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</a:t>
            </a:r>
            <a:r>
              <a:rPr lang="ko-KR" altLang="en-US" sz="2200" dirty="0" smtClean="0">
                <a:solidFill>
                  <a:srgbClr val="000000"/>
                </a:solidFill>
              </a:rPr>
              <a:t>머신으로 분리해야 할 것으로 판단됨</a:t>
            </a:r>
            <a:r>
              <a:rPr lang="en-US" altLang="ko-KR" sz="2200" dirty="0" smtClean="0">
                <a:solidFill>
                  <a:srgbClr val="000000"/>
                </a:solidFill>
              </a:rPr>
              <a:t>.</a:t>
            </a:r>
            <a:r>
              <a:rPr lang="ko-KR" altLang="en-US" sz="2200" dirty="0" smtClean="0">
                <a:solidFill>
                  <a:srgbClr val="000000"/>
                </a:solidFill>
              </a:rPr>
              <a:t> 즉</a:t>
            </a:r>
            <a:r>
              <a:rPr lang="en-US" altLang="ko-KR" sz="2200" dirty="0" smtClean="0">
                <a:solidFill>
                  <a:srgbClr val="000000"/>
                </a:solidFill>
              </a:rPr>
              <a:t>, 1000</a:t>
            </a:r>
            <a:r>
              <a:rPr lang="ko-KR" altLang="en-US" sz="2200" dirty="0" smtClean="0">
                <a:solidFill>
                  <a:srgbClr val="000000"/>
                </a:solidFill>
              </a:rPr>
              <a:t>명일 때는 </a:t>
            </a:r>
            <a:r>
              <a:rPr lang="en-US" altLang="ko-KR" sz="2200" dirty="0" smtClean="0">
                <a:solidFill>
                  <a:srgbClr val="000000"/>
                </a:solidFill>
              </a:rPr>
              <a:t>1</a:t>
            </a:r>
            <a:r>
              <a:rPr lang="ko-KR" altLang="en-US" sz="2200" dirty="0" smtClean="0">
                <a:solidFill>
                  <a:srgbClr val="000000"/>
                </a:solidFill>
              </a:rPr>
              <a:t>대의 서버</a:t>
            </a:r>
            <a:endParaRPr lang="en-US" altLang="ko-KR" sz="2200" dirty="0" smtClean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</a:t>
            </a:r>
            <a:r>
              <a:rPr lang="ko-KR" altLang="en-US" sz="2200" dirty="0" smtClean="0">
                <a:solidFill>
                  <a:srgbClr val="000000"/>
                </a:solidFill>
              </a:rPr>
              <a:t>머신</a:t>
            </a:r>
            <a:r>
              <a:rPr lang="en-US" altLang="ko-KR" sz="2200" dirty="0" smtClean="0">
                <a:solidFill>
                  <a:srgbClr val="000000"/>
                </a:solidFill>
              </a:rPr>
              <a:t>, 3000</a:t>
            </a:r>
            <a:r>
              <a:rPr lang="ko-KR" altLang="en-US" sz="2200" dirty="0" smtClean="0">
                <a:solidFill>
                  <a:srgbClr val="000000"/>
                </a:solidFill>
              </a:rPr>
              <a:t>명일 때는 </a:t>
            </a:r>
            <a:r>
              <a:rPr lang="en-US" altLang="ko-KR" sz="2200" dirty="0" smtClean="0">
                <a:solidFill>
                  <a:srgbClr val="000000"/>
                </a:solidFill>
              </a:rPr>
              <a:t>2</a:t>
            </a:r>
            <a:r>
              <a:rPr lang="ko-KR" altLang="en-US" sz="2200" dirty="0" smtClean="0">
                <a:solidFill>
                  <a:srgbClr val="000000"/>
                </a:solidFill>
              </a:rPr>
              <a:t>대의 서버 머신이 필요함</a:t>
            </a:r>
            <a:r>
              <a:rPr lang="en-US" altLang="ko-KR" sz="2200" dirty="0" smtClean="0">
                <a:solidFill>
                  <a:srgbClr val="000000"/>
                </a:solidFill>
              </a:rPr>
              <a:t>. </a:t>
            </a:r>
            <a:r>
              <a:rPr lang="ko-KR" altLang="en-US" sz="2200" dirty="0" smtClean="0">
                <a:solidFill>
                  <a:srgbClr val="000000"/>
                </a:solidFill>
              </a:rPr>
              <a:t>단</a:t>
            </a:r>
            <a:r>
              <a:rPr lang="en-US" altLang="ko-KR" sz="2200" dirty="0" smtClean="0">
                <a:solidFill>
                  <a:srgbClr val="000000"/>
                </a:solidFill>
              </a:rPr>
              <a:t>, WAS </a:t>
            </a:r>
            <a:r>
              <a:rPr lang="ko-KR" altLang="en-US" sz="2200" dirty="0" smtClean="0">
                <a:solidFill>
                  <a:srgbClr val="000000"/>
                </a:solidFill>
              </a:rPr>
              <a:t>서버 머신으로</a:t>
            </a:r>
            <a:endParaRPr lang="en-US" altLang="ko-KR" sz="2200" dirty="0" smtClean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E5</a:t>
            </a:r>
            <a:r>
              <a:rPr lang="ko-KR" altLang="en-US" sz="2200" dirty="0" smtClean="0">
                <a:solidFill>
                  <a:srgbClr val="000000"/>
                </a:solidFill>
              </a:rPr>
              <a:t>급 머신이 필요해 보이지는 않으며 테스트 서버와 같은 </a:t>
            </a:r>
            <a:r>
              <a:rPr lang="en-US" altLang="ko-KR" sz="2200" dirty="0" smtClean="0">
                <a:solidFill>
                  <a:srgbClr val="000000"/>
                </a:solidFill>
              </a:rPr>
              <a:t>E3</a:t>
            </a:r>
            <a:r>
              <a:rPr lang="ko-KR" altLang="en-US" sz="2200" dirty="0" smtClean="0">
                <a:solidFill>
                  <a:srgbClr val="000000"/>
                </a:solidFill>
              </a:rPr>
              <a:t>급이면</a:t>
            </a:r>
            <a:endParaRPr lang="en-US" altLang="ko-KR" sz="2200" dirty="0" smtClean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</a:t>
            </a:r>
            <a:r>
              <a:rPr lang="ko-KR" altLang="en-US" sz="2200" dirty="0" smtClean="0">
                <a:solidFill>
                  <a:srgbClr val="000000"/>
                </a:solidFill>
              </a:rPr>
              <a:t>충분해 보임</a:t>
            </a:r>
            <a:r>
              <a:rPr lang="en-US" altLang="ko-KR" sz="2200" dirty="0" smtClean="0">
                <a:solidFill>
                  <a:srgbClr val="000000"/>
                </a:solidFill>
              </a:rPr>
              <a:t>.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43811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Conclusion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2480" y="1239718"/>
            <a:ext cx="9967537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altLang="ko-KR" sz="2200" dirty="0" smtClean="0">
                <a:solidFill>
                  <a:srgbClr val="000000"/>
                </a:solidFill>
              </a:rPr>
              <a:t>5000</a:t>
            </a:r>
            <a:r>
              <a:rPr lang="ko-KR" altLang="en-US" sz="2200" dirty="0" smtClean="0">
                <a:solidFill>
                  <a:srgbClr val="000000"/>
                </a:solidFill>
              </a:rPr>
              <a:t>명을 지원하기 위해서는 </a:t>
            </a:r>
            <a:r>
              <a:rPr lang="en-US" altLang="ko-KR" sz="2200" dirty="0" smtClean="0">
                <a:solidFill>
                  <a:srgbClr val="000000"/>
                </a:solidFill>
              </a:rPr>
              <a:t>Read Operation</a:t>
            </a:r>
            <a:r>
              <a:rPr lang="ko-KR" altLang="en-US" sz="2200" dirty="0" smtClean="0">
                <a:solidFill>
                  <a:srgbClr val="000000"/>
                </a:solidFill>
              </a:rPr>
              <a:t>의 성능이 더 필요해 </a:t>
            </a:r>
            <a:endParaRPr lang="en-US" altLang="ko-KR" sz="2200" dirty="0" smtClean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</a:t>
            </a:r>
            <a:r>
              <a:rPr lang="ko-KR" altLang="en-US" sz="2200" dirty="0" smtClean="0">
                <a:solidFill>
                  <a:srgbClr val="000000"/>
                </a:solidFill>
              </a:rPr>
              <a:t>보이므로 </a:t>
            </a:r>
            <a:r>
              <a:rPr lang="en-US" altLang="ko-KR" sz="2200" dirty="0" smtClean="0">
                <a:solidFill>
                  <a:srgbClr val="000000"/>
                </a:solidFill>
              </a:rPr>
              <a:t>3000</a:t>
            </a:r>
            <a:r>
              <a:rPr lang="ko-KR" altLang="en-US" sz="2200" dirty="0" smtClean="0">
                <a:solidFill>
                  <a:srgbClr val="000000"/>
                </a:solidFill>
              </a:rPr>
              <a:t>명 지원 구성에 더하여 </a:t>
            </a:r>
            <a:r>
              <a:rPr lang="en-US" altLang="ko-KR" sz="2200" dirty="0" smtClean="0">
                <a:solidFill>
                  <a:srgbClr val="000000"/>
                </a:solidFill>
              </a:rPr>
              <a:t>Replica</a:t>
            </a:r>
            <a:r>
              <a:rPr lang="en-US" altLang="ko-KR" sz="2200" dirty="0" smtClean="0">
                <a:solidFill>
                  <a:srgbClr val="000000"/>
                </a:solidFill>
              </a:rPr>
              <a:t>(</a:t>
            </a:r>
            <a:r>
              <a:rPr lang="ko-KR" altLang="en-US" sz="2200" dirty="0" smtClean="0">
                <a:solidFill>
                  <a:srgbClr val="000000"/>
                </a:solidFill>
              </a:rPr>
              <a:t>복제</a:t>
            </a:r>
            <a:r>
              <a:rPr lang="en-US" altLang="ko-KR" sz="2200" dirty="0" smtClean="0">
                <a:solidFill>
                  <a:srgbClr val="000000"/>
                </a:solidFill>
              </a:rPr>
              <a:t>) </a:t>
            </a:r>
            <a:r>
              <a:rPr lang="ko-KR" altLang="en-US" sz="2200" dirty="0" smtClean="0">
                <a:solidFill>
                  <a:srgbClr val="000000"/>
                </a:solidFill>
              </a:rPr>
              <a:t>서버 머신을 </a:t>
            </a:r>
            <a:endParaRPr lang="en-US" altLang="ko-KR" sz="2200" dirty="0" smtClean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</a:t>
            </a:r>
            <a:r>
              <a:rPr lang="ko-KR" altLang="en-US" sz="2200" dirty="0" smtClean="0">
                <a:solidFill>
                  <a:srgbClr val="000000"/>
                </a:solidFill>
              </a:rPr>
              <a:t>배치하도록 함</a:t>
            </a:r>
            <a:r>
              <a:rPr lang="en-US" altLang="ko-KR" sz="2200" dirty="0" smtClean="0">
                <a:solidFill>
                  <a:srgbClr val="000000"/>
                </a:solidFill>
              </a:rPr>
              <a:t>. </a:t>
            </a:r>
            <a:r>
              <a:rPr lang="ko-KR" altLang="en-US" sz="2200" dirty="0" smtClean="0">
                <a:solidFill>
                  <a:srgbClr val="000000"/>
                </a:solidFill>
              </a:rPr>
              <a:t>즉</a:t>
            </a:r>
            <a:r>
              <a:rPr lang="en-US" altLang="ko-KR" sz="2200" dirty="0" smtClean="0">
                <a:solidFill>
                  <a:srgbClr val="000000"/>
                </a:solidFill>
              </a:rPr>
              <a:t>, </a:t>
            </a:r>
            <a:r>
              <a:rPr lang="ko-KR" altLang="en-US" sz="2200" dirty="0" smtClean="0">
                <a:solidFill>
                  <a:srgbClr val="000000"/>
                </a:solidFill>
              </a:rPr>
              <a:t>한 대의 </a:t>
            </a:r>
            <a:r>
              <a:rPr lang="en-US" altLang="ko-KR" sz="2200" dirty="0" smtClean="0">
                <a:solidFill>
                  <a:srgbClr val="000000"/>
                </a:solidFill>
              </a:rPr>
              <a:t>WAS </a:t>
            </a:r>
            <a:r>
              <a:rPr lang="ko-KR" altLang="en-US" sz="2200" dirty="0" smtClean="0">
                <a:solidFill>
                  <a:srgbClr val="000000"/>
                </a:solidFill>
              </a:rPr>
              <a:t>서버 머신과 두 대의 메일 서버</a:t>
            </a:r>
            <a:endParaRPr lang="en-US" altLang="ko-KR" sz="2200" dirty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 smtClean="0">
                <a:solidFill>
                  <a:srgbClr val="000000"/>
                </a:solidFill>
              </a:rPr>
              <a:t>       (MariaDB </a:t>
            </a:r>
            <a:r>
              <a:rPr lang="ko-KR" altLang="en-US" sz="2200" dirty="0" smtClean="0">
                <a:solidFill>
                  <a:srgbClr val="000000"/>
                </a:solidFill>
              </a:rPr>
              <a:t>포함</a:t>
            </a:r>
            <a:r>
              <a:rPr lang="en-US" altLang="ko-KR" sz="2200" dirty="0" smtClean="0">
                <a:solidFill>
                  <a:srgbClr val="000000"/>
                </a:solidFill>
              </a:rPr>
              <a:t>) </a:t>
            </a:r>
            <a:r>
              <a:rPr lang="ko-KR" altLang="en-US" sz="2200" dirty="0" smtClean="0">
                <a:solidFill>
                  <a:srgbClr val="000000"/>
                </a:solidFill>
              </a:rPr>
              <a:t>머신으로 구성하고 메일 서버 머신 앞에는 </a:t>
            </a:r>
            <a:r>
              <a:rPr lang="en-US" altLang="ko-KR" sz="2200" dirty="0" smtClean="0">
                <a:solidFill>
                  <a:srgbClr val="000000"/>
                </a:solidFill>
              </a:rPr>
              <a:t>Load</a:t>
            </a: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Balancer</a:t>
            </a:r>
            <a:r>
              <a:rPr lang="ko-KR" altLang="en-US" sz="2200" dirty="0" smtClean="0">
                <a:solidFill>
                  <a:srgbClr val="000000"/>
                </a:solidFill>
              </a:rPr>
              <a:t>를 위치시킴</a:t>
            </a:r>
            <a:r>
              <a:rPr lang="en-US" altLang="ko-KR" sz="2200" dirty="0" smtClean="0">
                <a:solidFill>
                  <a:srgbClr val="000000"/>
                </a:solidFill>
              </a:rPr>
              <a:t>.</a:t>
            </a:r>
            <a:endParaRPr lang="en-US" altLang="ko-KR" sz="2200" dirty="0">
              <a:solidFill>
                <a:srgbClr val="000000"/>
              </a:solidFill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altLang="ko-KR" sz="2200" dirty="0" smtClean="0">
                <a:solidFill>
                  <a:srgbClr val="000000"/>
                </a:solidFill>
              </a:rPr>
              <a:t>10,000</a:t>
            </a:r>
            <a:r>
              <a:rPr lang="ko-KR" altLang="en-US" sz="2200" dirty="0">
                <a:solidFill>
                  <a:srgbClr val="000000"/>
                </a:solidFill>
              </a:rPr>
              <a:t>명을 지원하기 위해서는 </a:t>
            </a:r>
            <a:r>
              <a:rPr lang="en-US" altLang="ko-KR" sz="2200" dirty="0" smtClean="0">
                <a:solidFill>
                  <a:srgbClr val="000000"/>
                </a:solidFill>
              </a:rPr>
              <a:t>5000</a:t>
            </a:r>
            <a:r>
              <a:rPr lang="ko-KR" altLang="en-US" sz="2200" dirty="0" smtClean="0">
                <a:solidFill>
                  <a:srgbClr val="000000"/>
                </a:solidFill>
              </a:rPr>
              <a:t>명 지원 구성을 두 세트 준비하고</a:t>
            </a:r>
            <a:endParaRPr lang="en-US" altLang="ko-KR" sz="2200" dirty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 smtClean="0"/>
              <a:t>       </a:t>
            </a:r>
            <a:r>
              <a:rPr lang="ko-KR" altLang="en-US" sz="2200" dirty="0" smtClean="0"/>
              <a:t>사용자 계정에 따라 두 세트로 분산 배치하는 형태가 필요해 보임</a:t>
            </a:r>
            <a:r>
              <a:rPr lang="en-US" altLang="ko-KR" sz="2200" dirty="0" smtClean="0"/>
              <a:t>. </a:t>
            </a:r>
            <a:r>
              <a:rPr lang="ko-KR" altLang="en-US" sz="2200" dirty="0" smtClean="0"/>
              <a:t>즉</a:t>
            </a:r>
            <a:r>
              <a:rPr lang="en-US" altLang="ko-KR" sz="2200" dirty="0" smtClean="0"/>
              <a:t>,</a:t>
            </a:r>
          </a:p>
          <a:p>
            <a:pPr lvl="0"/>
            <a:r>
              <a:rPr lang="en-US" altLang="ko-KR" sz="2200" dirty="0"/>
              <a:t> </a:t>
            </a:r>
            <a:r>
              <a:rPr lang="en-US" altLang="ko-KR" sz="2200" dirty="0" smtClean="0"/>
              <a:t>      </a:t>
            </a:r>
            <a:r>
              <a:rPr lang="ko-KR" altLang="en-US" sz="2200" dirty="0" smtClean="0"/>
              <a:t>사용자 </a:t>
            </a:r>
            <a:r>
              <a:rPr lang="en-US" altLang="ko-KR" sz="2200" dirty="0" smtClean="0"/>
              <a:t>A</a:t>
            </a:r>
            <a:r>
              <a:rPr lang="ko-KR" altLang="en-US" sz="2200" dirty="0" smtClean="0"/>
              <a:t>는 </a:t>
            </a:r>
            <a:r>
              <a:rPr lang="en-US" altLang="ko-KR" sz="2200" dirty="0" smtClean="0"/>
              <a:t>1</a:t>
            </a:r>
            <a:r>
              <a:rPr lang="ko-KR" altLang="en-US" sz="2200" dirty="0" smtClean="0"/>
              <a:t>번 세트로 배치하고 사용자 </a:t>
            </a:r>
            <a:r>
              <a:rPr lang="en-US" altLang="ko-KR" sz="2200" dirty="0" smtClean="0"/>
              <a:t>B</a:t>
            </a:r>
            <a:r>
              <a:rPr lang="ko-KR" altLang="en-US" sz="2200" dirty="0" smtClean="0"/>
              <a:t>는 </a:t>
            </a:r>
            <a:r>
              <a:rPr lang="en-US" altLang="ko-KR" sz="2200" dirty="0" smtClean="0"/>
              <a:t>2</a:t>
            </a:r>
            <a:r>
              <a:rPr lang="ko-KR" altLang="en-US" sz="2200" dirty="0" smtClean="0"/>
              <a:t>번 세트로 분리하여</a:t>
            </a:r>
            <a:endParaRPr lang="en-US" altLang="ko-KR" sz="2200" dirty="0" smtClean="0"/>
          </a:p>
          <a:p>
            <a:pPr lvl="0"/>
            <a:r>
              <a:rPr lang="en-US" altLang="ko-KR" sz="2200" dirty="0"/>
              <a:t> </a:t>
            </a:r>
            <a:r>
              <a:rPr lang="en-US" altLang="ko-KR" sz="2200" dirty="0" smtClean="0"/>
              <a:t>      </a:t>
            </a:r>
            <a:r>
              <a:rPr lang="ko-KR" altLang="en-US" sz="2200" dirty="0" smtClean="0"/>
              <a:t>배치하는 방식임</a:t>
            </a:r>
            <a:r>
              <a:rPr lang="en-US" altLang="ko-KR" sz="2200" dirty="0" smtClean="0"/>
              <a:t>(</a:t>
            </a:r>
            <a:r>
              <a:rPr lang="ko-KR" altLang="en-US" sz="2200" dirty="0" smtClean="0"/>
              <a:t>이를 위해서는 계정에 따라 메일 서버 세트를 할당하는</a:t>
            </a:r>
            <a:endParaRPr lang="en-US" altLang="ko-KR" sz="2200" dirty="0" smtClean="0"/>
          </a:p>
          <a:p>
            <a:pPr lvl="0"/>
            <a:r>
              <a:rPr lang="en-US" altLang="ko-KR" sz="2200" dirty="0"/>
              <a:t> </a:t>
            </a:r>
            <a:r>
              <a:rPr lang="en-US" altLang="ko-KR" sz="2200" dirty="0" smtClean="0"/>
              <a:t>      </a:t>
            </a:r>
            <a:r>
              <a:rPr lang="ko-KR" altLang="en-US" sz="2200" dirty="0" smtClean="0"/>
              <a:t>로직 및 해당 메일박스가 위치한 데이터베이스로 접근하기 위한 로직의</a:t>
            </a:r>
            <a:endParaRPr lang="en-US" altLang="ko-KR" sz="2200" dirty="0" smtClean="0"/>
          </a:p>
          <a:p>
            <a:pPr lvl="0"/>
            <a:r>
              <a:rPr lang="en-US" altLang="ko-KR" sz="2200" dirty="0"/>
              <a:t> </a:t>
            </a:r>
            <a:r>
              <a:rPr lang="en-US" altLang="ko-KR" sz="2200" dirty="0" smtClean="0"/>
              <a:t>     </a:t>
            </a:r>
            <a:r>
              <a:rPr lang="ko-KR" altLang="en-US" sz="2200" dirty="0" smtClean="0"/>
              <a:t> 추가 개발이 필요함</a:t>
            </a:r>
            <a:r>
              <a:rPr lang="en-US" altLang="ko-KR" sz="2200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4898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Conclusion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2480" y="1204297"/>
            <a:ext cx="924689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ko-KR" altLang="en-US" sz="2200" dirty="0" smtClean="0">
                <a:solidFill>
                  <a:srgbClr val="000000"/>
                </a:solidFill>
              </a:rPr>
              <a:t>이후 사용자 규모별 </a:t>
            </a:r>
            <a:r>
              <a:rPr lang="en-US" altLang="ko-KR" sz="2200" dirty="0" smtClean="0">
                <a:solidFill>
                  <a:srgbClr val="000000"/>
                </a:solidFill>
              </a:rPr>
              <a:t>Configuration</a:t>
            </a:r>
            <a:r>
              <a:rPr lang="ko-KR" altLang="en-US" sz="2200" dirty="0" smtClean="0">
                <a:solidFill>
                  <a:srgbClr val="000000"/>
                </a:solidFill>
              </a:rPr>
              <a:t>에 나오는 </a:t>
            </a:r>
            <a:r>
              <a:rPr lang="en-US" altLang="ko-KR" sz="2200" dirty="0" smtClean="0">
                <a:solidFill>
                  <a:srgbClr val="000000"/>
                </a:solidFill>
              </a:rPr>
              <a:t>WAS </a:t>
            </a:r>
            <a:r>
              <a:rPr lang="ko-KR" altLang="en-US" sz="2200" dirty="0" smtClean="0">
                <a:solidFill>
                  <a:srgbClr val="000000"/>
                </a:solidFill>
              </a:rPr>
              <a:t>서버 머신과 메일</a:t>
            </a:r>
            <a:endParaRPr lang="en-US" altLang="ko-KR" sz="2200" dirty="0" smtClean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</a:t>
            </a:r>
            <a:r>
              <a:rPr lang="ko-KR" altLang="en-US" sz="2200" dirty="0" smtClean="0">
                <a:solidFill>
                  <a:srgbClr val="000000"/>
                </a:solidFill>
              </a:rPr>
              <a:t>서버 머신의 스펙은 다음과 같다</a:t>
            </a:r>
            <a:r>
              <a:rPr lang="en-US" altLang="ko-KR" sz="2200" dirty="0" smtClean="0">
                <a:solidFill>
                  <a:srgbClr val="000000"/>
                </a:solidFill>
              </a:rPr>
              <a:t>(</a:t>
            </a:r>
            <a:r>
              <a:rPr lang="ko-KR" altLang="en-US" sz="2200" dirty="0" smtClean="0">
                <a:solidFill>
                  <a:srgbClr val="000000"/>
                </a:solidFill>
              </a:rPr>
              <a:t>단</a:t>
            </a:r>
            <a:r>
              <a:rPr lang="en-US" altLang="ko-KR" sz="2200" dirty="0" smtClean="0">
                <a:solidFill>
                  <a:srgbClr val="000000"/>
                </a:solidFill>
              </a:rPr>
              <a:t>, 1000</a:t>
            </a:r>
            <a:r>
              <a:rPr lang="ko-KR" altLang="en-US" sz="2200" dirty="0" smtClean="0">
                <a:solidFill>
                  <a:srgbClr val="000000"/>
                </a:solidFill>
              </a:rPr>
              <a:t>명일 때는 메일 서버 머신</a:t>
            </a:r>
            <a:endParaRPr lang="en-US" altLang="ko-KR" sz="2200" dirty="0" smtClean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 smtClean="0">
                <a:solidFill>
                  <a:srgbClr val="000000"/>
                </a:solidFill>
              </a:rPr>
              <a:t>      </a:t>
            </a:r>
            <a:r>
              <a:rPr lang="ko-KR" altLang="en-US" sz="2200" dirty="0" smtClean="0">
                <a:solidFill>
                  <a:srgbClr val="000000"/>
                </a:solidFill>
              </a:rPr>
              <a:t>사양이 </a:t>
            </a:r>
            <a:r>
              <a:rPr lang="en-US" altLang="ko-KR" sz="2200" dirty="0" smtClean="0">
                <a:solidFill>
                  <a:srgbClr val="000000"/>
                </a:solidFill>
              </a:rPr>
              <a:t>WAS </a:t>
            </a:r>
            <a:r>
              <a:rPr lang="ko-KR" altLang="en-US" sz="2200" dirty="0" smtClean="0">
                <a:solidFill>
                  <a:srgbClr val="000000"/>
                </a:solidFill>
              </a:rPr>
              <a:t>머신 사양과 동일함</a:t>
            </a:r>
            <a:r>
              <a:rPr lang="en-US" altLang="ko-KR" sz="2200" dirty="0" smtClean="0">
                <a:solidFill>
                  <a:srgbClr val="000000"/>
                </a:solidFill>
              </a:rPr>
              <a:t>.)</a:t>
            </a:r>
          </a:p>
          <a:p>
            <a:pPr lvl="0"/>
            <a:r>
              <a:rPr lang="en-US" altLang="ko-KR" sz="2200" dirty="0" smtClean="0">
                <a:solidFill>
                  <a:srgbClr val="000000"/>
                </a:solidFill>
              </a:rPr>
              <a:t>       - WAS</a:t>
            </a:r>
            <a:r>
              <a:rPr lang="ko-KR" altLang="en-US" sz="2200" dirty="0" smtClean="0">
                <a:solidFill>
                  <a:srgbClr val="000000"/>
                </a:solidFill>
              </a:rPr>
              <a:t> </a:t>
            </a:r>
            <a:r>
              <a:rPr lang="ko-KR" altLang="en-US" sz="2200" dirty="0">
                <a:solidFill>
                  <a:srgbClr val="000000"/>
                </a:solidFill>
              </a:rPr>
              <a:t>머신 사양</a:t>
            </a:r>
            <a:endParaRPr lang="en-US" altLang="ko-KR" sz="2200" dirty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      </a:t>
            </a:r>
            <a:r>
              <a:rPr lang="en-US" altLang="ko-KR" sz="2000" dirty="0" smtClean="0">
                <a:solidFill>
                  <a:srgbClr val="000000"/>
                </a:solidFill>
              </a:rPr>
              <a:t>  : </a:t>
            </a:r>
            <a:r>
              <a:rPr lang="en-US" altLang="ko-KR" sz="2000" dirty="0">
                <a:solidFill>
                  <a:srgbClr val="000000"/>
                </a:solidFill>
              </a:rPr>
              <a:t>Xeon E3-1240 v5 3.50 GHz + RAM 32GB + 1 SAS HDD</a:t>
            </a:r>
          </a:p>
          <a:p>
            <a:pPr lvl="0"/>
            <a:r>
              <a:rPr lang="ko-KR" altLang="en-US" sz="2200" dirty="0" smtClean="0">
                <a:solidFill>
                  <a:srgbClr val="000000"/>
                </a:solidFill>
              </a:rPr>
              <a:t>       </a:t>
            </a:r>
            <a:r>
              <a:rPr lang="en-US" altLang="ko-KR" sz="2200" dirty="0" smtClean="0">
                <a:solidFill>
                  <a:srgbClr val="000000"/>
                </a:solidFill>
              </a:rPr>
              <a:t>- </a:t>
            </a:r>
            <a:r>
              <a:rPr lang="ko-KR" altLang="en-US" sz="2200" dirty="0" smtClean="0">
                <a:solidFill>
                  <a:srgbClr val="000000"/>
                </a:solidFill>
              </a:rPr>
              <a:t>메일 </a:t>
            </a:r>
            <a:r>
              <a:rPr lang="ko-KR" altLang="en-US" sz="2200" dirty="0">
                <a:solidFill>
                  <a:srgbClr val="000000"/>
                </a:solidFill>
              </a:rPr>
              <a:t>서버 머신 사양</a:t>
            </a:r>
            <a:endParaRPr lang="en-US" altLang="ko-KR" sz="2200" dirty="0">
              <a:solidFill>
                <a:srgbClr val="000000"/>
              </a:solidFill>
            </a:endParaRPr>
          </a:p>
          <a:p>
            <a:pPr lvl="0"/>
            <a:r>
              <a:rPr lang="en-US" altLang="ko-KR" sz="2200" dirty="0">
                <a:solidFill>
                  <a:srgbClr val="000000"/>
                </a:solidFill>
              </a:rPr>
              <a:t>       </a:t>
            </a:r>
            <a:r>
              <a:rPr lang="en-US" altLang="ko-KR" sz="2200" dirty="0" smtClean="0">
                <a:solidFill>
                  <a:srgbClr val="000000"/>
                </a:solidFill>
              </a:rPr>
              <a:t>  :</a:t>
            </a:r>
            <a:r>
              <a:rPr lang="en-US" altLang="ko-KR" sz="2000" dirty="0" smtClean="0">
                <a:solidFill>
                  <a:srgbClr val="000000"/>
                </a:solidFill>
              </a:rPr>
              <a:t> </a:t>
            </a:r>
            <a:r>
              <a:rPr lang="en-US" altLang="ko-KR" sz="2000" dirty="0">
                <a:solidFill>
                  <a:srgbClr val="000000"/>
                </a:solidFill>
              </a:rPr>
              <a:t>Xeon E5-1680 v4 3.40 GHz + RAM 32GB + 2 SAS HDD + 1 SSD</a:t>
            </a:r>
            <a:r>
              <a:rPr lang="ko-KR" altLang="en-US" sz="2000" dirty="0">
                <a:solidFill>
                  <a:srgbClr val="000000"/>
                </a:solidFill>
              </a:rPr>
              <a:t> 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0"/>
            <a:endParaRPr lang="en-US" altLang="ko-KR" sz="2200" dirty="0" smtClean="0">
              <a:solidFill>
                <a:srgbClr val="000000"/>
              </a:solidFill>
            </a:endParaRPr>
          </a:p>
          <a:p>
            <a:pPr lvl="0"/>
            <a:endParaRPr lang="en-US" altLang="ko-KR" sz="2200" dirty="0" smtClean="0"/>
          </a:p>
        </p:txBody>
      </p:sp>
    </p:spTree>
    <p:extLst>
      <p:ext uri="{BB962C8B-B14F-4D97-AF65-F5344CB8AC3E}">
        <p14:creationId xmlns:p14="http://schemas.microsoft.com/office/powerpoint/2010/main" val="419982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Configuration for 1,000 users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25868" y="1462750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메일 서버 머신</a:t>
            </a:r>
            <a:endParaRPr lang="ko-KR" alt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34317" y="5477162"/>
            <a:ext cx="6639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☞ </a:t>
            </a:r>
            <a:r>
              <a:rPr lang="ko-KR" altLang="en-US" sz="20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모든 컴포넌트가 한 대의 서버 머신에 할당되는 구성임</a:t>
            </a:r>
            <a:endParaRPr lang="en-US" altLang="ko-KR" sz="2000" dirty="0"/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3152800" y="1845372"/>
            <a:ext cx="3096344" cy="201567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6" name="타원 15"/>
          <p:cNvSpPr/>
          <p:nvPr/>
        </p:nvSpPr>
        <p:spPr bwMode="auto">
          <a:xfrm>
            <a:off x="3305297" y="2464560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77695" y="2732847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sp>
        <p:nvSpPr>
          <p:cNvPr id="18" name="타원 17"/>
          <p:cNvSpPr/>
          <p:nvPr/>
        </p:nvSpPr>
        <p:spPr bwMode="auto">
          <a:xfrm>
            <a:off x="4751363" y="1988840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95379" y="2257127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20" name="타원 19"/>
          <p:cNvSpPr/>
          <p:nvPr/>
        </p:nvSpPr>
        <p:spPr bwMode="auto">
          <a:xfrm>
            <a:off x="4747993" y="2942263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87692" y="3210550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</p:spTree>
    <p:extLst>
      <p:ext uri="{BB962C8B-B14F-4D97-AF65-F5344CB8AC3E}">
        <p14:creationId xmlns:p14="http://schemas.microsoft.com/office/powerpoint/2010/main" val="147536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Configuration for 3,000 users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" name="모서리가 둥근 직사각형 1"/>
          <p:cNvSpPr/>
          <p:nvPr/>
        </p:nvSpPr>
        <p:spPr bwMode="auto">
          <a:xfrm>
            <a:off x="5745088" y="1679322"/>
            <a:ext cx="2592288" cy="2570802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63531" y="1268760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메일 서버 머신</a:t>
            </a:r>
            <a:endParaRPr lang="ko-KR" altLang="en-US" sz="1600" dirty="0"/>
          </a:p>
        </p:txBody>
      </p:sp>
      <p:sp>
        <p:nvSpPr>
          <p:cNvPr id="8" name="타원 7"/>
          <p:cNvSpPr/>
          <p:nvPr/>
        </p:nvSpPr>
        <p:spPr bwMode="auto">
          <a:xfrm>
            <a:off x="6393160" y="2010478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37176" y="2278765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11" name="타원 10"/>
          <p:cNvSpPr/>
          <p:nvPr/>
        </p:nvSpPr>
        <p:spPr bwMode="auto">
          <a:xfrm>
            <a:off x="6393160" y="3173623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32859" y="3441910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317" y="5549170"/>
            <a:ext cx="74542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☞ Web Request</a:t>
            </a:r>
            <a:r>
              <a:rPr lang="ko-KR" altLang="en-US" sz="20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를 담당하는 </a:t>
            </a:r>
            <a:r>
              <a:rPr lang="en-US" altLang="ko-KR" sz="20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Tomcat</a:t>
            </a:r>
            <a:r>
              <a:rPr lang="ko-KR" altLang="en-US" sz="20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이 별도의 머신으로 분리됨</a:t>
            </a:r>
            <a:endParaRPr lang="en-US" altLang="ko-KR" sz="2000" dirty="0" smtClean="0"/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1712640" y="2166455"/>
            <a:ext cx="2232248" cy="158417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88704" y="1805867"/>
            <a:ext cx="1119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WAS</a:t>
            </a:r>
            <a:r>
              <a:rPr lang="ko-KR" altLang="en-US" sz="1600" dirty="0" smtClean="0"/>
              <a:t> 머신</a:t>
            </a:r>
            <a:endParaRPr lang="ko-KR" altLang="en-US" sz="1600" dirty="0"/>
          </a:p>
        </p:txBody>
      </p:sp>
      <p:sp>
        <p:nvSpPr>
          <p:cNvPr id="17" name="타원 16"/>
          <p:cNvSpPr/>
          <p:nvPr/>
        </p:nvSpPr>
        <p:spPr bwMode="auto">
          <a:xfrm>
            <a:off x="2144688" y="2526495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17086" y="2794782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cxnSp>
        <p:nvCxnSpPr>
          <p:cNvPr id="10" name="직선 화살표 연결선 9"/>
          <p:cNvCxnSpPr>
            <a:stCxn id="15" idx="3"/>
            <a:endCxn id="2" idx="1"/>
          </p:cNvCxnSpPr>
          <p:nvPr/>
        </p:nvCxnSpPr>
        <p:spPr bwMode="auto">
          <a:xfrm>
            <a:off x="3944888" y="2958543"/>
            <a:ext cx="1800200" cy="618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7159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Configuration for 5,000 users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" name="모서리가 둥근 직사각형 1"/>
          <p:cNvSpPr/>
          <p:nvPr/>
        </p:nvSpPr>
        <p:spPr bwMode="auto">
          <a:xfrm>
            <a:off x="5529064" y="1120577"/>
            <a:ext cx="2592288" cy="1926897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47507" y="710015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메일 서버 머신</a:t>
            </a:r>
            <a:endParaRPr lang="ko-KR" altLang="en-US" sz="1600" dirty="0"/>
          </a:p>
        </p:txBody>
      </p:sp>
      <p:sp>
        <p:nvSpPr>
          <p:cNvPr id="8" name="타원 7"/>
          <p:cNvSpPr/>
          <p:nvPr/>
        </p:nvSpPr>
        <p:spPr bwMode="auto">
          <a:xfrm>
            <a:off x="6177136" y="1214071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21152" y="1482358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11" name="타원 10"/>
          <p:cNvSpPr/>
          <p:nvPr/>
        </p:nvSpPr>
        <p:spPr bwMode="auto">
          <a:xfrm>
            <a:off x="6177136" y="2150175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6835" y="2418462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664" y="5517232"/>
            <a:ext cx="7768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dirty="0" smtClean="0">
                <a:solidFill>
                  <a:srgbClr val="000000"/>
                </a:solidFill>
              </a:rPr>
              <a:t> </a:t>
            </a:r>
            <a:r>
              <a:rPr lang="en-US" altLang="ko-KR" sz="1800" dirty="0">
                <a:latin typeface="바탕" panose="02030600000101010101" pitchFamily="18" charset="-127"/>
                <a:ea typeface="바탕" panose="02030600000101010101" pitchFamily="18" charset="-127"/>
              </a:rPr>
              <a:t>☞ Web 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Request </a:t>
            </a:r>
            <a:r>
              <a:rPr lang="ko-KR" altLang="en-US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처리는 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3,000</a:t>
            </a:r>
            <a:r>
              <a:rPr lang="ko-KR" altLang="en-US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명 구성과 동일하게 한 대의 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WAS </a:t>
            </a:r>
            <a:r>
              <a:rPr lang="ko-KR" altLang="en-US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머신으로</a:t>
            </a:r>
            <a:endParaRPr lang="en-US" altLang="ko-KR" sz="1800" dirty="0" smtClean="0"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r>
              <a:rPr lang="en-US" altLang="ko-KR" sz="1800" dirty="0"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    </a:t>
            </a:r>
            <a:r>
              <a:rPr lang="ko-KR" altLang="en-US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가능할 것으로 판단됨</a:t>
            </a:r>
            <a:endParaRPr lang="en-US" altLang="ko-KR" sz="1800" dirty="0"/>
          </a:p>
        </p:txBody>
      </p:sp>
      <p:sp>
        <p:nvSpPr>
          <p:cNvPr id="25" name="모서리가 둥근 직사각형 24"/>
          <p:cNvSpPr/>
          <p:nvPr/>
        </p:nvSpPr>
        <p:spPr bwMode="auto">
          <a:xfrm>
            <a:off x="5529064" y="3230295"/>
            <a:ext cx="2592288" cy="1926897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26" name="타원 25"/>
          <p:cNvSpPr/>
          <p:nvPr/>
        </p:nvSpPr>
        <p:spPr bwMode="auto">
          <a:xfrm>
            <a:off x="6177136" y="3323789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28" name="타원 27"/>
          <p:cNvSpPr/>
          <p:nvPr/>
        </p:nvSpPr>
        <p:spPr bwMode="auto">
          <a:xfrm>
            <a:off x="6177136" y="4259893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0" name="타원 29"/>
          <p:cNvSpPr/>
          <p:nvPr/>
        </p:nvSpPr>
        <p:spPr bwMode="auto">
          <a:xfrm>
            <a:off x="3368824" y="2492896"/>
            <a:ext cx="1417376" cy="953423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91608" y="2828476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Load Balancer</a:t>
            </a:r>
          </a:p>
        </p:txBody>
      </p:sp>
      <p:sp>
        <p:nvSpPr>
          <p:cNvPr id="32" name="모서리가 둥근 직사각형 31"/>
          <p:cNvSpPr/>
          <p:nvPr/>
        </p:nvSpPr>
        <p:spPr bwMode="auto">
          <a:xfrm>
            <a:off x="416496" y="2172757"/>
            <a:ext cx="2232248" cy="158417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2560" y="1812169"/>
            <a:ext cx="1119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WAS</a:t>
            </a:r>
            <a:r>
              <a:rPr lang="ko-KR" altLang="en-US" sz="1600" dirty="0" smtClean="0"/>
              <a:t> 머신</a:t>
            </a:r>
            <a:endParaRPr lang="ko-KR" altLang="en-US" sz="1600" dirty="0"/>
          </a:p>
        </p:txBody>
      </p:sp>
      <p:sp>
        <p:nvSpPr>
          <p:cNvPr id="34" name="타원 33"/>
          <p:cNvSpPr/>
          <p:nvPr/>
        </p:nvSpPr>
        <p:spPr bwMode="auto">
          <a:xfrm>
            <a:off x="848544" y="2532797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0942" y="2801084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cxnSp>
        <p:nvCxnSpPr>
          <p:cNvPr id="5" name="직선 화살표 연결선 4"/>
          <p:cNvCxnSpPr>
            <a:stCxn id="30" idx="7"/>
            <a:endCxn id="2" idx="1"/>
          </p:cNvCxnSpPr>
          <p:nvPr/>
        </p:nvCxnSpPr>
        <p:spPr bwMode="auto">
          <a:xfrm flipV="1">
            <a:off x="4578630" y="2084026"/>
            <a:ext cx="950434" cy="548496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직선 화살표 연결선 6"/>
          <p:cNvCxnSpPr>
            <a:stCxn id="30" idx="5"/>
            <a:endCxn id="25" idx="1"/>
          </p:cNvCxnSpPr>
          <p:nvPr/>
        </p:nvCxnSpPr>
        <p:spPr bwMode="auto">
          <a:xfrm>
            <a:off x="4578630" y="3306693"/>
            <a:ext cx="950434" cy="887051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직선 화살표 연결선 35"/>
          <p:cNvCxnSpPr>
            <a:stCxn id="32" idx="3"/>
            <a:endCxn id="30" idx="2"/>
          </p:cNvCxnSpPr>
          <p:nvPr/>
        </p:nvCxnSpPr>
        <p:spPr bwMode="auto">
          <a:xfrm>
            <a:off x="2648744" y="2964845"/>
            <a:ext cx="720080" cy="4763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6416835" y="3590335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1152" y="4506694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44" name="원호 43"/>
          <p:cNvSpPr/>
          <p:nvPr/>
        </p:nvSpPr>
        <p:spPr bwMode="auto">
          <a:xfrm>
            <a:off x="6897216" y="2582223"/>
            <a:ext cx="1296144" cy="1193907"/>
          </a:xfrm>
          <a:prstGeom prst="arc">
            <a:avLst>
              <a:gd name="adj1" fmla="val 16200000"/>
              <a:gd name="adj2" fmla="val 5421420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41411" y="2582223"/>
            <a:ext cx="160813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Replication</a:t>
            </a:r>
          </a:p>
          <a:p>
            <a:r>
              <a:rPr lang="en-US" altLang="ko-KR" sz="1400" dirty="0" smtClean="0"/>
              <a:t>on Dedicated</a:t>
            </a:r>
          </a:p>
          <a:p>
            <a:r>
              <a:rPr lang="en-US" altLang="ko-KR" sz="1400" dirty="0" smtClean="0"/>
              <a:t>Gbps Network</a:t>
            </a:r>
          </a:p>
          <a:p>
            <a:r>
              <a:rPr lang="en-US" altLang="ko-KR" sz="1400" dirty="0" smtClean="0"/>
              <a:t>Between Mail</a:t>
            </a:r>
          </a:p>
          <a:p>
            <a:r>
              <a:rPr lang="en-US" altLang="ko-KR" sz="1400" dirty="0" smtClean="0"/>
              <a:t>Server Machines</a:t>
            </a:r>
          </a:p>
        </p:txBody>
      </p:sp>
    </p:spTree>
    <p:extLst>
      <p:ext uri="{BB962C8B-B14F-4D97-AF65-F5344CB8AC3E}">
        <p14:creationId xmlns:p14="http://schemas.microsoft.com/office/powerpoint/2010/main" val="275678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Configuration for 10,000 users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 bwMode="auto">
          <a:xfrm>
            <a:off x="6678629" y="1002214"/>
            <a:ext cx="2232248" cy="107193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81048" y="591652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메일 서버 머신</a:t>
            </a:r>
            <a:endParaRPr lang="ko-KR" altLang="en-US" sz="1600" dirty="0"/>
          </a:p>
        </p:txBody>
      </p:sp>
      <p:sp>
        <p:nvSpPr>
          <p:cNvPr id="40" name="타원 39"/>
          <p:cNvSpPr/>
          <p:nvPr/>
        </p:nvSpPr>
        <p:spPr bwMode="auto">
          <a:xfrm>
            <a:off x="6728603" y="1125719"/>
            <a:ext cx="1141659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50637" y="1393031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42" name="타원 41"/>
          <p:cNvSpPr/>
          <p:nvPr/>
        </p:nvSpPr>
        <p:spPr bwMode="auto">
          <a:xfrm>
            <a:off x="7902765" y="1113727"/>
            <a:ext cx="978766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969101" y="1358087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46" name="모서리가 둥근 직사각형 45"/>
          <p:cNvSpPr/>
          <p:nvPr/>
        </p:nvSpPr>
        <p:spPr bwMode="auto">
          <a:xfrm>
            <a:off x="1740580" y="2421436"/>
            <a:ext cx="1872208" cy="1169599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72628" y="2060848"/>
            <a:ext cx="1119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WAS</a:t>
            </a:r>
            <a:r>
              <a:rPr lang="ko-KR" altLang="en-US" sz="1600" dirty="0" smtClean="0"/>
              <a:t> 머신</a:t>
            </a:r>
            <a:endParaRPr lang="ko-KR" altLang="en-US" sz="1600" dirty="0"/>
          </a:p>
        </p:txBody>
      </p:sp>
      <p:sp>
        <p:nvSpPr>
          <p:cNvPr id="48" name="타원 47"/>
          <p:cNvSpPr/>
          <p:nvPr/>
        </p:nvSpPr>
        <p:spPr bwMode="auto">
          <a:xfrm>
            <a:off x="2028612" y="2615578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301010" y="2883865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sp>
        <p:nvSpPr>
          <p:cNvPr id="50" name="원호 49"/>
          <p:cNvSpPr/>
          <p:nvPr/>
        </p:nvSpPr>
        <p:spPr bwMode="auto">
          <a:xfrm>
            <a:off x="8262805" y="1515013"/>
            <a:ext cx="1154691" cy="1193907"/>
          </a:xfrm>
          <a:prstGeom prst="arc">
            <a:avLst>
              <a:gd name="adj1" fmla="val 16579116"/>
              <a:gd name="adj2" fmla="val 5054703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52" name="타원 51"/>
          <p:cNvSpPr/>
          <p:nvPr/>
        </p:nvSpPr>
        <p:spPr bwMode="auto">
          <a:xfrm>
            <a:off x="4962204" y="1683489"/>
            <a:ext cx="1417376" cy="953423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973221" y="2019069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Load Balancer</a:t>
            </a:r>
          </a:p>
        </p:txBody>
      </p:sp>
      <p:cxnSp>
        <p:nvCxnSpPr>
          <p:cNvPr id="54" name="직선 화살표 연결선 53"/>
          <p:cNvCxnSpPr>
            <a:stCxn id="52" idx="7"/>
            <a:endCxn id="29" idx="1"/>
          </p:cNvCxnSpPr>
          <p:nvPr/>
        </p:nvCxnSpPr>
        <p:spPr bwMode="auto">
          <a:xfrm flipV="1">
            <a:off x="6172010" y="1538181"/>
            <a:ext cx="506619" cy="284934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직선 화살표 연결선 54"/>
          <p:cNvCxnSpPr>
            <a:stCxn id="52" idx="5"/>
            <a:endCxn id="65" idx="1"/>
          </p:cNvCxnSpPr>
          <p:nvPr/>
        </p:nvCxnSpPr>
        <p:spPr bwMode="auto">
          <a:xfrm>
            <a:off x="6172010" y="2497286"/>
            <a:ext cx="506619" cy="251732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6" name="모서리가 둥근 직사각형 55"/>
          <p:cNvSpPr/>
          <p:nvPr/>
        </p:nvSpPr>
        <p:spPr bwMode="auto">
          <a:xfrm>
            <a:off x="1740580" y="3717032"/>
            <a:ext cx="1872208" cy="1169599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57" name="타원 56"/>
          <p:cNvSpPr/>
          <p:nvPr/>
        </p:nvSpPr>
        <p:spPr bwMode="auto">
          <a:xfrm>
            <a:off x="2028612" y="3911174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301010" y="4179461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sp>
        <p:nvSpPr>
          <p:cNvPr id="61" name="타원 60"/>
          <p:cNvSpPr/>
          <p:nvPr/>
        </p:nvSpPr>
        <p:spPr bwMode="auto">
          <a:xfrm>
            <a:off x="84396" y="3195657"/>
            <a:ext cx="1417376" cy="953423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5413" y="3531237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Load Balancer</a:t>
            </a:r>
          </a:p>
        </p:txBody>
      </p:sp>
      <p:cxnSp>
        <p:nvCxnSpPr>
          <p:cNvPr id="63" name="직선 화살표 연결선 62"/>
          <p:cNvCxnSpPr>
            <a:stCxn id="61" idx="7"/>
            <a:endCxn id="46" idx="1"/>
          </p:cNvCxnSpPr>
          <p:nvPr/>
        </p:nvCxnSpPr>
        <p:spPr bwMode="auto">
          <a:xfrm flipV="1">
            <a:off x="1294202" y="3006236"/>
            <a:ext cx="446378" cy="329047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4" name="직선 화살표 연결선 63"/>
          <p:cNvCxnSpPr>
            <a:stCxn id="61" idx="5"/>
            <a:endCxn id="56" idx="1"/>
          </p:cNvCxnSpPr>
          <p:nvPr/>
        </p:nvCxnSpPr>
        <p:spPr bwMode="auto">
          <a:xfrm>
            <a:off x="1294202" y="4009454"/>
            <a:ext cx="446378" cy="29237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5" name="모서리가 둥근 직사각형 64"/>
          <p:cNvSpPr/>
          <p:nvPr/>
        </p:nvSpPr>
        <p:spPr bwMode="auto">
          <a:xfrm>
            <a:off x="6678629" y="2213051"/>
            <a:ext cx="2232248" cy="107193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66" name="타원 65"/>
          <p:cNvSpPr/>
          <p:nvPr/>
        </p:nvSpPr>
        <p:spPr bwMode="auto">
          <a:xfrm>
            <a:off x="6728603" y="2336556"/>
            <a:ext cx="1141659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750637" y="2603868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68" name="타원 67"/>
          <p:cNvSpPr/>
          <p:nvPr/>
        </p:nvSpPr>
        <p:spPr bwMode="auto">
          <a:xfrm>
            <a:off x="7902765" y="2324564"/>
            <a:ext cx="978766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969101" y="2568924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34472" y="1991129"/>
            <a:ext cx="1148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Replication</a:t>
            </a:r>
          </a:p>
        </p:txBody>
      </p:sp>
      <p:sp>
        <p:nvSpPr>
          <p:cNvPr id="71" name="모서리가 둥근 직사각형 70"/>
          <p:cNvSpPr/>
          <p:nvPr/>
        </p:nvSpPr>
        <p:spPr bwMode="auto">
          <a:xfrm>
            <a:off x="6669425" y="3882534"/>
            <a:ext cx="2232248" cy="107193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72" name="타원 71"/>
          <p:cNvSpPr/>
          <p:nvPr/>
        </p:nvSpPr>
        <p:spPr bwMode="auto">
          <a:xfrm>
            <a:off x="6719399" y="4006039"/>
            <a:ext cx="1141659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741433" y="4273351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74" name="타원 73"/>
          <p:cNvSpPr/>
          <p:nvPr/>
        </p:nvSpPr>
        <p:spPr bwMode="auto">
          <a:xfrm>
            <a:off x="7893561" y="3994047"/>
            <a:ext cx="978766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959897" y="4238407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76" name="원호 75"/>
          <p:cNvSpPr/>
          <p:nvPr/>
        </p:nvSpPr>
        <p:spPr bwMode="auto">
          <a:xfrm>
            <a:off x="8253601" y="4395333"/>
            <a:ext cx="1154691" cy="1193907"/>
          </a:xfrm>
          <a:prstGeom prst="arc">
            <a:avLst>
              <a:gd name="adj1" fmla="val 16579116"/>
              <a:gd name="adj2" fmla="val 5054703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77" name="타원 76"/>
          <p:cNvSpPr/>
          <p:nvPr/>
        </p:nvSpPr>
        <p:spPr bwMode="auto">
          <a:xfrm>
            <a:off x="4953000" y="4563809"/>
            <a:ext cx="1417376" cy="953423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964017" y="4899389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Load Balancer</a:t>
            </a:r>
          </a:p>
        </p:txBody>
      </p:sp>
      <p:cxnSp>
        <p:nvCxnSpPr>
          <p:cNvPr id="79" name="직선 화살표 연결선 78"/>
          <p:cNvCxnSpPr>
            <a:stCxn id="77" idx="7"/>
            <a:endCxn id="71" idx="1"/>
          </p:cNvCxnSpPr>
          <p:nvPr/>
        </p:nvCxnSpPr>
        <p:spPr bwMode="auto">
          <a:xfrm flipV="1">
            <a:off x="6162806" y="4418501"/>
            <a:ext cx="506619" cy="284934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0" name="직선 화살표 연결선 79"/>
          <p:cNvCxnSpPr>
            <a:stCxn id="77" idx="5"/>
            <a:endCxn id="81" idx="1"/>
          </p:cNvCxnSpPr>
          <p:nvPr/>
        </p:nvCxnSpPr>
        <p:spPr bwMode="auto">
          <a:xfrm>
            <a:off x="6162806" y="5377606"/>
            <a:ext cx="506619" cy="251732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1" name="모서리가 둥근 직사각형 80"/>
          <p:cNvSpPr/>
          <p:nvPr/>
        </p:nvSpPr>
        <p:spPr bwMode="auto">
          <a:xfrm>
            <a:off x="6669425" y="5093371"/>
            <a:ext cx="2232248" cy="107193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82" name="타원 81"/>
          <p:cNvSpPr/>
          <p:nvPr/>
        </p:nvSpPr>
        <p:spPr bwMode="auto">
          <a:xfrm>
            <a:off x="6719399" y="5216876"/>
            <a:ext cx="1141659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741433" y="5484188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84" name="타원 83"/>
          <p:cNvSpPr/>
          <p:nvPr/>
        </p:nvSpPr>
        <p:spPr bwMode="auto">
          <a:xfrm>
            <a:off x="7893561" y="5204884"/>
            <a:ext cx="978766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959897" y="5449244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25268" y="4871449"/>
            <a:ext cx="1148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Replication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28864" y="3481844"/>
            <a:ext cx="1521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 smtClean="0"/>
              <a:t>User Account</a:t>
            </a:r>
            <a:r>
              <a:rPr lang="ko-KR" altLang="en-US" sz="1400" dirty="0" smtClean="0"/>
              <a:t>별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분산 로직</a:t>
            </a:r>
            <a:endParaRPr lang="en-US" altLang="ko-KR" sz="1400" dirty="0" smtClean="0"/>
          </a:p>
        </p:txBody>
      </p:sp>
      <p:cxnSp>
        <p:nvCxnSpPr>
          <p:cNvPr id="17" name="직선 화살표 연결선 16"/>
          <p:cNvCxnSpPr>
            <a:stCxn id="56" idx="3"/>
          </p:cNvCxnSpPr>
          <p:nvPr/>
        </p:nvCxnSpPr>
        <p:spPr bwMode="auto">
          <a:xfrm flipV="1">
            <a:off x="3612788" y="4005683"/>
            <a:ext cx="337528" cy="296149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직선 화살표 연결선 21"/>
          <p:cNvCxnSpPr>
            <a:endCxn id="77" idx="1"/>
          </p:cNvCxnSpPr>
          <p:nvPr/>
        </p:nvCxnSpPr>
        <p:spPr bwMode="auto">
          <a:xfrm>
            <a:off x="5019580" y="4005683"/>
            <a:ext cx="140990" cy="697752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6" name="TextBox 95"/>
          <p:cNvSpPr txBox="1"/>
          <p:nvPr/>
        </p:nvSpPr>
        <p:spPr>
          <a:xfrm>
            <a:off x="8863199" y="2924944"/>
            <a:ext cx="119135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Dedicated </a:t>
            </a:r>
          </a:p>
          <a:p>
            <a:r>
              <a:rPr lang="en-US" altLang="ko-KR" sz="1400" dirty="0" smtClean="0"/>
              <a:t>Gbps </a:t>
            </a:r>
          </a:p>
          <a:p>
            <a:r>
              <a:rPr lang="en-US" altLang="ko-KR" sz="1400" dirty="0" smtClean="0"/>
              <a:t>Network</a:t>
            </a:r>
            <a:r>
              <a:rPr lang="en-US" altLang="ko-KR" sz="1400" dirty="0"/>
              <a:t> </a:t>
            </a:r>
            <a:endParaRPr lang="en-US" altLang="ko-KR" sz="1400" dirty="0" smtClean="0"/>
          </a:p>
          <a:p>
            <a:r>
              <a:rPr lang="en-US" altLang="ko-KR" sz="1400" dirty="0" smtClean="0"/>
              <a:t>Between </a:t>
            </a:r>
          </a:p>
          <a:p>
            <a:r>
              <a:rPr lang="en-US" altLang="ko-KR" sz="1400" dirty="0" smtClean="0"/>
              <a:t>Mail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Server </a:t>
            </a:r>
          </a:p>
          <a:p>
            <a:r>
              <a:rPr lang="en-US" altLang="ko-KR" sz="1400" dirty="0" smtClean="0"/>
              <a:t>Machines</a:t>
            </a:r>
          </a:p>
        </p:txBody>
      </p:sp>
      <p:sp>
        <p:nvSpPr>
          <p:cNvPr id="97" name="다이아몬드 96"/>
          <p:cNvSpPr/>
          <p:nvPr/>
        </p:nvSpPr>
        <p:spPr bwMode="auto">
          <a:xfrm>
            <a:off x="3619261" y="2782220"/>
            <a:ext cx="1759448" cy="1763964"/>
          </a:xfrm>
          <a:prstGeom prst="diamond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cxnSp>
        <p:nvCxnSpPr>
          <p:cNvPr id="99" name="직선 화살표 연결선 98"/>
          <p:cNvCxnSpPr>
            <a:stCxn id="46" idx="3"/>
          </p:cNvCxnSpPr>
          <p:nvPr/>
        </p:nvCxnSpPr>
        <p:spPr bwMode="auto">
          <a:xfrm>
            <a:off x="3612788" y="3006236"/>
            <a:ext cx="404108" cy="231256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3" name="직선 화살표 연결선 102"/>
          <p:cNvCxnSpPr>
            <a:endCxn id="52" idx="3"/>
          </p:cNvCxnSpPr>
          <p:nvPr/>
        </p:nvCxnSpPr>
        <p:spPr bwMode="auto">
          <a:xfrm flipV="1">
            <a:off x="4953000" y="2497286"/>
            <a:ext cx="216774" cy="740206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4" name="TextBox 103"/>
          <p:cNvSpPr txBox="1"/>
          <p:nvPr/>
        </p:nvSpPr>
        <p:spPr>
          <a:xfrm>
            <a:off x="6068524" y="980728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Set 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068524" y="4057327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Set 2</a:t>
            </a:r>
          </a:p>
        </p:txBody>
      </p:sp>
      <p:sp>
        <p:nvSpPr>
          <p:cNvPr id="106" name="직사각형 105"/>
          <p:cNvSpPr/>
          <p:nvPr/>
        </p:nvSpPr>
        <p:spPr>
          <a:xfrm>
            <a:off x="720080" y="5662989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800" dirty="0">
                <a:latin typeface="바탕" panose="02030600000101010101" pitchFamily="18" charset="-127"/>
                <a:ea typeface="바탕" panose="02030600000101010101" pitchFamily="18" charset="-127"/>
              </a:rPr>
              <a:t>☞ 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Set 1</a:t>
            </a:r>
            <a:r>
              <a:rPr lang="ko-KR" altLang="en-US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의 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Mail Server</a:t>
            </a:r>
            <a:r>
              <a:rPr lang="ko-KR" altLang="en-US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가 사용자 계정에 따라 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Set 2</a:t>
            </a:r>
            <a:r>
              <a:rPr lang="ko-KR" altLang="en-US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의 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MariaDB</a:t>
            </a:r>
            <a:r>
              <a:rPr lang="ko-KR" altLang="en-US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로 접근할 수 있으며 그 반대도 가능함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1800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cxnSp>
        <p:nvCxnSpPr>
          <p:cNvPr id="108" name="직선 화살표 연결선 107"/>
          <p:cNvCxnSpPr>
            <a:endCxn id="77" idx="0"/>
          </p:cNvCxnSpPr>
          <p:nvPr/>
        </p:nvCxnSpPr>
        <p:spPr bwMode="auto">
          <a:xfrm flipH="1">
            <a:off x="5661688" y="3006236"/>
            <a:ext cx="1007737" cy="1557573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0" name="직선 화살표 연결선 109"/>
          <p:cNvCxnSpPr>
            <a:endCxn id="52" idx="4"/>
          </p:cNvCxnSpPr>
          <p:nvPr/>
        </p:nvCxnSpPr>
        <p:spPr bwMode="auto">
          <a:xfrm flipH="1" flipV="1">
            <a:off x="5670892" y="2636912"/>
            <a:ext cx="998533" cy="151216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5948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Configuration for 1,000 users with HA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" name="모서리가 둥근 직사각형 1"/>
          <p:cNvSpPr/>
          <p:nvPr/>
        </p:nvSpPr>
        <p:spPr bwMode="auto">
          <a:xfrm>
            <a:off x="4160912" y="1197848"/>
            <a:ext cx="3096344" cy="201567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80992" y="837260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메일 서버 머신</a:t>
            </a:r>
            <a:endParaRPr lang="ko-KR" altLang="en-US" sz="1600" dirty="0"/>
          </a:p>
        </p:txBody>
      </p:sp>
      <p:sp>
        <p:nvSpPr>
          <p:cNvPr id="4" name="타원 3"/>
          <p:cNvSpPr/>
          <p:nvPr/>
        </p:nvSpPr>
        <p:spPr bwMode="auto">
          <a:xfrm>
            <a:off x="4313409" y="1817036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85807" y="2085323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sp>
        <p:nvSpPr>
          <p:cNvPr id="8" name="타원 7"/>
          <p:cNvSpPr/>
          <p:nvPr/>
        </p:nvSpPr>
        <p:spPr bwMode="auto">
          <a:xfrm>
            <a:off x="5759475" y="1341316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03491" y="1609603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11" name="타원 10"/>
          <p:cNvSpPr/>
          <p:nvPr/>
        </p:nvSpPr>
        <p:spPr bwMode="auto">
          <a:xfrm>
            <a:off x="5756105" y="2294739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95804" y="2563026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4160912" y="3573564"/>
            <a:ext cx="3096344" cy="201567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6" name="타원 15"/>
          <p:cNvSpPr/>
          <p:nvPr/>
        </p:nvSpPr>
        <p:spPr bwMode="auto">
          <a:xfrm>
            <a:off x="4313409" y="4192752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85807" y="4461039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sp>
        <p:nvSpPr>
          <p:cNvPr id="18" name="타원 17"/>
          <p:cNvSpPr/>
          <p:nvPr/>
        </p:nvSpPr>
        <p:spPr bwMode="auto">
          <a:xfrm>
            <a:off x="5811190" y="4664701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55206" y="4932988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20" name="타원 19"/>
          <p:cNvSpPr/>
          <p:nvPr/>
        </p:nvSpPr>
        <p:spPr bwMode="auto">
          <a:xfrm>
            <a:off x="5809449" y="3689244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49148" y="3957531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23" name="타원 22"/>
          <p:cNvSpPr/>
          <p:nvPr/>
        </p:nvSpPr>
        <p:spPr bwMode="auto">
          <a:xfrm>
            <a:off x="1352600" y="2875518"/>
            <a:ext cx="1417376" cy="953423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63617" y="3211098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Load Balancer</a:t>
            </a:r>
          </a:p>
        </p:txBody>
      </p:sp>
      <p:cxnSp>
        <p:nvCxnSpPr>
          <p:cNvPr id="6" name="직선 화살표 연결선 5"/>
          <p:cNvCxnSpPr>
            <a:stCxn id="23" idx="7"/>
            <a:endCxn id="2" idx="1"/>
          </p:cNvCxnSpPr>
          <p:nvPr/>
        </p:nvCxnSpPr>
        <p:spPr bwMode="auto">
          <a:xfrm flipV="1">
            <a:off x="2562406" y="2205686"/>
            <a:ext cx="1598506" cy="80945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직선 화살표 연결선 26"/>
          <p:cNvCxnSpPr>
            <a:stCxn id="23" idx="5"/>
            <a:endCxn id="15" idx="1"/>
          </p:cNvCxnSpPr>
          <p:nvPr/>
        </p:nvCxnSpPr>
        <p:spPr bwMode="auto">
          <a:xfrm>
            <a:off x="2562406" y="3689315"/>
            <a:ext cx="1598506" cy="892087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원호 27"/>
          <p:cNvSpPr/>
          <p:nvPr/>
        </p:nvSpPr>
        <p:spPr bwMode="auto">
          <a:xfrm>
            <a:off x="6459137" y="2709468"/>
            <a:ext cx="1296144" cy="1193907"/>
          </a:xfrm>
          <a:prstGeom prst="arc">
            <a:avLst>
              <a:gd name="adj1" fmla="val 16200000"/>
              <a:gd name="adj2" fmla="val 5421420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03332" y="2709468"/>
            <a:ext cx="160813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Replication</a:t>
            </a:r>
          </a:p>
          <a:p>
            <a:r>
              <a:rPr lang="en-US" altLang="ko-KR" sz="1400" dirty="0" smtClean="0"/>
              <a:t>on </a:t>
            </a:r>
            <a:r>
              <a:rPr lang="en-US" altLang="ko-KR" sz="1400" dirty="0"/>
              <a:t>Dedicated</a:t>
            </a:r>
            <a:endParaRPr lang="en-US" altLang="ko-KR" sz="1400" dirty="0" smtClean="0"/>
          </a:p>
          <a:p>
            <a:r>
              <a:rPr lang="en-US" altLang="ko-KR" sz="1400" dirty="0" smtClean="0"/>
              <a:t>Gbps Network</a:t>
            </a:r>
          </a:p>
          <a:p>
            <a:r>
              <a:rPr lang="en-US" altLang="ko-KR" sz="1400" dirty="0" smtClean="0"/>
              <a:t>Between Mail</a:t>
            </a:r>
          </a:p>
          <a:p>
            <a:r>
              <a:rPr lang="en-US" altLang="ko-KR" sz="1400" dirty="0" smtClean="0"/>
              <a:t>Server Machines</a:t>
            </a:r>
          </a:p>
        </p:txBody>
      </p:sp>
    </p:spTree>
    <p:extLst>
      <p:ext uri="{BB962C8B-B14F-4D97-AF65-F5344CB8AC3E}">
        <p14:creationId xmlns:p14="http://schemas.microsoft.com/office/powerpoint/2010/main" val="99304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Configuration for 3,000 users with HA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" name="모서리가 둥근 직사각형 1"/>
          <p:cNvSpPr/>
          <p:nvPr/>
        </p:nvSpPr>
        <p:spPr bwMode="auto">
          <a:xfrm>
            <a:off x="5629012" y="2136871"/>
            <a:ext cx="2232248" cy="107193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31431" y="1726309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메일 서버 머신</a:t>
            </a:r>
            <a:endParaRPr lang="ko-KR" altLang="en-US" sz="1600" dirty="0"/>
          </a:p>
        </p:txBody>
      </p:sp>
      <p:sp>
        <p:nvSpPr>
          <p:cNvPr id="8" name="타원 7"/>
          <p:cNvSpPr/>
          <p:nvPr/>
        </p:nvSpPr>
        <p:spPr bwMode="auto">
          <a:xfrm>
            <a:off x="5678986" y="2260376"/>
            <a:ext cx="1141659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01020" y="2527688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11" name="타원 10"/>
          <p:cNvSpPr/>
          <p:nvPr/>
        </p:nvSpPr>
        <p:spPr bwMode="auto">
          <a:xfrm>
            <a:off x="6853148" y="2248384"/>
            <a:ext cx="978766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19484" y="2492744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1740580" y="2115933"/>
            <a:ext cx="1872208" cy="1169599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72628" y="1755345"/>
            <a:ext cx="1119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WAS</a:t>
            </a:r>
            <a:r>
              <a:rPr lang="ko-KR" altLang="en-US" sz="1600" dirty="0" smtClean="0"/>
              <a:t> 머신</a:t>
            </a:r>
            <a:endParaRPr lang="ko-KR" altLang="en-US" sz="1600" dirty="0"/>
          </a:p>
        </p:txBody>
      </p:sp>
      <p:sp>
        <p:nvSpPr>
          <p:cNvPr id="17" name="타원 16"/>
          <p:cNvSpPr/>
          <p:nvPr/>
        </p:nvSpPr>
        <p:spPr bwMode="auto">
          <a:xfrm>
            <a:off x="2028612" y="2310075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01010" y="2578362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sp>
        <p:nvSpPr>
          <p:cNvPr id="24" name="원호 23"/>
          <p:cNvSpPr/>
          <p:nvPr/>
        </p:nvSpPr>
        <p:spPr bwMode="auto">
          <a:xfrm>
            <a:off x="7213188" y="2649670"/>
            <a:ext cx="1154691" cy="1193907"/>
          </a:xfrm>
          <a:prstGeom prst="arc">
            <a:avLst>
              <a:gd name="adj1" fmla="val 16579116"/>
              <a:gd name="adj2" fmla="val 5054703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41359" y="2649670"/>
            <a:ext cx="160813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Replication</a:t>
            </a:r>
          </a:p>
          <a:p>
            <a:r>
              <a:rPr lang="en-US" altLang="ko-KR" sz="1400" dirty="0" smtClean="0"/>
              <a:t>on </a:t>
            </a:r>
            <a:r>
              <a:rPr lang="en-US" altLang="ko-KR" sz="1400" dirty="0"/>
              <a:t>Dedicated</a:t>
            </a:r>
            <a:endParaRPr lang="en-US" altLang="ko-KR" sz="1400" dirty="0" smtClean="0"/>
          </a:p>
          <a:p>
            <a:r>
              <a:rPr lang="en-US" altLang="ko-KR" sz="1400" dirty="0" smtClean="0"/>
              <a:t>Gbps Network</a:t>
            </a:r>
          </a:p>
          <a:p>
            <a:r>
              <a:rPr lang="en-US" altLang="ko-KR" sz="1400" dirty="0" smtClean="0"/>
              <a:t>Between Mail</a:t>
            </a:r>
          </a:p>
          <a:p>
            <a:r>
              <a:rPr lang="en-US" altLang="ko-KR" sz="1400" dirty="0" smtClean="0"/>
              <a:t>Server Machines</a:t>
            </a:r>
          </a:p>
        </p:txBody>
      </p:sp>
      <p:sp>
        <p:nvSpPr>
          <p:cNvPr id="26" name="타원 25"/>
          <p:cNvSpPr/>
          <p:nvPr/>
        </p:nvSpPr>
        <p:spPr bwMode="auto">
          <a:xfrm>
            <a:off x="3912587" y="2818146"/>
            <a:ext cx="1417376" cy="953423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23604" y="3153726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Load Balancer</a:t>
            </a:r>
          </a:p>
        </p:txBody>
      </p:sp>
      <p:cxnSp>
        <p:nvCxnSpPr>
          <p:cNvPr id="6" name="직선 화살표 연결선 5"/>
          <p:cNvCxnSpPr>
            <a:stCxn id="26" idx="7"/>
            <a:endCxn id="2" idx="1"/>
          </p:cNvCxnSpPr>
          <p:nvPr/>
        </p:nvCxnSpPr>
        <p:spPr bwMode="auto">
          <a:xfrm flipV="1">
            <a:off x="5122393" y="2672838"/>
            <a:ext cx="506619" cy="284934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직선 화살표 연결선 27"/>
          <p:cNvCxnSpPr>
            <a:stCxn id="26" idx="5"/>
            <a:endCxn id="43" idx="1"/>
          </p:cNvCxnSpPr>
          <p:nvPr/>
        </p:nvCxnSpPr>
        <p:spPr bwMode="auto">
          <a:xfrm>
            <a:off x="5122393" y="3631943"/>
            <a:ext cx="506619" cy="251732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모서리가 둥근 직사각형 28"/>
          <p:cNvSpPr/>
          <p:nvPr/>
        </p:nvSpPr>
        <p:spPr bwMode="auto">
          <a:xfrm>
            <a:off x="1740580" y="3411529"/>
            <a:ext cx="1872208" cy="1169599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0" name="타원 29"/>
          <p:cNvSpPr/>
          <p:nvPr/>
        </p:nvSpPr>
        <p:spPr bwMode="auto">
          <a:xfrm>
            <a:off x="2028612" y="3605671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301010" y="3873958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cxnSp>
        <p:nvCxnSpPr>
          <p:cNvPr id="33" name="직선 화살표 연결선 32"/>
          <p:cNvCxnSpPr>
            <a:stCxn id="15" idx="3"/>
            <a:endCxn id="26" idx="1"/>
          </p:cNvCxnSpPr>
          <p:nvPr/>
        </p:nvCxnSpPr>
        <p:spPr bwMode="auto">
          <a:xfrm>
            <a:off x="3612788" y="2700733"/>
            <a:ext cx="507369" cy="257039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직선 화살표 연결선 34"/>
          <p:cNvCxnSpPr>
            <a:stCxn id="29" idx="3"/>
            <a:endCxn id="26" idx="3"/>
          </p:cNvCxnSpPr>
          <p:nvPr/>
        </p:nvCxnSpPr>
        <p:spPr bwMode="auto">
          <a:xfrm flipV="1">
            <a:off x="3612788" y="3631943"/>
            <a:ext cx="507369" cy="364386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타원 35"/>
          <p:cNvSpPr/>
          <p:nvPr/>
        </p:nvSpPr>
        <p:spPr bwMode="auto">
          <a:xfrm>
            <a:off x="84396" y="2890154"/>
            <a:ext cx="1417376" cy="953423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5413" y="3225734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Load Balancer</a:t>
            </a:r>
          </a:p>
        </p:txBody>
      </p:sp>
      <p:cxnSp>
        <p:nvCxnSpPr>
          <p:cNvPr id="39" name="직선 화살표 연결선 38"/>
          <p:cNvCxnSpPr>
            <a:stCxn id="36" idx="7"/>
            <a:endCxn id="15" idx="1"/>
          </p:cNvCxnSpPr>
          <p:nvPr/>
        </p:nvCxnSpPr>
        <p:spPr bwMode="auto">
          <a:xfrm flipV="1">
            <a:off x="1294202" y="2700733"/>
            <a:ext cx="446378" cy="329047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직선 화살표 연결선 40"/>
          <p:cNvCxnSpPr>
            <a:stCxn id="36" idx="5"/>
            <a:endCxn id="29" idx="1"/>
          </p:cNvCxnSpPr>
          <p:nvPr/>
        </p:nvCxnSpPr>
        <p:spPr bwMode="auto">
          <a:xfrm>
            <a:off x="1294202" y="3703951"/>
            <a:ext cx="446378" cy="29237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모서리가 둥근 직사각형 42"/>
          <p:cNvSpPr/>
          <p:nvPr/>
        </p:nvSpPr>
        <p:spPr bwMode="auto">
          <a:xfrm>
            <a:off x="5629012" y="3347708"/>
            <a:ext cx="2232248" cy="107193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4" name="타원 43"/>
          <p:cNvSpPr/>
          <p:nvPr/>
        </p:nvSpPr>
        <p:spPr bwMode="auto">
          <a:xfrm>
            <a:off x="5678986" y="3471213"/>
            <a:ext cx="1141659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01020" y="3738525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46" name="타원 45"/>
          <p:cNvSpPr/>
          <p:nvPr/>
        </p:nvSpPr>
        <p:spPr bwMode="auto">
          <a:xfrm>
            <a:off x="6853148" y="3459221"/>
            <a:ext cx="978766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919484" y="3703581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</p:spTree>
    <p:extLst>
      <p:ext uri="{BB962C8B-B14F-4D97-AF65-F5344CB8AC3E}">
        <p14:creationId xmlns:p14="http://schemas.microsoft.com/office/powerpoint/2010/main" val="321634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Configuration for 5,000 users with HA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" name="모서리가 둥근 직사각형 1"/>
          <p:cNvSpPr/>
          <p:nvPr/>
        </p:nvSpPr>
        <p:spPr bwMode="auto">
          <a:xfrm>
            <a:off x="5629012" y="1543493"/>
            <a:ext cx="2232248" cy="107193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31431" y="1132931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메일 서버 머신</a:t>
            </a:r>
            <a:endParaRPr lang="ko-KR" altLang="en-US" sz="1600" dirty="0"/>
          </a:p>
        </p:txBody>
      </p:sp>
      <p:sp>
        <p:nvSpPr>
          <p:cNvPr id="8" name="타원 7"/>
          <p:cNvSpPr/>
          <p:nvPr/>
        </p:nvSpPr>
        <p:spPr bwMode="auto">
          <a:xfrm>
            <a:off x="5678986" y="1666998"/>
            <a:ext cx="1141659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01020" y="1934310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11" name="타원 10"/>
          <p:cNvSpPr/>
          <p:nvPr/>
        </p:nvSpPr>
        <p:spPr bwMode="auto">
          <a:xfrm>
            <a:off x="6853148" y="1655006"/>
            <a:ext cx="978766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19484" y="1899366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1740580" y="2102634"/>
            <a:ext cx="1872208" cy="1169599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72628" y="1742046"/>
            <a:ext cx="1119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WAS</a:t>
            </a:r>
            <a:r>
              <a:rPr lang="ko-KR" altLang="en-US" sz="1600" dirty="0" smtClean="0"/>
              <a:t> 머신</a:t>
            </a:r>
            <a:endParaRPr lang="ko-KR" altLang="en-US" sz="1600" dirty="0"/>
          </a:p>
        </p:txBody>
      </p:sp>
      <p:sp>
        <p:nvSpPr>
          <p:cNvPr id="17" name="타원 16"/>
          <p:cNvSpPr/>
          <p:nvPr/>
        </p:nvSpPr>
        <p:spPr bwMode="auto">
          <a:xfrm>
            <a:off x="2028612" y="2296776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01010" y="2565063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sp>
        <p:nvSpPr>
          <p:cNvPr id="24" name="원호 23"/>
          <p:cNvSpPr/>
          <p:nvPr/>
        </p:nvSpPr>
        <p:spPr bwMode="auto">
          <a:xfrm>
            <a:off x="7213188" y="2056292"/>
            <a:ext cx="1154691" cy="1193907"/>
          </a:xfrm>
          <a:prstGeom prst="arc">
            <a:avLst>
              <a:gd name="adj1" fmla="val 16579116"/>
              <a:gd name="adj2" fmla="val 5054703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41359" y="2645099"/>
            <a:ext cx="160813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Replication</a:t>
            </a:r>
          </a:p>
          <a:p>
            <a:r>
              <a:rPr lang="en-US" altLang="ko-KR" sz="1400" dirty="0" smtClean="0"/>
              <a:t>on </a:t>
            </a:r>
            <a:r>
              <a:rPr lang="en-US" altLang="ko-KR" sz="1400" dirty="0"/>
              <a:t>Dedicated</a:t>
            </a:r>
            <a:endParaRPr lang="en-US" altLang="ko-KR" sz="1400" dirty="0" smtClean="0"/>
          </a:p>
          <a:p>
            <a:r>
              <a:rPr lang="en-US" altLang="ko-KR" sz="1400" dirty="0" smtClean="0"/>
              <a:t>Gbps Network</a:t>
            </a:r>
          </a:p>
          <a:p>
            <a:r>
              <a:rPr lang="en-US" altLang="ko-KR" sz="1400" dirty="0" smtClean="0"/>
              <a:t>Between Mail</a:t>
            </a:r>
          </a:p>
          <a:p>
            <a:r>
              <a:rPr lang="en-US" altLang="ko-KR" sz="1400" dirty="0" smtClean="0"/>
              <a:t>Server Machines</a:t>
            </a:r>
          </a:p>
        </p:txBody>
      </p:sp>
      <p:sp>
        <p:nvSpPr>
          <p:cNvPr id="26" name="타원 25"/>
          <p:cNvSpPr/>
          <p:nvPr/>
        </p:nvSpPr>
        <p:spPr bwMode="auto">
          <a:xfrm>
            <a:off x="3912587" y="2804847"/>
            <a:ext cx="1417376" cy="953423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23604" y="3140427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Load Balancer</a:t>
            </a:r>
          </a:p>
        </p:txBody>
      </p:sp>
      <p:cxnSp>
        <p:nvCxnSpPr>
          <p:cNvPr id="6" name="직선 화살표 연결선 5"/>
          <p:cNvCxnSpPr>
            <a:stCxn id="26" idx="7"/>
            <a:endCxn id="2" idx="1"/>
          </p:cNvCxnSpPr>
          <p:nvPr/>
        </p:nvCxnSpPr>
        <p:spPr bwMode="auto">
          <a:xfrm flipV="1">
            <a:off x="5122393" y="2079460"/>
            <a:ext cx="506619" cy="865013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모서리가 둥근 직사각형 28"/>
          <p:cNvSpPr/>
          <p:nvPr/>
        </p:nvSpPr>
        <p:spPr bwMode="auto">
          <a:xfrm>
            <a:off x="1740580" y="3398230"/>
            <a:ext cx="1872208" cy="1169599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0" name="타원 29"/>
          <p:cNvSpPr/>
          <p:nvPr/>
        </p:nvSpPr>
        <p:spPr bwMode="auto">
          <a:xfrm>
            <a:off x="2028612" y="3592372"/>
            <a:ext cx="1353765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301010" y="3860659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cxnSp>
        <p:nvCxnSpPr>
          <p:cNvPr id="33" name="직선 화살표 연결선 32"/>
          <p:cNvCxnSpPr>
            <a:stCxn id="15" idx="3"/>
            <a:endCxn id="26" idx="1"/>
          </p:cNvCxnSpPr>
          <p:nvPr/>
        </p:nvCxnSpPr>
        <p:spPr bwMode="auto">
          <a:xfrm>
            <a:off x="3612788" y="2687434"/>
            <a:ext cx="507369" cy="257039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직선 화살표 연결선 34"/>
          <p:cNvCxnSpPr>
            <a:stCxn id="29" idx="3"/>
            <a:endCxn id="26" idx="3"/>
          </p:cNvCxnSpPr>
          <p:nvPr/>
        </p:nvCxnSpPr>
        <p:spPr bwMode="auto">
          <a:xfrm flipV="1">
            <a:off x="3612788" y="3618644"/>
            <a:ext cx="507369" cy="364386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타원 35"/>
          <p:cNvSpPr/>
          <p:nvPr/>
        </p:nvSpPr>
        <p:spPr bwMode="auto">
          <a:xfrm>
            <a:off x="84396" y="2876855"/>
            <a:ext cx="1417376" cy="953423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5413" y="3212435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Load Balancer</a:t>
            </a:r>
          </a:p>
        </p:txBody>
      </p:sp>
      <p:cxnSp>
        <p:nvCxnSpPr>
          <p:cNvPr id="39" name="직선 화살표 연결선 38"/>
          <p:cNvCxnSpPr>
            <a:stCxn id="36" idx="7"/>
            <a:endCxn id="15" idx="1"/>
          </p:cNvCxnSpPr>
          <p:nvPr/>
        </p:nvCxnSpPr>
        <p:spPr bwMode="auto">
          <a:xfrm flipV="1">
            <a:off x="1294202" y="2687434"/>
            <a:ext cx="446378" cy="329047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직선 화살표 연결선 40"/>
          <p:cNvCxnSpPr>
            <a:stCxn id="36" idx="5"/>
            <a:endCxn id="29" idx="1"/>
          </p:cNvCxnSpPr>
          <p:nvPr/>
        </p:nvCxnSpPr>
        <p:spPr bwMode="auto">
          <a:xfrm>
            <a:off x="1294202" y="3690652"/>
            <a:ext cx="446378" cy="29237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모서리가 둥근 직사각형 42"/>
          <p:cNvSpPr/>
          <p:nvPr/>
        </p:nvSpPr>
        <p:spPr bwMode="auto">
          <a:xfrm>
            <a:off x="5629012" y="2754330"/>
            <a:ext cx="2232248" cy="107193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4" name="타원 43"/>
          <p:cNvSpPr/>
          <p:nvPr/>
        </p:nvSpPr>
        <p:spPr bwMode="auto">
          <a:xfrm>
            <a:off x="5678986" y="2877835"/>
            <a:ext cx="1141659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01020" y="3145147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46" name="타원 45"/>
          <p:cNvSpPr/>
          <p:nvPr/>
        </p:nvSpPr>
        <p:spPr bwMode="auto">
          <a:xfrm>
            <a:off x="6853148" y="2865843"/>
            <a:ext cx="978766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919484" y="3110203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34" name="모서리가 둥근 직사각형 33"/>
          <p:cNvSpPr/>
          <p:nvPr/>
        </p:nvSpPr>
        <p:spPr bwMode="auto">
          <a:xfrm>
            <a:off x="5634123" y="3941243"/>
            <a:ext cx="2232248" cy="107193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8" name="타원 37"/>
          <p:cNvSpPr/>
          <p:nvPr/>
        </p:nvSpPr>
        <p:spPr bwMode="auto">
          <a:xfrm>
            <a:off x="5684097" y="4064748"/>
            <a:ext cx="1141659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706131" y="4332060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Server</a:t>
            </a:r>
          </a:p>
        </p:txBody>
      </p:sp>
      <p:sp>
        <p:nvSpPr>
          <p:cNvPr id="42" name="타원 41"/>
          <p:cNvSpPr/>
          <p:nvPr/>
        </p:nvSpPr>
        <p:spPr bwMode="auto">
          <a:xfrm>
            <a:off x="6858259" y="4052756"/>
            <a:ext cx="978766" cy="80940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924595" y="4297116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49" name="원호 48"/>
          <p:cNvSpPr/>
          <p:nvPr/>
        </p:nvSpPr>
        <p:spPr bwMode="auto">
          <a:xfrm>
            <a:off x="7232659" y="3271137"/>
            <a:ext cx="1154691" cy="1193907"/>
          </a:xfrm>
          <a:prstGeom prst="arc">
            <a:avLst>
              <a:gd name="adj1" fmla="val 16579116"/>
              <a:gd name="adj2" fmla="val 5054703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cxnSp>
        <p:nvCxnSpPr>
          <p:cNvPr id="5" name="직선 화살표 연결선 4"/>
          <p:cNvCxnSpPr>
            <a:stCxn id="27" idx="3"/>
            <a:endCxn id="43" idx="1"/>
          </p:cNvCxnSpPr>
          <p:nvPr/>
        </p:nvCxnSpPr>
        <p:spPr bwMode="auto">
          <a:xfrm flipV="1">
            <a:off x="5340980" y="3290297"/>
            <a:ext cx="288032" cy="4019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직선 화살표 연결선 9"/>
          <p:cNvCxnSpPr>
            <a:stCxn id="26" idx="5"/>
            <a:endCxn id="34" idx="1"/>
          </p:cNvCxnSpPr>
          <p:nvPr/>
        </p:nvCxnSpPr>
        <p:spPr bwMode="auto">
          <a:xfrm>
            <a:off x="5122393" y="3618644"/>
            <a:ext cx="511730" cy="858566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48449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8"/>
          <p:cNvSpPr>
            <a:spLocks noChangeArrowheads="1"/>
          </p:cNvSpPr>
          <p:nvPr/>
        </p:nvSpPr>
        <p:spPr bwMode="auto">
          <a:xfrm>
            <a:off x="279400" y="82550"/>
            <a:ext cx="8742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ko-KR" sz="2400" b="0" dirty="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Configuration for 10,000 users with HA</a:t>
            </a:r>
            <a:endParaRPr kumimoji="1" lang="ko-KR" altLang="en-US" sz="2400" b="0" dirty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 bwMode="auto">
          <a:xfrm>
            <a:off x="6678629" y="1002215"/>
            <a:ext cx="2232248" cy="78578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81048" y="591652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메일 서버 머신</a:t>
            </a:r>
            <a:endParaRPr lang="ko-KR" altLang="en-US" sz="1600" dirty="0"/>
          </a:p>
        </p:txBody>
      </p:sp>
      <p:sp>
        <p:nvSpPr>
          <p:cNvPr id="40" name="타원 39"/>
          <p:cNvSpPr/>
          <p:nvPr/>
        </p:nvSpPr>
        <p:spPr bwMode="auto">
          <a:xfrm>
            <a:off x="6728603" y="1125720"/>
            <a:ext cx="1141659" cy="557770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969224" y="1124744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</a:t>
            </a:r>
          </a:p>
          <a:p>
            <a:r>
              <a:rPr lang="en-US" altLang="ko-KR" sz="1400" dirty="0" smtClean="0"/>
              <a:t>Server</a:t>
            </a:r>
          </a:p>
        </p:txBody>
      </p:sp>
      <p:sp>
        <p:nvSpPr>
          <p:cNvPr id="42" name="타원 41"/>
          <p:cNvSpPr/>
          <p:nvPr/>
        </p:nvSpPr>
        <p:spPr bwMode="auto">
          <a:xfrm>
            <a:off x="7902765" y="1113728"/>
            <a:ext cx="978766" cy="56976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969101" y="1196752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46" name="모서리가 둥근 직사각형 45"/>
          <p:cNvSpPr/>
          <p:nvPr/>
        </p:nvSpPr>
        <p:spPr bwMode="auto">
          <a:xfrm>
            <a:off x="1740580" y="2421437"/>
            <a:ext cx="1872208" cy="81605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72628" y="2060848"/>
            <a:ext cx="1119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WAS</a:t>
            </a:r>
            <a:r>
              <a:rPr lang="ko-KR" altLang="en-US" sz="1600" dirty="0" smtClean="0"/>
              <a:t> 머신</a:t>
            </a:r>
            <a:endParaRPr lang="ko-KR" altLang="en-US" sz="1600" dirty="0"/>
          </a:p>
        </p:txBody>
      </p:sp>
      <p:sp>
        <p:nvSpPr>
          <p:cNvPr id="48" name="타원 47"/>
          <p:cNvSpPr/>
          <p:nvPr/>
        </p:nvSpPr>
        <p:spPr bwMode="auto">
          <a:xfrm>
            <a:off x="2028612" y="2519054"/>
            <a:ext cx="1353765" cy="621914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301010" y="2684403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sp>
        <p:nvSpPr>
          <p:cNvPr id="50" name="원호 49"/>
          <p:cNvSpPr/>
          <p:nvPr/>
        </p:nvSpPr>
        <p:spPr bwMode="auto">
          <a:xfrm>
            <a:off x="8284941" y="1359650"/>
            <a:ext cx="1132555" cy="843556"/>
          </a:xfrm>
          <a:prstGeom prst="arc">
            <a:avLst>
              <a:gd name="adj1" fmla="val 16579116"/>
              <a:gd name="adj2" fmla="val 5054703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52" name="타원 51"/>
          <p:cNvSpPr/>
          <p:nvPr/>
        </p:nvSpPr>
        <p:spPr bwMode="auto">
          <a:xfrm>
            <a:off x="4962204" y="1683489"/>
            <a:ext cx="1417376" cy="953423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973221" y="2019069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Load Balancer</a:t>
            </a:r>
          </a:p>
        </p:txBody>
      </p:sp>
      <p:cxnSp>
        <p:nvCxnSpPr>
          <p:cNvPr id="54" name="직선 화살표 연결선 53"/>
          <p:cNvCxnSpPr>
            <a:stCxn id="52" idx="7"/>
            <a:endCxn id="29" idx="1"/>
          </p:cNvCxnSpPr>
          <p:nvPr/>
        </p:nvCxnSpPr>
        <p:spPr bwMode="auto">
          <a:xfrm flipV="1">
            <a:off x="6172010" y="1395108"/>
            <a:ext cx="506619" cy="428007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직선 화살표 연결선 54"/>
          <p:cNvCxnSpPr>
            <a:stCxn id="52" idx="5"/>
          </p:cNvCxnSpPr>
          <p:nvPr/>
        </p:nvCxnSpPr>
        <p:spPr bwMode="auto">
          <a:xfrm>
            <a:off x="6172010" y="2497286"/>
            <a:ext cx="506619" cy="251732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1" name="타원 60"/>
          <p:cNvSpPr/>
          <p:nvPr/>
        </p:nvSpPr>
        <p:spPr bwMode="auto">
          <a:xfrm>
            <a:off x="84396" y="3411681"/>
            <a:ext cx="1417376" cy="953423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5413" y="3747261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Load Balancer</a:t>
            </a:r>
          </a:p>
        </p:txBody>
      </p:sp>
      <p:cxnSp>
        <p:nvCxnSpPr>
          <p:cNvPr id="63" name="직선 화살표 연결선 62"/>
          <p:cNvCxnSpPr>
            <a:stCxn id="61" idx="7"/>
            <a:endCxn id="46" idx="1"/>
          </p:cNvCxnSpPr>
          <p:nvPr/>
        </p:nvCxnSpPr>
        <p:spPr bwMode="auto">
          <a:xfrm flipV="1">
            <a:off x="1294202" y="2829465"/>
            <a:ext cx="446378" cy="721842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4" name="직선 화살표 연결선 63"/>
          <p:cNvCxnSpPr>
            <a:stCxn id="61" idx="5"/>
            <a:endCxn id="126" idx="1"/>
          </p:cNvCxnSpPr>
          <p:nvPr/>
        </p:nvCxnSpPr>
        <p:spPr bwMode="auto">
          <a:xfrm>
            <a:off x="1294202" y="4225478"/>
            <a:ext cx="457395" cy="73971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TextBox 69"/>
          <p:cNvSpPr txBox="1"/>
          <p:nvPr/>
        </p:nvSpPr>
        <p:spPr>
          <a:xfrm>
            <a:off x="8834472" y="2060848"/>
            <a:ext cx="1148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Replication</a:t>
            </a:r>
          </a:p>
        </p:txBody>
      </p:sp>
      <p:sp>
        <p:nvSpPr>
          <p:cNvPr id="76" name="원호 75"/>
          <p:cNvSpPr/>
          <p:nvPr/>
        </p:nvSpPr>
        <p:spPr bwMode="auto">
          <a:xfrm>
            <a:off x="8297670" y="4395333"/>
            <a:ext cx="1125764" cy="811833"/>
          </a:xfrm>
          <a:prstGeom prst="arc">
            <a:avLst>
              <a:gd name="adj1" fmla="val 16579116"/>
              <a:gd name="adj2" fmla="val 5054703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77" name="타원 76"/>
          <p:cNvSpPr/>
          <p:nvPr/>
        </p:nvSpPr>
        <p:spPr bwMode="auto">
          <a:xfrm>
            <a:off x="4953000" y="4563809"/>
            <a:ext cx="1417376" cy="953423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964017" y="4899389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Load Balancer</a:t>
            </a:r>
          </a:p>
        </p:txBody>
      </p:sp>
      <p:cxnSp>
        <p:nvCxnSpPr>
          <p:cNvPr id="79" name="직선 화살표 연결선 78"/>
          <p:cNvCxnSpPr>
            <a:stCxn id="77" idx="7"/>
          </p:cNvCxnSpPr>
          <p:nvPr/>
        </p:nvCxnSpPr>
        <p:spPr bwMode="auto">
          <a:xfrm flipV="1">
            <a:off x="6162806" y="4418501"/>
            <a:ext cx="506619" cy="284934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0" name="직선 화살표 연결선 79"/>
          <p:cNvCxnSpPr>
            <a:stCxn id="77" idx="5"/>
          </p:cNvCxnSpPr>
          <p:nvPr/>
        </p:nvCxnSpPr>
        <p:spPr bwMode="auto">
          <a:xfrm>
            <a:off x="6162806" y="5377606"/>
            <a:ext cx="506619" cy="251732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8845489" y="5085184"/>
            <a:ext cx="1148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Replication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28864" y="3481844"/>
            <a:ext cx="1521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 smtClean="0"/>
              <a:t>User Account</a:t>
            </a:r>
            <a:r>
              <a:rPr lang="ko-KR" altLang="en-US" sz="1400" dirty="0" smtClean="0"/>
              <a:t>별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분산 로직</a:t>
            </a:r>
            <a:endParaRPr lang="en-US" altLang="ko-KR" sz="1400" dirty="0" smtClean="0"/>
          </a:p>
        </p:txBody>
      </p:sp>
      <p:cxnSp>
        <p:nvCxnSpPr>
          <p:cNvPr id="22" name="직선 화살표 연결선 21"/>
          <p:cNvCxnSpPr>
            <a:endCxn id="77" idx="1"/>
          </p:cNvCxnSpPr>
          <p:nvPr/>
        </p:nvCxnSpPr>
        <p:spPr bwMode="auto">
          <a:xfrm>
            <a:off x="5019580" y="4005683"/>
            <a:ext cx="140990" cy="697752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6" name="TextBox 95"/>
          <p:cNvSpPr txBox="1"/>
          <p:nvPr/>
        </p:nvSpPr>
        <p:spPr>
          <a:xfrm>
            <a:off x="8863199" y="3052117"/>
            <a:ext cx="119135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Dedicated </a:t>
            </a:r>
          </a:p>
          <a:p>
            <a:r>
              <a:rPr lang="en-US" altLang="ko-KR" sz="1400" dirty="0" smtClean="0"/>
              <a:t>Gbps </a:t>
            </a:r>
          </a:p>
          <a:p>
            <a:r>
              <a:rPr lang="en-US" altLang="ko-KR" sz="1400" dirty="0" smtClean="0"/>
              <a:t>Network</a:t>
            </a:r>
            <a:r>
              <a:rPr lang="en-US" altLang="ko-KR" sz="1400" dirty="0"/>
              <a:t> </a:t>
            </a:r>
            <a:endParaRPr lang="en-US" altLang="ko-KR" sz="1400" dirty="0" smtClean="0"/>
          </a:p>
          <a:p>
            <a:r>
              <a:rPr lang="en-US" altLang="ko-KR" sz="1400" dirty="0" smtClean="0"/>
              <a:t>Between </a:t>
            </a:r>
          </a:p>
          <a:p>
            <a:r>
              <a:rPr lang="en-US" altLang="ko-KR" sz="1400" dirty="0" smtClean="0"/>
              <a:t>Mail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Server </a:t>
            </a:r>
          </a:p>
          <a:p>
            <a:r>
              <a:rPr lang="en-US" altLang="ko-KR" sz="1400" dirty="0" smtClean="0"/>
              <a:t>Machines</a:t>
            </a:r>
          </a:p>
        </p:txBody>
      </p:sp>
      <p:sp>
        <p:nvSpPr>
          <p:cNvPr id="97" name="다이아몬드 96"/>
          <p:cNvSpPr/>
          <p:nvPr/>
        </p:nvSpPr>
        <p:spPr bwMode="auto">
          <a:xfrm>
            <a:off x="3676999" y="2782220"/>
            <a:ext cx="1701710" cy="1763964"/>
          </a:xfrm>
          <a:prstGeom prst="diamond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cxnSp>
        <p:nvCxnSpPr>
          <p:cNvPr id="99" name="직선 화살표 연결선 98"/>
          <p:cNvCxnSpPr>
            <a:stCxn id="46" idx="3"/>
          </p:cNvCxnSpPr>
          <p:nvPr/>
        </p:nvCxnSpPr>
        <p:spPr bwMode="auto">
          <a:xfrm>
            <a:off x="3612788" y="2829465"/>
            <a:ext cx="442517" cy="408027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3" name="직선 화살표 연결선 102"/>
          <p:cNvCxnSpPr>
            <a:endCxn id="52" idx="3"/>
          </p:cNvCxnSpPr>
          <p:nvPr/>
        </p:nvCxnSpPr>
        <p:spPr bwMode="auto">
          <a:xfrm flipV="1">
            <a:off x="4953000" y="2497286"/>
            <a:ext cx="216774" cy="740206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4" name="TextBox 103"/>
          <p:cNvSpPr txBox="1"/>
          <p:nvPr/>
        </p:nvSpPr>
        <p:spPr>
          <a:xfrm>
            <a:off x="6068524" y="980728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Set 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068524" y="4057327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Set 2</a:t>
            </a:r>
          </a:p>
        </p:txBody>
      </p:sp>
      <p:sp>
        <p:nvSpPr>
          <p:cNvPr id="60" name="모서리가 둥근 직사각형 59"/>
          <p:cNvSpPr/>
          <p:nvPr/>
        </p:nvSpPr>
        <p:spPr bwMode="auto">
          <a:xfrm>
            <a:off x="6681192" y="1851126"/>
            <a:ext cx="2232248" cy="78578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87" name="타원 86"/>
          <p:cNvSpPr/>
          <p:nvPr/>
        </p:nvSpPr>
        <p:spPr bwMode="auto">
          <a:xfrm>
            <a:off x="6731166" y="1974631"/>
            <a:ext cx="1141659" cy="557770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971787" y="1973655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</a:t>
            </a:r>
          </a:p>
          <a:p>
            <a:r>
              <a:rPr lang="en-US" altLang="ko-KR" sz="1400" dirty="0" smtClean="0"/>
              <a:t>Server</a:t>
            </a:r>
          </a:p>
        </p:txBody>
      </p:sp>
      <p:sp>
        <p:nvSpPr>
          <p:cNvPr id="90" name="타원 89"/>
          <p:cNvSpPr/>
          <p:nvPr/>
        </p:nvSpPr>
        <p:spPr bwMode="auto">
          <a:xfrm>
            <a:off x="7905328" y="1962639"/>
            <a:ext cx="978766" cy="56976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7971664" y="2045663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93" name="모서리가 둥근 직사각형 92"/>
          <p:cNvSpPr/>
          <p:nvPr/>
        </p:nvSpPr>
        <p:spPr bwMode="auto">
          <a:xfrm>
            <a:off x="6681192" y="2715222"/>
            <a:ext cx="2232248" cy="78578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95" name="타원 94"/>
          <p:cNvSpPr/>
          <p:nvPr/>
        </p:nvSpPr>
        <p:spPr bwMode="auto">
          <a:xfrm>
            <a:off x="6731166" y="2838727"/>
            <a:ext cx="1141659" cy="557770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971787" y="2837751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</a:t>
            </a:r>
          </a:p>
          <a:p>
            <a:r>
              <a:rPr lang="en-US" altLang="ko-KR" sz="1400" dirty="0" smtClean="0"/>
              <a:t>Server</a:t>
            </a:r>
          </a:p>
        </p:txBody>
      </p:sp>
      <p:sp>
        <p:nvSpPr>
          <p:cNvPr id="100" name="타원 99"/>
          <p:cNvSpPr/>
          <p:nvPr/>
        </p:nvSpPr>
        <p:spPr bwMode="auto">
          <a:xfrm>
            <a:off x="7905328" y="2826735"/>
            <a:ext cx="978766" cy="56976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971664" y="2909759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102" name="모서리가 둥근 직사각형 101"/>
          <p:cNvSpPr/>
          <p:nvPr/>
        </p:nvSpPr>
        <p:spPr bwMode="auto">
          <a:xfrm>
            <a:off x="6678629" y="4026551"/>
            <a:ext cx="2232248" cy="78578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07" name="타원 106"/>
          <p:cNvSpPr/>
          <p:nvPr/>
        </p:nvSpPr>
        <p:spPr bwMode="auto">
          <a:xfrm>
            <a:off x="6728603" y="4150056"/>
            <a:ext cx="1141659" cy="557770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969224" y="4149080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</a:t>
            </a:r>
          </a:p>
          <a:p>
            <a:r>
              <a:rPr lang="en-US" altLang="ko-KR" sz="1400" dirty="0" smtClean="0"/>
              <a:t>Server</a:t>
            </a:r>
          </a:p>
        </p:txBody>
      </p:sp>
      <p:sp>
        <p:nvSpPr>
          <p:cNvPr id="109" name="타원 108"/>
          <p:cNvSpPr/>
          <p:nvPr/>
        </p:nvSpPr>
        <p:spPr bwMode="auto">
          <a:xfrm>
            <a:off x="7902765" y="4138064"/>
            <a:ext cx="978766" cy="56976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7969101" y="4221088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111" name="모서리가 둥근 직사각형 110"/>
          <p:cNvSpPr/>
          <p:nvPr/>
        </p:nvSpPr>
        <p:spPr bwMode="auto">
          <a:xfrm>
            <a:off x="6681192" y="4875462"/>
            <a:ext cx="2232248" cy="78578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12" name="타원 111"/>
          <p:cNvSpPr/>
          <p:nvPr/>
        </p:nvSpPr>
        <p:spPr bwMode="auto">
          <a:xfrm>
            <a:off x="6731166" y="4998967"/>
            <a:ext cx="1141659" cy="557770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6971787" y="4997991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</a:t>
            </a:r>
          </a:p>
          <a:p>
            <a:r>
              <a:rPr lang="en-US" altLang="ko-KR" sz="1400" dirty="0" smtClean="0"/>
              <a:t>Server</a:t>
            </a:r>
          </a:p>
        </p:txBody>
      </p:sp>
      <p:sp>
        <p:nvSpPr>
          <p:cNvPr id="114" name="타원 113"/>
          <p:cNvSpPr/>
          <p:nvPr/>
        </p:nvSpPr>
        <p:spPr bwMode="auto">
          <a:xfrm>
            <a:off x="7905328" y="4986975"/>
            <a:ext cx="978766" cy="56976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971664" y="5069999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116" name="모서리가 둥근 직사각형 115"/>
          <p:cNvSpPr/>
          <p:nvPr/>
        </p:nvSpPr>
        <p:spPr bwMode="auto">
          <a:xfrm>
            <a:off x="6681192" y="5739558"/>
            <a:ext cx="2232248" cy="78578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17" name="타원 116"/>
          <p:cNvSpPr/>
          <p:nvPr/>
        </p:nvSpPr>
        <p:spPr bwMode="auto">
          <a:xfrm>
            <a:off x="6731166" y="5863063"/>
            <a:ext cx="1141659" cy="557770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6971787" y="5862087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Mail </a:t>
            </a:r>
          </a:p>
          <a:p>
            <a:r>
              <a:rPr lang="en-US" altLang="ko-KR" sz="1400" dirty="0" smtClean="0"/>
              <a:t>Server</a:t>
            </a:r>
          </a:p>
        </p:txBody>
      </p:sp>
      <p:sp>
        <p:nvSpPr>
          <p:cNvPr id="119" name="타원 118"/>
          <p:cNvSpPr/>
          <p:nvPr/>
        </p:nvSpPr>
        <p:spPr bwMode="auto">
          <a:xfrm>
            <a:off x="7905328" y="5851071"/>
            <a:ext cx="978766" cy="56976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7971664" y="5934095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MariaDB</a:t>
            </a:r>
          </a:p>
        </p:txBody>
      </p:sp>
      <p:sp>
        <p:nvSpPr>
          <p:cNvPr id="121" name="원호 120"/>
          <p:cNvSpPr/>
          <p:nvPr/>
        </p:nvSpPr>
        <p:spPr bwMode="auto">
          <a:xfrm>
            <a:off x="8315342" y="5281463"/>
            <a:ext cx="1125764" cy="811833"/>
          </a:xfrm>
          <a:prstGeom prst="arc">
            <a:avLst>
              <a:gd name="adj1" fmla="val 16579116"/>
              <a:gd name="adj2" fmla="val 5054703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22" name="원호 121"/>
          <p:cNvSpPr/>
          <p:nvPr/>
        </p:nvSpPr>
        <p:spPr bwMode="auto">
          <a:xfrm>
            <a:off x="8315342" y="2225404"/>
            <a:ext cx="1132555" cy="843556"/>
          </a:xfrm>
          <a:prstGeom prst="arc">
            <a:avLst>
              <a:gd name="adj1" fmla="val 16579116"/>
              <a:gd name="adj2" fmla="val 5054703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23" name="모서리가 둥근 직사각형 122"/>
          <p:cNvSpPr/>
          <p:nvPr/>
        </p:nvSpPr>
        <p:spPr bwMode="auto">
          <a:xfrm>
            <a:off x="1751597" y="3477040"/>
            <a:ext cx="1872208" cy="81605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24" name="타원 123"/>
          <p:cNvSpPr/>
          <p:nvPr/>
        </p:nvSpPr>
        <p:spPr bwMode="auto">
          <a:xfrm>
            <a:off x="2039629" y="3574657"/>
            <a:ext cx="1353765" cy="621914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312027" y="3740006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sp>
        <p:nvSpPr>
          <p:cNvPr id="126" name="모서리가 둥근 직사각형 125"/>
          <p:cNvSpPr/>
          <p:nvPr/>
        </p:nvSpPr>
        <p:spPr bwMode="auto">
          <a:xfrm>
            <a:off x="1751597" y="4557160"/>
            <a:ext cx="1872208" cy="81605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27" name="타원 126"/>
          <p:cNvSpPr/>
          <p:nvPr/>
        </p:nvSpPr>
        <p:spPr bwMode="auto">
          <a:xfrm>
            <a:off x="2039629" y="4654777"/>
            <a:ext cx="1353765" cy="621914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ko-KR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312027" y="4820126"/>
            <a:ext cx="807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Tomcat</a:t>
            </a:r>
          </a:p>
        </p:txBody>
      </p:sp>
      <p:cxnSp>
        <p:nvCxnSpPr>
          <p:cNvPr id="16" name="직선 화살표 연결선 15"/>
          <p:cNvCxnSpPr>
            <a:stCxn id="61" idx="6"/>
            <a:endCxn id="123" idx="1"/>
          </p:cNvCxnSpPr>
          <p:nvPr/>
        </p:nvCxnSpPr>
        <p:spPr bwMode="auto">
          <a:xfrm flipV="1">
            <a:off x="1501772" y="3885068"/>
            <a:ext cx="249825" cy="3325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직선 화살표 연결선 22"/>
          <p:cNvCxnSpPr>
            <a:stCxn id="126" idx="3"/>
          </p:cNvCxnSpPr>
          <p:nvPr/>
        </p:nvCxnSpPr>
        <p:spPr bwMode="auto">
          <a:xfrm flipV="1">
            <a:off x="3623805" y="4196571"/>
            <a:ext cx="537107" cy="768617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직선 화살표 연결선 24"/>
          <p:cNvCxnSpPr>
            <a:stCxn id="123" idx="3"/>
          </p:cNvCxnSpPr>
          <p:nvPr/>
        </p:nvCxnSpPr>
        <p:spPr bwMode="auto">
          <a:xfrm>
            <a:off x="3623805" y="3885068"/>
            <a:ext cx="249075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직선 화살표 연결선 26"/>
          <p:cNvCxnSpPr>
            <a:stCxn id="93" idx="1"/>
            <a:endCxn id="77" idx="0"/>
          </p:cNvCxnSpPr>
          <p:nvPr/>
        </p:nvCxnSpPr>
        <p:spPr bwMode="auto">
          <a:xfrm flipH="1">
            <a:off x="5661688" y="3108115"/>
            <a:ext cx="1019504" cy="1455694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직선 화살표 연결선 29"/>
          <p:cNvCxnSpPr>
            <a:endCxn id="52" idx="4"/>
          </p:cNvCxnSpPr>
          <p:nvPr/>
        </p:nvCxnSpPr>
        <p:spPr bwMode="auto">
          <a:xfrm flipH="1" flipV="1">
            <a:off x="5670892" y="2636912"/>
            <a:ext cx="998533" cy="1656184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9" name="직사각형 128"/>
          <p:cNvSpPr/>
          <p:nvPr/>
        </p:nvSpPr>
        <p:spPr>
          <a:xfrm>
            <a:off x="720080" y="5662989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800" dirty="0">
                <a:latin typeface="바탕" panose="02030600000101010101" pitchFamily="18" charset="-127"/>
                <a:ea typeface="바탕" panose="02030600000101010101" pitchFamily="18" charset="-127"/>
              </a:rPr>
              <a:t>☞ 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Set 1</a:t>
            </a:r>
            <a:r>
              <a:rPr lang="ko-KR" altLang="en-US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의 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Mail Server</a:t>
            </a:r>
            <a:r>
              <a:rPr lang="ko-KR" altLang="en-US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가 사용자 계정에 따라 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Set 2</a:t>
            </a:r>
            <a:r>
              <a:rPr lang="ko-KR" altLang="en-US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의 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MariaDB</a:t>
            </a:r>
            <a:r>
              <a:rPr lang="ko-KR" altLang="en-US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로 접근할 수 있으며 그 반대도 가능함</a:t>
            </a:r>
            <a:r>
              <a:rPr lang="en-US" altLang="ko-KR" sz="1800" dirty="0" smtClean="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1800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597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10000"/>
          </a:lnSpc>
          <a:spcBef>
            <a:spcPct val="10000"/>
          </a:spcBef>
          <a:spcAft>
            <a:spcPct val="10000"/>
          </a:spcAft>
          <a:buClrTx/>
          <a:buSzTx/>
          <a:buFont typeface="Wingdings" pitchFamily="2" charset="2"/>
          <a:buChar char="q"/>
          <a:tabLst/>
          <a:defRPr kumimoji="0" lang="ko-KR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10000"/>
          </a:lnSpc>
          <a:spcBef>
            <a:spcPct val="10000"/>
          </a:spcBef>
          <a:spcAft>
            <a:spcPct val="10000"/>
          </a:spcAft>
          <a:buClrTx/>
          <a:buSzTx/>
          <a:buFont typeface="Wingdings" pitchFamily="2" charset="2"/>
          <a:buChar char="q"/>
          <a:tabLst/>
          <a:defRPr kumimoji="0" lang="ko-KR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굴림체" pitchFamily="49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02F82">
            <a:alpha val="70000"/>
          </a:srgbClr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10000"/>
          </a:lnSpc>
          <a:spcBef>
            <a:spcPct val="10000"/>
          </a:spcBef>
          <a:spcAft>
            <a:spcPct val="10000"/>
          </a:spcAft>
          <a:buClrTx/>
          <a:buSzTx/>
          <a:buFont typeface="Wingdings" pitchFamily="2" charset="2"/>
          <a:buChar char="q"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10000"/>
          </a:lnSpc>
          <a:spcBef>
            <a:spcPct val="10000"/>
          </a:spcBef>
          <a:spcAft>
            <a:spcPct val="10000"/>
          </a:spcAft>
          <a:buClrTx/>
          <a:buSzTx/>
          <a:buFont typeface="Wingdings" pitchFamily="2" charset="2"/>
          <a:buChar char="q"/>
          <a:tabLst/>
          <a:defRPr kumimoji="0" lang="ko-KR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굴림체" pitchFamily="49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A5C8A23BFA31048B13100760FDEAC58" ma:contentTypeVersion="0" ma:contentTypeDescription="새 문서를 만듭니다." ma:contentTypeScope="" ma:versionID="466533943c0168f11a5cbbbc8d9faf4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C3C972-1F5A-4494-AE0E-59CDE079FE9D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44F6A92-1DBB-4D8B-9632-7AA925EEE5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52B801-B151-4F6E-961A-25E70D1636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58881</TotalTime>
  <Words>1185</Words>
  <Application>Microsoft Office PowerPoint</Application>
  <PresentationFormat>A4 용지(210x297mm)</PresentationFormat>
  <Paragraphs>259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HY헤드라인M</vt:lpstr>
      <vt:lpstr>굴림</vt:lpstr>
      <vt:lpstr>굴림체</vt:lpstr>
      <vt:lpstr>맑은 고딕</vt:lpstr>
      <vt:lpstr>바탕</vt:lpstr>
      <vt:lpstr>Arial</vt:lpstr>
      <vt:lpstr>Wingdings</vt:lpstr>
      <vt:lpstr>디자인 사용자 지정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Kaoni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ezFlow2000</dc:title>
  <dc:creator>Free Man</dc:creator>
  <cp:lastModifiedBy>Administrator</cp:lastModifiedBy>
  <cp:revision>3877</cp:revision>
  <dcterms:created xsi:type="dcterms:W3CDTF">2002-06-13T04:51:31Z</dcterms:created>
  <dcterms:modified xsi:type="dcterms:W3CDTF">2016-09-24T01:42:44Z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0x0101005A5C8A23BFA31048B13100760FDEAC58</vt:lpwstr>
  </property>
</Properties>
</file>