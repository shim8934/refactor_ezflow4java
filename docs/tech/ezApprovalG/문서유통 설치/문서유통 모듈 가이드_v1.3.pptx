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300" r:id="rId4"/>
    <p:sldId id="297" r:id="rId5"/>
    <p:sldId id="301" r:id="rId6"/>
    <p:sldId id="287" r:id="rId7"/>
    <p:sldId id="257" r:id="rId8"/>
    <p:sldId id="266" r:id="rId9"/>
    <p:sldId id="267" r:id="rId10"/>
    <p:sldId id="269" r:id="rId11"/>
    <p:sldId id="268" r:id="rId12"/>
    <p:sldId id="270" r:id="rId13"/>
    <p:sldId id="261" r:id="rId14"/>
    <p:sldId id="262" r:id="rId15"/>
    <p:sldId id="271" r:id="rId16"/>
    <p:sldId id="263" r:id="rId17"/>
    <p:sldId id="260" r:id="rId18"/>
    <p:sldId id="272" r:id="rId19"/>
    <p:sldId id="258" r:id="rId20"/>
    <p:sldId id="264" r:id="rId21"/>
    <p:sldId id="288" r:id="rId22"/>
    <p:sldId id="290" r:id="rId23"/>
    <p:sldId id="265" r:id="rId24"/>
    <p:sldId id="299" r:id="rId25"/>
    <p:sldId id="296" r:id="rId26"/>
    <p:sldId id="298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민수" initials="강민" lastIdx="30" clrIdx="0">
    <p:extLst>
      <p:ext uri="{19B8F6BF-5375-455C-9EA6-DF929625EA0E}">
        <p15:presenceInfo xmlns:p15="http://schemas.microsoft.com/office/powerpoint/2012/main" userId="780c4502880061c4" providerId="Windows Live"/>
      </p:ext>
    </p:extLst>
  </p:cmAuthor>
  <p:cmAuthor id="2" name="NC443" initials="N" lastIdx="2" clrIdx="1">
    <p:extLst>
      <p:ext uri="{19B8F6BF-5375-455C-9EA6-DF929625EA0E}">
        <p15:presenceInfo xmlns:p15="http://schemas.microsoft.com/office/powerpoint/2012/main" userId="NC443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8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56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8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84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96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26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6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35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14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EB286-2530-481D-BB2C-E75D99E91DD0}" type="datetimeFigureOut">
              <a:rPr lang="ko-KR" altLang="en-US" smtClean="0"/>
              <a:t>2021-06-21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1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문서유통 모듈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7008" y="4423410"/>
            <a:ext cx="326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최초작성</a:t>
            </a:r>
            <a:r>
              <a:rPr lang="en-US" altLang="ko-KR" dirty="0"/>
              <a:t>: 2019.12.13 </a:t>
            </a:r>
            <a:r>
              <a:rPr lang="ko-KR" altLang="en-US" dirty="0" err="1"/>
              <a:t>홍대표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18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612FCD2-0E82-42BA-A050-B34652721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582806"/>
              </p:ext>
            </p:extLst>
          </p:nvPr>
        </p:nvGraphicFramePr>
        <p:xfrm>
          <a:off x="595745" y="429491"/>
          <a:ext cx="10972801" cy="60128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3058">
                  <a:extLst>
                    <a:ext uri="{9D8B030D-6E8A-4147-A177-3AD203B41FA5}">
                      <a16:colId xmlns:a16="http://schemas.microsoft.com/office/drawing/2014/main" val="2991356662"/>
                    </a:ext>
                  </a:extLst>
                </a:gridCol>
                <a:gridCol w="982691">
                  <a:extLst>
                    <a:ext uri="{9D8B030D-6E8A-4147-A177-3AD203B41FA5}">
                      <a16:colId xmlns:a16="http://schemas.microsoft.com/office/drawing/2014/main" val="3078980796"/>
                    </a:ext>
                  </a:extLst>
                </a:gridCol>
                <a:gridCol w="1842545">
                  <a:extLst>
                    <a:ext uri="{9D8B030D-6E8A-4147-A177-3AD203B41FA5}">
                      <a16:colId xmlns:a16="http://schemas.microsoft.com/office/drawing/2014/main" val="875996829"/>
                    </a:ext>
                  </a:extLst>
                </a:gridCol>
                <a:gridCol w="4381740">
                  <a:extLst>
                    <a:ext uri="{9D8B030D-6E8A-4147-A177-3AD203B41FA5}">
                      <a16:colId xmlns:a16="http://schemas.microsoft.com/office/drawing/2014/main" val="996054545"/>
                    </a:ext>
                  </a:extLst>
                </a:gridCol>
                <a:gridCol w="1351200">
                  <a:extLst>
                    <a:ext uri="{9D8B030D-6E8A-4147-A177-3AD203B41FA5}">
                      <a16:colId xmlns:a16="http://schemas.microsoft.com/office/drawing/2014/main" val="4114268854"/>
                    </a:ext>
                  </a:extLst>
                </a:gridCol>
                <a:gridCol w="1391567">
                  <a:extLst>
                    <a:ext uri="{9D8B030D-6E8A-4147-A177-3AD203B41FA5}">
                      <a16:colId xmlns:a16="http://schemas.microsoft.com/office/drawing/2014/main" val="1610462873"/>
                    </a:ext>
                  </a:extLst>
                </a:gridCol>
              </a:tblGrid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변경사항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69625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2019.12.13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홍대표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801106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2020.08.21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상세항목 추가 및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강민수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615028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2021.01.11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 오류관련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332083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2021.02.02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 이후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FLOW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정주환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623147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631124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83371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19423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14198"/>
                  </a:ext>
                </a:extLst>
              </a:tr>
              <a:tr h="4548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266089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465119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1820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453754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00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06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7075C-272B-4522-B3D9-5EC7D694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1CFAF1-7D2B-43A1-A07B-177FFD2EB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문서유통 </a:t>
            </a:r>
            <a:r>
              <a:rPr lang="en-US" altLang="ko-KR" dirty="0"/>
              <a:t>FLOW</a:t>
            </a:r>
          </a:p>
          <a:p>
            <a:r>
              <a:rPr lang="ko-KR" altLang="en-US" dirty="0"/>
              <a:t>문서유통 송수신 </a:t>
            </a:r>
            <a:r>
              <a:rPr lang="ko-KR" altLang="en-US" dirty="0" err="1"/>
              <a:t>상태값</a:t>
            </a:r>
            <a:endParaRPr lang="en-US" altLang="ko-KR" dirty="0"/>
          </a:p>
          <a:p>
            <a:r>
              <a:rPr lang="ko-KR" altLang="en-US" dirty="0" err="1"/>
              <a:t>유통모듈</a:t>
            </a:r>
            <a:r>
              <a:rPr lang="ko-KR" altLang="en-US" dirty="0"/>
              <a:t> </a:t>
            </a:r>
            <a:r>
              <a:rPr lang="ko-KR" altLang="en-US" dirty="0" err="1"/>
              <a:t>설치전</a:t>
            </a:r>
            <a:r>
              <a:rPr lang="ko-KR" altLang="en-US" dirty="0"/>
              <a:t> 준비항목</a:t>
            </a:r>
            <a:endParaRPr lang="en-US" altLang="ko-KR" dirty="0"/>
          </a:p>
          <a:p>
            <a:r>
              <a:rPr lang="ko-KR" altLang="en-US" dirty="0" err="1"/>
              <a:t>유통모듈</a:t>
            </a:r>
            <a:r>
              <a:rPr lang="ko-KR" altLang="en-US" dirty="0"/>
              <a:t> 설치</a:t>
            </a:r>
            <a:endParaRPr lang="en-US" altLang="ko-KR" dirty="0"/>
          </a:p>
          <a:p>
            <a:r>
              <a:rPr lang="ko-KR" altLang="en-US" dirty="0" err="1"/>
              <a:t>유통모듈</a:t>
            </a:r>
            <a:r>
              <a:rPr lang="ko-KR" altLang="en-US" dirty="0"/>
              <a:t> 서버작업</a:t>
            </a:r>
            <a:endParaRPr lang="en-US" altLang="ko-KR" dirty="0"/>
          </a:p>
          <a:p>
            <a:r>
              <a:rPr lang="ko-KR" altLang="en-US" dirty="0"/>
              <a:t>그룹웨어 서버작업</a:t>
            </a:r>
            <a:endParaRPr lang="en-US" altLang="ko-KR" dirty="0"/>
          </a:p>
          <a:p>
            <a:r>
              <a:rPr lang="ko-KR" altLang="en-US" dirty="0"/>
              <a:t>기타설정</a:t>
            </a:r>
            <a:endParaRPr lang="en-US" altLang="ko-KR" dirty="0"/>
          </a:p>
          <a:p>
            <a:r>
              <a:rPr lang="ko-KR" altLang="en-US" dirty="0"/>
              <a:t>문서유통 관련 오류</a:t>
            </a:r>
            <a:endParaRPr lang="en-US" altLang="ko-KR" dirty="0"/>
          </a:p>
          <a:p>
            <a:r>
              <a:rPr lang="ko-KR" altLang="en-US" dirty="0"/>
              <a:t>문서유통 운영 참고사항</a:t>
            </a:r>
            <a:endParaRPr lang="en-US" altLang="ko-KR" dirty="0"/>
          </a:p>
          <a:p>
            <a:r>
              <a:rPr lang="ko-KR" altLang="en-US" dirty="0"/>
              <a:t>유통 </a:t>
            </a:r>
            <a:r>
              <a:rPr lang="en-US" altLang="ko-KR" dirty="0"/>
              <a:t>FLOW </a:t>
            </a:r>
            <a:r>
              <a:rPr lang="ko-KR" altLang="en-US" dirty="0"/>
              <a:t>별지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6991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36BF074-AAD2-4B4B-9C14-91894DB261BD}"/>
              </a:ext>
            </a:extLst>
          </p:cNvPr>
          <p:cNvSpPr/>
          <p:nvPr/>
        </p:nvSpPr>
        <p:spPr>
          <a:xfrm>
            <a:off x="181926" y="1101021"/>
            <a:ext cx="466660" cy="5586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송</a:t>
            </a:r>
            <a:r>
              <a:rPr lang="en-US" altLang="ko-KR" dirty="0"/>
              <a:t>/</a:t>
            </a:r>
            <a:r>
              <a:rPr lang="ko-KR" altLang="en-US" dirty="0"/>
              <a:t>수신처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F36C27-1B9B-44FF-B881-FC34892640CB}"/>
              </a:ext>
            </a:extLst>
          </p:cNvPr>
          <p:cNvSpPr/>
          <p:nvPr/>
        </p:nvSpPr>
        <p:spPr>
          <a:xfrm>
            <a:off x="4413684" y="1101021"/>
            <a:ext cx="466660" cy="5586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유통센터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B4B57BBF-5E35-40BF-A0D9-B8A0FEE4BE09}"/>
              </a:ext>
            </a:extLst>
          </p:cNvPr>
          <p:cNvSpPr/>
          <p:nvPr/>
        </p:nvSpPr>
        <p:spPr>
          <a:xfrm>
            <a:off x="2447188" y="1196174"/>
            <a:ext cx="1722474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6025B71-CC2C-42EA-AFF8-A499CDE9B8F8}"/>
              </a:ext>
            </a:extLst>
          </p:cNvPr>
          <p:cNvSpPr/>
          <p:nvPr/>
        </p:nvSpPr>
        <p:spPr>
          <a:xfrm rot="10800000">
            <a:off x="805853" y="2020751"/>
            <a:ext cx="3376270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F86356A-B2EF-427A-8343-1D843E1C159F}"/>
              </a:ext>
            </a:extLst>
          </p:cNvPr>
          <p:cNvSpPr/>
          <p:nvPr/>
        </p:nvSpPr>
        <p:spPr>
          <a:xfrm>
            <a:off x="2565319" y="1674639"/>
            <a:ext cx="14802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XML, ACK : S </a:t>
            </a:r>
            <a:r>
              <a:rPr lang="ko-KR" altLang="en-US" sz="1200" dirty="0"/>
              <a:t>발송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87DCB6F-DBA8-4AEF-9CD3-E4AF9384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515" y="1392320"/>
            <a:ext cx="818334" cy="77936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29E567-4306-49CA-87CB-AB91F203E3EB}"/>
              </a:ext>
            </a:extLst>
          </p:cNvPr>
          <p:cNvSpPr/>
          <p:nvPr/>
        </p:nvSpPr>
        <p:spPr>
          <a:xfrm>
            <a:off x="6078268" y="2147784"/>
            <a:ext cx="10688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receivetemp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4191D090-7F97-4240-8EB5-68F33A59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634" y="1027903"/>
            <a:ext cx="818334" cy="779366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54D7EBBE-34AB-40E1-B529-ED65F4278337}"/>
              </a:ext>
            </a:extLst>
          </p:cNvPr>
          <p:cNvSpPr/>
          <p:nvPr/>
        </p:nvSpPr>
        <p:spPr>
          <a:xfrm>
            <a:off x="1055189" y="1815360"/>
            <a:ext cx="15496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sendtemp</a:t>
            </a:r>
            <a:r>
              <a:rPr lang="en-US" altLang="ko-KR" sz="1200" dirty="0">
                <a:solidFill>
                  <a:srgbClr val="FF0000"/>
                </a:solidFill>
              </a:rPr>
              <a:t> -&gt; send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DE51B67A-A914-4162-905C-FD0BE4540AD9}"/>
              </a:ext>
            </a:extLst>
          </p:cNvPr>
          <p:cNvSpPr/>
          <p:nvPr/>
        </p:nvSpPr>
        <p:spPr>
          <a:xfrm>
            <a:off x="4996904" y="1201487"/>
            <a:ext cx="957328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F0AD24-6CCA-4318-9341-6210059AE884}"/>
              </a:ext>
            </a:extLst>
          </p:cNvPr>
          <p:cNvSpPr/>
          <p:nvPr/>
        </p:nvSpPr>
        <p:spPr>
          <a:xfrm>
            <a:off x="5006197" y="1679952"/>
            <a:ext cx="9387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XML </a:t>
            </a:r>
            <a:r>
              <a:rPr lang="ko-KR" altLang="en-US" sz="1200" dirty="0"/>
              <a:t>저장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306BF64-1040-4715-88F9-D92B2A802670}"/>
              </a:ext>
            </a:extLst>
          </p:cNvPr>
          <p:cNvSpPr/>
          <p:nvPr/>
        </p:nvSpPr>
        <p:spPr>
          <a:xfrm rot="10800000">
            <a:off x="4996904" y="2010116"/>
            <a:ext cx="938742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384775-9A69-4051-B53F-F469C40B5BA6}"/>
              </a:ext>
            </a:extLst>
          </p:cNvPr>
          <p:cNvSpPr/>
          <p:nvPr/>
        </p:nvSpPr>
        <p:spPr>
          <a:xfrm>
            <a:off x="5020185" y="2490813"/>
            <a:ext cx="1075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V</a:t>
            </a:r>
            <a:r>
              <a:rPr lang="ko-KR" altLang="en-US" sz="1200" dirty="0"/>
              <a:t> 도달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0268BEE-20B0-4E38-B927-30F522DB31C5}"/>
              </a:ext>
            </a:extLst>
          </p:cNvPr>
          <p:cNvSpPr/>
          <p:nvPr/>
        </p:nvSpPr>
        <p:spPr>
          <a:xfrm>
            <a:off x="2027639" y="2501449"/>
            <a:ext cx="1075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V</a:t>
            </a:r>
            <a:r>
              <a:rPr lang="ko-KR" altLang="en-US" sz="1200" dirty="0"/>
              <a:t> 도달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B20420BA-90D6-4854-B556-0210CDF18DD6}"/>
              </a:ext>
            </a:extLst>
          </p:cNvPr>
          <p:cNvSpPr/>
          <p:nvPr/>
        </p:nvSpPr>
        <p:spPr>
          <a:xfrm>
            <a:off x="7322809" y="1609447"/>
            <a:ext cx="850413" cy="4180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58CB42D-5927-4F2B-B45A-485C0B368C75}"/>
              </a:ext>
            </a:extLst>
          </p:cNvPr>
          <p:cNvGrpSpPr/>
          <p:nvPr/>
        </p:nvGrpSpPr>
        <p:grpSpPr>
          <a:xfrm>
            <a:off x="8298469" y="1201487"/>
            <a:ext cx="3568878" cy="3484142"/>
            <a:chOff x="3707581" y="1461365"/>
            <a:chExt cx="3568878" cy="3484142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1794020F-9B2C-4BCA-AEE5-006D65100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4780" y="1612112"/>
              <a:ext cx="838200" cy="895350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F22C54D4-F71E-4BE2-98D7-24BBAFAA3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3842" y="1728096"/>
              <a:ext cx="818334" cy="779366"/>
            </a:xfrm>
            <a:prstGeom prst="rect">
              <a:avLst/>
            </a:prstGeom>
          </p:spPr>
        </p:pic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570058C-5557-4790-B778-B1A0415B57B4}"/>
                </a:ext>
              </a:extLst>
            </p:cNvPr>
            <p:cNvSpPr/>
            <p:nvPr/>
          </p:nvSpPr>
          <p:spPr>
            <a:xfrm>
              <a:off x="3833412" y="2507462"/>
              <a:ext cx="10856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 err="1">
                  <a:solidFill>
                    <a:srgbClr val="FF0000"/>
                  </a:solidFill>
                </a:rPr>
                <a:t>receiveComp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receive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434C97F-DA12-4DE2-BF0B-AEA0B4B0722B}"/>
                </a:ext>
              </a:extLst>
            </p:cNvPr>
            <p:cNvSpPr/>
            <p:nvPr/>
          </p:nvSpPr>
          <p:spPr>
            <a:xfrm>
              <a:off x="5481931" y="2523160"/>
              <a:ext cx="155061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TBL_RECRELAYINFO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TBL_APRDOCINFO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(HREF = ‘’)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D6395EB-1125-45F4-BFD5-1998B4026F99}"/>
                </a:ext>
              </a:extLst>
            </p:cNvPr>
            <p:cNvSpPr/>
            <p:nvPr/>
          </p:nvSpPr>
          <p:spPr>
            <a:xfrm>
              <a:off x="3852701" y="4289777"/>
              <a:ext cx="330981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solidFill>
                    <a:srgbClr val="FF0000"/>
                  </a:solidFill>
                </a:rPr>
                <a:t>upload_approvalG</a:t>
              </a:r>
              <a:r>
                <a:rPr lang="en-US" altLang="ko-KR" sz="1200" dirty="0">
                  <a:solidFill>
                    <a:srgbClr val="FF0000"/>
                  </a:solidFill>
                </a:rPr>
                <a:t>\</a:t>
              </a:r>
              <a:r>
                <a:rPr lang="ko-KR" altLang="en-US" sz="1200" dirty="0">
                  <a:solidFill>
                    <a:srgbClr val="FF0000"/>
                  </a:solidFill>
                </a:rPr>
                <a:t>회사코드</a:t>
              </a:r>
              <a:r>
                <a:rPr lang="en-US" altLang="ko-KR" sz="1200" dirty="0">
                  <a:solidFill>
                    <a:srgbClr val="FF0000"/>
                  </a:solidFill>
                </a:rPr>
                <a:t>\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ExDocXML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7FBF1C91-A9CB-449C-AFD8-DD352478E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2176" y="3438429"/>
              <a:ext cx="818334" cy="779366"/>
            </a:xfrm>
            <a:prstGeom prst="rect">
              <a:avLst/>
            </a:prstGeom>
          </p:spPr>
        </p:pic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C39C196-2E87-4925-A4AB-8D1016136EF9}"/>
                </a:ext>
              </a:extLst>
            </p:cNvPr>
            <p:cNvSpPr/>
            <p:nvPr/>
          </p:nvSpPr>
          <p:spPr>
            <a:xfrm>
              <a:off x="3707581" y="1461365"/>
              <a:ext cx="3568878" cy="34841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58F765-4689-4D60-AFA5-8796FAF51706}"/>
              </a:ext>
            </a:extLst>
          </p:cNvPr>
          <p:cNvSpPr/>
          <p:nvPr/>
        </p:nvSpPr>
        <p:spPr>
          <a:xfrm>
            <a:off x="7253410" y="2109084"/>
            <a:ext cx="9387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수신 처리</a:t>
            </a: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A531EB7-DE17-4D74-9E8B-387DBEEEF6CF}"/>
              </a:ext>
            </a:extLst>
          </p:cNvPr>
          <p:cNvSpPr/>
          <p:nvPr/>
        </p:nvSpPr>
        <p:spPr>
          <a:xfrm rot="10800000">
            <a:off x="5030818" y="3355975"/>
            <a:ext cx="3185097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69B3B5-4E40-4CD9-B30C-54CDC9957563}"/>
              </a:ext>
            </a:extLst>
          </p:cNvPr>
          <p:cNvSpPr/>
          <p:nvPr/>
        </p:nvSpPr>
        <p:spPr>
          <a:xfrm>
            <a:off x="6099089" y="3834440"/>
            <a:ext cx="10721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R </a:t>
            </a:r>
            <a:r>
              <a:rPr lang="ko-KR" altLang="en-US" sz="1200" dirty="0"/>
              <a:t>수신</a:t>
            </a: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E20A99C6-0C15-4670-A1CE-D13592934311}"/>
              </a:ext>
            </a:extLst>
          </p:cNvPr>
          <p:cNvSpPr/>
          <p:nvPr/>
        </p:nvSpPr>
        <p:spPr>
          <a:xfrm rot="10800000">
            <a:off x="797895" y="3366609"/>
            <a:ext cx="3376269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53E5404-F0B4-4B5A-AFDD-6B04FB7F85FA}"/>
              </a:ext>
            </a:extLst>
          </p:cNvPr>
          <p:cNvSpPr/>
          <p:nvPr/>
        </p:nvSpPr>
        <p:spPr>
          <a:xfrm>
            <a:off x="1964245" y="3845076"/>
            <a:ext cx="10721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R </a:t>
            </a:r>
            <a:r>
              <a:rPr lang="ko-KR" altLang="en-US" sz="1200" dirty="0"/>
              <a:t>수신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8F542D9-00D8-4480-8320-A0308892D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714" y="4484336"/>
            <a:ext cx="1081185" cy="969500"/>
          </a:xfrm>
          <a:prstGeom prst="rect">
            <a:avLst/>
          </a:prstGeom>
        </p:spPr>
      </p:pic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2381D5E1-2CB9-4D2A-A401-6D87D9ED034E}"/>
              </a:ext>
            </a:extLst>
          </p:cNvPr>
          <p:cNvSpPr/>
          <p:nvPr/>
        </p:nvSpPr>
        <p:spPr>
          <a:xfrm rot="7828115">
            <a:off x="7630598" y="4288027"/>
            <a:ext cx="478972" cy="4180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9571DE0-D064-46B0-82D2-50E60160B8EF}"/>
              </a:ext>
            </a:extLst>
          </p:cNvPr>
          <p:cNvSpPr/>
          <p:nvPr/>
        </p:nvSpPr>
        <p:spPr>
          <a:xfrm>
            <a:off x="7589762" y="4804333"/>
            <a:ext cx="17733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최초 문서 확인</a:t>
            </a:r>
            <a:endParaRPr lang="en-US" altLang="ko-KR" sz="1200" dirty="0"/>
          </a:p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en-US" altLang="ko-KR" sz="1200" dirty="0" err="1">
                <a:solidFill>
                  <a:srgbClr val="FF0000"/>
                </a:solidFill>
              </a:rPr>
              <a:t>Href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등록</a:t>
            </a:r>
            <a:r>
              <a:rPr lang="en-US" altLang="ko-KR" sz="1200" dirty="0">
                <a:solidFill>
                  <a:srgbClr val="FF0000"/>
                </a:solidFill>
              </a:rPr>
              <a:t>, MHT </a:t>
            </a:r>
            <a:r>
              <a:rPr lang="ko-KR" altLang="en-US" sz="1200" dirty="0">
                <a:solidFill>
                  <a:srgbClr val="FF0000"/>
                </a:solidFill>
              </a:rPr>
              <a:t>생성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147EA6DE-0911-46E0-969A-30F2A83F135C}"/>
              </a:ext>
            </a:extLst>
          </p:cNvPr>
          <p:cNvSpPr/>
          <p:nvPr/>
        </p:nvSpPr>
        <p:spPr>
          <a:xfrm rot="10800000">
            <a:off x="4996904" y="4824004"/>
            <a:ext cx="938742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54A9B1C-9666-4CF3-8017-367450F1D2DD}"/>
              </a:ext>
            </a:extLst>
          </p:cNvPr>
          <p:cNvSpPr/>
          <p:nvPr/>
        </p:nvSpPr>
        <p:spPr>
          <a:xfrm>
            <a:off x="5030818" y="5304701"/>
            <a:ext cx="1019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I </a:t>
            </a:r>
            <a:r>
              <a:rPr lang="ko-KR" altLang="en-US" sz="1200" dirty="0"/>
              <a:t>접수</a:t>
            </a:r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73E2A107-DB5C-4B7E-938F-AFB6CB84A601}"/>
              </a:ext>
            </a:extLst>
          </p:cNvPr>
          <p:cNvSpPr/>
          <p:nvPr/>
        </p:nvSpPr>
        <p:spPr>
          <a:xfrm rot="10800000">
            <a:off x="805853" y="4834638"/>
            <a:ext cx="3376270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94266FB-4F82-4999-9DD7-740F942C0943}"/>
              </a:ext>
            </a:extLst>
          </p:cNvPr>
          <p:cNvSpPr/>
          <p:nvPr/>
        </p:nvSpPr>
        <p:spPr>
          <a:xfrm>
            <a:off x="1979326" y="5315337"/>
            <a:ext cx="1019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I </a:t>
            </a:r>
            <a:r>
              <a:rPr lang="ko-KR" altLang="en-US" sz="1200" dirty="0"/>
              <a:t>접수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A57F315-DAC0-4613-A361-A8053B4E2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711" y="5644001"/>
            <a:ext cx="1085122" cy="973030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D40A1ACF-3B10-4A34-B4AD-D8F76AAA8CE1}"/>
              </a:ext>
            </a:extLst>
          </p:cNvPr>
          <p:cNvSpPr/>
          <p:nvPr/>
        </p:nvSpPr>
        <p:spPr>
          <a:xfrm>
            <a:off x="7650431" y="6130516"/>
            <a:ext cx="13034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재전송 요청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08C6051E-6A6E-498E-BE2B-638CCAE65F77}"/>
              </a:ext>
            </a:extLst>
          </p:cNvPr>
          <p:cNvSpPr/>
          <p:nvPr/>
        </p:nvSpPr>
        <p:spPr>
          <a:xfrm rot="10800000">
            <a:off x="4996904" y="5805003"/>
            <a:ext cx="938742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A670846-551B-4E03-8F9A-0DF8044411CA}"/>
              </a:ext>
            </a:extLst>
          </p:cNvPr>
          <p:cNvSpPr/>
          <p:nvPr/>
        </p:nvSpPr>
        <p:spPr>
          <a:xfrm>
            <a:off x="5030818" y="6285700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T </a:t>
            </a:r>
          </a:p>
          <a:p>
            <a:r>
              <a:rPr lang="ko-KR" altLang="en-US" sz="1200" dirty="0" err="1"/>
              <a:t>재발송요청</a:t>
            </a:r>
            <a:endParaRPr lang="ko-KR" altLang="en-US" sz="1200" dirty="0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0F948EAA-2034-48A7-A7DF-5071866F7EE7}"/>
              </a:ext>
            </a:extLst>
          </p:cNvPr>
          <p:cNvSpPr/>
          <p:nvPr/>
        </p:nvSpPr>
        <p:spPr>
          <a:xfrm rot="10800000">
            <a:off x="805853" y="5794372"/>
            <a:ext cx="3376270" cy="47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BC6123C-A642-407C-9692-0601DCA0A38D}"/>
              </a:ext>
            </a:extLst>
          </p:cNvPr>
          <p:cNvSpPr/>
          <p:nvPr/>
        </p:nvSpPr>
        <p:spPr>
          <a:xfrm>
            <a:off x="2019062" y="6275071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ACK : T </a:t>
            </a:r>
          </a:p>
          <a:p>
            <a:r>
              <a:rPr lang="ko-KR" altLang="en-US" sz="1200" dirty="0" err="1"/>
              <a:t>재발송요청</a:t>
            </a:r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F1D5069-EE95-4208-A90C-E38866F2DAEB}"/>
              </a:ext>
            </a:extLst>
          </p:cNvPr>
          <p:cNvSpPr/>
          <p:nvPr/>
        </p:nvSpPr>
        <p:spPr>
          <a:xfrm>
            <a:off x="8636741" y="823514"/>
            <a:ext cx="25671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 err="1"/>
              <a:t>EzApprovalGRelayScheduler</a:t>
            </a:r>
            <a:endParaRPr lang="en-US" altLang="ko-KR" sz="1050" b="1" dirty="0">
              <a:solidFill>
                <a:srgbClr val="FF000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DC5629E-0B93-4BB2-9656-DC3D95B892A3}"/>
              </a:ext>
            </a:extLst>
          </p:cNvPr>
          <p:cNvSpPr/>
          <p:nvPr/>
        </p:nvSpPr>
        <p:spPr>
          <a:xfrm>
            <a:off x="54998" y="21704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문서유통 </a:t>
            </a:r>
            <a:r>
              <a:rPr lang="en-US" altLang="ko-KR" dirty="0"/>
              <a:t>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268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94F8E1A-1E1C-4743-A615-C098BC898A1D}"/>
              </a:ext>
            </a:extLst>
          </p:cNvPr>
          <p:cNvSpPr/>
          <p:nvPr/>
        </p:nvSpPr>
        <p:spPr>
          <a:xfrm>
            <a:off x="54997" y="217042"/>
            <a:ext cx="11240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문서 유통 송수신 </a:t>
            </a:r>
            <a:r>
              <a:rPr lang="ko-KR" altLang="en-US" dirty="0" err="1"/>
              <a:t>상태값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922AE9-EAE4-4D8C-B498-D8042B41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22" y="661851"/>
            <a:ext cx="4355296" cy="573894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D128908-2CC1-47F0-A4E2-0466C096ADE1}"/>
              </a:ext>
            </a:extLst>
          </p:cNvPr>
          <p:cNvSpPr/>
          <p:nvPr/>
        </p:nvSpPr>
        <p:spPr>
          <a:xfrm>
            <a:off x="4784850" y="2120928"/>
            <a:ext cx="48622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참고문서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20190208_</a:t>
            </a:r>
            <a:r>
              <a:rPr lang="ko-KR" altLang="en-US" dirty="0"/>
              <a:t>정부 전자문서 유통표준</a:t>
            </a:r>
            <a:r>
              <a:rPr lang="en-US" altLang="ko-KR" dirty="0"/>
              <a:t>(</a:t>
            </a:r>
            <a:r>
              <a:rPr lang="ko-KR" altLang="en-US" dirty="0"/>
              <a:t>전문</a:t>
            </a:r>
            <a:r>
              <a:rPr lang="en-US" altLang="ko-KR" dirty="0"/>
              <a:t>).</a:t>
            </a:r>
            <a:r>
              <a:rPr lang="en-US" altLang="ko-KR" dirty="0" err="1"/>
              <a:t>hwp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230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F9092-BD50-40A4-A53A-BF6834679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119"/>
            <a:ext cx="10515600" cy="5326173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/>
              <a:t>유통모듈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설치전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가온아이</a:t>
            </a:r>
            <a:r>
              <a:rPr lang="ko-KR" altLang="en-US" sz="1400" dirty="0"/>
              <a:t> 게시판과 </a:t>
            </a:r>
            <a:r>
              <a:rPr lang="ko-KR" altLang="en-US" sz="1400" dirty="0" err="1"/>
              <a:t>표준모듈</a:t>
            </a:r>
            <a:r>
              <a:rPr lang="ko-KR" altLang="en-US" sz="1400" dirty="0"/>
              <a:t> </a:t>
            </a:r>
            <a:r>
              <a:rPr lang="en-US" altLang="ko-KR" sz="1400" dirty="0"/>
              <a:t>docs/tech/</a:t>
            </a:r>
            <a:r>
              <a:rPr lang="en-US" altLang="ko-KR" sz="1400" dirty="0" err="1"/>
              <a:t>ezApprovalG</a:t>
            </a:r>
            <a:r>
              <a:rPr lang="en-US" altLang="ko-KR" sz="1400" dirty="0"/>
              <a:t>/</a:t>
            </a:r>
            <a:r>
              <a:rPr lang="ko-KR" altLang="en-US" sz="1400" dirty="0"/>
              <a:t>문서유통설치 의 파일들을 참조한다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문서유통서버의 사용자 계정필요</a:t>
            </a:r>
            <a:r>
              <a:rPr lang="en-US" altLang="ko-KR" sz="1400" dirty="0"/>
              <a:t>(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필요한 포트 개방 요청</a:t>
            </a:r>
            <a:r>
              <a:rPr lang="en-US" altLang="ko-KR" sz="1400" dirty="0"/>
              <a:t>(</a:t>
            </a:r>
            <a:r>
              <a:rPr lang="ko-KR" altLang="en-US" sz="1400" dirty="0"/>
              <a:t>그룹웨어와 문서유통서버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nfs</a:t>
            </a:r>
            <a:r>
              <a:rPr lang="en-US" altLang="ko-KR" sz="1400" dirty="0"/>
              <a:t> </a:t>
            </a:r>
            <a:r>
              <a:rPr lang="ko-KR" altLang="en-US" sz="1400" dirty="0"/>
              <a:t>선택적으로 신청</a:t>
            </a:r>
            <a:r>
              <a:rPr lang="en-US" altLang="ko-KR" sz="1400" dirty="0"/>
              <a:t>), </a:t>
            </a:r>
            <a:r>
              <a:rPr lang="ko-KR" altLang="en-US" sz="1400" dirty="0"/>
              <a:t>문서유통서버와 </a:t>
            </a:r>
            <a:r>
              <a:rPr lang="en-US" altLang="ko-KR" sz="1400" dirty="0"/>
              <a:t>GPKI, </a:t>
            </a:r>
            <a:r>
              <a:rPr lang="ko-KR" altLang="en-US" sz="1400" dirty="0"/>
              <a:t>문서유통서버와 문서유통센터</a:t>
            </a:r>
            <a:r>
              <a:rPr lang="en-US" altLang="ko-KR" sz="1400" dirty="0"/>
              <a:t>) '</a:t>
            </a:r>
            <a:r>
              <a:rPr lang="ko-KR" altLang="en-US" sz="1400" dirty="0" err="1"/>
              <a:t>행정표준코드시스템의</a:t>
            </a:r>
            <a:r>
              <a:rPr lang="ko-KR" altLang="en-US" sz="1400" dirty="0"/>
              <a:t> 기관코드 확인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/>
              <a:t>문서유통모듈</a:t>
            </a:r>
            <a:r>
              <a:rPr lang="en-US" altLang="ko-KR" sz="1400" dirty="0"/>
              <a:t>(</a:t>
            </a:r>
            <a:r>
              <a:rPr lang="ko-KR" altLang="en-US" sz="1400" dirty="0"/>
              <a:t>문서유통 공인 및 사설아이피와 같이 문서유통센터에 </a:t>
            </a:r>
            <a:r>
              <a:rPr lang="ko-KR" altLang="en-US" sz="1400" dirty="0" err="1"/>
              <a:t>신청시</a:t>
            </a:r>
            <a:r>
              <a:rPr lang="ko-KR" altLang="en-US" sz="1400" dirty="0"/>
              <a:t> 발급가능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GPKI </a:t>
            </a:r>
            <a:r>
              <a:rPr lang="ko-KR" altLang="en-US" sz="1400" dirty="0"/>
              <a:t>모듈</a:t>
            </a:r>
            <a:r>
              <a:rPr lang="en-US" altLang="ko-KR" sz="1400" dirty="0"/>
              <a:t>(</a:t>
            </a:r>
            <a:r>
              <a:rPr lang="ko-KR" altLang="en-US" sz="1400" dirty="0"/>
              <a:t>기존에 사용하는 </a:t>
            </a:r>
            <a:r>
              <a:rPr lang="ko-KR" altLang="en-US" sz="1400" dirty="0" err="1"/>
              <a:t>문서유통모듈의</a:t>
            </a:r>
            <a:r>
              <a:rPr lang="ko-KR" altLang="en-US" sz="1400" dirty="0"/>
              <a:t> 사용환경이 변화한 경우 다시 발급받아야 함</a:t>
            </a:r>
            <a:r>
              <a:rPr lang="en-US" altLang="ko-KR" sz="1400" dirty="0"/>
              <a:t>. </a:t>
            </a:r>
            <a:r>
              <a:rPr lang="ko-KR" altLang="en-US" sz="1400" dirty="0"/>
              <a:t>초기 압축해제 비번</a:t>
            </a:r>
            <a:r>
              <a:rPr lang="en-US" altLang="ko-KR" sz="1400" dirty="0"/>
              <a:t>:818)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GPKI </a:t>
            </a:r>
            <a:r>
              <a:rPr lang="ko-KR" altLang="en-US" sz="1400" dirty="0"/>
              <a:t>인증서</a:t>
            </a:r>
            <a:r>
              <a:rPr lang="en-US" altLang="ko-KR" sz="1400" dirty="0"/>
              <a:t>(GPKI </a:t>
            </a:r>
            <a:r>
              <a:rPr lang="ko-KR" altLang="en-US" sz="1400" dirty="0"/>
              <a:t>모듈과 함께 전달 받음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GPKI </a:t>
            </a:r>
            <a:r>
              <a:rPr lang="ko-KR" altLang="en-US" sz="1400" dirty="0"/>
              <a:t>사용자 인증서 및 인증서 비밀번호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cer</a:t>
            </a:r>
            <a:r>
              <a:rPr lang="en-US" altLang="ko-KR" sz="1400" dirty="0"/>
              <a:t> </a:t>
            </a:r>
            <a:r>
              <a:rPr lang="ko-KR" altLang="en-US" sz="1400" dirty="0"/>
              <a:t>과 </a:t>
            </a:r>
            <a:r>
              <a:rPr lang="en-US" altLang="ko-KR" sz="1400" dirty="0"/>
              <a:t>key </a:t>
            </a:r>
            <a:r>
              <a:rPr lang="ko-KR" altLang="en-US" sz="1400" dirty="0"/>
              <a:t>확장자 파일의 인증서 및 비밀번호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/>
              <a:t>exPack</a:t>
            </a:r>
            <a:r>
              <a:rPr lang="en-US" altLang="ko-KR" sz="1400" dirty="0"/>
              <a:t> </a:t>
            </a:r>
            <a:r>
              <a:rPr lang="ko-KR" altLang="en-US" sz="1400" dirty="0"/>
              <a:t>폴더 및 파일</a:t>
            </a:r>
            <a:r>
              <a:rPr lang="en-US" altLang="ko-KR" sz="1400" dirty="0"/>
              <a:t>(</a:t>
            </a:r>
            <a:r>
              <a:rPr lang="ko-KR" altLang="en-US" sz="1400" dirty="0"/>
              <a:t>그룹웨어의 문서유통 관련 폴더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32bitso(</a:t>
            </a:r>
            <a:r>
              <a:rPr lang="ko-KR" altLang="en-US" sz="1400" dirty="0"/>
              <a:t>문서유통 모듈에서 사용해야 하는 라이브러리 파일들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/>
              <a:t>jdk</a:t>
            </a:r>
            <a:r>
              <a:rPr lang="en-US" altLang="ko-KR" sz="1400" dirty="0"/>
              <a:t> 1.4 </a:t>
            </a:r>
            <a:r>
              <a:rPr lang="ko-KR" altLang="en-US" sz="1400" dirty="0"/>
              <a:t>버전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문서유통모듈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실행시</a:t>
            </a:r>
            <a:r>
              <a:rPr lang="ko-KR" altLang="en-US" sz="1400" dirty="0"/>
              <a:t> 사용</a:t>
            </a:r>
            <a:r>
              <a:rPr lang="en-US" altLang="ko-KR" sz="1400" dirty="0"/>
              <a:t>) </a:t>
            </a:r>
            <a:r>
              <a:rPr lang="ko-KR" altLang="en-US" sz="1400" dirty="0"/>
              <a:t>사이트 전산 담당자에게 </a:t>
            </a:r>
            <a:r>
              <a:rPr lang="en-US" altLang="ko-KR" sz="1400" dirty="0">
                <a:solidFill>
                  <a:srgbClr val="FF0000"/>
                </a:solidFill>
              </a:rPr>
              <a:t>※</a:t>
            </a:r>
            <a:r>
              <a:rPr lang="en-US" altLang="ko-KR" sz="1400" dirty="0"/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유통모듈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신청시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jdk1.4 32bit </a:t>
            </a:r>
            <a:r>
              <a:rPr lang="ko-KR" altLang="en-US" sz="1400" dirty="0">
                <a:solidFill>
                  <a:srgbClr val="FF0000"/>
                </a:solidFill>
              </a:rPr>
              <a:t>반드시 요청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yum </a:t>
            </a:r>
            <a:r>
              <a:rPr lang="ko-KR" altLang="en-US" sz="1400" dirty="0"/>
              <a:t>명령어 사용 환경 필요</a:t>
            </a:r>
            <a:r>
              <a:rPr lang="en-US" altLang="ko-KR" sz="1400" dirty="0"/>
              <a:t>(</a:t>
            </a:r>
            <a:r>
              <a:rPr lang="en-US" altLang="ko-KR" sz="1400" dirty="0" err="1"/>
              <a:t>jdk</a:t>
            </a:r>
            <a:r>
              <a:rPr lang="en-US" altLang="ko-KR" sz="1400" dirty="0"/>
              <a:t> </a:t>
            </a:r>
            <a:r>
              <a:rPr lang="ko-KR" altLang="en-US" sz="1400" dirty="0" err="1"/>
              <a:t>실행시</a:t>
            </a:r>
            <a:r>
              <a:rPr lang="ko-KR" altLang="en-US" sz="1400" dirty="0"/>
              <a:t> 필요한 라이브러리 및 </a:t>
            </a:r>
            <a:r>
              <a:rPr lang="en-US" altLang="ko-KR" sz="1400" dirty="0"/>
              <a:t>glibc.i686 </a:t>
            </a:r>
            <a:r>
              <a:rPr lang="ko-KR" altLang="en-US" sz="1400" dirty="0"/>
              <a:t>설치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endParaRPr lang="ko-KR" altLang="en-US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0735F6-60B5-42F9-9C24-AB64391BC052}"/>
              </a:ext>
            </a:extLst>
          </p:cNvPr>
          <p:cNvSpPr/>
          <p:nvPr/>
        </p:nvSpPr>
        <p:spPr>
          <a:xfrm>
            <a:off x="838200" y="21704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준비항목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2089AB-8B32-4681-B8DC-070CAE73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79621"/>
            <a:ext cx="4279564" cy="22825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8BB3878-2053-4074-ACAE-5F1CFF851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238" y="4479621"/>
            <a:ext cx="1619364" cy="237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6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유통모듈</a:t>
            </a:r>
            <a:r>
              <a:rPr lang="ko-KR" altLang="en-US" b="1" dirty="0"/>
              <a:t> 설치</a:t>
            </a:r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sz="1600" dirty="0" err="1"/>
              <a:t>문서유통</a:t>
            </a:r>
            <a:r>
              <a:rPr lang="ko-KR" altLang="en-US" sz="1600" dirty="0"/>
              <a:t> 모듈을 압축해제</a:t>
            </a:r>
            <a:r>
              <a:rPr lang="en-US" altLang="ko-KR" sz="1600" dirty="0"/>
              <a:t>. </a:t>
            </a:r>
            <a:r>
              <a:rPr lang="ko-KR" altLang="en-US" sz="1600" dirty="0"/>
              <a:t>특정 폴더에 위치</a:t>
            </a:r>
            <a:r>
              <a:rPr lang="en-US" altLang="ko-KR" sz="1600" dirty="0"/>
              <a:t>(</a:t>
            </a:r>
            <a:r>
              <a:rPr lang="ko-KR" altLang="en-US" sz="1600" dirty="0"/>
              <a:t>여기에서는 </a:t>
            </a: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</a:t>
            </a:r>
            <a:r>
              <a:rPr lang="ko-KR" altLang="en-US" sz="1600" dirty="0"/>
              <a:t>에 위치했다고 가정</a:t>
            </a:r>
            <a:r>
              <a:rPr lang="en-US" altLang="ko-KR" sz="1600" dirty="0"/>
              <a:t>.)</a:t>
            </a:r>
          </a:p>
          <a:p>
            <a:pPr marL="342900" indent="-342900">
              <a:buAutoNum type="arabicPeriod"/>
            </a:pPr>
            <a:r>
              <a:rPr lang="en-US" altLang="ko-KR" sz="1600" dirty="0"/>
              <a:t>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/hosts </a:t>
            </a:r>
            <a:r>
              <a:rPr lang="ko-KR" altLang="en-US" sz="1600" dirty="0"/>
              <a:t>파일에 </a:t>
            </a:r>
            <a:r>
              <a:rPr lang="ko-KR" altLang="en-US" sz="1600" dirty="0" err="1"/>
              <a:t>유통서버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를 호스트네임으로 등록해준다</a:t>
            </a:r>
            <a:r>
              <a:rPr lang="en-US" altLang="ko-KR" sz="1600" dirty="0"/>
              <a:t>. </a:t>
            </a:r>
            <a:r>
              <a:rPr lang="ko-KR" altLang="en-US" sz="1600" dirty="0"/>
              <a:t>등록해주지 않으면 유통 모듈 올라갈 때</a:t>
            </a:r>
            <a:r>
              <a:rPr lang="en-US" altLang="ko-KR" sz="1600" dirty="0"/>
              <a:t>, IP Match </a:t>
            </a:r>
            <a:r>
              <a:rPr lang="ko-KR" altLang="en-US" sz="1600" dirty="0"/>
              <a:t>관련 에러가 발생한다</a:t>
            </a:r>
            <a:r>
              <a:rPr lang="en-US" altLang="ko-KR" sz="1600" dirty="0"/>
              <a:t>. (</a:t>
            </a:r>
            <a:r>
              <a:rPr lang="ko-KR" altLang="en-US" sz="1600" dirty="0"/>
              <a:t>보통은 인터넷망으로 </a:t>
            </a:r>
            <a:r>
              <a:rPr lang="ko-KR" altLang="en-US" sz="1600" dirty="0" err="1"/>
              <a:t>들어온걸</a:t>
            </a:r>
            <a:r>
              <a:rPr lang="ko-KR" altLang="en-US" sz="1600" dirty="0"/>
              <a:t> </a:t>
            </a:r>
            <a:r>
              <a:rPr lang="en-US" altLang="ko-KR" sz="1600" dirty="0"/>
              <a:t>NAT</a:t>
            </a:r>
            <a:r>
              <a:rPr lang="ko-KR" altLang="en-US" sz="1600" dirty="0"/>
              <a:t>를 통해 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를 바꿔주므로 공인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로 신청할 경우가 많음</a:t>
            </a:r>
            <a:r>
              <a:rPr lang="en-US" altLang="ko-KR" sz="1600" dirty="0"/>
              <a:t>.</a:t>
            </a:r>
            <a:r>
              <a:rPr lang="ko-KR" altLang="en-US" sz="1600" dirty="0"/>
              <a:t> 따라서</a:t>
            </a:r>
            <a:r>
              <a:rPr lang="en-US" altLang="ko-KR" sz="1600" dirty="0"/>
              <a:t>,</a:t>
            </a:r>
            <a:r>
              <a:rPr lang="ko-KR" altLang="en-US" sz="1600" dirty="0"/>
              <a:t> 공인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를 입력해야 정상동작하는 경우가 많음</a:t>
            </a:r>
            <a:r>
              <a:rPr lang="en-US" altLang="ko-KR" sz="1600" dirty="0"/>
              <a:t>.)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ex) 172.15.1.6	</a:t>
            </a:r>
            <a:r>
              <a:rPr lang="en-US" altLang="ko-KR" sz="1600" dirty="0" err="1"/>
              <a:t>gwdoc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>
                <a:solidFill>
                  <a:srgbClr val="FF0000"/>
                </a:solidFill>
              </a:rPr>
              <a:t>/home/</a:t>
            </a:r>
            <a:r>
              <a:rPr lang="en-US" altLang="ko-KR" sz="1600" dirty="0" err="1">
                <a:solidFill>
                  <a:srgbClr val="FF0000"/>
                </a:solidFill>
              </a:rPr>
              <a:t>jmocha</a:t>
            </a:r>
            <a:r>
              <a:rPr lang="en-US" altLang="ko-KR" sz="1600" dirty="0">
                <a:solidFill>
                  <a:srgbClr val="FF0000"/>
                </a:solidFill>
              </a:rPr>
              <a:t>/relay/data/</a:t>
            </a:r>
            <a:r>
              <a:rPr lang="ko-KR" altLang="en-US" sz="1600" dirty="0">
                <a:solidFill>
                  <a:srgbClr val="FF0000"/>
                </a:solidFill>
              </a:rPr>
              <a:t>안에 </a:t>
            </a:r>
            <a:r>
              <a:rPr lang="en-US" altLang="ko-KR" sz="1600" dirty="0" err="1">
                <a:solidFill>
                  <a:srgbClr val="FF0000"/>
                </a:solidFill>
              </a:rPr>
              <a:t>receiveComp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폴더가 없다면 생성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err="1">
                <a:solidFill>
                  <a:srgbClr val="FF0000"/>
                </a:solidFill>
              </a:rPr>
              <a:t>receivetemp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폴더와 </a:t>
            </a:r>
            <a:r>
              <a:rPr lang="en-US" altLang="ko-KR" sz="1600" dirty="0" err="1">
                <a:solidFill>
                  <a:srgbClr val="FF0000"/>
                </a:solidFill>
              </a:rPr>
              <a:t>sendtemp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 err="1">
                <a:solidFill>
                  <a:srgbClr val="FF0000"/>
                </a:solidFill>
              </a:rPr>
              <a:t>폴더안에</a:t>
            </a:r>
            <a:r>
              <a:rPr lang="ko-KR" altLang="en-US" sz="1600" dirty="0">
                <a:solidFill>
                  <a:srgbClr val="FF0000"/>
                </a:solidFill>
              </a:rPr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pack.dtd</a:t>
            </a:r>
            <a:r>
              <a:rPr lang="ko-KR" altLang="en-US" sz="1600" dirty="0">
                <a:solidFill>
                  <a:srgbClr val="FF0000"/>
                </a:solidFill>
              </a:rPr>
              <a:t>가 없다면 </a:t>
            </a:r>
            <a:r>
              <a:rPr lang="en-US" altLang="ko-KR" sz="1600" dirty="0">
                <a:solidFill>
                  <a:srgbClr val="FF0000"/>
                </a:solidFill>
              </a:rPr>
              <a:t>relay/</a:t>
            </a:r>
            <a:r>
              <a:rPr lang="en-US" altLang="ko-KR" sz="1600" dirty="0" err="1">
                <a:solidFill>
                  <a:srgbClr val="FF0000"/>
                </a:solidFill>
              </a:rPr>
              <a:t>dtd</a:t>
            </a:r>
            <a:r>
              <a:rPr lang="en-US" altLang="ko-KR" sz="1600" dirty="0">
                <a:solidFill>
                  <a:srgbClr val="FF0000"/>
                </a:solidFill>
              </a:rPr>
              <a:t>/ </a:t>
            </a:r>
            <a:r>
              <a:rPr lang="ko-KR" altLang="en-US" sz="1600" dirty="0">
                <a:solidFill>
                  <a:srgbClr val="FF0000"/>
                </a:solidFill>
              </a:rPr>
              <a:t>폴더에서 복사해서 위치시킴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lvl="1"/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87" y="2796063"/>
            <a:ext cx="5000625" cy="18669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87" y="5037472"/>
            <a:ext cx="46101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5. </a:t>
            </a:r>
            <a:r>
              <a:rPr lang="ko-KR" altLang="en-US" sz="1600" dirty="0"/>
              <a:t>문서유통 모듈은 </a:t>
            </a:r>
            <a:r>
              <a:rPr lang="en-US" altLang="ko-KR" sz="1600" dirty="0" err="1">
                <a:solidFill>
                  <a:srgbClr val="FF0000"/>
                </a:solidFill>
              </a:rPr>
              <a:t>jdk</a:t>
            </a:r>
            <a:r>
              <a:rPr lang="en-US" altLang="ko-KR" sz="1600" dirty="0">
                <a:solidFill>
                  <a:srgbClr val="FF0000"/>
                </a:solidFill>
              </a:rPr>
              <a:t> 1.4(32bit)</a:t>
            </a:r>
            <a:r>
              <a:rPr lang="ko-KR" altLang="en-US" sz="1600" dirty="0"/>
              <a:t>를 필요로 하기 때문에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jdk</a:t>
            </a:r>
            <a:r>
              <a:rPr lang="en-US" altLang="ko-KR" sz="1600" dirty="0"/>
              <a:t> 1.4</a:t>
            </a:r>
            <a:r>
              <a:rPr lang="ko-KR" altLang="en-US" sz="1600" dirty="0"/>
              <a:t>를 설치해준다</a:t>
            </a:r>
            <a:r>
              <a:rPr lang="en-US" altLang="ko-KR" sz="1600" dirty="0"/>
              <a:t>.</a:t>
            </a:r>
          </a:p>
          <a:p>
            <a:r>
              <a:rPr lang="en-US" altLang="ko-KR" sz="1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&gt; </a:t>
            </a:r>
            <a:r>
              <a:rPr lang="en-US" altLang="ko-KR" sz="14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chmod</a:t>
            </a:r>
            <a:r>
              <a:rPr lang="en-US" altLang="ko-KR" sz="1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+x j2sdk-1_4_2_19-linux-i586.bin</a:t>
            </a:r>
          </a:p>
          <a:p>
            <a:r>
              <a:rPr lang="en-US" altLang="ko-KR" sz="1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&gt; ./j2sdk-1_4_2_19-linux-i586.bin 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/>
              <a:t> </a:t>
            </a:r>
            <a:r>
              <a:rPr lang="en-US" altLang="ko-KR" sz="1600" dirty="0" err="1"/>
              <a:t>jdk</a:t>
            </a:r>
            <a:r>
              <a:rPr lang="en-US" altLang="ko-KR" sz="1600" dirty="0"/>
              <a:t> 1.4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설치할때</a:t>
            </a:r>
            <a:r>
              <a:rPr lang="en-US" altLang="ko-KR" sz="1600" dirty="0"/>
              <a:t>, ld-linux.so.2</a:t>
            </a:r>
            <a:r>
              <a:rPr lang="ko-KR" altLang="en-US" sz="1600" dirty="0"/>
              <a:t>가 없다고 에러가 난다면</a:t>
            </a:r>
            <a:r>
              <a:rPr lang="en-US" altLang="ko-KR" sz="1600" dirty="0"/>
              <a:t>, yum -y install ld-linux.so.2</a:t>
            </a:r>
            <a:r>
              <a:rPr lang="ko-KR" altLang="en-US" sz="1600" dirty="0"/>
              <a:t> 로 설치 후 시도한다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lvl="1"/>
            <a:endParaRPr lang="en-US" altLang="ko-KR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07" y="2805415"/>
            <a:ext cx="577215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9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6. JAVA_HOME</a:t>
            </a:r>
            <a:r>
              <a:rPr lang="ko-KR" altLang="en-US" sz="1600" dirty="0"/>
              <a:t>이 이미 다른 버전의 </a:t>
            </a:r>
            <a:r>
              <a:rPr lang="en-US" altLang="ko-KR" sz="1600" dirty="0" err="1"/>
              <a:t>jdk</a:t>
            </a:r>
            <a:r>
              <a:rPr lang="ko-KR" altLang="en-US" sz="1600" dirty="0"/>
              <a:t>로 이미 있거나</a:t>
            </a:r>
            <a:r>
              <a:rPr lang="en-US" altLang="ko-KR" sz="1600" dirty="0"/>
              <a:t>, java -version </a:t>
            </a:r>
            <a:r>
              <a:rPr lang="ko-KR" altLang="en-US" sz="1600" dirty="0"/>
              <a:t>했을 때</a:t>
            </a:r>
            <a:r>
              <a:rPr lang="en-US" altLang="ko-KR" sz="1600" dirty="0"/>
              <a:t> jdk1.4 </a:t>
            </a:r>
            <a:r>
              <a:rPr lang="ko-KR" altLang="en-US" sz="1600" dirty="0"/>
              <a:t>가 아닌 다른 버전이 실행될 경우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유통모듈</a:t>
            </a:r>
            <a:r>
              <a:rPr lang="ko-KR" altLang="en-US" sz="1600" dirty="0"/>
              <a:t> 설치 가이드에 따라서 </a:t>
            </a:r>
            <a:r>
              <a:rPr lang="en-US" altLang="ko-KR" sz="1600" dirty="0">
                <a:solidFill>
                  <a:srgbClr val="FF0000"/>
                </a:solidFill>
              </a:rPr>
              <a:t>RY_JAVA_HOME </a:t>
            </a:r>
            <a:r>
              <a:rPr lang="ko-KR" altLang="en-US" sz="1600" dirty="0"/>
              <a:t>환경변수를 지정해주고 </a:t>
            </a:r>
            <a:r>
              <a:rPr lang="ko-KR" altLang="en-US" sz="1600" dirty="0" err="1"/>
              <a:t>유통모듈의</a:t>
            </a:r>
            <a:r>
              <a:rPr lang="ko-KR" altLang="en-US" sz="1600" dirty="0"/>
              <a:t> 모든 실행스크립트에서 </a:t>
            </a:r>
            <a:r>
              <a:rPr lang="en-US" altLang="ko-KR" sz="1600" dirty="0"/>
              <a:t>java</a:t>
            </a:r>
            <a:r>
              <a:rPr lang="ko-KR" altLang="en-US" sz="1600" dirty="0"/>
              <a:t>를 </a:t>
            </a:r>
            <a:r>
              <a:rPr lang="en-US" altLang="ko-KR" sz="1600" dirty="0"/>
              <a:t>RY_JAVA_HOME/bin/java </a:t>
            </a:r>
            <a:r>
              <a:rPr lang="ko-KR" altLang="en-US" sz="1600" dirty="0"/>
              <a:t>으로 수정해준다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ebms</a:t>
            </a:r>
            <a:r>
              <a:rPr lang="en-US" altLang="ko-KR" sz="1600" dirty="0"/>
              <a:t>/messaging/bin/derby_shutdown.sh, derby_startup.sh </a:t>
            </a:r>
            <a:r>
              <a:rPr lang="ko-KR" altLang="en-US" sz="1600" dirty="0"/>
              <a:t>도 수정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ebms</a:t>
            </a:r>
            <a:r>
              <a:rPr lang="en-US" altLang="ko-KR" sz="1600" dirty="0"/>
              <a:t>/messaging/bin, </a:t>
            </a:r>
            <a:r>
              <a:rPr lang="en-US" altLang="ko-KR" sz="1600" dirty="0" err="1"/>
              <a:t>ebms</a:t>
            </a:r>
            <a:r>
              <a:rPr lang="en-US" altLang="ko-KR" sz="1600" dirty="0"/>
              <a:t>/monitoring/bin</a:t>
            </a:r>
            <a:r>
              <a:rPr lang="ko-KR" altLang="en-US" sz="1600" dirty="0"/>
              <a:t>의 </a:t>
            </a:r>
            <a:r>
              <a:rPr lang="en-US" altLang="ko-KR" sz="1600" dirty="0"/>
              <a:t>catalina.sh, tool-wrapper.sh, catalinabymonitor.sh </a:t>
            </a:r>
            <a:r>
              <a:rPr lang="ko-KR" altLang="en-US" sz="1600" dirty="0"/>
              <a:t>의 </a:t>
            </a:r>
            <a:r>
              <a:rPr lang="en-US" altLang="ko-KR" sz="1600" dirty="0"/>
              <a:t>JAVA_HOME  </a:t>
            </a:r>
            <a:r>
              <a:rPr lang="ko-KR" altLang="en-US" sz="1600" dirty="0"/>
              <a:t>재설정</a:t>
            </a:r>
            <a:r>
              <a:rPr lang="en-US" altLang="ko-KR" sz="1600" dirty="0"/>
              <a:t>. </a:t>
            </a:r>
            <a:r>
              <a:rPr lang="ko-KR" altLang="en-US" sz="1600" dirty="0"/>
              <a:t>모듈 설치 가이드</a:t>
            </a:r>
            <a:r>
              <a:rPr lang="en-US" altLang="ko-KR" sz="1600" dirty="0"/>
              <a:t>(</a:t>
            </a:r>
            <a:r>
              <a:rPr lang="ko-KR" altLang="en-US" sz="1600" dirty="0"/>
              <a:t>별첨 </a:t>
            </a:r>
            <a:r>
              <a:rPr lang="en-US" altLang="ko-KR" sz="1600" dirty="0"/>
              <a:t>1.2 </a:t>
            </a:r>
            <a:r>
              <a:rPr lang="ko-KR" altLang="en-US" sz="1600" dirty="0"/>
              <a:t>참고</a:t>
            </a:r>
            <a:r>
              <a:rPr lang="en-US" altLang="ko-KR" sz="1600" dirty="0"/>
              <a:t>) </a:t>
            </a:r>
            <a:r>
              <a:rPr lang="ko-KR" altLang="en-US" sz="1600" dirty="0"/>
              <a:t>잘 읽고 그대로 따라하면 됨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수정할 목록</a:t>
            </a:r>
            <a:endParaRPr lang="en-US" altLang="ko-KR" sz="1600" dirty="0"/>
          </a:p>
          <a:p>
            <a:r>
              <a:rPr lang="en-US" altLang="ko-KR" sz="1200" dirty="0"/>
              <a:t>relay/bin/ebms_start.sh</a:t>
            </a:r>
          </a:p>
          <a:p>
            <a:r>
              <a:rPr lang="en-US" altLang="ko-KR" sz="1200" dirty="0"/>
              <a:t>relay/bin/ebms_stop.sh</a:t>
            </a:r>
          </a:p>
          <a:p>
            <a:r>
              <a:rPr lang="en-US" altLang="ko-KR" sz="1200" dirty="0"/>
              <a:t>relay/bin/module_statuscheck.sh</a:t>
            </a:r>
          </a:p>
          <a:p>
            <a:r>
              <a:rPr lang="en-US" altLang="ko-KR" sz="1200" dirty="0"/>
              <a:t>relay/bin/monitor_start.sh</a:t>
            </a:r>
          </a:p>
          <a:p>
            <a:r>
              <a:rPr lang="en-US" altLang="ko-KR" sz="1200" dirty="0"/>
              <a:t>relay/bin/monitor_stop.sh</a:t>
            </a:r>
          </a:p>
          <a:p>
            <a:r>
              <a:rPr lang="en-US" altLang="ko-KR" sz="1200" dirty="0"/>
              <a:t>relay/bin/relay_start.sh</a:t>
            </a:r>
          </a:p>
          <a:p>
            <a:r>
              <a:rPr lang="en-US" altLang="ko-KR" sz="1200" dirty="0"/>
              <a:t>relay/bin/relay_stop.sh</a:t>
            </a:r>
          </a:p>
          <a:p>
            <a:r>
              <a:rPr lang="en-US" altLang="ko-KR" sz="1200" dirty="0"/>
              <a:t>-----------------------------------------------------------</a:t>
            </a:r>
          </a:p>
          <a:p>
            <a:r>
              <a:rPr lang="en-US" altLang="ko-KR" sz="1200" dirty="0"/>
              <a:t>relay/bin/system/start_ebms.sh</a:t>
            </a:r>
          </a:p>
          <a:p>
            <a:r>
              <a:rPr lang="en-US" altLang="ko-KR" sz="1200" dirty="0"/>
              <a:t>relay/bin/system/start_ebmsreceiverbymont.sh</a:t>
            </a:r>
          </a:p>
          <a:p>
            <a:r>
              <a:rPr lang="en-US" altLang="ko-KR" sz="1200" dirty="0"/>
              <a:t>relay/bin/system/start_monitor2.sh</a:t>
            </a:r>
          </a:p>
          <a:p>
            <a:r>
              <a:rPr lang="en-US" altLang="ko-KR" sz="1200" dirty="0"/>
              <a:t>relay/bin/system/stop_ebms.sh</a:t>
            </a:r>
          </a:p>
          <a:p>
            <a:r>
              <a:rPr lang="en-US" altLang="ko-KR" sz="1200" dirty="0"/>
              <a:t>relay/bin/system/stop_ebmsreceiverbymont.sh</a:t>
            </a:r>
          </a:p>
          <a:p>
            <a:r>
              <a:rPr lang="en-US" altLang="ko-KR" sz="1200" dirty="0"/>
              <a:t>--------------------------------------------------------------</a:t>
            </a:r>
          </a:p>
          <a:p>
            <a:r>
              <a:rPr lang="en-US" altLang="ko-KR" sz="1200" dirty="0"/>
              <a:t>relay/ebms/messaging/bin/catalina.sh</a:t>
            </a:r>
          </a:p>
          <a:p>
            <a:r>
              <a:rPr lang="en-US" altLang="ko-KR" sz="1200" dirty="0"/>
              <a:t>relay/ebms/messaging/bin/catalinabymonitor.sh</a:t>
            </a:r>
          </a:p>
          <a:p>
            <a:r>
              <a:rPr lang="en-US" altLang="ko-KR" sz="1200" dirty="0"/>
              <a:t>relay/ebms/messaging/bin/tool-wrapper.sh</a:t>
            </a:r>
          </a:p>
          <a:p>
            <a:r>
              <a:rPr lang="en-US" altLang="ko-KR" sz="1200" dirty="0"/>
              <a:t>relay/ebms/messaging/bin/derby_startup.sh</a:t>
            </a:r>
          </a:p>
          <a:p>
            <a:r>
              <a:rPr lang="en-US" altLang="ko-KR" sz="1200" dirty="0"/>
              <a:t>relay/ebms/messaging/bin/derby_shutdown.sh</a:t>
            </a:r>
          </a:p>
          <a:p>
            <a:r>
              <a:rPr lang="en-US" altLang="ko-KR" sz="1200" dirty="0"/>
              <a:t>----------------------------------------------------------------</a:t>
            </a:r>
          </a:p>
          <a:p>
            <a:r>
              <a:rPr lang="en-US" altLang="ko-KR" sz="1200" dirty="0"/>
              <a:t>relay/ebms/monitoring/bin/catalina.sh</a:t>
            </a:r>
          </a:p>
          <a:p>
            <a:r>
              <a:rPr lang="en-US" altLang="ko-KR" sz="1200" dirty="0"/>
              <a:t>relay/ebms/monitoring/bin/tool-wrapper.sh</a:t>
            </a:r>
          </a:p>
          <a:p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775" y="5381625"/>
            <a:ext cx="5276850" cy="12763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635" y="2840201"/>
            <a:ext cx="10436087" cy="84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2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7. relay/config/</a:t>
            </a:r>
            <a:r>
              <a:rPr lang="ko-KR" altLang="en-US" sz="1600" dirty="0"/>
              <a:t>의 </a:t>
            </a:r>
            <a:r>
              <a:rPr lang="en-US" altLang="ko-KR" sz="1600" dirty="0"/>
              <a:t>?_properties.xml </a:t>
            </a:r>
            <a:r>
              <a:rPr lang="ko-KR" altLang="en-US" sz="1600" dirty="0"/>
              <a:t>파일을 적절히 선택하여 이름을 바꿔준다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/>
              <a:t>    1. </a:t>
            </a:r>
            <a:r>
              <a:rPr lang="ko-KR" altLang="en-US" sz="1600" dirty="0" err="1"/>
              <a:t>중계모듈설치경로</a:t>
            </a:r>
            <a:r>
              <a:rPr lang="en-US" altLang="ko-KR" sz="1600" dirty="0"/>
              <a:t>/config </a:t>
            </a:r>
            <a:r>
              <a:rPr lang="ko-KR" altLang="en-US" sz="1600" dirty="0"/>
              <a:t>경로에서 설치 기관의 지역정보에 해당하는 *</a:t>
            </a:r>
            <a:r>
              <a:rPr lang="en-US" altLang="ko-KR" sz="1600" dirty="0"/>
              <a:t>_properties.xml </a:t>
            </a:r>
            <a:r>
              <a:rPr lang="ko-KR" altLang="en-US" sz="1600" dirty="0"/>
              <a:t>파일을 </a:t>
            </a:r>
            <a:r>
              <a:rPr lang="en-US" altLang="ko-KR" sz="1600" dirty="0"/>
              <a:t>properties.xml </a:t>
            </a:r>
            <a:r>
              <a:rPr lang="ko-KR" altLang="en-US" sz="1600" dirty="0"/>
              <a:t>파일명으로 변경합니다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- D_properties.xml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충청도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전라도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경상도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제주도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대전광역시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울산광역시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부산광역시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광주광역시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대구광역시 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남부지역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	- S_properties.xml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중앙행정부처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경기도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강원도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서울특별시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인천 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중부지역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	- X_properties.xml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교육기관 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교육청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대학교 등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	- T_properties.xml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공공기관 등</a:t>
            </a:r>
            <a:endParaRPr lang="en-US" altLang="ko-KR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600" dirty="0"/>
              <a:t>ex) T_properties.xml =&gt; properties.xml 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작업해줌</a:t>
            </a:r>
            <a:r>
              <a:rPr lang="en-US" altLang="ko-KR" sz="1600" dirty="0"/>
              <a:t>. </a:t>
            </a:r>
            <a:r>
              <a:rPr lang="ko-KR" altLang="en-US" sz="1600" dirty="0"/>
              <a:t>복사하면서 이름 </a:t>
            </a:r>
            <a:r>
              <a:rPr lang="ko-KR" altLang="en-US" sz="1600" dirty="0" err="1"/>
              <a:t>바꿔도됨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43" y="3354171"/>
            <a:ext cx="50292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8. properties.xml </a:t>
            </a:r>
            <a:r>
              <a:rPr lang="ko-KR" altLang="en-US" sz="1600" dirty="0"/>
              <a:t>파일 안에 </a:t>
            </a:r>
            <a:r>
              <a:rPr lang="en-US" altLang="ko-KR" sz="1600" dirty="0" err="1"/>
              <a:t>serverproperty</a:t>
            </a:r>
            <a:r>
              <a:rPr lang="en-US" altLang="ko-KR" sz="1600" dirty="0"/>
              <a:t> &gt; system(id), </a:t>
            </a:r>
            <a:r>
              <a:rPr lang="en-US" altLang="ko-KR" sz="1600" dirty="0" err="1"/>
              <a:t>replaypath</a:t>
            </a:r>
            <a:r>
              <a:rPr lang="en-US" altLang="ko-KR" sz="1600" dirty="0"/>
              <a:t>// </a:t>
            </a:r>
            <a:r>
              <a:rPr lang="en-US" altLang="ko-KR" sz="1600" dirty="0" err="1"/>
              <a:t>gpkiproperty</a:t>
            </a:r>
            <a:r>
              <a:rPr lang="en-US" altLang="ko-KR" sz="1600" dirty="0"/>
              <a:t> &gt; </a:t>
            </a:r>
            <a:r>
              <a:rPr lang="en-US" altLang="ko-KR" sz="1600" dirty="0" err="1"/>
              <a:t>gpkiserverid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gpkipath</a:t>
            </a:r>
            <a:r>
              <a:rPr lang="en-US" altLang="ko-KR" sz="1600" dirty="0"/>
              <a:t>, pin</a:t>
            </a:r>
            <a:r>
              <a:rPr lang="ko-KR" altLang="en-US" sz="1600" dirty="0"/>
              <a:t>를 수정한다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ex) &lt;SYSTEM TYPE="DOCUMENT" ID=“DOCB55105301"/&gt;  (DOC + </a:t>
            </a:r>
            <a:r>
              <a:rPr lang="ko-KR" altLang="en-US" sz="1600" dirty="0" err="1"/>
              <a:t>기관코드</a:t>
            </a:r>
            <a:r>
              <a:rPr lang="en-US" altLang="ko-KR" sz="1600" dirty="0"/>
              <a:t>(7) + </a:t>
            </a:r>
            <a:r>
              <a:rPr lang="ko-KR" altLang="en-US" sz="1600" dirty="0"/>
              <a:t>일련번호</a:t>
            </a:r>
            <a:r>
              <a:rPr lang="en-US" altLang="ko-KR" sz="1600" dirty="0"/>
              <a:t>(2))</a:t>
            </a:r>
          </a:p>
          <a:p>
            <a:r>
              <a:rPr lang="en-US" altLang="ko-KR" sz="1600" dirty="0" err="1"/>
              <a:t>Serverproperty</a:t>
            </a:r>
            <a:r>
              <a:rPr lang="ko-KR" altLang="en-US" sz="1600" dirty="0"/>
              <a:t>의 </a:t>
            </a:r>
            <a:r>
              <a:rPr lang="en-US" altLang="ko-KR" sz="1600" dirty="0"/>
              <a:t>id</a:t>
            </a:r>
            <a:r>
              <a:rPr lang="ko-KR" altLang="en-US" sz="1600" dirty="0"/>
              <a:t>는 </a:t>
            </a:r>
            <a:r>
              <a:rPr lang="en-US" altLang="ko-KR" sz="1600" dirty="0"/>
              <a:t>DOC + </a:t>
            </a:r>
            <a:r>
              <a:rPr lang="ko-KR" altLang="en-US" sz="1600" dirty="0" err="1"/>
              <a:t>기관코드</a:t>
            </a:r>
            <a:r>
              <a:rPr lang="en-US" altLang="ko-KR" sz="1600" dirty="0"/>
              <a:t>7</a:t>
            </a:r>
            <a:r>
              <a:rPr lang="ko-KR" altLang="en-US" sz="1600" dirty="0"/>
              <a:t>자리 </a:t>
            </a:r>
            <a:r>
              <a:rPr lang="en-US" altLang="ko-KR" sz="1600" dirty="0"/>
              <a:t>+ </a:t>
            </a:r>
            <a:r>
              <a:rPr lang="ko-KR" altLang="en-US" sz="1600" dirty="0"/>
              <a:t>일련번호 </a:t>
            </a:r>
            <a:r>
              <a:rPr lang="en-US" altLang="ko-KR" sz="1600" dirty="0"/>
              <a:t>01~   </a:t>
            </a:r>
            <a:r>
              <a:rPr lang="ko-KR" altLang="en-US" sz="1600" dirty="0"/>
              <a:t>로 구성 보통 일련번호는 </a:t>
            </a:r>
            <a:r>
              <a:rPr lang="en-US" altLang="ko-KR" sz="1600" dirty="0"/>
              <a:t>01</a:t>
            </a:r>
            <a:r>
              <a:rPr lang="ko-KR" altLang="en-US" sz="1600" dirty="0"/>
              <a:t>로 하면 </a:t>
            </a:r>
            <a:r>
              <a:rPr lang="ko-KR" altLang="en-US" sz="1600" dirty="0" err="1"/>
              <a:t>거의됨</a:t>
            </a:r>
            <a:endParaRPr lang="en-US" altLang="ko-KR" sz="1600" dirty="0"/>
          </a:p>
          <a:p>
            <a:r>
              <a:rPr lang="en-US" altLang="ko-KR" sz="1600" dirty="0"/>
              <a:t>&lt;RELAYPATH&gt;/home/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/relay&lt;/RELAYPATH&gt;</a:t>
            </a:r>
          </a:p>
          <a:p>
            <a:endParaRPr lang="en-US" altLang="ko-KR" sz="1600" dirty="0"/>
          </a:p>
          <a:p>
            <a:r>
              <a:rPr lang="en-US" altLang="ko-KR" sz="1600" dirty="0"/>
              <a:t>&lt;GPKISERVERID&gt;SVRB551053001&lt;/GPKISERVERID&gt; (GPKI</a:t>
            </a:r>
            <a:r>
              <a:rPr lang="ko-KR" altLang="en-US" sz="1600" dirty="0"/>
              <a:t>서버아이디는 </a:t>
            </a:r>
            <a:r>
              <a:rPr lang="en-US" altLang="ko-KR" sz="1600" dirty="0"/>
              <a:t>GPKI </a:t>
            </a:r>
            <a:r>
              <a:rPr lang="ko-KR" altLang="en-US" sz="1600" dirty="0"/>
              <a:t>인증서의 </a:t>
            </a:r>
            <a:r>
              <a:rPr lang="ko-KR" altLang="en-US" sz="1600" dirty="0" err="1"/>
              <a:t>파일이름과</a:t>
            </a:r>
            <a:r>
              <a:rPr lang="ko-KR" altLang="en-US" sz="1600" dirty="0"/>
              <a:t> 동일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&lt;GPKIPATH&gt;/home/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/relay/</a:t>
            </a:r>
            <a:r>
              <a:rPr lang="en-US" altLang="ko-KR" sz="1600" dirty="0" err="1"/>
              <a:t>gpki</a:t>
            </a:r>
            <a:r>
              <a:rPr lang="en-US" altLang="ko-KR" sz="1600" dirty="0"/>
              <a:t>/&lt;/GPKIPATH&gt;   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제일 끝에 </a:t>
            </a:r>
            <a:r>
              <a:rPr lang="en-US" altLang="ko-KR" sz="1600" dirty="0">
                <a:solidFill>
                  <a:srgbClr val="FF0000"/>
                </a:solidFill>
              </a:rPr>
              <a:t>‘/’ </a:t>
            </a:r>
            <a:r>
              <a:rPr lang="ko-KR" altLang="en-US" sz="1600" dirty="0">
                <a:solidFill>
                  <a:srgbClr val="FF0000"/>
                </a:solidFill>
              </a:rPr>
              <a:t>까지 필수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600" dirty="0"/>
              <a:t>&lt;PIN&gt;&lt;![CDATA[</a:t>
            </a:r>
            <a:r>
              <a:rPr lang="en-US" altLang="ko-KR" sz="1600" dirty="0" err="1">
                <a:solidFill>
                  <a:srgbClr val="FF0000"/>
                </a:solidFill>
              </a:rPr>
              <a:t>passwordexample</a:t>
            </a:r>
            <a:r>
              <a:rPr lang="en-US" altLang="ko-KR" sz="1600" dirty="0"/>
              <a:t>]]&gt;&lt;/PIN&gt;   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en-US" altLang="ko-KR" sz="1600" dirty="0" err="1">
                <a:solidFill>
                  <a:srgbClr val="FF0000"/>
                </a:solidFill>
              </a:rPr>
              <a:t>gpki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패스워드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 err="1"/>
              <a:t>다음화면</a:t>
            </a:r>
            <a:r>
              <a:rPr lang="ko-KR" altLang="en-US" sz="1600" dirty="0"/>
              <a:t> 참고</a:t>
            </a:r>
            <a:r>
              <a:rPr lang="en-US" altLang="ko-KR" sz="1600" dirty="0"/>
              <a:t>……………………….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01737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33" y="1075788"/>
            <a:ext cx="7987242" cy="545836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5486400"/>
            <a:ext cx="44767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45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r>
              <a:rPr lang="en-US" altLang="ko-KR" sz="1400" dirty="0"/>
              <a:t>9. </a:t>
            </a:r>
            <a:r>
              <a:rPr lang="ko-KR" altLang="en-US" sz="1400" dirty="0"/>
              <a:t>환경변수는 이것만 등록 하면 됨</a:t>
            </a:r>
            <a:r>
              <a:rPr lang="en-US" altLang="ko-KR" sz="14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LIBPATH=$LIBPATH:/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/lib64:/home/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LD_LIBRARY_PATH=$LD_LIBRARY_PATH:/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/lib64:/home/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SHLIB_PATH=$SHLIB_PATH:/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/lib64:/home/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RELAY_HOME=/home/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RY_JAVA_HOME=/home/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/jdk1.4 (jdk1.4 </a:t>
            </a:r>
            <a:r>
              <a:rPr lang="ko-KR" altLang="en-US" sz="1400" dirty="0"/>
              <a:t>경로에 따라 적절히 수정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10. </a:t>
            </a:r>
            <a:r>
              <a:rPr lang="ko-KR" altLang="en-US" sz="1400" dirty="0"/>
              <a:t>위의 명령을 적절히 </a:t>
            </a:r>
            <a:r>
              <a:rPr lang="en-US" altLang="ko-KR" sz="1400" dirty="0"/>
              <a:t>~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/.</a:t>
            </a:r>
            <a:r>
              <a:rPr lang="en-US" altLang="ko-KR" sz="1400" dirty="0" err="1"/>
              <a:t>bashrc</a:t>
            </a:r>
            <a:r>
              <a:rPr lang="en-US" altLang="ko-KR" sz="1400" dirty="0"/>
              <a:t> </a:t>
            </a:r>
            <a:r>
              <a:rPr lang="ko-KR" altLang="en-US" sz="1400" dirty="0"/>
              <a:t>에도 등록해준다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11. LDAP </a:t>
            </a:r>
            <a:r>
              <a:rPr lang="ko-KR" altLang="en-US" sz="1400" dirty="0"/>
              <a:t>연결이 되는지 </a:t>
            </a:r>
            <a:r>
              <a:rPr lang="en-US" altLang="ko-KR" sz="1400" dirty="0"/>
              <a:t>telnet </a:t>
            </a:r>
            <a:r>
              <a:rPr lang="ko-KR" altLang="en-US" sz="1400" dirty="0"/>
              <a:t>연결 해봄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중계모듈</a:t>
            </a:r>
            <a:r>
              <a:rPr lang="ko-KR" altLang="en-US" sz="1400" dirty="0"/>
              <a:t> 설치 가이드의</a:t>
            </a:r>
            <a:r>
              <a:rPr lang="en-US" altLang="ko-KR" sz="1400" dirty="0"/>
              <a:t> </a:t>
            </a:r>
            <a:r>
              <a:rPr lang="ko-KR" altLang="en-US" sz="1400" dirty="0"/>
              <a:t>다</a:t>
            </a:r>
            <a:r>
              <a:rPr lang="en-US" altLang="ko-KR" sz="1400" dirty="0"/>
              <a:t>.</a:t>
            </a:r>
            <a:r>
              <a:rPr lang="ko-KR" altLang="en-US" sz="1400" dirty="0"/>
              <a:t>네트워크 설정의 확인 참고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12. centos 7</a:t>
            </a:r>
            <a:r>
              <a:rPr lang="ko-KR" altLang="en-US" sz="1400" dirty="0"/>
              <a:t>이상 버전일 경우</a:t>
            </a:r>
            <a:r>
              <a:rPr lang="en-US" altLang="ko-KR" sz="1400" dirty="0"/>
              <a:t>, yum -y install glibc.i686</a:t>
            </a:r>
            <a:br>
              <a:rPr lang="en-US" altLang="ko-KR" sz="1400" dirty="0"/>
            </a:br>
            <a:r>
              <a:rPr lang="en-US" altLang="ko-KR" sz="1400" dirty="0"/>
              <a:t>centos 6</a:t>
            </a:r>
            <a:r>
              <a:rPr lang="ko-KR" altLang="en-US" sz="1400" dirty="0"/>
              <a:t>버전일 경우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http://copr-be.cloud.fedoraproject.org/results/mosquito/myrepo-el6/epel-6-i386/glibc-2.17-55.fc20/glibc-2.17-55.el6.i686.rpm</a:t>
            </a:r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http://copr-be.cloud.fedoraproject.org/results/mosquito/myrepo-el6/epel-6-i386/glibc-2.17-55.fc20/glibc-common-2.17-55.el6.i686.rpm</a:t>
            </a:r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http://copr-be.cloud.fedoraproject.org/results/mosquito/myrepo-el6/epel-6-i386/glibc-2.17-55.fc20/glibc-devel-2.17-55.el6.i686.rpm</a:t>
            </a:r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http://copr-be.cloud.fedoraproject.org/results/mosquito/myrepo-el6/epel-6-i386/glibc-2.17-55.fc20/glibc-headers-2.17-55.el6.i686.rpm</a:t>
            </a:r>
          </a:p>
          <a:p>
            <a:pPr marL="1257300" lvl="2" indent="-342900">
              <a:buAutoNum type="arabicPeriod"/>
            </a:pPr>
            <a:endParaRPr lang="en-US" altLang="ko-KR" sz="1400" dirty="0"/>
          </a:p>
          <a:p>
            <a:pPr lvl="2"/>
            <a:r>
              <a:rPr lang="en-US" altLang="ko-KR" sz="1400" dirty="0" err="1"/>
              <a:t>sudo</a:t>
            </a:r>
            <a:r>
              <a:rPr lang="en-US" altLang="ko-KR" sz="1400" dirty="0"/>
              <a:t> rpm -</a:t>
            </a:r>
            <a:r>
              <a:rPr lang="en-US" altLang="ko-KR" sz="1400" dirty="0" err="1"/>
              <a:t>Uvh</a:t>
            </a:r>
            <a:r>
              <a:rPr lang="en-US" altLang="ko-KR" sz="1400" dirty="0"/>
              <a:t> glibc-2.17-55.el6.i686.rpm \</a:t>
            </a:r>
          </a:p>
          <a:p>
            <a:pPr lvl="2"/>
            <a:r>
              <a:rPr lang="en-US" altLang="ko-KR" sz="1400" dirty="0"/>
              <a:t>glibc-common-2.17-55.el6.i686.rpm \</a:t>
            </a:r>
          </a:p>
          <a:p>
            <a:pPr lvl="2"/>
            <a:r>
              <a:rPr lang="en-US" altLang="ko-KR" sz="1400" dirty="0"/>
              <a:t>glibc-devel-2.17-55.el6.i686.rpm \</a:t>
            </a:r>
          </a:p>
          <a:p>
            <a:pPr lvl="2"/>
            <a:r>
              <a:rPr lang="en-US" altLang="ko-KR" sz="1400" dirty="0"/>
              <a:t>glibc-headers-2.17-55.el6.i686.rpm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45260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유통서버에서</a:t>
            </a:r>
            <a:endParaRPr lang="en-US" altLang="ko-KR" sz="1600" b="1" dirty="0"/>
          </a:p>
          <a:p>
            <a:r>
              <a:rPr lang="en-US" altLang="ko-KR" sz="1600" dirty="0"/>
              <a:t>13. GPKI </a:t>
            </a:r>
            <a:r>
              <a:rPr lang="ko-KR" altLang="en-US" sz="1600" dirty="0"/>
              <a:t>모듈 설정 방법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gpki</a:t>
            </a:r>
            <a:r>
              <a:rPr lang="ko-KR" altLang="en-US" sz="1600" dirty="0"/>
              <a:t>표준 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 </a:t>
            </a:r>
            <a:r>
              <a:rPr lang="ko-KR" altLang="en-US" sz="1600" dirty="0"/>
              <a:t>압축 파일을 해제 </a:t>
            </a:r>
            <a:r>
              <a:rPr lang="en-US" altLang="ko-KR" sz="1600" dirty="0"/>
              <a:t>(</a:t>
            </a:r>
            <a:r>
              <a:rPr lang="ko-KR" altLang="en-US" sz="1600" dirty="0"/>
              <a:t>보통 암호는 </a:t>
            </a:r>
            <a:r>
              <a:rPr lang="en-US" altLang="ko-KR" sz="1600" dirty="0"/>
              <a:t>818)</a:t>
            </a:r>
            <a:br>
              <a:rPr lang="en-US" altLang="ko-KR" sz="1600" dirty="0"/>
            </a:br>
            <a:r>
              <a:rPr lang="ko-KR" altLang="en-US" sz="1600" dirty="0"/>
              <a:t>임시라이센스</a:t>
            </a:r>
            <a:r>
              <a:rPr lang="en-US" altLang="ko-KR" sz="1600" dirty="0"/>
              <a:t>, </a:t>
            </a:r>
            <a:r>
              <a:rPr lang="ko-KR" altLang="en-US" sz="1600" dirty="0"/>
              <a:t>정상라이센스</a:t>
            </a:r>
            <a:r>
              <a:rPr lang="en-US" altLang="ko-KR" sz="1600" dirty="0"/>
              <a:t>, </a:t>
            </a:r>
            <a:r>
              <a:rPr lang="ko-KR" altLang="en-US" sz="1600" dirty="0"/>
              <a:t>모듈이 생김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임시라이센스는 기간이 </a:t>
            </a:r>
            <a:r>
              <a:rPr lang="en-US" altLang="ko-KR" sz="1600" dirty="0"/>
              <a:t>3</a:t>
            </a:r>
            <a:r>
              <a:rPr lang="ko-KR" altLang="en-US" sz="1600" dirty="0"/>
              <a:t>개월이고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ip</a:t>
            </a:r>
            <a:r>
              <a:rPr lang="en-US" altLang="ko-KR" sz="1600" dirty="0"/>
              <a:t> </a:t>
            </a:r>
            <a:r>
              <a:rPr lang="ko-KR" altLang="en-US" sz="1600" dirty="0"/>
              <a:t>체크를 하지 않음</a:t>
            </a:r>
            <a:r>
              <a:rPr lang="en-US" altLang="ko-KR" sz="1600" dirty="0"/>
              <a:t>. </a:t>
            </a:r>
            <a:r>
              <a:rPr lang="ko-KR" altLang="en-US" sz="1600" dirty="0"/>
              <a:t>그래서 정상라이센스로 설치 작업하는게 나음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br>
              <a:rPr lang="en-US" altLang="ko-KR" sz="1600" dirty="0"/>
            </a:br>
            <a:r>
              <a:rPr lang="en-US" altLang="ko-KR" sz="1600" dirty="0"/>
              <a:t>* </a:t>
            </a:r>
            <a:r>
              <a:rPr lang="ko-KR" altLang="en-US" sz="1600" dirty="0"/>
              <a:t>임시라이센스의 경우</a:t>
            </a:r>
            <a:r>
              <a:rPr lang="en-US" altLang="ko-KR" sz="1600" dirty="0"/>
              <a:t>, 3</a:t>
            </a:r>
            <a:r>
              <a:rPr lang="ko-KR" altLang="en-US" sz="1600" dirty="0"/>
              <a:t>개월이 되어도 서비스가 </a:t>
            </a:r>
            <a:r>
              <a:rPr lang="ko-KR" altLang="en-US" sz="1600" dirty="0" err="1"/>
              <a:t>종료되진</a:t>
            </a:r>
            <a:r>
              <a:rPr lang="ko-KR" altLang="en-US" sz="1600" dirty="0"/>
              <a:t> 않지만 </a:t>
            </a:r>
            <a:r>
              <a:rPr lang="ko-KR" altLang="en-US" sz="1600" dirty="0" err="1"/>
              <a:t>유통모듈을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재시작하면</a:t>
            </a:r>
            <a:r>
              <a:rPr lang="ko-KR" altLang="en-US" sz="1600" dirty="0"/>
              <a:t> 시작 시 에러가 발생함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br>
              <a:rPr lang="en-US" altLang="ko-KR" sz="1600" dirty="0"/>
            </a:br>
            <a:r>
              <a:rPr lang="ko-KR" altLang="en-US" sz="1600" dirty="0"/>
              <a:t>정상라이센스 폴더의 </a:t>
            </a:r>
            <a:r>
              <a:rPr lang="en-US" altLang="ko-KR" sz="1600" dirty="0" err="1"/>
              <a:t>gpkiapi.lic</a:t>
            </a:r>
            <a:r>
              <a:rPr lang="en-US" altLang="ko-KR" sz="1600" dirty="0"/>
              <a:t> </a:t>
            </a:r>
            <a:r>
              <a:rPr lang="ko-KR" altLang="en-US" sz="1600" dirty="0"/>
              <a:t>파일을 </a:t>
            </a:r>
            <a:r>
              <a:rPr lang="en-US" altLang="ko-KR" sz="1600" dirty="0"/>
              <a:t>relay/</a:t>
            </a:r>
            <a:r>
              <a:rPr lang="en-US" altLang="ko-KR" sz="1600" dirty="0" err="1"/>
              <a:t>gpki</a:t>
            </a:r>
            <a:r>
              <a:rPr lang="en-US" altLang="ko-KR" sz="1600" dirty="0"/>
              <a:t>/</a:t>
            </a:r>
            <a:r>
              <a:rPr lang="ko-KR" altLang="en-US" sz="1600" dirty="0"/>
              <a:t>를 생성하여 위치시킴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 err="1"/>
              <a:t>gpki</a:t>
            </a:r>
            <a:r>
              <a:rPr lang="en-US" altLang="ko-KR" sz="1600" dirty="0"/>
              <a:t> </a:t>
            </a:r>
            <a:r>
              <a:rPr lang="ko-KR" altLang="en-US" sz="1600" dirty="0"/>
              <a:t>인증서 파일도 같은 곳에 위치시킴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569" y="3590270"/>
            <a:ext cx="5667375" cy="161925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551F34D-62B9-43A1-A516-786A43660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585" y="3272790"/>
            <a:ext cx="421957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04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53682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유통서버에서</a:t>
            </a:r>
            <a:endParaRPr lang="en-US" altLang="ko-KR" sz="1600" b="1" dirty="0"/>
          </a:p>
          <a:p>
            <a:r>
              <a:rPr lang="en-US" altLang="ko-KR" sz="1400" dirty="0"/>
              <a:t>14. GPKI </a:t>
            </a:r>
            <a:r>
              <a:rPr lang="ko-KR" altLang="en-US" sz="1400" dirty="0"/>
              <a:t>모듈 설정 방법</a:t>
            </a:r>
            <a:r>
              <a:rPr lang="en-US" altLang="ko-KR" sz="14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gpkiapiV1.4.0.0_Linux_2.6.9-34.26AX_32bit_20170501.tgz </a:t>
            </a:r>
            <a:r>
              <a:rPr lang="ko-KR" altLang="en-US" sz="1400" dirty="0"/>
              <a:t>를 사용</a:t>
            </a:r>
            <a:r>
              <a:rPr lang="en-US" altLang="ko-KR" sz="1400" dirty="0"/>
              <a:t>. </a:t>
            </a:r>
            <a:r>
              <a:rPr lang="ko-KR" altLang="en-US" sz="1400" dirty="0"/>
              <a:t>압축 해제</a:t>
            </a:r>
            <a:endParaRPr lang="en-US" altLang="ko-KR" sz="1400" dirty="0"/>
          </a:p>
          <a:p>
            <a:pPr marL="800100" lvl="1" indent="-342900">
              <a:buAutoNum type="arabicPeriod"/>
            </a:pPr>
            <a:r>
              <a:rPr lang="ko-KR" altLang="en-US" sz="1400" dirty="0"/>
              <a:t>압축 해제하여 생성된 폴더 안에 </a:t>
            </a:r>
            <a:r>
              <a:rPr lang="en-US" altLang="ko-KR" sz="1400" dirty="0" err="1"/>
              <a:t>conf</a:t>
            </a:r>
            <a:r>
              <a:rPr lang="en-US" altLang="ko-KR" sz="1400" dirty="0"/>
              <a:t>/</a:t>
            </a:r>
            <a:r>
              <a:rPr lang="en-US" altLang="ko-KR" sz="1400" dirty="0" err="1"/>
              <a:t>gpkiapi.conf</a:t>
            </a:r>
            <a:r>
              <a:rPr lang="en-US" altLang="ko-KR" sz="1400" dirty="0"/>
              <a:t> </a:t>
            </a:r>
            <a:r>
              <a:rPr lang="ko-KR" altLang="en-US" sz="1400" dirty="0"/>
              <a:t>파일을 </a:t>
            </a:r>
            <a:r>
              <a:rPr lang="en-US" altLang="ko-KR" sz="1400" dirty="0"/>
              <a:t>relay/</a:t>
            </a:r>
            <a:r>
              <a:rPr lang="en-US" altLang="ko-KR" sz="1400" dirty="0" err="1"/>
              <a:t>config</a:t>
            </a:r>
            <a:r>
              <a:rPr lang="en-US" altLang="ko-KR" sz="1400" dirty="0"/>
              <a:t>/</a:t>
            </a:r>
            <a:r>
              <a:rPr lang="ko-KR" altLang="en-US" sz="1400" dirty="0"/>
              <a:t>에 파일과 교체</a:t>
            </a:r>
            <a:endParaRPr lang="en-US" altLang="ko-KR" sz="1400" dirty="0"/>
          </a:p>
          <a:p>
            <a:pPr marL="800100" lvl="1" indent="-342900">
              <a:buAutoNum type="arabicPeriod"/>
            </a:pPr>
            <a:r>
              <a:rPr lang="ko-KR" altLang="en-US" sz="1400" dirty="0"/>
              <a:t>압축 해제하여 생성된 폴더 안에 </a:t>
            </a:r>
            <a:r>
              <a:rPr lang="en-US" altLang="ko-KR" sz="1400" dirty="0"/>
              <a:t>lib/ </a:t>
            </a:r>
            <a:r>
              <a:rPr lang="ko-KR" altLang="en-US" sz="1400" dirty="0"/>
              <a:t>안에 모든 파일을 </a:t>
            </a:r>
            <a:r>
              <a:rPr lang="en-US" altLang="ko-KR" sz="1400" dirty="0"/>
              <a:t>relay/lib</a:t>
            </a:r>
            <a:r>
              <a:rPr lang="ko-KR" altLang="en-US" sz="1400" dirty="0"/>
              <a:t>로 복사</a:t>
            </a:r>
            <a:r>
              <a:rPr lang="en-US" altLang="ko-KR" sz="14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32bitso </a:t>
            </a:r>
            <a:r>
              <a:rPr lang="ko-KR" altLang="en-US" sz="1400" dirty="0"/>
              <a:t>모음을 압축해제하여 </a:t>
            </a:r>
            <a:r>
              <a:rPr lang="en-US" altLang="ko-KR" sz="1400" dirty="0"/>
              <a:t>relay/lib </a:t>
            </a:r>
            <a:r>
              <a:rPr lang="ko-KR" altLang="en-US" sz="1400" dirty="0" err="1"/>
              <a:t>폴더안에</a:t>
            </a:r>
            <a:r>
              <a:rPr lang="ko-KR" altLang="en-US" sz="1400" dirty="0"/>
              <a:t> 위치</a:t>
            </a:r>
            <a:r>
              <a:rPr lang="en-US" altLang="ko-KR" sz="1400" dirty="0"/>
              <a:t>.</a:t>
            </a:r>
          </a:p>
          <a:p>
            <a:pPr marL="1257300" lvl="2" indent="-342900">
              <a:buAutoNum type="arabicPeriod"/>
            </a:pPr>
            <a:r>
              <a:rPr lang="en-US" altLang="ko-KR" sz="1400" dirty="0"/>
              <a:t>relay/lib </a:t>
            </a:r>
            <a:r>
              <a:rPr lang="ko-KR" altLang="en-US" sz="1400" dirty="0"/>
              <a:t>에서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</a:t>
            </a:r>
            <a:r>
              <a:rPr lang="en-US" altLang="ko-KR" sz="1400" dirty="0" err="1"/>
              <a:t>gpkiapi_info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libgpkiapi.so,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liblber.so,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libldap.so</a:t>
            </a:r>
            <a:r>
              <a:rPr lang="ko-KR" altLang="en-US" sz="1400" dirty="0"/>
              <a:t>로 의존성을 확인하면서 연결 안된 것은 </a:t>
            </a:r>
            <a:r>
              <a:rPr lang="ko-KR" altLang="en-US" sz="1400" dirty="0" err="1"/>
              <a:t>연결해줘야하는데</a:t>
            </a:r>
            <a:r>
              <a:rPr lang="en-US" altLang="ko-KR" sz="1400" dirty="0"/>
              <a:t> </a:t>
            </a:r>
            <a:r>
              <a:rPr lang="ko-KR" altLang="en-US" sz="1400" dirty="0"/>
              <a:t>보통 </a:t>
            </a:r>
            <a:r>
              <a:rPr lang="en-US" altLang="ko-KR" sz="1400" dirty="0"/>
              <a:t>32bitso</a:t>
            </a:r>
            <a:r>
              <a:rPr lang="ko-KR" altLang="en-US" sz="1400" dirty="0"/>
              <a:t>안에 있으므로 </a:t>
            </a:r>
            <a:r>
              <a:rPr lang="ko-KR" altLang="en-US" sz="1400" dirty="0" err="1"/>
              <a:t>심볼릭</a:t>
            </a:r>
            <a:r>
              <a:rPr lang="ko-KR" altLang="en-US" sz="1400" dirty="0"/>
              <a:t> 링크로 필요한 파일을 이름 같게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위치시켜줌</a:t>
            </a:r>
            <a:r>
              <a:rPr lang="en-US" altLang="ko-KR" sz="1600" dirty="0"/>
              <a:t>.</a:t>
            </a:r>
          </a:p>
          <a:p>
            <a:pPr marL="1257300" lvl="2" indent="-342900">
              <a:buAutoNum type="arabicPeriod"/>
            </a:pPr>
            <a:endParaRPr lang="en-US" altLang="ko-KR" sz="1600" dirty="0"/>
          </a:p>
          <a:p>
            <a:pPr marL="1257300" lvl="2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3907716"/>
            <a:ext cx="5301108" cy="2799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DED88-2971-4208-A1F6-BE4E4AB8D74B}"/>
              </a:ext>
            </a:extLst>
          </p:cNvPr>
          <p:cNvSpPr txBox="1"/>
          <p:nvPr/>
        </p:nvSpPr>
        <p:spPr>
          <a:xfrm>
            <a:off x="6400800" y="651510"/>
            <a:ext cx="5486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gpkiapi_info</a:t>
            </a:r>
            <a:endParaRPr lang="en-US" altLang="ko-KR" sz="12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liblber.so liblber.so.7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liblber.so liblber-2.2.so.7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32bitso/lib/libdb_cxx-4.2.so libdb_cxx-4.2.so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32bitso/lib/libsasl2.so.2.0.23 libsasl2.so.2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32bitso/lib/libssl.so.1.0.2k libssl.so.4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32bitso/lib/libcrypto.so.1.0.2k libcrypto.so.4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32bitso/libk5crypto.so.3.1 libk5crypto.so.3</a:t>
            </a:r>
          </a:p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dirty="0"/>
              <a:t> libgpkiapi.so 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libstdc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++.so.6.0.19 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libstdc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++.so.6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32bitso/lib/libcrypt-2.17.so libcrypt.so.1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32bitso/lib/libgssapi_krb5.so.2.2 libgssapi_krb5.so.2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32bitso/lib/libkrb5.so.3.3 libkrb5.so.3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32bitso/lib/libcom_err.so.2.1 libcom_err.so.2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32bitso/lib/libk5crypto.so.3.1 libk5crypto.so.3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32bitso/lib/libz.so.1.2.7 libz.so.1</a:t>
            </a:r>
          </a:p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dirty="0"/>
              <a:t>liblber.so </a:t>
            </a:r>
          </a:p>
          <a:p>
            <a:r>
              <a:rPr lang="en-US" altLang="ko-KR" sz="1200" dirty="0"/>
              <a:t>ln -s 32bitso/lib/libgcc_s-4.8.5-20150702.so.1 libgcc_s.so.1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/>
              <a:t>ln -s 32bitso/lib/libfreebl3.so libfreebl3.so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/>
              <a:t>ln -s 32bitso/lib/libkrb5support.so.0.1 libkrb5support.so.0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/>
              <a:t>ln -s 32bitso/lib/libkeyutils.so.1.5 libkeyutils.so.1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dirty="0"/>
              <a:t> libldap.so </a:t>
            </a:r>
          </a:p>
          <a:p>
            <a:r>
              <a:rPr lang="en-US" altLang="ko-KR" sz="1200" dirty="0"/>
              <a:t>ln -s 32bitso/lib/libselinux.so.1 </a:t>
            </a:r>
            <a:r>
              <a:rPr lang="en-US" altLang="ko-KR" sz="1200" dirty="0" err="1"/>
              <a:t>libselinux.so.1</a:t>
            </a:r>
            <a:endParaRPr lang="en-US" altLang="ko-KR" sz="1200" dirty="0"/>
          </a:p>
          <a:p>
            <a:r>
              <a:rPr lang="en-US" altLang="ko-KR" sz="1200" dirty="0"/>
              <a:t>ln -s 32bitso/lib/libpcre.so.1.2.0 libpcre.so.1</a:t>
            </a:r>
          </a:p>
          <a:p>
            <a:endParaRPr lang="en-US" altLang="ko-KR" sz="1200" dirty="0"/>
          </a:p>
          <a:p>
            <a:r>
              <a:rPr lang="ko-KR" altLang="en-US" sz="1200" dirty="0"/>
              <a:t>해당 로그는 예시이며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ldd</a:t>
            </a:r>
            <a:r>
              <a:rPr lang="en-US" altLang="ko-KR" sz="1200" dirty="0"/>
              <a:t> </a:t>
            </a:r>
            <a:r>
              <a:rPr lang="ko-KR" altLang="en-US" sz="1200" dirty="0"/>
              <a:t>명령어로 </a:t>
            </a:r>
            <a:r>
              <a:rPr lang="en-US" altLang="ko-KR" sz="1200" dirty="0" err="1"/>
              <a:t>gpkiapi_info</a:t>
            </a:r>
            <a:r>
              <a:rPr lang="en-US" altLang="ko-KR" sz="1200" dirty="0"/>
              <a:t>, libgpkiapi.so, liblber.so, libldap.so </a:t>
            </a:r>
            <a:r>
              <a:rPr lang="ko-KR" altLang="en-US" sz="1200" dirty="0"/>
              <a:t>네 파일에 대해 의존성을 다 확인하며 </a:t>
            </a:r>
            <a:r>
              <a:rPr lang="ko-KR" altLang="en-US" sz="1200" dirty="0" err="1"/>
              <a:t>심볼릭</a:t>
            </a:r>
            <a:r>
              <a:rPr lang="ko-KR" altLang="en-US" sz="1200" dirty="0"/>
              <a:t> 링크를 추가함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096019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유통서버에서</a:t>
            </a:r>
            <a:endParaRPr lang="en-US" altLang="ko-KR" sz="1600" b="1" dirty="0"/>
          </a:p>
          <a:p>
            <a:r>
              <a:rPr lang="en-US" altLang="ko-KR" sz="1600" dirty="0"/>
              <a:t>15. GPKI </a:t>
            </a:r>
            <a:r>
              <a:rPr lang="ko-KR" altLang="en-US" sz="1600" dirty="0"/>
              <a:t>모듈 설정 방법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○gpkiapiV1.4.0.0_20101002_j.zip </a:t>
            </a:r>
            <a:r>
              <a:rPr lang="ko-KR" altLang="en-US" sz="1600" dirty="0"/>
              <a:t>파일 해제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 err="1"/>
              <a:t>해제된폴더</a:t>
            </a:r>
            <a:r>
              <a:rPr lang="en-US" altLang="ko-KR" sz="1600" dirty="0"/>
              <a:t>/lib/libgpkiapi_jni.jar </a:t>
            </a:r>
            <a:r>
              <a:rPr lang="ko-KR" altLang="en-US" sz="1600" dirty="0"/>
              <a:t>을 </a:t>
            </a:r>
            <a:r>
              <a:rPr lang="en-US" altLang="ko-KR" sz="1600" dirty="0"/>
              <a:t>relay/classes/</a:t>
            </a:r>
            <a:r>
              <a:rPr lang="ko-KR" altLang="en-US" sz="1600" dirty="0"/>
              <a:t>에  복사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721" y="1931236"/>
            <a:ext cx="5838825" cy="20478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A801737-DA72-456E-B029-EAB3C4D2495B}"/>
              </a:ext>
            </a:extLst>
          </p:cNvPr>
          <p:cNvSpPr/>
          <p:nvPr/>
        </p:nvSpPr>
        <p:spPr>
          <a:xfrm>
            <a:off x="5057775" y="3324225"/>
            <a:ext cx="1905000" cy="1905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77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그룹웨어서버에서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ezflow</a:t>
            </a:r>
            <a:r>
              <a:rPr lang="ko-KR" altLang="en-US" sz="1600" dirty="0"/>
              <a:t>의 </a:t>
            </a:r>
            <a:r>
              <a:rPr lang="en-US" altLang="ko-KR" sz="1600" dirty="0" err="1"/>
              <a:t>config.properties</a:t>
            </a:r>
            <a:r>
              <a:rPr lang="en-US" altLang="ko-KR" sz="1600" dirty="0"/>
              <a:t> </a:t>
            </a:r>
            <a:r>
              <a:rPr lang="ko-KR" altLang="en-US" sz="1600" dirty="0"/>
              <a:t>에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 err="1">
                <a:solidFill>
                  <a:srgbClr val="FF0000"/>
                </a:solidFill>
              </a:rPr>
              <a:t>relay_root</a:t>
            </a:r>
            <a:r>
              <a:rPr lang="en-US" altLang="ko-KR" sz="1600" dirty="0">
                <a:solidFill>
                  <a:srgbClr val="FF0000"/>
                </a:solidFill>
              </a:rPr>
              <a:t> = /home/</a:t>
            </a:r>
            <a:r>
              <a:rPr lang="en-US" altLang="ko-KR" sz="1600" dirty="0" err="1">
                <a:solidFill>
                  <a:srgbClr val="FF0000"/>
                </a:solidFill>
              </a:rPr>
              <a:t>jmocha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en-US" altLang="ko-KR" sz="1600" dirty="0" err="1">
                <a:solidFill>
                  <a:srgbClr val="FF0000"/>
                </a:solidFill>
              </a:rPr>
              <a:t>ezEKP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en-US" altLang="ko-KR" sz="1600" dirty="0" err="1">
                <a:solidFill>
                  <a:srgbClr val="FF0000"/>
                </a:solidFill>
              </a:rPr>
              <a:t>ezFlow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en-US" altLang="ko-KR" sz="1600" dirty="0" err="1">
                <a:solidFill>
                  <a:srgbClr val="FF0000"/>
                </a:solidFill>
              </a:rPr>
              <a:t>webapps</a:t>
            </a:r>
            <a:r>
              <a:rPr lang="en-US" altLang="ko-KR" sz="1600" dirty="0">
                <a:solidFill>
                  <a:srgbClr val="FF0000"/>
                </a:solidFill>
              </a:rPr>
              <a:t>/ROOT (ROOT</a:t>
            </a:r>
            <a:r>
              <a:rPr lang="ko-KR" altLang="en-US" sz="1600" dirty="0">
                <a:solidFill>
                  <a:srgbClr val="FF0000"/>
                </a:solidFill>
              </a:rPr>
              <a:t>가 있는 위치까지의 경로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>
                <a:solidFill>
                  <a:srgbClr val="FF0000"/>
                </a:solidFill>
              </a:rPr>
              <a:t>Upload_relay.ROOT</a:t>
            </a:r>
            <a:r>
              <a:rPr lang="en-US" altLang="ko-KR" sz="1600" dirty="0">
                <a:solidFill>
                  <a:srgbClr val="FF0000"/>
                </a:solidFill>
              </a:rPr>
              <a:t> = /relay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>
                <a:solidFill>
                  <a:srgbClr val="FF0000"/>
                </a:solidFill>
              </a:rPr>
              <a:t>upload_relay.R_DocPath</a:t>
            </a:r>
            <a:r>
              <a:rPr lang="en-US" altLang="ko-KR" sz="1600" dirty="0">
                <a:solidFill>
                  <a:srgbClr val="FF0000"/>
                </a:solidFill>
              </a:rPr>
              <a:t> = /files/</a:t>
            </a:r>
            <a:r>
              <a:rPr lang="en-US" altLang="ko-KR" sz="1600" dirty="0" err="1">
                <a:solidFill>
                  <a:srgbClr val="FF0000"/>
                </a:solidFill>
              </a:rPr>
              <a:t>upload_approvalG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로 설정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>
                <a:solidFill>
                  <a:srgbClr val="FF0000"/>
                </a:solidFill>
              </a:rPr>
              <a:t>config.companyNum</a:t>
            </a:r>
            <a:r>
              <a:rPr lang="en-US" altLang="ko-KR" sz="1600" dirty="0">
                <a:solidFill>
                  <a:srgbClr val="FF0000"/>
                </a:solidFill>
              </a:rPr>
              <a:t> = '</a:t>
            </a:r>
            <a:r>
              <a:rPr lang="ko-KR" altLang="en-US" sz="1600" dirty="0">
                <a:solidFill>
                  <a:srgbClr val="FF0000"/>
                </a:solidFill>
              </a:rPr>
              <a:t>기관코드</a:t>
            </a:r>
            <a:r>
              <a:rPr lang="en-US" altLang="ko-KR" sz="1600" dirty="0">
                <a:solidFill>
                  <a:srgbClr val="FF0000"/>
                </a:solidFill>
              </a:rPr>
              <a:t>’</a:t>
            </a:r>
            <a:endParaRPr lang="en-US" altLang="ko-KR" sz="1600" dirty="0"/>
          </a:p>
          <a:p>
            <a:pPr marL="800100" lvl="1" indent="-342900">
              <a:buFontTx/>
              <a:buAutoNum type="arabicPeriod"/>
            </a:pPr>
            <a:r>
              <a:rPr lang="en-US" altLang="ko-KR" sz="1600" dirty="0" err="1">
                <a:solidFill>
                  <a:srgbClr val="FF0000"/>
                </a:solidFill>
              </a:rPr>
              <a:t>config.Run_RelayScheduler</a:t>
            </a:r>
            <a:r>
              <a:rPr lang="en-US" altLang="ko-KR" sz="1600" dirty="0">
                <a:solidFill>
                  <a:srgbClr val="FF0000"/>
                </a:solidFill>
              </a:rPr>
              <a:t> = YES</a:t>
            </a:r>
          </a:p>
          <a:p>
            <a:pPr marL="800100" lvl="1" indent="-342900">
              <a:buAutoNum type="arabicPeriod"/>
            </a:pPr>
            <a:endParaRPr lang="en-US" altLang="ko-KR" sz="16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600" dirty="0" err="1"/>
              <a:t>ezflow</a:t>
            </a:r>
            <a:r>
              <a:rPr lang="ko-KR" altLang="en-US" sz="1600" dirty="0"/>
              <a:t>가 설치된 서버에서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ezEKP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ezFlow</a:t>
            </a:r>
            <a:r>
              <a:rPr lang="en-US" altLang="ko-KR" sz="1600" dirty="0"/>
              <a:t>/</a:t>
            </a:r>
            <a:r>
              <a:rPr lang="en-US" altLang="ko-KR" sz="1600" dirty="0" err="1"/>
              <a:t>webapps</a:t>
            </a:r>
            <a:r>
              <a:rPr lang="en-US" altLang="ko-KR" sz="1600" dirty="0"/>
              <a:t>/ROOT/</a:t>
            </a:r>
            <a:r>
              <a:rPr lang="en-US" altLang="ko-KR" sz="1600" dirty="0" err="1"/>
              <a:t>fileroot</a:t>
            </a:r>
            <a:r>
              <a:rPr lang="en-US" altLang="ko-KR" sz="1600" dirty="0"/>
              <a:t>/0/files</a:t>
            </a:r>
            <a:r>
              <a:rPr lang="ko-KR" altLang="en-US" sz="1600" dirty="0"/>
              <a:t>에 </a:t>
            </a: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심볼릭</a:t>
            </a:r>
            <a:r>
              <a:rPr lang="ko-KR" altLang="en-US" sz="1600" dirty="0"/>
              <a:t> 링크 생성</a:t>
            </a:r>
            <a:r>
              <a:rPr lang="en-US" altLang="ko-KR" sz="1600" dirty="0"/>
              <a:t>. (</a:t>
            </a:r>
            <a:r>
              <a:rPr lang="ko-KR" altLang="en-US" sz="1600" dirty="0" err="1"/>
              <a:t>유통서버와</a:t>
            </a:r>
            <a:r>
              <a:rPr lang="ko-KR" altLang="en-US" sz="1600" dirty="0"/>
              <a:t> </a:t>
            </a:r>
            <a:r>
              <a:rPr lang="en-US" altLang="ko-KR" sz="1600" dirty="0" err="1"/>
              <a:t>ezFlow</a:t>
            </a:r>
            <a:r>
              <a:rPr lang="ko-KR" altLang="en-US" sz="1600" dirty="0"/>
              <a:t>서버가 분리되어 있을 경우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마운트한</a:t>
            </a:r>
            <a:r>
              <a:rPr lang="ko-KR" altLang="en-US" sz="1600" dirty="0"/>
              <a:t> </a:t>
            </a:r>
            <a:r>
              <a:rPr lang="en-US" altLang="ko-KR" sz="1600" dirty="0"/>
              <a:t>relay</a:t>
            </a:r>
            <a:r>
              <a:rPr lang="ko-KR" altLang="en-US" sz="1600" dirty="0"/>
              <a:t>에는 </a:t>
            </a:r>
            <a:r>
              <a:rPr lang="en-US" altLang="ko-KR" sz="1600" dirty="0"/>
              <a:t>data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dtd</a:t>
            </a:r>
            <a:r>
              <a:rPr lang="en-US" altLang="ko-KR" sz="1600" dirty="0"/>
              <a:t> </a:t>
            </a:r>
            <a:r>
              <a:rPr lang="ko-KR" altLang="en-US" sz="1600" dirty="0"/>
              <a:t>폴더가 있어야함</a:t>
            </a:r>
            <a:r>
              <a:rPr lang="en-US" altLang="ko-KR" sz="1600" dirty="0"/>
              <a:t>. data</a:t>
            </a:r>
            <a:r>
              <a:rPr lang="ko-KR" altLang="en-US" sz="1600" dirty="0"/>
              <a:t>만 </a:t>
            </a:r>
            <a:r>
              <a:rPr lang="ko-KR" altLang="en-US" sz="1600" dirty="0" err="1"/>
              <a:t>마운트하고</a:t>
            </a:r>
            <a:r>
              <a:rPr lang="ko-KR" altLang="en-US" sz="1600" dirty="0"/>
              <a:t> </a:t>
            </a:r>
            <a:r>
              <a:rPr lang="en-US" altLang="ko-KR" sz="1600" dirty="0" err="1"/>
              <a:t>dtd</a:t>
            </a:r>
            <a:r>
              <a:rPr lang="ko-KR" altLang="en-US" sz="1600" dirty="0"/>
              <a:t>는 별도로 복사해줘도 동작함</a:t>
            </a:r>
            <a:r>
              <a:rPr lang="en-US" altLang="ko-KR" sz="1600" dirty="0"/>
              <a:t>.)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71" y="3725091"/>
            <a:ext cx="61436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38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그룹웨어서버에서</a:t>
            </a:r>
            <a:endParaRPr lang="en-US" altLang="ko-KR" b="1" dirty="0"/>
          </a:p>
          <a:p>
            <a:r>
              <a:rPr lang="en-US" altLang="ko-KR" sz="1600" dirty="0"/>
              <a:t>3. </a:t>
            </a:r>
            <a:r>
              <a:rPr lang="en-US" altLang="ko-KR" sz="1600" dirty="0" err="1"/>
              <a:t>ezflow</a:t>
            </a:r>
            <a:r>
              <a:rPr lang="ko-KR" altLang="en-US" sz="1600" dirty="0"/>
              <a:t>가 설치된 서버에서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ezEKP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ezFlow</a:t>
            </a:r>
            <a:r>
              <a:rPr lang="en-US" altLang="ko-KR" sz="1600" dirty="0"/>
              <a:t>/</a:t>
            </a:r>
            <a:r>
              <a:rPr lang="en-US" altLang="ko-KR" sz="1600" dirty="0" err="1"/>
              <a:t>webapps</a:t>
            </a:r>
            <a:r>
              <a:rPr lang="en-US" altLang="ko-KR" sz="1600" dirty="0"/>
              <a:t>/ROOT/</a:t>
            </a:r>
            <a:r>
              <a:rPr lang="en-US" altLang="ko-KR" sz="1600" dirty="0" err="1"/>
              <a:t>fileroot</a:t>
            </a:r>
            <a:r>
              <a:rPr lang="en-US" altLang="ko-KR" sz="1600" dirty="0"/>
              <a:t>/0/files/</a:t>
            </a:r>
            <a:r>
              <a:rPr lang="en-US" altLang="ko-KR" sz="1600" dirty="0" err="1"/>
              <a:t>upload_approvaG</a:t>
            </a:r>
            <a:r>
              <a:rPr lang="en-US" altLang="ko-KR" sz="1600" dirty="0"/>
              <a:t>/ </a:t>
            </a:r>
            <a:r>
              <a:rPr lang="ko-KR" altLang="en-US" sz="1600" dirty="0"/>
              <a:t>에 </a:t>
            </a:r>
            <a:r>
              <a:rPr lang="en-US" altLang="ko-KR" sz="1600" dirty="0" err="1"/>
              <a:t>exPack</a:t>
            </a:r>
            <a:r>
              <a:rPr lang="en-US" altLang="ko-KR" sz="1600" dirty="0"/>
              <a:t> </a:t>
            </a:r>
            <a:r>
              <a:rPr lang="ko-KR" altLang="en-US" sz="1600" dirty="0"/>
              <a:t>관련 폴더들을 </a:t>
            </a:r>
            <a:r>
              <a:rPr lang="ko-KR" altLang="en-US" sz="1600" dirty="0" err="1"/>
              <a:t>위치시켜야함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한글기안기로 발송할 경우</a:t>
            </a:r>
            <a:r>
              <a:rPr lang="en-US" altLang="ko-KR" sz="1600" dirty="0"/>
              <a:t>, ROOT/files/</a:t>
            </a:r>
            <a:r>
              <a:rPr lang="en-US" altLang="ko-KR" sz="1600" dirty="0" err="1"/>
              <a:t>upload_approvalG</a:t>
            </a:r>
            <a:r>
              <a:rPr lang="en-US" altLang="ko-KR" sz="1600" dirty="0"/>
              <a:t>/ </a:t>
            </a:r>
            <a:r>
              <a:rPr lang="ko-KR" altLang="en-US" sz="1600" dirty="0"/>
              <a:t>에 </a:t>
            </a:r>
            <a:r>
              <a:rPr lang="ko-KR" altLang="en-US" sz="1600" dirty="0" err="1"/>
              <a:t>로고파일과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심볼파일을</a:t>
            </a:r>
            <a:r>
              <a:rPr lang="ko-KR" altLang="en-US" sz="1600" dirty="0"/>
              <a:t> 위치시켜주고</a:t>
            </a:r>
            <a:r>
              <a:rPr lang="en-US" altLang="ko-KR" sz="1600" dirty="0"/>
              <a:t>, ezSimsaG_HWP.js </a:t>
            </a:r>
            <a:r>
              <a:rPr lang="ko-KR" altLang="en-US" sz="1600" dirty="0"/>
              <a:t>에서 </a:t>
            </a:r>
            <a:r>
              <a:rPr lang="en-US" altLang="ko-KR" sz="1600" dirty="0" err="1"/>
              <a:t>makeXML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함수내용</a:t>
            </a:r>
            <a:r>
              <a:rPr lang="ko-KR" altLang="en-US" sz="1600" dirty="0"/>
              <a:t> 중 </a:t>
            </a:r>
            <a:r>
              <a:rPr lang="en-US" altLang="ko-KR" sz="1600" dirty="0"/>
              <a:t>logo, </a:t>
            </a:r>
            <a:r>
              <a:rPr lang="en-US" altLang="ko-KR" sz="1600" dirty="0" err="1"/>
              <a:t>simbol</a:t>
            </a:r>
            <a:r>
              <a:rPr lang="ko-KR" altLang="en-US" sz="1600" dirty="0"/>
              <a:t> 처리 부분에서 </a:t>
            </a:r>
            <a:r>
              <a:rPr lang="en-US" altLang="ko-KR" sz="1600" dirty="0" err="1"/>
              <a:t>setDocumentElement</a:t>
            </a:r>
            <a:r>
              <a:rPr lang="ko-KR" altLang="en-US" sz="1600" dirty="0"/>
              <a:t>의 파일명을 실제 로고</a:t>
            </a:r>
            <a:r>
              <a:rPr lang="en-US" altLang="ko-KR" sz="1600" dirty="0"/>
              <a:t>, </a:t>
            </a:r>
            <a:r>
              <a:rPr lang="ko-KR" altLang="en-US" sz="1600" dirty="0"/>
              <a:t>심볼 파일과 맞춰준다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sz="1600" dirty="0"/>
              <a:t>한글기안기의 경우 </a:t>
            </a:r>
            <a:r>
              <a:rPr lang="en-US" altLang="ko-KR" sz="1600" dirty="0"/>
              <a:t>logo,</a:t>
            </a:r>
            <a:r>
              <a:rPr lang="ko-KR" altLang="en-US" sz="1600" dirty="0"/>
              <a:t> </a:t>
            </a:r>
            <a:r>
              <a:rPr lang="en-US" altLang="ko-KR" sz="1600" dirty="0"/>
              <a:t>symbol</a:t>
            </a:r>
            <a:r>
              <a:rPr lang="ko-KR" altLang="en-US" sz="1600" dirty="0"/>
              <a:t>이 없더라도 파일은 생성해주어야 함</a:t>
            </a:r>
            <a:r>
              <a:rPr lang="en-US" altLang="ko-KR" sz="1600" dirty="0"/>
              <a:t>. </a:t>
            </a:r>
            <a:r>
              <a:rPr lang="ko-KR" altLang="en-US" sz="1600" dirty="0"/>
              <a:t>해당 경로의 파일을 가져오는 로직이 있어 파일이 없는 경우 오류가 발생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r>
              <a:rPr lang="en-US" altLang="ko-KR" sz="1600" dirty="0">
                <a:solidFill>
                  <a:srgbClr val="FF0000"/>
                </a:solidFill>
              </a:rPr>
              <a:t>4. relay/</a:t>
            </a:r>
            <a:r>
              <a:rPr lang="en-US" altLang="ko-KR" sz="1600" dirty="0" err="1">
                <a:solidFill>
                  <a:srgbClr val="FF0000"/>
                </a:solidFill>
              </a:rPr>
              <a:t>dtd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ko-KR" altLang="en-US" sz="1600" dirty="0">
                <a:solidFill>
                  <a:srgbClr val="FF0000"/>
                </a:solidFill>
              </a:rPr>
              <a:t>에 </a:t>
            </a:r>
            <a:r>
              <a:rPr lang="en-US" altLang="ko-KR" sz="1600" dirty="0">
                <a:solidFill>
                  <a:srgbClr val="FF0000"/>
                </a:solidFill>
              </a:rPr>
              <a:t>sample.xml</a:t>
            </a:r>
            <a:r>
              <a:rPr lang="ko-KR" altLang="en-US" sz="1600" dirty="0">
                <a:solidFill>
                  <a:srgbClr val="FF0000"/>
                </a:solidFill>
              </a:rPr>
              <a:t>을 백업하고 빈 껍데기 </a:t>
            </a:r>
            <a:r>
              <a:rPr lang="en-US" altLang="ko-KR" sz="1600" dirty="0">
                <a:solidFill>
                  <a:srgbClr val="FF0000"/>
                </a:solidFill>
              </a:rPr>
              <a:t>sample.xml</a:t>
            </a:r>
            <a:r>
              <a:rPr lang="ko-KR" altLang="en-US" sz="1600" dirty="0">
                <a:solidFill>
                  <a:srgbClr val="FF0000"/>
                </a:solidFill>
              </a:rPr>
              <a:t>로 교체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빈 파일 생성하는 것이 아님</a:t>
            </a:r>
            <a:r>
              <a:rPr lang="en-US" altLang="ko-KR" sz="1600" dirty="0">
                <a:solidFill>
                  <a:srgbClr val="FF0000"/>
                </a:solidFill>
              </a:rPr>
              <a:t>!)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send-</a:t>
            </a:r>
            <a:r>
              <a:rPr lang="en-US" altLang="ko-KR" sz="1600" dirty="0" err="1">
                <a:solidFill>
                  <a:srgbClr val="FF0000"/>
                </a:solidFill>
              </a:rPr>
              <a:t>orgcode</a:t>
            </a:r>
            <a:r>
              <a:rPr lang="ko-KR" altLang="en-US" sz="1600" dirty="0">
                <a:solidFill>
                  <a:srgbClr val="FF0000"/>
                </a:solidFill>
              </a:rPr>
              <a:t>가 없으면 </a:t>
            </a:r>
            <a:r>
              <a:rPr lang="ko-KR" altLang="en-US" sz="1600" dirty="0" err="1">
                <a:solidFill>
                  <a:srgbClr val="FF0000"/>
                </a:solidFill>
              </a:rPr>
              <a:t>에러남</a:t>
            </a:r>
            <a:r>
              <a:rPr lang="en-US" altLang="ko-KR" sz="1600" dirty="0">
                <a:solidFill>
                  <a:srgbClr val="FF0000"/>
                </a:solidFill>
              </a:rPr>
              <a:t>. (</a:t>
            </a:r>
            <a:r>
              <a:rPr lang="ko-KR" altLang="en-US" sz="1600" dirty="0">
                <a:solidFill>
                  <a:srgbClr val="FF0000"/>
                </a:solidFill>
              </a:rPr>
              <a:t>유통 </a:t>
            </a:r>
            <a:r>
              <a:rPr lang="en-US" altLang="ko-KR" sz="1600" dirty="0">
                <a:solidFill>
                  <a:srgbClr val="FF0000"/>
                </a:solidFill>
              </a:rPr>
              <a:t>sample </a:t>
            </a:r>
            <a:r>
              <a:rPr lang="ko-KR" altLang="en-US" sz="1600" dirty="0">
                <a:solidFill>
                  <a:srgbClr val="FF0000"/>
                </a:solidFill>
              </a:rPr>
              <a:t>태그와 자사 </a:t>
            </a:r>
            <a:r>
              <a:rPr lang="en-US" altLang="ko-KR" sz="1600" dirty="0">
                <a:solidFill>
                  <a:srgbClr val="FF0000"/>
                </a:solidFill>
              </a:rPr>
              <a:t>flow</a:t>
            </a:r>
            <a:r>
              <a:rPr lang="ko-KR" altLang="en-US" sz="1600" dirty="0">
                <a:solidFill>
                  <a:srgbClr val="FF0000"/>
                </a:solidFill>
              </a:rPr>
              <a:t>상 태그명이 상이함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76" y="1734155"/>
            <a:ext cx="3999635" cy="238888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6C8D32A-9058-46B2-A624-BCF8C6DFB727}"/>
              </a:ext>
            </a:extLst>
          </p:cNvPr>
          <p:cNvSpPr/>
          <p:nvPr/>
        </p:nvSpPr>
        <p:spPr>
          <a:xfrm>
            <a:off x="4429125" y="3352800"/>
            <a:ext cx="1114425" cy="17145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683F88-A160-45D3-87FC-4A96F4BAE305}"/>
              </a:ext>
            </a:extLst>
          </p:cNvPr>
          <p:cNvSpPr/>
          <p:nvPr/>
        </p:nvSpPr>
        <p:spPr>
          <a:xfrm>
            <a:off x="4429125" y="2309812"/>
            <a:ext cx="1114425" cy="95726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52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0110" y="822965"/>
            <a:ext cx="104698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tenant_config</a:t>
            </a:r>
            <a:r>
              <a:rPr lang="en-US" altLang="ko-KR" sz="2000" dirty="0"/>
              <a:t> </a:t>
            </a:r>
            <a:r>
              <a:rPr lang="ko-KR" altLang="en-US" sz="2000" dirty="0"/>
              <a:t>설정</a:t>
            </a:r>
            <a:r>
              <a:rPr lang="en-US" altLang="ko-KR" sz="20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tbl_codelist</a:t>
            </a:r>
            <a:r>
              <a:rPr lang="ko-KR" altLang="en-US" sz="1600" dirty="0"/>
              <a:t>에서 유통양식 경로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A36, 003</a:t>
            </a:r>
            <a:r>
              <a:rPr lang="en-US" altLang="ko-KR" sz="1600" dirty="0"/>
              <a:t>)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웹기안기</a:t>
            </a:r>
            <a:r>
              <a:rPr lang="en-US" altLang="ko-KR" sz="1600" dirty="0"/>
              <a:t>/</a:t>
            </a:r>
            <a:r>
              <a:rPr lang="ko-KR" altLang="en-US" sz="1600" dirty="0"/>
              <a:t>한글기안기에 맞게 양식 경로 설정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ex) </a:t>
            </a:r>
            <a:r>
              <a:rPr lang="en-US" altLang="ko-KR" sz="1600" dirty="0" err="1"/>
              <a:t>hwp</a:t>
            </a:r>
            <a:r>
              <a:rPr lang="en-US" altLang="ko-KR" sz="1600" dirty="0"/>
              <a:t> = /files/</a:t>
            </a:r>
            <a:r>
              <a:rPr lang="en-US" altLang="ko-KR" sz="1600" dirty="0" err="1"/>
              <a:t>upload_approvalG</a:t>
            </a:r>
            <a:r>
              <a:rPr lang="en-US" altLang="ko-KR" sz="1600" dirty="0"/>
              <a:t>/form/relay001.hwp</a:t>
            </a:r>
          </a:p>
          <a:p>
            <a:pPr lvl="1"/>
            <a:r>
              <a:rPr lang="en-US" altLang="ko-KR" sz="1600" dirty="0"/>
              <a:t>     </a:t>
            </a:r>
            <a:r>
              <a:rPr lang="en-US" altLang="ko-KR" sz="1600" dirty="0" err="1"/>
              <a:t>mht</a:t>
            </a:r>
            <a:r>
              <a:rPr lang="en-US" altLang="ko-KR" sz="1600" dirty="0"/>
              <a:t> = /files/</a:t>
            </a:r>
            <a:r>
              <a:rPr lang="en-US" altLang="ko-KR" sz="1600" dirty="0" err="1"/>
              <a:t>upload_approvalG</a:t>
            </a:r>
            <a:r>
              <a:rPr lang="en-US" altLang="ko-KR" sz="1600" dirty="0"/>
              <a:t>/form/2016000001.mht</a:t>
            </a:r>
          </a:p>
          <a:p>
            <a:pPr lvl="1"/>
            <a:endParaRPr lang="en-US" altLang="ko-KR" sz="1600" dirty="0"/>
          </a:p>
          <a:p>
            <a:pPr marL="800100" lvl="1" indent="-342900">
              <a:buAutoNum type="arabicPeriod" startAt="2"/>
            </a:pP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tbl_tenant_config</a:t>
            </a:r>
            <a:r>
              <a:rPr lang="en-US" altLang="ko-KR" sz="1600" dirty="0"/>
              <a:t> </a:t>
            </a:r>
            <a:r>
              <a:rPr lang="ko-KR" altLang="en-US" sz="1600" dirty="0"/>
              <a:t>에서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UserInfo_RelayG_Type</a:t>
            </a:r>
            <a:r>
              <a:rPr lang="en-US" altLang="ko-KR" sz="1600" dirty="0"/>
              <a:t> = 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HWP</a:t>
            </a:r>
            <a:r>
              <a:rPr lang="en-US" altLang="ko-KR" sz="1600" dirty="0"/>
              <a:t> </a:t>
            </a:r>
            <a:r>
              <a:rPr lang="ko-KR" altLang="en-US" sz="1600" dirty="0"/>
              <a:t>또는 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MHT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7849" y="3131470"/>
            <a:ext cx="104698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그룹웨어</a:t>
            </a:r>
            <a:r>
              <a:rPr lang="en-US" altLang="ko-KR" sz="2000" dirty="0"/>
              <a:t> </a:t>
            </a:r>
            <a:r>
              <a:rPr lang="ko-KR" altLang="en-US" sz="2000" dirty="0"/>
              <a:t>설정</a:t>
            </a:r>
            <a:r>
              <a:rPr lang="en-US" altLang="ko-KR" sz="2000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sz="1600" dirty="0"/>
              <a:t>관리자 </a:t>
            </a:r>
            <a:r>
              <a:rPr lang="en-US" altLang="ko-KR" sz="1600" dirty="0"/>
              <a:t>- </a:t>
            </a:r>
            <a:r>
              <a:rPr lang="ko-KR" altLang="en-US" sz="1600" dirty="0"/>
              <a:t>조직도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외부문서를</a:t>
            </a:r>
            <a:r>
              <a:rPr lang="ko-KR" altLang="en-US" sz="1600" dirty="0"/>
              <a:t> 수신할 부서에 </a:t>
            </a:r>
            <a:r>
              <a:rPr lang="ko-KR" altLang="en-US" sz="1600" dirty="0" err="1"/>
              <a:t>기관코드를</a:t>
            </a:r>
            <a:r>
              <a:rPr lang="ko-KR" altLang="en-US" sz="1600" dirty="0"/>
              <a:t> 입력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tbl_codelist</a:t>
            </a:r>
            <a:r>
              <a:rPr lang="ko-KR" altLang="en-US" sz="1600" dirty="0"/>
              <a:t>에서 설정한 양식 경로에 양식을 </a:t>
            </a:r>
            <a:r>
              <a:rPr lang="ko-KR" altLang="en-US" sz="1600" dirty="0" err="1"/>
              <a:t>추가해야하는데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각 사이트에서 사용하고 있는 </a:t>
            </a:r>
            <a:r>
              <a:rPr lang="ko-KR" altLang="en-US" sz="1600" dirty="0" err="1"/>
              <a:t>대외발송</a:t>
            </a:r>
            <a:r>
              <a:rPr lang="ko-KR" altLang="en-US" sz="1600" dirty="0"/>
              <a:t> 양식을 수정해서 대외발송접수 양식</a:t>
            </a:r>
            <a:r>
              <a:rPr lang="en-US" altLang="ko-KR" sz="1600" dirty="0"/>
              <a:t>(</a:t>
            </a:r>
            <a:r>
              <a:rPr lang="ko-KR" altLang="en-US" sz="1600" dirty="0" err="1"/>
              <a:t>껍데기양식</a:t>
            </a:r>
            <a:r>
              <a:rPr lang="en-US" altLang="ko-KR" sz="1600" dirty="0"/>
              <a:t>)</a:t>
            </a:r>
            <a:r>
              <a:rPr lang="ko-KR" altLang="en-US" sz="1600" dirty="0"/>
              <a:t>으로 사용한다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716DC-EE7F-4F79-9C35-022294471D8D}"/>
              </a:ext>
            </a:extLst>
          </p:cNvPr>
          <p:cNvSpPr txBox="1"/>
          <p:nvPr/>
        </p:nvSpPr>
        <p:spPr>
          <a:xfrm>
            <a:off x="920364" y="4615701"/>
            <a:ext cx="104698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config.properties</a:t>
            </a:r>
            <a:r>
              <a:rPr lang="en-US" altLang="ko-KR" sz="2000" dirty="0"/>
              <a:t> </a:t>
            </a:r>
            <a:r>
              <a:rPr lang="ko-KR" altLang="en-US" sz="2000" dirty="0"/>
              <a:t>설정</a:t>
            </a:r>
            <a:r>
              <a:rPr lang="en-US" altLang="ko-KR" sz="20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config.companyNum</a:t>
            </a:r>
            <a:r>
              <a:rPr lang="en-US" altLang="ko-KR" sz="1600" dirty="0"/>
              <a:t> </a:t>
            </a:r>
            <a:r>
              <a:rPr lang="ko-KR" altLang="en-US" sz="1600" dirty="0"/>
              <a:t>에 </a:t>
            </a:r>
            <a:r>
              <a:rPr lang="ko-KR" altLang="en-US" sz="1600" dirty="0" err="1"/>
              <a:t>기관코드</a:t>
            </a:r>
            <a:r>
              <a:rPr lang="ko-KR" altLang="en-US" sz="1600" dirty="0"/>
              <a:t> 입력</a:t>
            </a:r>
            <a:r>
              <a:rPr lang="en-US" altLang="ko-KR" sz="1600" dirty="0"/>
              <a:t>.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sz="1600" dirty="0" err="1"/>
              <a:t>relay_root</a:t>
            </a:r>
            <a:r>
              <a:rPr lang="ko-KR" altLang="en-US" sz="1600" dirty="0"/>
              <a:t>만 </a:t>
            </a: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ezEKP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ezFlow</a:t>
            </a:r>
            <a:r>
              <a:rPr lang="en-US" altLang="ko-KR" sz="1600" dirty="0"/>
              <a:t>/</a:t>
            </a:r>
            <a:r>
              <a:rPr lang="en-US" altLang="ko-KR" sz="1600" dirty="0" err="1"/>
              <a:t>webapps</a:t>
            </a:r>
            <a:r>
              <a:rPr lang="en-US" altLang="ko-KR" sz="1600" dirty="0"/>
              <a:t>/ROOT (ROOT</a:t>
            </a:r>
            <a:r>
              <a:rPr lang="ko-KR" altLang="en-US" sz="1600" dirty="0"/>
              <a:t>가 있는 위치까지의 경로</a:t>
            </a:r>
            <a:r>
              <a:rPr lang="en-US" altLang="ko-KR" sz="1600" dirty="0"/>
              <a:t>)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sz="1600" dirty="0" err="1"/>
              <a:t>config.Run_RelayScheduler</a:t>
            </a:r>
            <a:r>
              <a:rPr lang="en-US" altLang="ko-KR" sz="1600" dirty="0"/>
              <a:t> = YES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Upload_relay.ROOT</a:t>
            </a:r>
            <a:r>
              <a:rPr lang="en-US" altLang="ko-KR" sz="1600" dirty="0"/>
              <a:t> = /relay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upload_relay.R_DocPath</a:t>
            </a:r>
            <a:r>
              <a:rPr lang="en-US" altLang="ko-KR" sz="1600" dirty="0"/>
              <a:t> = /files/</a:t>
            </a:r>
            <a:r>
              <a:rPr lang="en-US" altLang="ko-KR" sz="1600" dirty="0" err="1"/>
              <a:t>upload_approvalG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A562F4-D613-43EE-8C55-53990D2FA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743" y="1591904"/>
            <a:ext cx="1918063" cy="201998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42F048B-C5E6-4C80-975D-9C1952BB2550}"/>
              </a:ext>
            </a:extLst>
          </p:cNvPr>
          <p:cNvSpPr/>
          <p:nvPr/>
        </p:nvSpPr>
        <p:spPr>
          <a:xfrm>
            <a:off x="682509" y="270748"/>
            <a:ext cx="1524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설정 확인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541571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NFS </a:t>
            </a:r>
            <a:r>
              <a:rPr lang="ko-KR" altLang="en-US" dirty="0"/>
              <a:t>설정방법</a:t>
            </a:r>
            <a:endParaRPr lang="en-US" altLang="ko-KR" dirty="0"/>
          </a:p>
          <a:p>
            <a:r>
              <a:rPr lang="en-US" altLang="ko-KR" sz="1200" dirty="0"/>
              <a:t>NFS </a:t>
            </a:r>
            <a:r>
              <a:rPr lang="ko-KR" altLang="en-US" sz="1200" dirty="0" err="1"/>
              <a:t>마운트하기</a:t>
            </a:r>
            <a:r>
              <a:rPr lang="ko-KR" altLang="en-US" sz="1200" dirty="0"/>
              <a:t> 위한 방화벽</a:t>
            </a:r>
            <a:r>
              <a:rPr lang="en-US" altLang="ko-KR" sz="1200" dirty="0"/>
              <a:t>, </a:t>
            </a:r>
            <a:r>
              <a:rPr lang="ko-KR" altLang="en-US" sz="1200" dirty="0"/>
              <a:t>경로 확인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그룹웨어에서 </a:t>
            </a:r>
            <a:r>
              <a:rPr lang="en-US" altLang="ko-KR" sz="1200" dirty="0"/>
              <a:t>telnet</a:t>
            </a:r>
            <a:r>
              <a:rPr lang="ko-KR" altLang="en-US" sz="1200" dirty="0"/>
              <a:t>으로 </a:t>
            </a:r>
            <a:r>
              <a:rPr lang="en-US" altLang="ko-KR" sz="1200" dirty="0"/>
              <a:t>111, 2049, 20048 </a:t>
            </a:r>
            <a:r>
              <a:rPr lang="ko-KR" altLang="en-US" sz="1200" dirty="0"/>
              <a:t>포트 개방 확인</a:t>
            </a:r>
          </a:p>
          <a:p>
            <a:r>
              <a:rPr lang="ko-KR" altLang="en-US" sz="1200" dirty="0" err="1"/>
              <a:t>닫혀있으면</a:t>
            </a:r>
            <a:r>
              <a:rPr lang="en-US" altLang="ko-KR" sz="1200" dirty="0"/>
              <a:t>, source </a:t>
            </a:r>
            <a:r>
              <a:rPr lang="ko-KR" altLang="en-US" sz="1200" dirty="0"/>
              <a:t>그룹웨어 </a:t>
            </a:r>
            <a:r>
              <a:rPr lang="en-US" altLang="ko-KR" sz="1200" dirty="0"/>
              <a:t>destination </a:t>
            </a:r>
            <a:r>
              <a:rPr lang="ko-KR" altLang="en-US" sz="1200" dirty="0"/>
              <a:t>문서유통으로 </a:t>
            </a:r>
            <a:r>
              <a:rPr lang="ko-KR" altLang="en-US" sz="1200" dirty="0" err="1"/>
              <a:t>해당포트</a:t>
            </a:r>
            <a:r>
              <a:rPr lang="ko-KR" altLang="en-US" sz="1200" dirty="0"/>
              <a:t> 개방 요청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문서유통서버에서</a:t>
            </a:r>
            <a:endParaRPr lang="en-US" altLang="ko-KR" sz="1200" dirty="0"/>
          </a:p>
          <a:p>
            <a:r>
              <a:rPr lang="en-US" altLang="ko-KR" sz="1200" dirty="0"/>
              <a:t>rpm -</a:t>
            </a:r>
            <a:r>
              <a:rPr lang="en-US" altLang="ko-KR" sz="1200" dirty="0" err="1"/>
              <a:t>qa</a:t>
            </a:r>
            <a:r>
              <a:rPr lang="en-US" altLang="ko-KR" sz="1200" dirty="0"/>
              <a:t> </a:t>
            </a:r>
            <a:r>
              <a:rPr lang="en-US" altLang="ko-KR" sz="1200" dirty="0" err="1"/>
              <a:t>nfs-utils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설치유무</a:t>
            </a:r>
            <a:r>
              <a:rPr lang="ko-KR" altLang="en-US" sz="1200" dirty="0"/>
              <a:t> 검색</a:t>
            </a:r>
          </a:p>
          <a:p>
            <a:r>
              <a:rPr lang="ko-KR" altLang="en-US" sz="1200" dirty="0"/>
              <a:t>설치가 안되어 있으면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yum install -y </a:t>
            </a:r>
            <a:r>
              <a:rPr lang="en-US" altLang="ko-KR" sz="1200" dirty="0" err="1"/>
              <a:t>nfs-utils</a:t>
            </a:r>
            <a:r>
              <a:rPr lang="en-US" altLang="ko-KR" sz="1200" dirty="0"/>
              <a:t> </a:t>
            </a:r>
            <a:r>
              <a:rPr lang="ko-KR" altLang="en-US" sz="1200" dirty="0"/>
              <a:t>로 설치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/exports </a:t>
            </a:r>
            <a:r>
              <a:rPr lang="ko-KR" altLang="en-US" sz="1200" dirty="0"/>
              <a:t>를 편집하여 </a:t>
            </a:r>
            <a:r>
              <a:rPr lang="ko-KR" altLang="en-US" sz="1200" dirty="0" err="1"/>
              <a:t>옵션설정</a:t>
            </a:r>
            <a:endParaRPr lang="ko-KR" altLang="en-US" sz="1200" dirty="0"/>
          </a:p>
          <a:p>
            <a:r>
              <a:rPr lang="en-US" altLang="ko-KR" sz="1200" dirty="0"/>
              <a:t>ex) 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 10.4.204.*(</a:t>
            </a:r>
            <a:r>
              <a:rPr lang="en-US" altLang="ko-KR" sz="1200" dirty="0" err="1"/>
              <a:t>rw,sync,fsid</a:t>
            </a:r>
            <a:r>
              <a:rPr lang="en-US" altLang="ko-KR" sz="1200" dirty="0"/>
              <a:t>=0)</a:t>
            </a:r>
          </a:p>
          <a:p>
            <a:r>
              <a:rPr lang="en-US" altLang="ko-KR" sz="1200" dirty="0" err="1"/>
              <a:t>exportfs</a:t>
            </a:r>
            <a:r>
              <a:rPr lang="en-US" altLang="ko-KR" sz="1200" dirty="0"/>
              <a:t> -v </a:t>
            </a:r>
            <a:r>
              <a:rPr lang="ko-KR" altLang="en-US" sz="1200" dirty="0"/>
              <a:t>로 </a:t>
            </a:r>
            <a:endParaRPr lang="en-US" altLang="ko-KR" sz="1200" dirty="0"/>
          </a:p>
          <a:p>
            <a:r>
              <a:rPr lang="en-US" altLang="ko-KR" sz="1200" dirty="0" err="1"/>
              <a:t>exportfs</a:t>
            </a:r>
            <a:r>
              <a:rPr lang="en-US" altLang="ko-KR" sz="1200" dirty="0"/>
              <a:t> -r </a:t>
            </a:r>
            <a:r>
              <a:rPr lang="ko-KR" altLang="en-US" sz="1200" dirty="0"/>
              <a:t>로 갱신해야 </a:t>
            </a:r>
            <a:r>
              <a:rPr lang="en-US" altLang="ko-KR" sz="1200" dirty="0"/>
              <a:t>exports </a:t>
            </a:r>
            <a:r>
              <a:rPr lang="ko-KR" altLang="en-US" sz="1200" dirty="0"/>
              <a:t>파일 수정 내용이 반영됨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그룹웨어 서버에서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</a:t>
            </a:r>
            <a:r>
              <a:rPr lang="en-US" altLang="ko-KR" sz="1200" dirty="0" err="1"/>
              <a:t>fstab</a:t>
            </a:r>
            <a:r>
              <a:rPr lang="ko-KR" altLang="en-US" sz="1200" dirty="0"/>
              <a:t>에 마운트 위치 작성</a:t>
            </a:r>
          </a:p>
          <a:p>
            <a:r>
              <a:rPr lang="en-US" altLang="ko-KR" sz="1200" dirty="0"/>
              <a:t>ex) 172.16.1.5:/home/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	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	</a:t>
            </a:r>
            <a:r>
              <a:rPr lang="en-US" altLang="ko-KR" sz="1200" dirty="0" err="1"/>
              <a:t>nfs</a:t>
            </a:r>
            <a:r>
              <a:rPr lang="en-US" altLang="ko-KR" sz="1200" dirty="0"/>
              <a:t>	defaults	0 0</a:t>
            </a:r>
          </a:p>
          <a:p>
            <a:r>
              <a:rPr lang="en-US" altLang="ko-KR" sz="1200" dirty="0" err="1"/>
              <a:t>fstab</a:t>
            </a:r>
            <a:r>
              <a:rPr lang="en-US" altLang="ko-KR" sz="1200" dirty="0"/>
              <a:t> </a:t>
            </a:r>
            <a:r>
              <a:rPr lang="ko-KR" altLang="en-US" sz="1200" dirty="0"/>
              <a:t>작성 후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mount -t 172.16.1.5:/home/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 </a:t>
            </a:r>
            <a:r>
              <a:rPr lang="ko-KR" altLang="en-US" sz="1200" dirty="0"/>
              <a:t>를 하면 해당 경로를 찾아서 </a:t>
            </a:r>
            <a:r>
              <a:rPr lang="en-US" altLang="ko-KR" sz="1200" dirty="0"/>
              <a:t>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</a:t>
            </a:r>
            <a:r>
              <a:rPr lang="ko-KR" altLang="en-US" sz="1200" dirty="0"/>
              <a:t>에 마운트 됨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 err="1"/>
              <a:t>showmount</a:t>
            </a:r>
            <a:r>
              <a:rPr lang="ko-KR" altLang="en-US" sz="1200" dirty="0"/>
              <a:t>가 없다면 </a:t>
            </a:r>
            <a:r>
              <a:rPr lang="en-US" altLang="ko-KR" sz="1200" dirty="0"/>
              <a:t>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yum install </a:t>
            </a:r>
            <a:r>
              <a:rPr lang="en-US" altLang="ko-KR" sz="1200" b="0" i="0" dirty="0" err="1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showmount</a:t>
            </a:r>
            <a:r>
              <a:rPr lang="ko-KR" altLang="en-US" sz="12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설치</a:t>
            </a:r>
            <a:endParaRPr lang="en-US" altLang="ko-KR" sz="1200" dirty="0"/>
          </a:p>
          <a:p>
            <a:r>
              <a:rPr lang="en-US" altLang="ko-KR" sz="1200" dirty="0" err="1"/>
              <a:t>showmount</a:t>
            </a:r>
            <a:r>
              <a:rPr lang="en-US" altLang="ko-KR" sz="1200" dirty="0"/>
              <a:t> -e </a:t>
            </a:r>
            <a:r>
              <a:rPr lang="ko-KR" altLang="en-US" sz="1200" dirty="0"/>
              <a:t>로 마운트 유무를 확인할 수 있는데 </a:t>
            </a:r>
            <a:r>
              <a:rPr lang="en-US" altLang="ko-KR" sz="1200" dirty="0" err="1"/>
              <a:t>showmount</a:t>
            </a:r>
            <a:r>
              <a:rPr lang="ko-KR" altLang="en-US" sz="1200" dirty="0"/>
              <a:t>는 접근이 안돼도 마운트는 되기도 하므로 마운트 시도를 해봄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마운트 후 위에 </a:t>
            </a:r>
            <a:r>
              <a:rPr lang="en-US" altLang="ko-KR" sz="1200" dirty="0" err="1"/>
              <a:t>no_root_squash</a:t>
            </a:r>
            <a:r>
              <a:rPr lang="en-US" altLang="ko-KR" sz="1200" dirty="0"/>
              <a:t> </a:t>
            </a:r>
            <a:r>
              <a:rPr lang="ko-KR" altLang="en-US" sz="1200" dirty="0"/>
              <a:t>옵션이 없다면 접근은 못하는데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이때</a:t>
            </a:r>
            <a:r>
              <a:rPr lang="en-US" altLang="ko-KR" sz="1200" dirty="0"/>
              <a:t>, 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</a:t>
            </a:r>
            <a:r>
              <a:rPr lang="en-US" altLang="ko-KR" sz="1200" dirty="0" err="1"/>
              <a:t>passwd</a:t>
            </a:r>
            <a:r>
              <a:rPr lang="en-US" altLang="ko-KR" sz="1200" dirty="0"/>
              <a:t> </a:t>
            </a:r>
            <a:r>
              <a:rPr lang="ko-KR" altLang="en-US" sz="1200" dirty="0"/>
              <a:t>에서 </a:t>
            </a:r>
            <a:r>
              <a:rPr lang="ko-KR" altLang="en-US" sz="1200" dirty="0" err="1"/>
              <a:t>유통서버</a:t>
            </a:r>
            <a:r>
              <a:rPr lang="ko-KR" altLang="en-US" sz="1200" dirty="0"/>
              <a:t> 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 </a:t>
            </a:r>
            <a:r>
              <a:rPr lang="ko-KR" altLang="en-US" sz="1200" dirty="0"/>
              <a:t>사용자와 그룹웨어 서버의 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 </a:t>
            </a:r>
            <a:r>
              <a:rPr lang="ko-KR" altLang="en-US" sz="1200" dirty="0"/>
              <a:t>사용자의 </a:t>
            </a:r>
            <a:r>
              <a:rPr lang="en-US" altLang="ko-KR" sz="1200" dirty="0" err="1"/>
              <a:t>uid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gid</a:t>
            </a:r>
            <a:r>
              <a:rPr lang="ko-KR" altLang="en-US" sz="1200" dirty="0"/>
              <a:t>를 일치시켜주고</a:t>
            </a:r>
          </a:p>
          <a:p>
            <a:r>
              <a:rPr lang="ko-KR" altLang="en-US" sz="1200" dirty="0"/>
              <a:t>해당 사용자의 폴더 소유자를 바꿔주면 접근 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위와 같이 했는데도 안되면</a:t>
            </a:r>
            <a:r>
              <a:rPr lang="en-US" altLang="ko-KR" sz="1200" dirty="0"/>
              <a:t>, </a:t>
            </a:r>
            <a:r>
              <a:rPr lang="ko-KR" altLang="en-US" sz="1200" dirty="0"/>
              <a:t>그룹웨어에서 </a:t>
            </a:r>
            <a:r>
              <a:rPr lang="en-US" altLang="ko-KR" sz="1200" dirty="0"/>
              <a:t>telnet</a:t>
            </a:r>
            <a:r>
              <a:rPr lang="ko-KR" altLang="en-US" sz="1200" dirty="0"/>
              <a:t>으로 붙고 유통서버에서 </a:t>
            </a:r>
            <a:r>
              <a:rPr lang="en-US" altLang="ko-KR" sz="1200" dirty="0" err="1"/>
              <a:t>netstat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antp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r>
              <a:rPr lang="en-US" altLang="ko-KR" sz="1200" dirty="0"/>
              <a:t>2049, 20048, 111 </a:t>
            </a:r>
            <a:r>
              <a:rPr lang="ko-KR" altLang="en-US" sz="1200" dirty="0"/>
              <a:t>포트에 붙는</a:t>
            </a:r>
          </a:p>
          <a:p>
            <a:r>
              <a:rPr lang="en-US" altLang="ko-KR" sz="1200" dirty="0" err="1"/>
              <a:t>ip</a:t>
            </a:r>
            <a:r>
              <a:rPr lang="ko-KR" altLang="en-US" sz="1200" dirty="0"/>
              <a:t>주소가 어떤지 확인한다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이것을 확인해도 안될 경우</a:t>
            </a:r>
            <a:r>
              <a:rPr lang="en-US" altLang="ko-KR" sz="1200" dirty="0"/>
              <a:t>, /</a:t>
            </a:r>
            <a:r>
              <a:rPr lang="en-US" altLang="ko-KR" sz="1200" dirty="0" err="1"/>
              <a:t>var</a:t>
            </a:r>
            <a:r>
              <a:rPr lang="en-US" altLang="ko-KR" sz="1200" dirty="0"/>
              <a:t>/messages</a:t>
            </a:r>
            <a:r>
              <a:rPr lang="ko-KR" altLang="en-US" sz="1200" dirty="0"/>
              <a:t>의 로그를 확인한다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로그에서 </a:t>
            </a:r>
            <a:r>
              <a:rPr lang="en-US" altLang="ko-KR" sz="1200" dirty="0"/>
              <a:t>illegal port </a:t>
            </a:r>
            <a:r>
              <a:rPr lang="ko-KR" altLang="en-US" sz="1200" dirty="0"/>
              <a:t>라고 나올 경우</a:t>
            </a:r>
            <a:r>
              <a:rPr lang="en-US" altLang="ko-KR" sz="1200" dirty="0"/>
              <a:t>, 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/exports</a:t>
            </a:r>
            <a:r>
              <a:rPr lang="ko-KR" altLang="en-US" sz="1200" dirty="0"/>
              <a:t>의 옵션에 </a:t>
            </a:r>
            <a:r>
              <a:rPr lang="en-US" altLang="ko-KR" sz="1200" dirty="0"/>
              <a:t>insecure </a:t>
            </a:r>
            <a:r>
              <a:rPr lang="ko-KR" altLang="en-US" sz="1200" dirty="0"/>
              <a:t>옵션을 추가한다</a:t>
            </a:r>
            <a:r>
              <a:rPr lang="en-US" altLang="ko-KR" sz="1200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5898593"/>
            <a:ext cx="4857750" cy="2762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EF9D681-55BD-4099-8FF2-00EA2C593899}"/>
              </a:ext>
            </a:extLst>
          </p:cNvPr>
          <p:cNvSpPr/>
          <p:nvPr/>
        </p:nvSpPr>
        <p:spPr>
          <a:xfrm>
            <a:off x="682509" y="27074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기타설정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13075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1E6707-104E-4409-84D9-E68B27690E86}"/>
              </a:ext>
            </a:extLst>
          </p:cNvPr>
          <p:cNvSpPr txBox="1"/>
          <p:nvPr/>
        </p:nvSpPr>
        <p:spPr>
          <a:xfrm>
            <a:off x="948690" y="651510"/>
            <a:ext cx="1046988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문서유통 관련 오류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sz="1600" dirty="0"/>
              <a:t>유통 모듈 실행 후 </a:t>
            </a:r>
            <a:r>
              <a:rPr lang="en-US" altLang="ko-KR" sz="1600" dirty="0"/>
              <a:t>‘Match IP does not exist’ </a:t>
            </a:r>
            <a:r>
              <a:rPr lang="ko-KR" altLang="en-US" sz="1600" dirty="0"/>
              <a:t>관련 오류 발생시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내부망을 사용하는 서버인 경우 외부 </a:t>
            </a:r>
            <a:r>
              <a:rPr lang="en-US" altLang="ko-KR" sz="1600" dirty="0"/>
              <a:t>IP</a:t>
            </a:r>
            <a:r>
              <a:rPr lang="ko-KR" altLang="en-US" sz="1600" dirty="0"/>
              <a:t>와 내부 </a:t>
            </a:r>
            <a:r>
              <a:rPr lang="en-US" altLang="ko-KR" sz="1600" dirty="0"/>
              <a:t>IP</a:t>
            </a:r>
            <a:r>
              <a:rPr lang="ko-KR" altLang="en-US" sz="1600" dirty="0"/>
              <a:t>가 다름</a:t>
            </a:r>
            <a:r>
              <a:rPr lang="en-US" altLang="ko-KR" sz="1600" dirty="0"/>
              <a:t>. </a:t>
            </a:r>
          </a:p>
          <a:p>
            <a:pPr marL="800100" lvl="1" indent="-342900">
              <a:buAutoNum type="arabicPeriod"/>
            </a:pPr>
            <a:r>
              <a:rPr lang="ko-KR" altLang="en-US" sz="1600" dirty="0"/>
              <a:t>유통센터에 인증서를 신청할 때 </a:t>
            </a:r>
            <a:r>
              <a:rPr lang="en-US" altLang="ko-KR" sz="1600" dirty="0"/>
              <a:t>IP</a:t>
            </a:r>
            <a:r>
              <a:rPr lang="ko-KR" altLang="en-US" sz="1600" dirty="0"/>
              <a:t>를 외부 </a:t>
            </a:r>
            <a:r>
              <a:rPr lang="en-US" altLang="ko-KR" sz="1600" dirty="0"/>
              <a:t>IP </a:t>
            </a:r>
            <a:r>
              <a:rPr lang="ko-KR" altLang="en-US" sz="1600" dirty="0"/>
              <a:t>주소로 신청하게 되는데</a:t>
            </a:r>
            <a:r>
              <a:rPr lang="en-US" altLang="ko-KR" sz="1600" dirty="0"/>
              <a:t>,</a:t>
            </a:r>
            <a:r>
              <a:rPr lang="ko-KR" altLang="en-US" sz="1600" dirty="0"/>
              <a:t> 유통 모듈 실행시에는 내부 </a:t>
            </a:r>
            <a:r>
              <a:rPr lang="en-US" altLang="ko-KR" sz="1600" dirty="0"/>
              <a:t>IP</a:t>
            </a:r>
            <a:r>
              <a:rPr lang="ko-KR" altLang="en-US" sz="1600" dirty="0"/>
              <a:t>와 비교하게 되므로 </a:t>
            </a:r>
            <a:r>
              <a:rPr lang="en-US" altLang="ko-KR" sz="1600" dirty="0"/>
              <a:t>Match IP </a:t>
            </a:r>
            <a:r>
              <a:rPr lang="ko-KR" altLang="en-US" sz="1600" dirty="0"/>
              <a:t>관련 오류가 생김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외부 </a:t>
            </a:r>
            <a:r>
              <a:rPr lang="en-US" altLang="ko-KR" sz="1600" dirty="0"/>
              <a:t>IP</a:t>
            </a:r>
            <a:r>
              <a:rPr lang="ko-KR" altLang="en-US" sz="1600" dirty="0"/>
              <a:t>를 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/hosts</a:t>
            </a:r>
            <a:r>
              <a:rPr lang="ko-KR" altLang="en-US" sz="1600" dirty="0"/>
              <a:t> 파일에 호스트 </a:t>
            </a:r>
            <a:r>
              <a:rPr lang="ko-KR" altLang="en-US" sz="1600" dirty="0" err="1"/>
              <a:t>등록후</a:t>
            </a:r>
            <a:r>
              <a:rPr lang="ko-KR" altLang="en-US" sz="1600" dirty="0"/>
              <a:t> 서버를 실행하면 정상적으로 동작함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유통 모듈 실행 후 </a:t>
            </a:r>
            <a:r>
              <a:rPr lang="en-US" altLang="ko-KR" sz="1600" dirty="0" err="1"/>
              <a:t>receivetemp</a:t>
            </a:r>
            <a:r>
              <a:rPr lang="en-US" altLang="ko-KR" sz="1600" dirty="0"/>
              <a:t> </a:t>
            </a:r>
            <a:r>
              <a:rPr lang="ko-KR" altLang="en-US" sz="1600" dirty="0"/>
              <a:t>폴더에 문서가 있음에도 스케줄러에서 문서리스트를 가져오지 않을 때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서버가 다르고 모듈 실행 계정이 다른 경우 권한 이슈가 발생할 수 있음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예를 들어 그룹웨어 실행은 </a:t>
            </a:r>
            <a:r>
              <a:rPr lang="en-US" altLang="ko-KR" sz="1600" dirty="0" err="1"/>
              <a:t>jmocha</a:t>
            </a:r>
            <a:r>
              <a:rPr lang="ko-KR" altLang="en-US" sz="1600" dirty="0"/>
              <a:t>로 실행하지만</a:t>
            </a:r>
            <a:r>
              <a:rPr lang="en-US" altLang="ko-KR" sz="1600" dirty="0"/>
              <a:t> </a:t>
            </a:r>
            <a:r>
              <a:rPr lang="ko-KR" altLang="en-US" sz="1600" dirty="0"/>
              <a:t>유통 모듈 실행을 </a:t>
            </a:r>
            <a:r>
              <a:rPr lang="en-US" altLang="ko-KR" sz="1600" dirty="0" err="1"/>
              <a:t>jeus</a:t>
            </a:r>
            <a:r>
              <a:rPr lang="ko-KR" altLang="en-US" sz="1600" dirty="0"/>
              <a:t>로 하는 경우</a:t>
            </a:r>
            <a:r>
              <a:rPr lang="en-US" altLang="ko-KR" sz="1600" dirty="0"/>
              <a:t>,</a:t>
            </a:r>
            <a:r>
              <a:rPr lang="ko-KR" altLang="en-US" sz="1600" dirty="0"/>
              <a:t> 같은 권한그룹에 없으면 </a:t>
            </a:r>
            <a:r>
              <a:rPr lang="en-US" altLang="ko-KR" sz="1600" dirty="0"/>
              <a:t>Permission Denied</a:t>
            </a:r>
            <a:r>
              <a:rPr lang="ko-KR" altLang="en-US" sz="1600" dirty="0"/>
              <a:t>로 파일을 읽지 못함</a:t>
            </a:r>
            <a:r>
              <a:rPr lang="en-US" altLang="ko-KR" sz="1600" dirty="0"/>
              <a:t>(</a:t>
            </a:r>
            <a:r>
              <a:rPr lang="ko-KR" altLang="en-US" sz="1600" dirty="0"/>
              <a:t>그룹웨어에서는 로그</a:t>
            </a:r>
            <a:r>
              <a:rPr lang="en-US" altLang="ko-KR" sz="1600" dirty="0"/>
              <a:t>X)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Jmocha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jeus</a:t>
            </a:r>
            <a:r>
              <a:rPr lang="ko-KR" altLang="en-US" sz="1600" dirty="0"/>
              <a:t>계정을 같은 권한 그룹으로 설정해주고</a:t>
            </a:r>
            <a:r>
              <a:rPr lang="en-US" altLang="ko-KR" sz="1600" dirty="0"/>
              <a:t>,</a:t>
            </a:r>
            <a:r>
              <a:rPr lang="ko-KR" altLang="en-US" sz="1600" dirty="0"/>
              <a:t> 유통 모듈을 재시작 하면 정상적으로 동작함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경우에 따라 </a:t>
            </a:r>
            <a:r>
              <a:rPr lang="en-US" altLang="ko-KR" sz="1600" dirty="0"/>
              <a:t>relay </a:t>
            </a:r>
            <a:r>
              <a:rPr lang="ko-KR" altLang="en-US" sz="1600" dirty="0"/>
              <a:t>폴더의 </a:t>
            </a:r>
            <a:r>
              <a:rPr lang="en-US" altLang="ko-KR" sz="1600" dirty="0"/>
              <a:t>group </a:t>
            </a:r>
            <a:r>
              <a:rPr lang="ko-KR" altLang="en-US" sz="1600" dirty="0"/>
              <a:t>접근 권한</a:t>
            </a:r>
            <a:r>
              <a:rPr lang="en-US" altLang="ko-KR" sz="1600" dirty="0"/>
              <a:t>(</a:t>
            </a:r>
            <a:r>
              <a:rPr lang="ko-KR" altLang="en-US" sz="1600" dirty="0"/>
              <a:t>읽기</a:t>
            </a:r>
            <a:r>
              <a:rPr lang="en-US" altLang="ko-KR" sz="1600" dirty="0"/>
              <a:t>, </a:t>
            </a:r>
            <a:r>
              <a:rPr lang="ko-KR" altLang="en-US" sz="1600" dirty="0"/>
              <a:t>쓰기</a:t>
            </a:r>
            <a:r>
              <a:rPr lang="en-US" altLang="ko-KR" sz="1600" dirty="0"/>
              <a:t>, </a:t>
            </a:r>
            <a:r>
              <a:rPr lang="ko-KR" altLang="en-US" sz="1600" dirty="0"/>
              <a:t>실행</a:t>
            </a:r>
            <a:r>
              <a:rPr lang="en-US" altLang="ko-KR" sz="1600" dirty="0"/>
              <a:t>)</a:t>
            </a:r>
            <a:r>
              <a:rPr lang="ko-KR" altLang="en-US" sz="1600" dirty="0"/>
              <a:t>을 추가로 설정해주어야 함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A380D8-533C-4C91-AAEE-AED228E6D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498" y="1276050"/>
            <a:ext cx="7792537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89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문서유통 </a:t>
            </a:r>
            <a:r>
              <a:rPr lang="ko-KR" altLang="en-US" b="1" dirty="0" err="1"/>
              <a:t>운영참고</a:t>
            </a:r>
            <a:r>
              <a:rPr lang="ko-KR" altLang="en-US" b="1" dirty="0"/>
              <a:t> 사항</a:t>
            </a:r>
            <a:endParaRPr lang="en-US" altLang="ko-KR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1-1. </a:t>
            </a:r>
            <a:r>
              <a:rPr lang="ko-KR" altLang="en-US" sz="1600" dirty="0"/>
              <a:t>외부에서 접수된 문서에 대한 정보는 </a:t>
            </a:r>
            <a:r>
              <a:rPr lang="en-US" altLang="ko-KR" sz="1600" dirty="0" err="1"/>
              <a:t>tbl_recrelayinfo</a:t>
            </a:r>
            <a:r>
              <a:rPr lang="en-US" altLang="ko-KR" sz="1600" dirty="0"/>
              <a:t> </a:t>
            </a:r>
            <a:r>
              <a:rPr lang="ko-KR" altLang="en-US" sz="1600" dirty="0"/>
              <a:t>테이블을 확인한다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1-2. </a:t>
            </a:r>
            <a:r>
              <a:rPr lang="ko-KR" altLang="en-US" sz="1600" dirty="0"/>
              <a:t>외부로 발송하는 문서의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첨부파일과 문서의 용량을 합쳐서 </a:t>
            </a:r>
            <a:r>
              <a:rPr lang="en-US" altLang="ko-KR" sz="1600" dirty="0"/>
              <a:t>5</a:t>
            </a:r>
            <a:r>
              <a:rPr lang="ko-KR" altLang="en-US" sz="1600" dirty="0"/>
              <a:t>메가 바이트 이하가 되어야한다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1-3. </a:t>
            </a:r>
            <a:r>
              <a:rPr lang="ko-KR" altLang="en-US" sz="1600" dirty="0"/>
              <a:t>웹기안기의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운영 전에 표</a:t>
            </a:r>
            <a:r>
              <a:rPr lang="en-US" altLang="ko-KR" sz="1600" dirty="0"/>
              <a:t>, </a:t>
            </a:r>
            <a:r>
              <a:rPr lang="ko-KR" altLang="en-US" sz="1600" dirty="0"/>
              <a:t>폰트 스타일</a:t>
            </a:r>
            <a:r>
              <a:rPr lang="en-US" altLang="ko-KR" sz="1600" dirty="0"/>
              <a:t>, </a:t>
            </a:r>
            <a:r>
              <a:rPr lang="ko-KR" altLang="en-US" sz="1600" dirty="0"/>
              <a:t>외부 에디터에서 복사 붙여넣기 등으로 발송하고 발송한 문서를 접수테스트 하면서 오류를 수정한다</a:t>
            </a:r>
            <a:r>
              <a:rPr lang="en-US" altLang="ko-KR" sz="1600" dirty="0"/>
              <a:t>. </a:t>
            </a:r>
            <a:r>
              <a:rPr lang="ko-KR" altLang="en-US" sz="1600" dirty="0"/>
              <a:t>외부기관에서 보낸 문서를 접수하는 과정보다는 발송하는 부분에서 오류가 많이 발생한다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1-4. </a:t>
            </a:r>
            <a:r>
              <a:rPr lang="ko-KR" altLang="en-US" sz="1600" dirty="0"/>
              <a:t>해당 기관 관인 이미지를 적용하고 관인 크기나</a:t>
            </a:r>
            <a:r>
              <a:rPr lang="en-US" altLang="ko-KR" sz="1600" dirty="0"/>
              <a:t>, </a:t>
            </a:r>
            <a:r>
              <a:rPr lang="ko-KR" altLang="en-US" sz="1600" dirty="0"/>
              <a:t>위치를 조정한다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1-5 </a:t>
            </a:r>
            <a:r>
              <a:rPr lang="ko-KR" altLang="en-US" sz="1600" dirty="0"/>
              <a:t>아직 접수하지 않은 유통문서를 지우는 방법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&gt; DB</a:t>
            </a:r>
            <a:r>
              <a:rPr lang="ko-KR" altLang="en-US" sz="1600" dirty="0"/>
              <a:t>에서 </a:t>
            </a:r>
            <a:r>
              <a:rPr lang="en-US" altLang="ko-KR" sz="1600" dirty="0" err="1"/>
              <a:t>tbl_aprreceiptprocessinfo</a:t>
            </a:r>
            <a:r>
              <a:rPr lang="en-US" altLang="ko-KR" sz="1600" dirty="0"/>
              <a:t> </a:t>
            </a:r>
            <a:r>
              <a:rPr lang="ko-KR" altLang="en-US" sz="1600" dirty="0"/>
              <a:t>에서 해당 문서의 </a:t>
            </a:r>
            <a:r>
              <a:rPr lang="en-US" altLang="ko-KR" sz="1600" dirty="0"/>
              <a:t>DOCID</a:t>
            </a:r>
            <a:r>
              <a:rPr lang="ko-KR" altLang="en-US" sz="1600" dirty="0"/>
              <a:t>로 검색하고 해당 문서의 </a:t>
            </a:r>
            <a:r>
              <a:rPr lang="en-US" altLang="ko-KR" sz="1600" dirty="0"/>
              <a:t>APRSTATUS </a:t>
            </a:r>
            <a:r>
              <a:rPr lang="ko-KR" altLang="en-US" sz="1600" dirty="0"/>
              <a:t>컬럼을 </a:t>
            </a:r>
            <a:r>
              <a:rPr lang="en-US" altLang="ko-KR" sz="1600" dirty="0"/>
              <a:t>015(</a:t>
            </a:r>
            <a:r>
              <a:rPr lang="ko-KR" altLang="en-US" sz="1600" dirty="0"/>
              <a:t>회송</a:t>
            </a:r>
            <a:r>
              <a:rPr lang="en-US" altLang="ko-KR" sz="1600" dirty="0"/>
              <a:t>)</a:t>
            </a:r>
            <a:r>
              <a:rPr lang="ko-KR" altLang="en-US" sz="1600" dirty="0"/>
              <a:t>으로 바꾸고 부서수신함의 리스트를 보면 삭제버튼이 활성화 되어 지울 수 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618102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1-6. </a:t>
            </a:r>
            <a:r>
              <a:rPr lang="ko-KR" altLang="en-US" sz="1600" dirty="0"/>
              <a:t>접수 후</a:t>
            </a:r>
            <a:r>
              <a:rPr lang="en-US" altLang="ko-KR" sz="1600" dirty="0"/>
              <a:t> </a:t>
            </a:r>
            <a:r>
              <a:rPr lang="ko-KR" altLang="en-US" sz="1600" dirty="0"/>
              <a:t>로직</a:t>
            </a:r>
            <a:r>
              <a:rPr lang="en-US" altLang="ko-KR" sz="1600" dirty="0"/>
              <a:t>(</a:t>
            </a:r>
            <a:r>
              <a:rPr lang="ko-KR" altLang="en-US" sz="1600" dirty="0"/>
              <a:t>배부</a:t>
            </a:r>
            <a:r>
              <a:rPr lang="en-US" altLang="ko-KR" sz="1600" dirty="0"/>
              <a:t>, </a:t>
            </a:r>
            <a:r>
              <a:rPr lang="ko-KR" altLang="en-US" sz="1600" dirty="0"/>
              <a:t>지정</a:t>
            </a:r>
            <a:r>
              <a:rPr lang="en-US" altLang="ko-KR" sz="1600" dirty="0"/>
              <a:t>, </a:t>
            </a:r>
            <a:r>
              <a:rPr lang="ko-KR" altLang="en-US" sz="1600" dirty="0"/>
              <a:t>결재올림</a:t>
            </a:r>
            <a:r>
              <a:rPr lang="en-US" altLang="ko-KR" sz="1600" dirty="0"/>
              <a:t>) </a:t>
            </a:r>
            <a:r>
              <a:rPr lang="ko-KR" altLang="en-US" sz="1600" dirty="0"/>
              <a:t>등은 아직 보완되어야 할 부분이 많다</a:t>
            </a:r>
            <a:r>
              <a:rPr lang="en-US" altLang="ko-KR" sz="1600" dirty="0"/>
              <a:t>. </a:t>
            </a:r>
            <a:r>
              <a:rPr lang="ko-KR" altLang="en-US" sz="1600" dirty="0"/>
              <a:t>배부 후 로직</a:t>
            </a:r>
            <a:r>
              <a:rPr lang="en-US" altLang="ko-KR" sz="1600" dirty="0"/>
              <a:t>, </a:t>
            </a:r>
            <a:r>
              <a:rPr lang="ko-KR" altLang="en-US" sz="1600" dirty="0"/>
              <a:t>지정 후 로직</a:t>
            </a:r>
            <a:r>
              <a:rPr lang="en-US" altLang="ko-KR" sz="1600" dirty="0"/>
              <a:t>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1-7. </a:t>
            </a:r>
            <a:r>
              <a:rPr lang="ko-KR" altLang="en-US" sz="1600" dirty="0"/>
              <a:t>외부문서 접수용 양식의 필드는 </a:t>
            </a:r>
            <a:r>
              <a:rPr lang="en-US" altLang="ko-KR" sz="1600" dirty="0"/>
              <a:t>ezFlow4Java/</a:t>
            </a:r>
            <a:r>
              <a:rPr lang="en-US" altLang="ko-KR" sz="1600" dirty="0" err="1"/>
              <a:t>src</a:t>
            </a:r>
            <a:r>
              <a:rPr lang="en-US" altLang="ko-KR" sz="1600" dirty="0"/>
              <a:t>/main/</a:t>
            </a:r>
            <a:r>
              <a:rPr lang="en-US" altLang="ko-KR" sz="1600" dirty="0" err="1"/>
              <a:t>webapp</a:t>
            </a:r>
            <a:r>
              <a:rPr lang="en-US" altLang="ko-KR" sz="1600" dirty="0"/>
              <a:t>/files/</a:t>
            </a:r>
            <a:r>
              <a:rPr lang="en-US" altLang="ko-KR" sz="1600" dirty="0" err="1"/>
              <a:t>upload_approvalG</a:t>
            </a:r>
            <a:r>
              <a:rPr lang="en-US" altLang="ko-KR" sz="1600" dirty="0"/>
              <a:t>/form/2016000001.mht</a:t>
            </a:r>
            <a:r>
              <a:rPr lang="ko-KR" altLang="en-US" sz="1600" dirty="0"/>
              <a:t>를 참고한다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1-8. relay/data/</a:t>
            </a:r>
            <a:r>
              <a:rPr lang="ko-KR" altLang="en-US" sz="1600" dirty="0"/>
              <a:t> 하위 폴더 중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receiveComp</a:t>
            </a:r>
            <a:r>
              <a:rPr lang="ko-KR" altLang="en-US" sz="1600" dirty="0"/>
              <a:t>만 그룹웨어에서 관리하고 나머지 폴더는 문서유통 모듈이 관리하며 </a:t>
            </a:r>
            <a:r>
              <a:rPr lang="en-US" altLang="ko-KR" sz="1600" dirty="0"/>
              <a:t>15</a:t>
            </a:r>
            <a:r>
              <a:rPr lang="ko-KR" altLang="en-US" sz="1600" dirty="0"/>
              <a:t>일이 지난 문서는 삭제된다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1-9 </a:t>
            </a:r>
            <a:r>
              <a:rPr lang="ko-KR" altLang="en-US" sz="1600" dirty="0"/>
              <a:t>우리 그룹웨어에서 발송한 문서의 표나 글씨 스타일 등이 적용되지 않으면 </a:t>
            </a:r>
            <a:r>
              <a:rPr lang="ko-KR" altLang="en-US" sz="1600" dirty="0" err="1"/>
              <a:t>온나라</a:t>
            </a:r>
            <a:r>
              <a:rPr lang="ko-KR" altLang="en-US" sz="1600" dirty="0"/>
              <a:t> 시스템에서 발송된 외부문서의 </a:t>
            </a:r>
            <a:r>
              <a:rPr lang="en-US" altLang="ko-KR" sz="1600" dirty="0"/>
              <a:t>HTML</a:t>
            </a:r>
            <a:r>
              <a:rPr lang="ko-KR" altLang="en-US" sz="1600" dirty="0"/>
              <a:t>을 참고하여 비슷한 속성이나 스타일이 들어가도록 수정한다</a:t>
            </a:r>
            <a:r>
              <a:rPr lang="en-US" altLang="ko-KR" sz="16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AD2DE-E458-497D-80F1-47429E9A3F66}"/>
              </a:ext>
            </a:extLst>
          </p:cNvPr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문서유통 </a:t>
            </a:r>
            <a:r>
              <a:rPr lang="ko-KR" altLang="en-US" b="1" dirty="0" err="1"/>
              <a:t>운영참고</a:t>
            </a:r>
            <a:r>
              <a:rPr lang="ko-KR" altLang="en-US" b="1" dirty="0"/>
              <a:t> 사항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78418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87365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7819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2-1. </a:t>
            </a:r>
            <a:r>
              <a:rPr lang="ko-KR" altLang="en-US" sz="1600" dirty="0"/>
              <a:t>문서유통에 첨부할 수 있는 첨부파일 용량을 늘려줄 수 있냐는 문의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&gt; </a:t>
            </a:r>
            <a:r>
              <a:rPr lang="ko-KR" altLang="en-US" sz="1600" dirty="0"/>
              <a:t>유통센터에서 본문의 첨부파일을 합쳐 </a:t>
            </a:r>
            <a:r>
              <a:rPr lang="en-US" altLang="ko-KR" sz="1600" dirty="0"/>
              <a:t>5MB</a:t>
            </a:r>
            <a:r>
              <a:rPr lang="ko-KR" altLang="en-US" sz="1600" dirty="0"/>
              <a:t>로 제한하는 것을 권장한다고 안내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&gt; </a:t>
            </a:r>
            <a:r>
              <a:rPr lang="ko-KR" altLang="en-US" sz="1600" dirty="0" err="1"/>
              <a:t>문서유통모듈이</a:t>
            </a:r>
            <a:r>
              <a:rPr lang="ko-KR" altLang="en-US" sz="1600" dirty="0"/>
              <a:t> 만들어진 </a:t>
            </a:r>
            <a:r>
              <a:rPr lang="en-US" altLang="ko-KR" sz="1600" dirty="0"/>
              <a:t>XML</a:t>
            </a:r>
            <a:r>
              <a:rPr lang="ko-KR" altLang="en-US" sz="1600" dirty="0"/>
              <a:t>을 암호화하고 이것을 실행파일로 만들어서 전송하는데 이때 용량이 늘어난다고 함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2-2. </a:t>
            </a:r>
            <a:r>
              <a:rPr lang="ko-KR" altLang="en-US" sz="1600" dirty="0"/>
              <a:t>문서유통 모듈의 </a:t>
            </a:r>
            <a:r>
              <a:rPr lang="ko-KR" altLang="en-US" sz="1600" dirty="0" err="1"/>
              <a:t>수발신</a:t>
            </a:r>
            <a:r>
              <a:rPr lang="ko-KR" altLang="en-US" sz="1600" dirty="0"/>
              <a:t> 로그는 </a:t>
            </a:r>
            <a:r>
              <a:rPr lang="en-US" altLang="ko-KR" sz="1600" dirty="0"/>
              <a:t>relay/log/</a:t>
            </a:r>
            <a:r>
              <a:rPr lang="ko-KR" altLang="en-US" sz="1600" dirty="0"/>
              <a:t>에 있는 </a:t>
            </a:r>
            <a:r>
              <a:rPr lang="en-US" altLang="ko-KR" sz="1600" dirty="0"/>
              <a:t>receive, </a:t>
            </a:r>
            <a:r>
              <a:rPr lang="en-US" altLang="ko-KR" sz="1600" dirty="0" err="1"/>
              <a:t>receiveerr</a:t>
            </a:r>
            <a:r>
              <a:rPr lang="en-US" altLang="ko-KR" sz="1600" dirty="0"/>
              <a:t>, send, sender </a:t>
            </a:r>
            <a:r>
              <a:rPr lang="ko-KR" altLang="en-US" sz="1600" dirty="0"/>
              <a:t>폴더나 </a:t>
            </a:r>
            <a:r>
              <a:rPr lang="en-US" altLang="ko-KR" sz="1600" dirty="0"/>
              <a:t>relay/syslog/</a:t>
            </a:r>
            <a:r>
              <a:rPr lang="ko-KR" altLang="en-US" sz="1600" dirty="0"/>
              <a:t>에 있는 </a:t>
            </a:r>
            <a:r>
              <a:rPr lang="en-US" altLang="ko-KR" sz="1600" dirty="0"/>
              <a:t>send,</a:t>
            </a:r>
            <a:r>
              <a:rPr lang="ko-KR" altLang="en-US" sz="1600" dirty="0"/>
              <a:t> </a:t>
            </a:r>
            <a:r>
              <a:rPr lang="en-US" altLang="ko-KR" sz="1600" dirty="0" err="1"/>
              <a:t>recv</a:t>
            </a:r>
            <a:r>
              <a:rPr lang="ko-KR" altLang="en-US" sz="1600" dirty="0"/>
              <a:t> 폴더에서 확인할 수 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2-3. </a:t>
            </a:r>
            <a:r>
              <a:rPr lang="ko-KR" altLang="en-US" sz="1600" dirty="0"/>
              <a:t>수신된 문서의 본문이 확인되지 </a:t>
            </a:r>
            <a:r>
              <a:rPr lang="ko-KR" altLang="en-US" sz="1600" dirty="0" err="1"/>
              <a:t>않을때</a:t>
            </a:r>
            <a:r>
              <a:rPr lang="ko-KR" altLang="en-US" sz="1600" dirty="0"/>
              <a:t> </a:t>
            </a:r>
            <a:r>
              <a:rPr lang="en-US" altLang="ko-KR" sz="1600" dirty="0"/>
              <a:t>receive(Comp) </a:t>
            </a:r>
            <a:r>
              <a:rPr lang="ko-KR" altLang="en-US" sz="1600" dirty="0"/>
              <a:t>폴더와 </a:t>
            </a:r>
            <a:r>
              <a:rPr lang="en-US" altLang="ko-KR" sz="1600" dirty="0" err="1"/>
              <a:t>approvalG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ExDocXml</a:t>
            </a:r>
            <a:r>
              <a:rPr lang="en-US" altLang="ko-KR" sz="1600" dirty="0"/>
              <a:t> </a:t>
            </a:r>
            <a:r>
              <a:rPr lang="ko-KR" altLang="en-US" sz="1600" dirty="0"/>
              <a:t>폴더의 파일을 확인하거나 로그를 확인한다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2-4. </a:t>
            </a:r>
            <a:r>
              <a:rPr lang="ko-KR" altLang="en-US" sz="1600" dirty="0"/>
              <a:t>발송된 문서에 오류가 </a:t>
            </a:r>
            <a:r>
              <a:rPr lang="ko-KR" altLang="en-US" sz="1600" dirty="0" err="1"/>
              <a:t>있을시</a:t>
            </a:r>
            <a:r>
              <a:rPr lang="ko-KR" altLang="en-US" sz="1600" dirty="0"/>
              <a:t> </a:t>
            </a:r>
            <a:r>
              <a:rPr lang="en-US" altLang="ko-KR" sz="1600" dirty="0"/>
              <a:t>send(Comp) </a:t>
            </a:r>
            <a:r>
              <a:rPr lang="ko-KR" altLang="en-US" sz="1600" dirty="0"/>
              <a:t>폴더를 확인하거나 로그를 확인한다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2-5. </a:t>
            </a:r>
            <a:r>
              <a:rPr lang="ko-KR" altLang="en-US" sz="1600" dirty="0"/>
              <a:t>유통문서 송수신 </a:t>
            </a:r>
            <a:r>
              <a:rPr lang="en-US" altLang="ko-KR" sz="1600" dirty="0"/>
              <a:t>test</a:t>
            </a:r>
            <a:r>
              <a:rPr lang="ko-KR" altLang="en-US" sz="1600" dirty="0"/>
              <a:t>할 경우</a:t>
            </a:r>
            <a:r>
              <a:rPr lang="en-US" altLang="ko-KR" sz="1600" dirty="0"/>
              <a:t> receive(Comp) </a:t>
            </a:r>
            <a:r>
              <a:rPr lang="ko-KR" altLang="en-US" sz="1600" dirty="0"/>
              <a:t>의 파일명</a:t>
            </a:r>
            <a:r>
              <a:rPr lang="en-US" altLang="ko-KR" sz="1600" dirty="0"/>
              <a:t>,date</a:t>
            </a:r>
            <a:r>
              <a:rPr lang="ko-KR" altLang="en-US" sz="1600" dirty="0"/>
              <a:t>에서 시간부분을 변경하고 </a:t>
            </a:r>
            <a:r>
              <a:rPr lang="en-US" altLang="ko-KR" sz="1600" dirty="0" err="1"/>
              <a:t>receiveTemp</a:t>
            </a:r>
            <a:r>
              <a:rPr lang="en-US" altLang="ko-KR" sz="1600" dirty="0"/>
              <a:t> </a:t>
            </a:r>
            <a:r>
              <a:rPr lang="ko-KR" altLang="en-US" sz="1600" dirty="0"/>
              <a:t>폴더에 이동하면 모듈이 다시 문서를 수신한다</a:t>
            </a:r>
            <a:r>
              <a:rPr lang="en-US" altLang="ko-KR" sz="1600" dirty="0"/>
              <a:t>.(</a:t>
            </a:r>
            <a:r>
              <a:rPr lang="ko-KR" altLang="en-US" sz="1600" dirty="0"/>
              <a:t>송신도 동일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2-6. </a:t>
            </a:r>
            <a:r>
              <a:rPr lang="en-US" altLang="ko-KR" sz="1600" dirty="0" err="1"/>
              <a:t>mht</a:t>
            </a:r>
            <a:r>
              <a:rPr lang="ko-KR" altLang="en-US" sz="1600" dirty="0"/>
              <a:t>가 정상적으로 생성되지 않을 경우 유통문서 </a:t>
            </a:r>
            <a:r>
              <a:rPr lang="en-US" altLang="ko-KR" sz="1600" dirty="0"/>
              <a:t>id</a:t>
            </a:r>
            <a:r>
              <a:rPr lang="ko-KR" altLang="en-US" sz="1600" dirty="0"/>
              <a:t>의 </a:t>
            </a:r>
            <a:r>
              <a:rPr lang="en-US" altLang="ko-KR" sz="1600" dirty="0" err="1"/>
              <a:t>href</a:t>
            </a:r>
            <a:r>
              <a:rPr lang="en-US" altLang="ko-KR" sz="1600" dirty="0"/>
              <a:t> </a:t>
            </a:r>
            <a:r>
              <a:rPr lang="ko-KR" altLang="en-US" sz="1600" dirty="0"/>
              <a:t>를 삭제한 후 다시 문서를 열면 다시 문서가 생성된다</a:t>
            </a:r>
            <a:r>
              <a:rPr lang="en-US" altLang="ko-KR" sz="16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F0E0E-2656-4178-B7EE-03A27B7C13D1}"/>
              </a:ext>
            </a:extLst>
          </p:cNvPr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문서유통 </a:t>
            </a:r>
            <a:r>
              <a:rPr lang="ko-KR" altLang="en-US" b="1" dirty="0" err="1"/>
              <a:t>운영참고</a:t>
            </a:r>
            <a:r>
              <a:rPr lang="ko-KR" altLang="en-US" b="1" dirty="0"/>
              <a:t> 사항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110205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FF234624-0DC0-4C43-AAF0-2F032C115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842" y="2264249"/>
            <a:ext cx="1063985" cy="954077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15AFAB-7C07-4469-8ABD-34E90E03740A}"/>
              </a:ext>
            </a:extLst>
          </p:cNvPr>
          <p:cNvSpPr/>
          <p:nvPr/>
        </p:nvSpPr>
        <p:spPr>
          <a:xfrm rot="2473335">
            <a:off x="2156679" y="3708762"/>
            <a:ext cx="478972" cy="4180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97BA194-C731-4D3C-9E2A-185859B96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89" y="3062484"/>
            <a:ext cx="818334" cy="77936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088DDC-5634-473B-9184-AE038A915A6F}"/>
              </a:ext>
            </a:extLst>
          </p:cNvPr>
          <p:cNvSpPr/>
          <p:nvPr/>
        </p:nvSpPr>
        <p:spPr>
          <a:xfrm>
            <a:off x="65985" y="3827881"/>
            <a:ext cx="2640466" cy="13619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receivetemp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ko-KR" sz="1200" dirty="0"/>
              <a:t>※ </a:t>
            </a:r>
            <a:r>
              <a:rPr lang="ko-KR" altLang="en-US" sz="1200" dirty="0"/>
              <a:t>파일명 형식 </a:t>
            </a:r>
            <a:r>
              <a:rPr lang="en-US" altLang="ko-KR" sz="1200" dirty="0"/>
              <a:t>: </a:t>
            </a:r>
          </a:p>
          <a:p>
            <a:r>
              <a:rPr lang="en-US" altLang="ko-KR" sz="1050" dirty="0"/>
              <a:t>1013050S9070002021011513410199.xml</a:t>
            </a:r>
          </a:p>
          <a:p>
            <a:r>
              <a:rPr lang="en-US" altLang="ko-KR" sz="1200" dirty="0"/>
              <a:t>1013050 : </a:t>
            </a:r>
            <a:r>
              <a:rPr lang="ko-KR" altLang="en-US" sz="1200" dirty="0" err="1"/>
              <a:t>송신처</a:t>
            </a:r>
            <a:r>
              <a:rPr lang="ko-KR" altLang="en-US" sz="1200" dirty="0"/>
              <a:t> 코드</a:t>
            </a:r>
            <a:endParaRPr lang="en-US" altLang="ko-KR" sz="1200" dirty="0"/>
          </a:p>
          <a:p>
            <a:r>
              <a:rPr lang="en-US" altLang="ko-KR" sz="1200" dirty="0"/>
              <a:t>S907000 : </a:t>
            </a:r>
            <a:r>
              <a:rPr lang="ko-KR" altLang="en-US" sz="1200" dirty="0"/>
              <a:t>수신처 코드</a:t>
            </a:r>
            <a:endParaRPr lang="en-US" altLang="ko-KR" sz="1200" dirty="0"/>
          </a:p>
          <a:p>
            <a:r>
              <a:rPr lang="en-US" altLang="ko-KR" sz="1200" dirty="0"/>
              <a:t>20210115134101 : </a:t>
            </a:r>
            <a:r>
              <a:rPr lang="ko-KR" altLang="en-US" sz="1200" dirty="0"/>
              <a:t>시간</a:t>
            </a:r>
            <a:endParaRPr lang="en-US" altLang="ko-KR" sz="1200" dirty="0"/>
          </a:p>
          <a:p>
            <a:r>
              <a:rPr lang="en-US" altLang="ko-KR" sz="1200" dirty="0"/>
              <a:t>99 : </a:t>
            </a:r>
            <a:r>
              <a:rPr lang="ko-KR" altLang="en-US" sz="1200" dirty="0"/>
              <a:t>임의의 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6FFDF43-9151-4CCF-A97B-E05BB1EFEF27}"/>
              </a:ext>
            </a:extLst>
          </p:cNvPr>
          <p:cNvSpPr/>
          <p:nvPr/>
        </p:nvSpPr>
        <p:spPr>
          <a:xfrm>
            <a:off x="181927" y="1790698"/>
            <a:ext cx="11628384" cy="37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유통센터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449E3292-C7E8-4CFC-B4A7-577FD9A49C7A}"/>
              </a:ext>
            </a:extLst>
          </p:cNvPr>
          <p:cNvSpPr/>
          <p:nvPr/>
        </p:nvSpPr>
        <p:spPr>
          <a:xfrm rot="5400000">
            <a:off x="801333" y="2413453"/>
            <a:ext cx="707599" cy="4180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F91A70-4807-47D0-87B2-5A125ACC5207}"/>
              </a:ext>
            </a:extLst>
          </p:cNvPr>
          <p:cNvSpPr/>
          <p:nvPr/>
        </p:nvSpPr>
        <p:spPr>
          <a:xfrm>
            <a:off x="9378089" y="4109539"/>
            <a:ext cx="2640466" cy="1915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sendtemp</a:t>
            </a:r>
            <a:r>
              <a:rPr lang="en-US" altLang="ko-KR" sz="1200" dirty="0">
                <a:solidFill>
                  <a:srgbClr val="FF0000"/>
                </a:solidFill>
              </a:rPr>
              <a:t> -&gt; send</a:t>
            </a:r>
          </a:p>
          <a:p>
            <a:r>
              <a:rPr lang="en-US" altLang="ko-KR" sz="1200" dirty="0"/>
              <a:t>ACK code </a:t>
            </a:r>
            <a:r>
              <a:rPr lang="ko-KR" altLang="en-US" sz="1200" dirty="0"/>
              <a:t>전송용 </a:t>
            </a:r>
            <a:r>
              <a:rPr lang="en-US" altLang="ko-KR" sz="1200" dirty="0"/>
              <a:t>xml </a:t>
            </a:r>
            <a:r>
              <a:rPr lang="ko-KR" altLang="en-US" sz="1200" dirty="0"/>
              <a:t>파일 생성</a:t>
            </a:r>
            <a:r>
              <a:rPr lang="en-US" altLang="ko-KR" sz="1200" dirty="0"/>
              <a:t>/</a:t>
            </a:r>
          </a:p>
          <a:p>
            <a:r>
              <a:rPr lang="ko-KR" altLang="en-US" sz="1200" dirty="0"/>
              <a:t>송신 문서 전송</a:t>
            </a:r>
            <a:endParaRPr lang="en-US" altLang="ko-KR" sz="1200" dirty="0"/>
          </a:p>
          <a:p>
            <a:r>
              <a:rPr lang="en-US" altLang="ko-KR" sz="1200" dirty="0"/>
              <a:t>※ </a:t>
            </a:r>
            <a:r>
              <a:rPr lang="ko-KR" altLang="en-US" sz="1200" dirty="0"/>
              <a:t>파일명 형식 </a:t>
            </a:r>
            <a:r>
              <a:rPr lang="en-US" altLang="ko-KR" sz="1200" dirty="0"/>
              <a:t>: </a:t>
            </a:r>
          </a:p>
          <a:p>
            <a:r>
              <a:rPr lang="en-US" altLang="ko-KR" sz="1050" dirty="0"/>
              <a:t>1013050S9070002021011513410199.xml</a:t>
            </a:r>
          </a:p>
          <a:p>
            <a:r>
              <a:rPr lang="en-US" altLang="ko-KR" sz="1200" dirty="0"/>
              <a:t>1013050 : </a:t>
            </a:r>
            <a:r>
              <a:rPr lang="ko-KR" altLang="en-US" sz="1200" dirty="0" err="1"/>
              <a:t>송신처</a:t>
            </a:r>
            <a:r>
              <a:rPr lang="ko-KR" altLang="en-US" sz="1200" dirty="0"/>
              <a:t> 코드</a:t>
            </a:r>
            <a:endParaRPr lang="en-US" altLang="ko-KR" sz="1200" dirty="0"/>
          </a:p>
          <a:p>
            <a:r>
              <a:rPr lang="en-US" altLang="ko-KR" sz="1200" dirty="0"/>
              <a:t>S907000 : </a:t>
            </a:r>
            <a:r>
              <a:rPr lang="ko-KR" altLang="en-US" sz="1200" dirty="0"/>
              <a:t>수신처 코드</a:t>
            </a:r>
            <a:endParaRPr lang="en-US" altLang="ko-KR" sz="1200" dirty="0"/>
          </a:p>
          <a:p>
            <a:r>
              <a:rPr lang="en-US" altLang="ko-KR" sz="1200" dirty="0"/>
              <a:t>20210115134101 : </a:t>
            </a:r>
            <a:r>
              <a:rPr lang="ko-KR" altLang="en-US" sz="1200" dirty="0"/>
              <a:t>시간</a:t>
            </a:r>
            <a:endParaRPr lang="en-US" altLang="ko-KR" sz="1200" dirty="0"/>
          </a:p>
          <a:p>
            <a:r>
              <a:rPr lang="en-US" altLang="ko-KR" sz="1200" dirty="0"/>
              <a:t>99 : </a:t>
            </a:r>
            <a:r>
              <a:rPr lang="ko-KR" altLang="en-US" sz="1200" dirty="0"/>
              <a:t>임의의 수</a:t>
            </a:r>
            <a:endParaRPr lang="en-US" altLang="ko-KR" sz="1200" dirty="0"/>
          </a:p>
          <a:p>
            <a:r>
              <a:rPr lang="en-US" altLang="ko-KR" sz="1200" dirty="0"/>
              <a:t>&lt;doc-type&gt; type = ACK code </a:t>
            </a:r>
            <a:r>
              <a:rPr lang="ko-KR" altLang="en-US" sz="1200" dirty="0"/>
              <a:t>전송</a:t>
            </a:r>
            <a:endParaRPr lang="ko-KR" altLang="en-US" sz="1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DFA7BC1-4A14-47DB-AB7D-183E7D3D5F03}"/>
              </a:ext>
            </a:extLst>
          </p:cNvPr>
          <p:cNvSpPr/>
          <p:nvPr/>
        </p:nvSpPr>
        <p:spPr>
          <a:xfrm>
            <a:off x="181926" y="559070"/>
            <a:ext cx="11628384" cy="367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송</a:t>
            </a:r>
            <a:r>
              <a:rPr lang="en-US" altLang="ko-KR" dirty="0"/>
              <a:t>/</a:t>
            </a:r>
            <a:r>
              <a:rPr lang="ko-KR" altLang="en-US" dirty="0"/>
              <a:t>수신처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F002D1F-173E-4645-8ED6-9356EE9CEEAC}"/>
              </a:ext>
            </a:extLst>
          </p:cNvPr>
          <p:cNvSpPr/>
          <p:nvPr/>
        </p:nvSpPr>
        <p:spPr>
          <a:xfrm>
            <a:off x="-5417" y="5107944"/>
            <a:ext cx="255285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ACK code : </a:t>
            </a:r>
            <a:r>
              <a:rPr lang="en-US" altLang="ko-KR" sz="1000" dirty="0"/>
              <a:t>                           </a:t>
            </a:r>
          </a:p>
          <a:p>
            <a:r>
              <a:rPr lang="en-US" altLang="ko-KR" sz="1000" dirty="0"/>
              <a:t>"S" </a:t>
            </a:r>
            <a:r>
              <a:rPr lang="ko-KR" altLang="en-US" sz="1000" dirty="0"/>
              <a:t>전송                       </a:t>
            </a:r>
          </a:p>
          <a:p>
            <a:r>
              <a:rPr lang="en-US" altLang="ko-KR" sz="1000" dirty="0"/>
              <a:t>“S” </a:t>
            </a:r>
            <a:r>
              <a:rPr lang="ko-KR" altLang="en-US" sz="1000" dirty="0"/>
              <a:t>재전송                    </a:t>
            </a:r>
          </a:p>
          <a:p>
            <a:r>
              <a:rPr lang="en-US" altLang="ko-KR" sz="1000" dirty="0"/>
              <a:t>“E” </a:t>
            </a:r>
            <a:r>
              <a:rPr lang="ko-KR" altLang="en-US" sz="1000" dirty="0"/>
              <a:t>실패                       </a:t>
            </a:r>
          </a:p>
          <a:p>
            <a:r>
              <a:rPr lang="en-US" altLang="ko-KR" sz="1000" dirty="0"/>
              <a:t>”V” </a:t>
            </a:r>
            <a:r>
              <a:rPr lang="ko-KR" altLang="en-US" sz="1000" dirty="0"/>
              <a:t>도달 </a:t>
            </a:r>
            <a:r>
              <a:rPr lang="en-US" altLang="ko-KR" sz="1000" dirty="0"/>
              <a:t>: temp</a:t>
            </a:r>
            <a:r>
              <a:rPr lang="ko-KR" altLang="en-US" sz="1000" dirty="0"/>
              <a:t>에 </a:t>
            </a:r>
            <a:r>
              <a:rPr lang="en-US" altLang="ko-KR" sz="1000" dirty="0"/>
              <a:t>xml </a:t>
            </a:r>
            <a:r>
              <a:rPr lang="ko-KR" altLang="en-US" sz="1000" dirty="0"/>
              <a:t>저장 후    </a:t>
            </a:r>
          </a:p>
          <a:p>
            <a:r>
              <a:rPr lang="en-US" altLang="ko-KR" sz="1000" dirty="0"/>
              <a:t>”R” </a:t>
            </a:r>
            <a:r>
              <a:rPr lang="ko-KR" altLang="en-US" sz="1000" dirty="0"/>
              <a:t>수신 </a:t>
            </a:r>
            <a:r>
              <a:rPr lang="en-US" altLang="ko-KR" sz="1000" dirty="0"/>
              <a:t>: temp - &gt; receive </a:t>
            </a:r>
          </a:p>
          <a:p>
            <a:r>
              <a:rPr lang="en-US" altLang="ko-KR" sz="1000" dirty="0"/>
              <a:t>“I” </a:t>
            </a:r>
            <a:r>
              <a:rPr lang="ko-KR" altLang="en-US" sz="1000" dirty="0"/>
              <a:t>접수 </a:t>
            </a:r>
            <a:r>
              <a:rPr lang="en-US" altLang="ko-KR" sz="1000" dirty="0"/>
              <a:t>: </a:t>
            </a:r>
            <a:r>
              <a:rPr lang="ko-KR" altLang="en-US" sz="1000" dirty="0"/>
              <a:t>문서확인 후            </a:t>
            </a:r>
          </a:p>
          <a:p>
            <a:r>
              <a:rPr lang="en-US" altLang="ko-KR" sz="1000" dirty="0"/>
              <a:t>"T" </a:t>
            </a:r>
            <a:r>
              <a:rPr lang="ko-KR" altLang="en-US" sz="1000" dirty="0"/>
              <a:t>접수 부서 및 접수자 </a:t>
            </a:r>
            <a:r>
              <a:rPr lang="en-US" altLang="ko-KR" sz="1000" dirty="0"/>
              <a:t>Update     </a:t>
            </a:r>
          </a:p>
          <a:p>
            <a:r>
              <a:rPr lang="en-US" altLang="ko-KR" sz="1000" dirty="0"/>
              <a:t>"T" </a:t>
            </a:r>
            <a:r>
              <a:rPr lang="ko-KR" altLang="en-US" sz="1000" dirty="0" err="1"/>
              <a:t>재발송</a:t>
            </a:r>
            <a:r>
              <a:rPr lang="ko-KR" altLang="en-US" sz="1000" dirty="0"/>
              <a:t> 요청 </a:t>
            </a:r>
            <a:r>
              <a:rPr lang="en-US" altLang="ko-KR" sz="1000" dirty="0"/>
              <a:t>(</a:t>
            </a:r>
            <a:r>
              <a:rPr lang="ko-KR" altLang="en-US" sz="1000" dirty="0"/>
              <a:t>화면상에는 </a:t>
            </a:r>
            <a:r>
              <a:rPr lang="ko-KR" altLang="en-US" sz="1000" dirty="0" err="1"/>
              <a:t>재발송</a:t>
            </a:r>
            <a:r>
              <a:rPr lang="ko-KR" altLang="en-US" sz="1000" dirty="0"/>
              <a:t> 대기</a:t>
            </a:r>
            <a:r>
              <a:rPr lang="en-US" altLang="ko-KR" sz="1000" dirty="0"/>
              <a:t>)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***return</a:t>
            </a:r>
            <a:r>
              <a:rPr lang="ko-KR" altLang="en-US" sz="1000" dirty="0">
                <a:solidFill>
                  <a:srgbClr val="FF0000"/>
                </a:solidFill>
              </a:rPr>
              <a:t>와 </a:t>
            </a:r>
            <a:r>
              <a:rPr lang="en-US" altLang="ko-KR" sz="1000" dirty="0">
                <a:solidFill>
                  <a:srgbClr val="FF0000"/>
                </a:solidFill>
              </a:rPr>
              <a:t>req-resend, send </a:t>
            </a:r>
            <a:r>
              <a:rPr lang="ko-KR" altLang="en-US" sz="1000" dirty="0">
                <a:solidFill>
                  <a:srgbClr val="FF0000"/>
                </a:solidFill>
              </a:rPr>
              <a:t>와 </a:t>
            </a:r>
            <a:r>
              <a:rPr lang="en-US" altLang="ko-KR" sz="1000" dirty="0">
                <a:solidFill>
                  <a:srgbClr val="FF0000"/>
                </a:solidFill>
              </a:rPr>
              <a:t>resend </a:t>
            </a:r>
            <a:r>
              <a:rPr lang="ko-KR" altLang="en-US" sz="1000" dirty="0">
                <a:solidFill>
                  <a:srgbClr val="FF0000"/>
                </a:solidFill>
              </a:rPr>
              <a:t>코드 재정의 필요</a:t>
            </a:r>
            <a:endParaRPr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947D971C-18BC-4525-B80C-06B2B57A1317}"/>
              </a:ext>
            </a:extLst>
          </p:cNvPr>
          <p:cNvSpPr/>
          <p:nvPr/>
        </p:nvSpPr>
        <p:spPr>
          <a:xfrm rot="19045568">
            <a:off x="9030751" y="3687684"/>
            <a:ext cx="478972" cy="4180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2866C70-EB7B-43A5-B016-3328C4A1B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290" y="3062484"/>
            <a:ext cx="818334" cy="779366"/>
          </a:xfrm>
          <a:prstGeom prst="rect">
            <a:avLst/>
          </a:prstGeom>
        </p:spPr>
      </p:pic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BF796E25-CB00-4A59-8BE3-7135598DCE10}"/>
              </a:ext>
            </a:extLst>
          </p:cNvPr>
          <p:cNvSpPr/>
          <p:nvPr/>
        </p:nvSpPr>
        <p:spPr>
          <a:xfrm rot="10800000">
            <a:off x="1471748" y="2264250"/>
            <a:ext cx="418012" cy="7120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8AB4877-D85C-46CC-8EC1-C7652FE1EED6}"/>
              </a:ext>
            </a:extLst>
          </p:cNvPr>
          <p:cNvSpPr/>
          <p:nvPr/>
        </p:nvSpPr>
        <p:spPr>
          <a:xfrm>
            <a:off x="1889760" y="2570901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V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C1B9AB1-DBA3-482E-BC3B-7C0FB0BBC1E1}"/>
              </a:ext>
            </a:extLst>
          </p:cNvPr>
          <p:cNvGrpSpPr/>
          <p:nvPr/>
        </p:nvGrpSpPr>
        <p:grpSpPr>
          <a:xfrm>
            <a:off x="2865942" y="4486428"/>
            <a:ext cx="6456657" cy="2195901"/>
            <a:chOff x="2849271" y="2939313"/>
            <a:chExt cx="6456657" cy="219590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28A0877-C57F-4542-B4EB-E972C9D94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5082" y="3033055"/>
              <a:ext cx="838200" cy="89535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9956DE9-EC8E-49D9-A54B-973AB51EC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7902" y="3091047"/>
              <a:ext cx="818334" cy="779366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402C298-73FA-4B94-A9C6-F567E605DCCE}"/>
                </a:ext>
              </a:extLst>
            </p:cNvPr>
            <p:cNvSpPr/>
            <p:nvPr/>
          </p:nvSpPr>
          <p:spPr>
            <a:xfrm>
              <a:off x="3015120" y="3870413"/>
              <a:ext cx="10856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 err="1">
                  <a:solidFill>
                    <a:srgbClr val="FF0000"/>
                  </a:solidFill>
                </a:rPr>
                <a:t>receiveComp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receive</a:t>
              </a:r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5CE3E4A1-5FBC-4CB0-B9EC-857D73B60C11}"/>
                </a:ext>
              </a:extLst>
            </p:cNvPr>
            <p:cNvSpPr/>
            <p:nvPr/>
          </p:nvSpPr>
          <p:spPr>
            <a:xfrm>
              <a:off x="4094890" y="3203436"/>
              <a:ext cx="478972" cy="418011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771F0CD-637D-428F-84D9-D16A37F46FE9}"/>
                </a:ext>
              </a:extLst>
            </p:cNvPr>
            <p:cNvSpPr/>
            <p:nvPr/>
          </p:nvSpPr>
          <p:spPr>
            <a:xfrm>
              <a:off x="4445501" y="3870413"/>
              <a:ext cx="155061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TBL_RECRELAYINFO</a:t>
              </a:r>
            </a:p>
            <a:p>
              <a:r>
                <a:rPr lang="en-US" altLang="ko-KR" sz="1200" dirty="0"/>
                <a:t>TBL_APRDOCINFO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(HREF = ‘’)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55A31B6-4633-44FC-884E-5AED51A796B7}"/>
                </a:ext>
              </a:extLst>
            </p:cNvPr>
            <p:cNvSpPr/>
            <p:nvPr/>
          </p:nvSpPr>
          <p:spPr>
            <a:xfrm>
              <a:off x="5996118" y="3876774"/>
              <a:ext cx="330981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solidFill>
                    <a:srgbClr val="FF0000"/>
                  </a:solidFill>
                </a:rPr>
                <a:t>upload_approvalG</a:t>
              </a:r>
              <a:r>
                <a:rPr lang="en-US" altLang="ko-KR" sz="1200" dirty="0">
                  <a:solidFill>
                    <a:srgbClr val="FF0000"/>
                  </a:solidFill>
                </a:rPr>
                <a:t>\</a:t>
              </a:r>
              <a:r>
                <a:rPr lang="ko-KR" altLang="en-US" sz="1200" dirty="0">
                  <a:solidFill>
                    <a:srgbClr val="FF0000"/>
                  </a:solidFill>
                </a:rPr>
                <a:t>회사코드</a:t>
              </a:r>
              <a:r>
                <a:rPr lang="en-US" altLang="ko-KR" sz="1200" dirty="0">
                  <a:solidFill>
                    <a:srgbClr val="FF0000"/>
                  </a:solidFill>
                </a:rPr>
                <a:t>\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ExDocXML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ko-KR" altLang="en-US" sz="1200" dirty="0"/>
                <a:t>파일명 </a:t>
              </a:r>
              <a:r>
                <a:rPr lang="en-US" altLang="ko-KR" sz="1200" dirty="0"/>
                <a:t>: </a:t>
              </a:r>
            </a:p>
            <a:p>
              <a:r>
                <a:rPr lang="en-US" altLang="ko-KR" sz="1200" dirty="0"/>
                <a:t>TBL_RECRELAYINFO</a:t>
              </a:r>
            </a:p>
            <a:p>
              <a:r>
                <a:rPr lang="en-US" altLang="ko-KR" sz="1200" dirty="0" err="1"/>
                <a:t>xDocID.replace</a:t>
              </a:r>
              <a:r>
                <a:rPr lang="en-US" altLang="ko-KR" sz="1200" dirty="0"/>
                <a:t>("/", "_").replace("#", "_")</a:t>
              </a:r>
            </a:p>
            <a:p>
              <a:r>
                <a:rPr lang="en-US" altLang="ko-KR" sz="1200" dirty="0"/>
                <a:t>+ received(</a:t>
              </a:r>
              <a:r>
                <a:rPr lang="ko-KR" altLang="en-US" sz="1200" dirty="0"/>
                <a:t>수신부서</a:t>
              </a:r>
              <a:r>
                <a:rPr lang="en-US" altLang="ko-KR" sz="1200" dirty="0"/>
                <a:t>) + ".xml");</a:t>
              </a:r>
              <a:endParaRPr lang="ko-KR" altLang="en-US" sz="1200" dirty="0"/>
            </a:p>
            <a:p>
              <a:r>
                <a:rPr lang="en-US" altLang="ko-KR" sz="1200" dirty="0"/>
                <a:t>00000000000000001257boh.xml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56DD21-F02D-4815-9B8A-19D4F5160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6220" y="3091047"/>
              <a:ext cx="818334" cy="779366"/>
            </a:xfrm>
            <a:prstGeom prst="rect">
              <a:avLst/>
            </a:prstGeom>
          </p:spPr>
        </p:pic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25EC5B67-6C61-4D88-BCCC-31D239CB226A}"/>
                </a:ext>
              </a:extLst>
            </p:cNvPr>
            <p:cNvSpPr/>
            <p:nvPr/>
          </p:nvSpPr>
          <p:spPr>
            <a:xfrm>
              <a:off x="5774780" y="3203436"/>
              <a:ext cx="478972" cy="418011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8586DE6-A699-4553-8BB0-D33F6A8EE8AD}"/>
                </a:ext>
              </a:extLst>
            </p:cNvPr>
            <p:cNvSpPr/>
            <p:nvPr/>
          </p:nvSpPr>
          <p:spPr>
            <a:xfrm>
              <a:off x="2849271" y="2939313"/>
              <a:ext cx="6184055" cy="21959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57387132-B5A6-4469-B415-61C1C7246239}"/>
              </a:ext>
            </a:extLst>
          </p:cNvPr>
          <p:cNvSpPr/>
          <p:nvPr/>
        </p:nvSpPr>
        <p:spPr>
          <a:xfrm rot="10800000">
            <a:off x="3123399" y="2264249"/>
            <a:ext cx="418012" cy="17816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49C4F81-FA69-4957-9657-111122D45E97}"/>
              </a:ext>
            </a:extLst>
          </p:cNvPr>
          <p:cNvSpPr/>
          <p:nvPr/>
        </p:nvSpPr>
        <p:spPr>
          <a:xfrm>
            <a:off x="3613143" y="2769106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B02A3ADC-17DE-4A76-A6FB-D9378907513D}"/>
              </a:ext>
            </a:extLst>
          </p:cNvPr>
          <p:cNvSpPr/>
          <p:nvPr/>
        </p:nvSpPr>
        <p:spPr>
          <a:xfrm rot="10800000">
            <a:off x="10286362" y="2225296"/>
            <a:ext cx="418012" cy="7407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0501F8-A1E4-4CBB-AF3A-D1CF88156499}"/>
              </a:ext>
            </a:extLst>
          </p:cNvPr>
          <p:cNvSpPr/>
          <p:nvPr/>
        </p:nvSpPr>
        <p:spPr>
          <a:xfrm>
            <a:off x="10704374" y="2560730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XML, S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73FA1C9-AE08-4A9A-8276-7A42858FCDAD}"/>
              </a:ext>
            </a:extLst>
          </p:cNvPr>
          <p:cNvSpPr/>
          <p:nvPr/>
        </p:nvSpPr>
        <p:spPr>
          <a:xfrm>
            <a:off x="80930" y="2551036"/>
            <a:ext cx="9044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XML, S</a:t>
            </a:r>
          </a:p>
          <a:p>
            <a:r>
              <a:rPr lang="ko-KR" altLang="en-US" dirty="0"/>
              <a:t>전송</a:t>
            </a: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A6013D96-800B-4243-8C3E-787B78A7D776}"/>
              </a:ext>
            </a:extLst>
          </p:cNvPr>
          <p:cNvSpPr/>
          <p:nvPr/>
        </p:nvSpPr>
        <p:spPr>
          <a:xfrm rot="16200000">
            <a:off x="6622347" y="4002596"/>
            <a:ext cx="478972" cy="4180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952D63FC-5054-411F-BC4D-13B49EC09B93}"/>
              </a:ext>
            </a:extLst>
          </p:cNvPr>
          <p:cNvSpPr/>
          <p:nvPr/>
        </p:nvSpPr>
        <p:spPr>
          <a:xfrm rot="5400000">
            <a:off x="1022814" y="1257238"/>
            <a:ext cx="478972" cy="4180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A894EB-FDC9-45F0-AAF4-AA873DC66AC1}"/>
              </a:ext>
            </a:extLst>
          </p:cNvPr>
          <p:cNvSpPr/>
          <p:nvPr/>
        </p:nvSpPr>
        <p:spPr>
          <a:xfrm>
            <a:off x="148879" y="12570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XML, S</a:t>
            </a:r>
            <a:endParaRPr lang="ko-KR" altLang="en-US" dirty="0"/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42911162-0B05-495A-81F1-CC6421CF402E}"/>
              </a:ext>
            </a:extLst>
          </p:cNvPr>
          <p:cNvSpPr/>
          <p:nvPr/>
        </p:nvSpPr>
        <p:spPr>
          <a:xfrm rot="10800000">
            <a:off x="1539697" y="1196256"/>
            <a:ext cx="418012" cy="4789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92EEFD2-17B1-4269-BF35-77B3E174AF1C}"/>
              </a:ext>
            </a:extLst>
          </p:cNvPr>
          <p:cNvSpPr/>
          <p:nvPr/>
        </p:nvSpPr>
        <p:spPr>
          <a:xfrm>
            <a:off x="1957709" y="1269872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V</a:t>
            </a:r>
            <a:endParaRPr lang="ko-KR" altLang="en-US" dirty="0"/>
          </a:p>
        </p:txBody>
      </p:sp>
      <p:sp>
        <p:nvSpPr>
          <p:cNvPr id="49" name="화살표: 아래쪽 48">
            <a:extLst>
              <a:ext uri="{FF2B5EF4-FFF2-40B4-BE49-F238E27FC236}">
                <a16:creationId xmlns:a16="http://schemas.microsoft.com/office/drawing/2014/main" id="{144F3473-6206-465A-A750-88239E933594}"/>
              </a:ext>
            </a:extLst>
          </p:cNvPr>
          <p:cNvSpPr/>
          <p:nvPr/>
        </p:nvSpPr>
        <p:spPr>
          <a:xfrm rot="10800000">
            <a:off x="3123398" y="1041084"/>
            <a:ext cx="418012" cy="6426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5AF682E-30EA-4E06-9488-C526B1913FAC}"/>
              </a:ext>
            </a:extLst>
          </p:cNvPr>
          <p:cNvSpPr/>
          <p:nvPr/>
        </p:nvSpPr>
        <p:spPr>
          <a:xfrm>
            <a:off x="3540329" y="1059802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2035DBAE-4A43-48CD-9336-C45B02CE9B0D}"/>
              </a:ext>
            </a:extLst>
          </p:cNvPr>
          <p:cNvSpPr/>
          <p:nvPr/>
        </p:nvSpPr>
        <p:spPr>
          <a:xfrm rot="10800000">
            <a:off x="10263913" y="1062770"/>
            <a:ext cx="418012" cy="4789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FCD6DFF-0D59-4960-90C1-6E2DD81D182B}"/>
              </a:ext>
            </a:extLst>
          </p:cNvPr>
          <p:cNvSpPr/>
          <p:nvPr/>
        </p:nvSpPr>
        <p:spPr>
          <a:xfrm>
            <a:off x="10681925" y="113638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XML, S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D11AAAC-6E8B-4478-96D7-57D684BBD421}"/>
              </a:ext>
            </a:extLst>
          </p:cNvPr>
          <p:cNvSpPr/>
          <p:nvPr/>
        </p:nvSpPr>
        <p:spPr>
          <a:xfrm>
            <a:off x="5455197" y="3179600"/>
            <a:ext cx="38267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TBL_APRDOCINFO </a:t>
            </a:r>
            <a:r>
              <a:rPr lang="en-US" altLang="ko-KR" sz="1200" dirty="0">
                <a:solidFill>
                  <a:srgbClr val="FF0000"/>
                </a:solidFill>
              </a:rPr>
              <a:t>(HREF = ‘’)</a:t>
            </a:r>
            <a:r>
              <a:rPr lang="ko-KR" altLang="en-US" sz="1200" dirty="0"/>
              <a:t>인 문서를 </a:t>
            </a:r>
            <a:r>
              <a:rPr lang="ko-KR" altLang="en-US" sz="1200" dirty="0">
                <a:solidFill>
                  <a:srgbClr val="FF0000"/>
                </a:solidFill>
              </a:rPr>
              <a:t>처음</a:t>
            </a:r>
            <a:r>
              <a:rPr lang="ko-KR" altLang="en-US" sz="1200" dirty="0"/>
              <a:t> 열면</a:t>
            </a:r>
            <a:endParaRPr lang="en-US" altLang="ko-KR" sz="1200" dirty="0"/>
          </a:p>
          <a:p>
            <a:r>
              <a:rPr lang="en-US" altLang="ko-KR" sz="1200" dirty="0">
                <a:solidFill>
                  <a:srgbClr val="FF0000"/>
                </a:solidFill>
              </a:rPr>
              <a:t>TBL_RECRELAYINFO </a:t>
            </a:r>
          </a:p>
          <a:p>
            <a:r>
              <a:rPr lang="en-US" altLang="ko-KR" sz="1200" dirty="0" err="1"/>
              <a:t>upload_approvalG</a:t>
            </a:r>
            <a:r>
              <a:rPr lang="en-US" altLang="ko-KR" sz="1200" dirty="0"/>
              <a:t>/?/</a:t>
            </a:r>
            <a:r>
              <a:rPr lang="en-US" altLang="ko-KR" sz="1200" dirty="0" err="1"/>
              <a:t>ExDocXML</a:t>
            </a:r>
            <a:r>
              <a:rPr lang="en-US" altLang="ko-KR" sz="1200" dirty="0"/>
              <a:t>/</a:t>
            </a:r>
            <a:r>
              <a:rPr lang="en-US" altLang="ko-KR" sz="1200" dirty="0" err="1">
                <a:solidFill>
                  <a:srgbClr val="FF0000"/>
                </a:solidFill>
              </a:rPr>
              <a:t>xmlURL</a:t>
            </a:r>
            <a:r>
              <a:rPr lang="ko-KR" altLang="en-US" sz="1200" dirty="0"/>
              <a:t>에서 </a:t>
            </a:r>
            <a:br>
              <a:rPr lang="en-US" altLang="ko-KR" sz="1200" dirty="0"/>
            </a:br>
            <a:r>
              <a:rPr lang="ko-KR" altLang="en-US" sz="1200" dirty="0"/>
              <a:t>본문 내용을 불러온 후 </a:t>
            </a:r>
            <a:r>
              <a:rPr lang="en-US" altLang="ko-KR" sz="1200" dirty="0"/>
              <a:t>HREF</a:t>
            </a:r>
            <a:r>
              <a:rPr lang="ko-KR" altLang="en-US" sz="1200" dirty="0"/>
              <a:t>에 저장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9E06CB0B-82B5-4BA4-B7D1-67B3EE26EEB5}"/>
              </a:ext>
            </a:extLst>
          </p:cNvPr>
          <p:cNvSpPr/>
          <p:nvPr/>
        </p:nvSpPr>
        <p:spPr>
          <a:xfrm rot="10800000">
            <a:off x="7214258" y="2288351"/>
            <a:ext cx="418012" cy="7651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9518027-9323-484F-8C26-CBFB2482CB06}"/>
              </a:ext>
            </a:extLst>
          </p:cNvPr>
          <p:cNvSpPr/>
          <p:nvPr/>
        </p:nvSpPr>
        <p:spPr>
          <a:xfrm>
            <a:off x="7632270" y="2648174"/>
            <a:ext cx="247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60" name="화살표: 아래쪽 59">
            <a:extLst>
              <a:ext uri="{FF2B5EF4-FFF2-40B4-BE49-F238E27FC236}">
                <a16:creationId xmlns:a16="http://schemas.microsoft.com/office/drawing/2014/main" id="{BE23D3C0-5D96-4E3A-8B15-90B4E2F23B37}"/>
              </a:ext>
            </a:extLst>
          </p:cNvPr>
          <p:cNvSpPr/>
          <p:nvPr/>
        </p:nvSpPr>
        <p:spPr>
          <a:xfrm rot="10800000">
            <a:off x="7214258" y="1041084"/>
            <a:ext cx="418012" cy="5853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10800000" lon="0" rev="0"/>
              </a:camera>
              <a:lightRig rig="threePt" dir="t"/>
            </a:scene3d>
          </a:bodyPr>
          <a:lstStyle/>
          <a:p>
            <a:pPr algn="ctr"/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75D93FE-F0D6-49EA-B7A4-1A3BC9FF66E2}"/>
              </a:ext>
            </a:extLst>
          </p:cNvPr>
          <p:cNvSpPr/>
          <p:nvPr/>
        </p:nvSpPr>
        <p:spPr>
          <a:xfrm>
            <a:off x="7661491" y="1052527"/>
            <a:ext cx="247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447D69-A473-4C9E-B577-7678104FA4A3}"/>
              </a:ext>
            </a:extLst>
          </p:cNvPr>
          <p:cNvSpPr txBox="1"/>
          <p:nvPr/>
        </p:nvSpPr>
        <p:spPr>
          <a:xfrm>
            <a:off x="148879" y="10280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문서유통 </a:t>
            </a:r>
            <a:r>
              <a:rPr lang="en-US" altLang="ko-KR" b="1" dirty="0"/>
              <a:t>FLOW </a:t>
            </a:r>
            <a:r>
              <a:rPr lang="ko-KR" altLang="en-US" b="1" dirty="0"/>
              <a:t>별지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63132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52026B2-05B2-432C-B278-6B9A1C464B3A}"/>
              </a:ext>
            </a:extLst>
          </p:cNvPr>
          <p:cNvSpPr/>
          <p:nvPr/>
        </p:nvSpPr>
        <p:spPr>
          <a:xfrm>
            <a:off x="0" y="1022961"/>
            <a:ext cx="83341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mhtToHTMLContent.do   ?</a:t>
            </a:r>
            <a:r>
              <a:rPr lang="ko-KR" altLang="en-US" sz="1200" dirty="0" err="1"/>
              <a:t>href</a:t>
            </a:r>
            <a:r>
              <a:rPr lang="ko-KR" altLang="en-US" sz="1200" dirty="0"/>
              <a:t>=URL</a:t>
            </a:r>
            <a:endParaRPr lang="en-US" altLang="ko-KR" sz="1200" dirty="0"/>
          </a:p>
          <a:p>
            <a:r>
              <a:rPr lang="en-US" altLang="ko-KR" sz="1200" dirty="0">
                <a:solidFill>
                  <a:srgbClr val="FF0000"/>
                </a:solidFill>
              </a:rPr>
              <a:t>TBL_APRDOCINFO :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HREF </a:t>
            </a:r>
            <a:r>
              <a:rPr lang="ko-KR" altLang="en-US" sz="1200" dirty="0"/>
              <a:t>가 </a:t>
            </a:r>
            <a:r>
              <a:rPr lang="en-US" altLang="ko-KR" sz="1200" dirty="0"/>
              <a:t>‘’ </a:t>
            </a:r>
            <a:r>
              <a:rPr lang="ko-KR" altLang="en-US" sz="1200" dirty="0"/>
              <a:t>이므로</a:t>
            </a:r>
            <a:endParaRPr lang="en-US" altLang="ko-KR" sz="1200" dirty="0"/>
          </a:p>
          <a:p>
            <a:r>
              <a:rPr lang="en-US" altLang="ko-KR" sz="1200" dirty="0"/>
              <a:t>Return :</a:t>
            </a:r>
            <a:r>
              <a:rPr lang="ko-KR" altLang="en-US" sz="1200" dirty="0"/>
              <a:t> </a:t>
            </a:r>
            <a:r>
              <a:rPr lang="en-US" altLang="ko-KR" sz="1200" dirty="0"/>
              <a:t>MHT </a:t>
            </a:r>
            <a:r>
              <a:rPr lang="ko-KR" altLang="en-US" sz="1200" dirty="0"/>
              <a:t>데이터가 존재하지 않습니다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getRelayDocInfo.do</a:t>
            </a:r>
          </a:p>
          <a:p>
            <a:r>
              <a:rPr lang="en-US" altLang="ko-KR" sz="1200" dirty="0"/>
              <a:t>Param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 err="1"/>
              <a:t>docID</a:t>
            </a:r>
            <a:endParaRPr lang="en-US" altLang="ko-KR" sz="1200" dirty="0"/>
          </a:p>
          <a:p>
            <a:r>
              <a:rPr lang="en-US" altLang="ko-KR" sz="1200" dirty="0"/>
              <a:t>Return : </a:t>
            </a:r>
            <a:r>
              <a:rPr lang="en-US" altLang="ko-KR" sz="1200" dirty="0">
                <a:solidFill>
                  <a:srgbClr val="FF0000"/>
                </a:solidFill>
              </a:rPr>
              <a:t>TBL_RECRELAYINFO  </a:t>
            </a:r>
            <a:r>
              <a:rPr lang="ko-KR" altLang="en-US" sz="1200" dirty="0"/>
              <a:t>정보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loadDocXML.do</a:t>
            </a:r>
          </a:p>
          <a:p>
            <a:r>
              <a:rPr lang="en-US" altLang="ko-KR" sz="1200" dirty="0"/>
              <a:t>Param : </a:t>
            </a:r>
            <a:r>
              <a:rPr lang="en-US" altLang="ko-KR" sz="1200" dirty="0" err="1"/>
              <a:t>upload_approvalG</a:t>
            </a:r>
            <a:r>
              <a:rPr lang="en-US" altLang="ko-KR" sz="1200" dirty="0"/>
              <a:t>/</a:t>
            </a:r>
            <a:r>
              <a:rPr lang="ko-KR" altLang="en-US" sz="1200" dirty="0"/>
              <a:t>회사코드</a:t>
            </a:r>
            <a:r>
              <a:rPr lang="en-US" altLang="ko-KR" sz="1200" dirty="0"/>
              <a:t>/</a:t>
            </a:r>
            <a:r>
              <a:rPr lang="en-US" altLang="ko-KR" sz="1200" dirty="0" err="1">
                <a:solidFill>
                  <a:srgbClr val="FF0000"/>
                </a:solidFill>
              </a:rPr>
              <a:t>ExDocXML</a:t>
            </a:r>
            <a:r>
              <a:rPr lang="en-US" altLang="ko-KR" sz="1200" dirty="0"/>
              <a:t>/</a:t>
            </a:r>
            <a:r>
              <a:rPr lang="en-US" altLang="ko-KR" sz="1200" dirty="0" err="1"/>
              <a:t>xmlURL</a:t>
            </a:r>
            <a:endParaRPr lang="en-US" altLang="ko-KR" sz="1200" dirty="0"/>
          </a:p>
          <a:p>
            <a:r>
              <a:rPr lang="en-US" altLang="ko-KR" sz="1200" dirty="0"/>
              <a:t>Return : </a:t>
            </a:r>
            <a:r>
              <a:rPr lang="en-US" altLang="ko-KR" sz="1200" dirty="0" err="1"/>
              <a:t>pubdoc</a:t>
            </a:r>
            <a:r>
              <a:rPr lang="en-US" altLang="ko-KR" sz="1200" dirty="0"/>
              <a:t> xml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setHref.do : </a:t>
            </a:r>
            <a:r>
              <a:rPr lang="en-US" altLang="ko-KR" sz="1200" dirty="0" err="1"/>
              <a:t>href</a:t>
            </a:r>
            <a:r>
              <a:rPr lang="en-US" altLang="ko-KR" sz="1200" dirty="0"/>
              <a:t> </a:t>
            </a:r>
            <a:r>
              <a:rPr lang="ko-KR" altLang="en-US" sz="1200" dirty="0"/>
              <a:t>정보 </a:t>
            </a:r>
            <a:r>
              <a:rPr lang="en-US" altLang="ko-KR" sz="1200" dirty="0"/>
              <a:t>update</a:t>
            </a:r>
          </a:p>
          <a:p>
            <a:r>
              <a:rPr lang="en-US" altLang="ko-KR" sz="1200" dirty="0"/>
              <a:t>htmlToMHT.do : html </a:t>
            </a:r>
            <a:r>
              <a:rPr lang="ko-KR" altLang="en-US" sz="1200" dirty="0"/>
              <a:t>변환 </a:t>
            </a:r>
            <a:endParaRPr lang="en-US" altLang="ko-KR" sz="1200" dirty="0"/>
          </a:p>
          <a:p>
            <a:r>
              <a:rPr lang="en-US" altLang="ko-KR" sz="1200" dirty="0"/>
              <a:t>saveFile.do : MHT </a:t>
            </a:r>
            <a:r>
              <a:rPr lang="ko-KR" altLang="en-US" sz="1200" dirty="0"/>
              <a:t>파일 저장</a:t>
            </a:r>
            <a:endParaRPr lang="en-US" altLang="ko-KR" sz="1200" dirty="0"/>
          </a:p>
          <a:p>
            <a:r>
              <a:rPr lang="en-US" altLang="ko-KR" sz="1200" dirty="0"/>
              <a:t>sendAckforReSend.do : </a:t>
            </a:r>
            <a:r>
              <a:rPr lang="ko-KR" altLang="en-US" sz="1200" dirty="0"/>
              <a:t>접수 </a:t>
            </a:r>
            <a:r>
              <a:rPr lang="en-US" altLang="ko-KR" sz="1200" dirty="0"/>
              <a:t>Ack </a:t>
            </a:r>
            <a:r>
              <a:rPr lang="ko-KR" altLang="en-US" sz="1200" dirty="0"/>
              <a:t>유통센터</a:t>
            </a:r>
            <a:r>
              <a:rPr lang="en-US" altLang="ko-KR" sz="1200" dirty="0"/>
              <a:t> </a:t>
            </a:r>
            <a:r>
              <a:rPr lang="ko-KR" altLang="en-US" sz="1200" dirty="0"/>
              <a:t>전송</a:t>
            </a:r>
            <a:endParaRPr lang="en-US" altLang="ko-KR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7C4103-EF1F-4F6F-97C3-5D72D5923969}"/>
              </a:ext>
            </a:extLst>
          </p:cNvPr>
          <p:cNvSpPr/>
          <p:nvPr/>
        </p:nvSpPr>
        <p:spPr>
          <a:xfrm>
            <a:off x="0" y="57299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유통문서 처음 </a:t>
            </a:r>
            <a:r>
              <a:rPr lang="en-US" altLang="ko-KR" dirty="0"/>
              <a:t>open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CCE79A-151F-43C0-8CA5-DF06CA716311}"/>
              </a:ext>
            </a:extLst>
          </p:cNvPr>
          <p:cNvSpPr/>
          <p:nvPr/>
        </p:nvSpPr>
        <p:spPr>
          <a:xfrm>
            <a:off x="0" y="507157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유통문서 발송전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13F0D2-B13E-44DD-A131-2FA3FD98FF1E}"/>
              </a:ext>
            </a:extLst>
          </p:cNvPr>
          <p:cNvSpPr/>
          <p:nvPr/>
        </p:nvSpPr>
        <p:spPr>
          <a:xfrm>
            <a:off x="0" y="5421308"/>
            <a:ext cx="808958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Front : </a:t>
            </a:r>
            <a:r>
              <a:rPr lang="ko-KR" altLang="en-US" sz="1200" dirty="0" err="1">
                <a:solidFill>
                  <a:srgbClr val="FF0000"/>
                </a:solidFill>
              </a:rPr>
              <a:t>Document_Encode</a:t>
            </a:r>
            <a:r>
              <a:rPr lang="en-US" altLang="ko-KR" sz="1200" dirty="0">
                <a:solidFill>
                  <a:srgbClr val="FF0000"/>
                </a:solidFill>
              </a:rPr>
              <a:t>()</a:t>
            </a:r>
            <a:r>
              <a:rPr lang="en-US" altLang="ko-KR" sz="1200" b="1" dirty="0">
                <a:solidFill>
                  <a:srgbClr val="FF0000"/>
                </a:solidFill>
              </a:rPr>
              <a:t> - </a:t>
            </a:r>
            <a:r>
              <a:rPr lang="en-US" altLang="ko-KR" sz="1200" b="1" dirty="0" err="1">
                <a:solidFill>
                  <a:srgbClr val="FF0000"/>
                </a:solidFill>
              </a:rPr>
              <a:t>apprGezSimsaG.jsp</a:t>
            </a:r>
            <a:r>
              <a:rPr lang="en-US" altLang="ko-KR" sz="1200" dirty="0">
                <a:solidFill>
                  <a:srgbClr val="FF0000"/>
                </a:solidFill>
              </a:rPr>
              <a:t> , Back : </a:t>
            </a:r>
            <a:r>
              <a:rPr lang="en-US" altLang="ko-KR" sz="1200" dirty="0" err="1">
                <a:solidFill>
                  <a:srgbClr val="FF0000"/>
                </a:solidFill>
              </a:rPr>
              <a:t>beforeXmlConverter</a:t>
            </a:r>
            <a:r>
              <a:rPr lang="en-US" altLang="ko-KR" sz="1200" dirty="0">
                <a:solidFill>
                  <a:srgbClr val="FF0000"/>
                </a:solidFill>
              </a:rPr>
              <a:t>() </a:t>
            </a:r>
            <a:r>
              <a:rPr lang="en-US" altLang="ko-KR" sz="1200" b="1" dirty="0">
                <a:solidFill>
                  <a:srgbClr val="FF0000"/>
                </a:solidFill>
              </a:rPr>
              <a:t>- EzApprovalGServiceImpl.java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/>
              <a:t>에서 문서 </a:t>
            </a:r>
            <a:r>
              <a:rPr lang="ko-KR" altLang="en-US" sz="1200" dirty="0" err="1"/>
              <a:t>유통시</a:t>
            </a:r>
            <a:r>
              <a:rPr lang="ko-KR" altLang="en-US" sz="1200" dirty="0"/>
              <a:t> </a:t>
            </a:r>
            <a:r>
              <a:rPr lang="en-US" altLang="ko-KR" sz="1200" dirty="0"/>
              <a:t>xml </a:t>
            </a:r>
            <a:r>
              <a:rPr lang="ko-KR" altLang="en-US" sz="1200" dirty="0"/>
              <a:t>변환규칙에 따라 오류 발생 가능성이 있는 </a:t>
            </a:r>
            <a:r>
              <a:rPr lang="en-US" altLang="ko-KR" sz="1200" dirty="0"/>
              <a:t>tag</a:t>
            </a:r>
            <a:r>
              <a:rPr lang="ko-KR" altLang="en-US" sz="1200" dirty="0"/>
              <a:t>를 제거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Front </a:t>
            </a:r>
            <a:r>
              <a:rPr lang="ko-KR" altLang="en-US" sz="1200" dirty="0"/>
              <a:t>와 </a:t>
            </a:r>
            <a:r>
              <a:rPr lang="en-US" altLang="ko-KR" sz="1200" dirty="0"/>
              <a:t>back </a:t>
            </a:r>
            <a:r>
              <a:rPr lang="ko-KR" altLang="en-US" sz="1200" dirty="0"/>
              <a:t>에서 각각 처리하는 로직이 존재하나 모든 경우를 상정하지 않아 오류 발생이 </a:t>
            </a:r>
            <a:r>
              <a:rPr lang="ko-KR" altLang="en-US" sz="1200" dirty="0" err="1"/>
              <a:t>일어남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동부병원에서는 </a:t>
            </a:r>
            <a:r>
              <a:rPr lang="en-US" altLang="ko-KR" sz="1200" dirty="0"/>
              <a:t>back </a:t>
            </a:r>
            <a:r>
              <a:rPr lang="ko-KR" altLang="en-US" sz="1200" dirty="0"/>
              <a:t>단의 처리에서 </a:t>
            </a:r>
            <a:r>
              <a:rPr lang="en-US" altLang="ko-KR" sz="1200" dirty="0"/>
              <a:t>tag </a:t>
            </a:r>
            <a:r>
              <a:rPr lang="ko-KR" altLang="en-US" sz="1200" dirty="0"/>
              <a:t>내부에 </a:t>
            </a:r>
            <a:r>
              <a:rPr lang="en-US" altLang="ko-KR" sz="1200" dirty="0"/>
              <a:t>“ 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존재시</a:t>
            </a:r>
            <a:r>
              <a:rPr lang="ko-KR" altLang="en-US" sz="1200" dirty="0"/>
              <a:t> </a:t>
            </a:r>
            <a:r>
              <a:rPr lang="en-US" altLang="ko-KR" sz="1200" dirty="0"/>
              <a:t>String </a:t>
            </a:r>
            <a:r>
              <a:rPr lang="ko-KR" altLang="en-US" sz="1200" dirty="0"/>
              <a:t>오류 발생 회피를 위해 </a:t>
            </a:r>
            <a:r>
              <a:rPr lang="en-US" altLang="ko-KR" sz="1200" dirty="0"/>
              <a:t>\” </a:t>
            </a:r>
            <a:r>
              <a:rPr lang="ko-KR" altLang="en-US" sz="1200" dirty="0"/>
              <a:t>로 변환하는 처리를</a:t>
            </a:r>
            <a:endParaRPr lang="en-US" altLang="ko-KR" sz="1200" dirty="0"/>
          </a:p>
          <a:p>
            <a:r>
              <a:rPr lang="ko-KR" altLang="en-US" sz="1200" dirty="0"/>
              <a:t>반복하여 오류가 발생하는 사례가 있었음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해당 사례에서는 </a:t>
            </a:r>
            <a:r>
              <a:rPr lang="ko-KR" altLang="en-US" sz="1200" dirty="0" err="1"/>
              <a:t>전처리</a:t>
            </a:r>
            <a:r>
              <a:rPr lang="ko-KR" altLang="en-US" sz="1200" dirty="0"/>
              <a:t> 오류 발생으로 처리 되거나 </a:t>
            </a:r>
            <a:endParaRPr lang="en-US" altLang="ko-KR" sz="1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AAE8C3B-5838-4942-8808-1D0C59C05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989" y="1064673"/>
            <a:ext cx="2305050" cy="5715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30DC42-2FEC-473C-A077-DC8FEF58B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875" y="3598359"/>
            <a:ext cx="3343275" cy="514350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8EE40E6-9EB6-4283-AF7B-D6B772888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26456"/>
              </p:ext>
            </p:extLst>
          </p:nvPr>
        </p:nvGraphicFramePr>
        <p:xfrm>
          <a:off x="8484463" y="655947"/>
          <a:ext cx="2548344" cy="3562350"/>
        </p:xfrm>
        <a:graphic>
          <a:graphicData uri="http://schemas.openxmlformats.org/drawingml/2006/table">
            <a:tbl>
              <a:tblPr/>
              <a:tblGrid>
                <a:gridCol w="973102">
                  <a:extLst>
                    <a:ext uri="{9D8B030D-6E8A-4147-A177-3AD203B41FA5}">
                      <a16:colId xmlns:a16="http://schemas.microsoft.com/office/drawing/2014/main" val="547365297"/>
                    </a:ext>
                  </a:extLst>
                </a:gridCol>
                <a:gridCol w="1575242">
                  <a:extLst>
                    <a:ext uri="{9D8B030D-6E8A-4147-A177-3AD203B41FA5}">
                      <a16:colId xmlns:a16="http://schemas.microsoft.com/office/drawing/2014/main" val="236605973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그룹웨어문서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4625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xDocID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중계문서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66723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발송일시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4768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mFrom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발신부서명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20793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수신부서코드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5907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xMailType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메일종류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1226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xFromCode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발신부서코드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1271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xToCode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수신부서코드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5189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xGw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발신기관 그룹웨어명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6708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xDocType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83547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xDtdversion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DTD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6221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xxslVersion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XSL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114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contentType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본문형식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16787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sealURL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관인이미지파일명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3607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xmlURL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본문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XML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7125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emlURL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암호화된본문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XML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9820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isPKI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전자관인암호화여부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007230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E9463BE7-4557-4BEC-BCF6-F9E86FDDB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548" y="1784223"/>
            <a:ext cx="4519750" cy="35904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202E808-02C7-4F43-ACE0-D49B50382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548" y="2143269"/>
            <a:ext cx="5782555" cy="29412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7F22845-4A78-45B9-B739-5C6C59EAC4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548" y="2437122"/>
            <a:ext cx="5782555" cy="366931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B3634C4-A55D-46F2-9EB0-F9E3873B02CA}"/>
              </a:ext>
            </a:extLst>
          </p:cNvPr>
          <p:cNvCxnSpPr/>
          <p:nvPr/>
        </p:nvCxnSpPr>
        <p:spPr>
          <a:xfrm>
            <a:off x="-1" y="4967002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1FDB2FE-6E41-47AC-B2EF-2AF1DAB579B6}"/>
              </a:ext>
            </a:extLst>
          </p:cNvPr>
          <p:cNvSpPr txBox="1"/>
          <p:nvPr/>
        </p:nvSpPr>
        <p:spPr>
          <a:xfrm>
            <a:off x="-1" y="161177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문서유통 </a:t>
            </a:r>
            <a:r>
              <a:rPr lang="en-US" altLang="ko-KR" b="1" dirty="0"/>
              <a:t>FLOW </a:t>
            </a:r>
            <a:r>
              <a:rPr lang="ko-KR" altLang="en-US" b="1" dirty="0"/>
              <a:t>별지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991710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9388</TotalTime>
  <Words>3738</Words>
  <Application>Microsoft Office PowerPoint</Application>
  <PresentationFormat>와이드스크린</PresentationFormat>
  <Paragraphs>506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Consolas</vt:lpstr>
      <vt:lpstr>Office 테마</vt:lpstr>
      <vt:lpstr>문서유통 모듈 가이드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문서유통 모듈 설치가이드</dc:title>
  <dc:creator>Windows 사용자</dc:creator>
  <cp:lastModifiedBy>강 민수</cp:lastModifiedBy>
  <cp:revision>195</cp:revision>
  <dcterms:created xsi:type="dcterms:W3CDTF">2019-12-03T02:22:00Z</dcterms:created>
  <dcterms:modified xsi:type="dcterms:W3CDTF">2021-06-21T02:46:01Z</dcterms:modified>
</cp:coreProperties>
</file>