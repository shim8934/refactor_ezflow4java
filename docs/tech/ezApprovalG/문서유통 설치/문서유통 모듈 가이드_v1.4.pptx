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7" roundtripDataSignature="AMtx7mg0laiT2MhSazkKt5gbcMRx5hEj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E4F4514-04A8-43C5-9468-27915ED40666}">
  <a:tblStyle styleId="{EE4F4514-04A8-43C5-9468-27915ED4066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d7e84b508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d7e84b50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dcf38b204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dcf38b204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dc7757200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gdc77572007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dc7757200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dc77572007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type="title">
  <p:cSld name="TITLE">
    <p:spTree>
      <p:nvGrpSpPr>
        <p:cNvPr id="11" name="Shape 11"/>
        <p:cNvGrpSpPr/>
        <p:nvPr/>
      </p:nvGrpSpPr>
      <p:grpSpPr>
        <a:xfrm>
          <a:off x="0" y="0"/>
          <a:ext cx="0" cy="0"/>
          <a:chOff x="0" y="0"/>
          <a:chExt cx="0" cy="0"/>
        </a:xfrm>
      </p:grpSpPr>
      <p:sp>
        <p:nvSpPr>
          <p:cNvPr id="12" name="Google Shape;12;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Malgun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spTree>
      <p:nvGrpSpPr>
        <p:cNvPr id="17" name="Shape 17"/>
        <p:cNvGrpSpPr/>
        <p:nvPr/>
      </p:nvGrpSpPr>
      <p:grpSpPr>
        <a:xfrm>
          <a:off x="0" y="0"/>
          <a:ext cx="0" cy="0"/>
          <a:chOff x="0" y="0"/>
          <a:chExt cx="0" cy="0"/>
        </a:xfrm>
      </p:grpSpPr>
      <p:sp>
        <p:nvSpPr>
          <p:cNvPr id="18" name="Google Shape;18;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만" type="titleOnly">
  <p:cSld name="TITLE_ONLY">
    <p:spTree>
      <p:nvGrpSpPr>
        <p:cNvPr id="23" name="Shape 23"/>
        <p:cNvGrpSpPr/>
        <p:nvPr/>
      </p:nvGrpSpPr>
      <p:grpSpPr>
        <a:xfrm>
          <a:off x="0" y="0"/>
          <a:ext cx="0" cy="0"/>
          <a:chOff x="0" y="0"/>
          <a:chExt cx="0" cy="0"/>
        </a:xfrm>
      </p:grpSpPr>
      <p:sp>
        <p:nvSpPr>
          <p:cNvPr id="24" name="Google Shape;24;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세로 텍스트" type="vertTx">
  <p:cSld name="VERTICAL_TEXT">
    <p:spTree>
      <p:nvGrpSpPr>
        <p:cNvPr id="28" name="Shape 28"/>
        <p:cNvGrpSpPr/>
        <p:nvPr/>
      </p:nvGrpSpPr>
      <p:grpSpPr>
        <a:xfrm>
          <a:off x="0" y="0"/>
          <a:ext cx="0" cy="0"/>
          <a:chOff x="0" y="0"/>
          <a:chExt cx="0" cy="0"/>
        </a:xfrm>
      </p:grpSpPr>
      <p:sp>
        <p:nvSpPr>
          <p:cNvPr id="29" name="Google Shape;29;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type="secHead">
  <p:cSld name="SECTION_HEADER">
    <p:spTree>
      <p:nvGrpSpPr>
        <p:cNvPr id="34" name="Shape 34"/>
        <p:cNvGrpSpPr/>
        <p:nvPr/>
      </p:nvGrpSpPr>
      <p:grpSpPr>
        <a:xfrm>
          <a:off x="0" y="0"/>
          <a:ext cx="0" cy="0"/>
          <a:chOff x="0" y="0"/>
          <a:chExt cx="0" cy="0"/>
        </a:xfrm>
      </p:grpSpPr>
      <p:sp>
        <p:nvSpPr>
          <p:cNvPr id="35" name="Google Shape;35;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Malgun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3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콘텐츠 2개" type="twoObj">
  <p:cSld name="TWO_OBJECTS">
    <p:spTree>
      <p:nvGrpSpPr>
        <p:cNvPr id="40" name="Shape 40"/>
        <p:cNvGrpSpPr/>
        <p:nvPr/>
      </p:nvGrpSpPr>
      <p:grpSpPr>
        <a:xfrm>
          <a:off x="0" y="0"/>
          <a:ext cx="0" cy="0"/>
          <a:chOff x="0" y="0"/>
          <a:chExt cx="0" cy="0"/>
        </a:xfrm>
      </p:grpSpPr>
      <p:sp>
        <p:nvSpPr>
          <p:cNvPr id="41" name="Google Shape;41;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3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비교" type="twoTxTwoObj">
  <p:cSld name="TWO_OBJECTS_WITH_TEXT">
    <p:spTree>
      <p:nvGrpSpPr>
        <p:cNvPr id="47" name="Shape 47"/>
        <p:cNvGrpSpPr/>
        <p:nvPr/>
      </p:nvGrpSpPr>
      <p:grpSpPr>
        <a:xfrm>
          <a:off x="0" y="0"/>
          <a:ext cx="0" cy="0"/>
          <a:chOff x="0" y="0"/>
          <a:chExt cx="0" cy="0"/>
        </a:xfrm>
      </p:grpSpPr>
      <p:sp>
        <p:nvSpPr>
          <p:cNvPr id="48" name="Google Shape;48;p3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3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3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3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spTree>
      <p:nvGrpSpPr>
        <p:cNvPr id="56" name="Shape 56"/>
        <p:cNvGrpSpPr/>
        <p:nvPr/>
      </p:nvGrpSpPr>
      <p:grpSpPr>
        <a:xfrm>
          <a:off x="0" y="0"/>
          <a:ext cx="0" cy="0"/>
          <a:chOff x="0" y="0"/>
          <a:chExt cx="0" cy="0"/>
        </a:xfrm>
      </p:grpSpPr>
      <p:sp>
        <p:nvSpPr>
          <p:cNvPr id="57" name="Google Shape;57;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콘텐츠" type="objTx">
  <p:cSld name="OBJECT_WITH_CAPTION_TEXT">
    <p:spTree>
      <p:nvGrpSpPr>
        <p:cNvPr id="60" name="Shape 60"/>
        <p:cNvGrpSpPr/>
        <p:nvPr/>
      </p:nvGrpSpPr>
      <p:grpSpPr>
        <a:xfrm>
          <a:off x="0" y="0"/>
          <a:ext cx="0" cy="0"/>
          <a:chOff x="0" y="0"/>
          <a:chExt cx="0" cy="0"/>
        </a:xfrm>
      </p:grpSpPr>
      <p:sp>
        <p:nvSpPr>
          <p:cNvPr id="61" name="Google Shape;6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Malgun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3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3" name="Google Shape;63;p3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4" name="Google Shape;64;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그림" type="picTx">
  <p:cSld name="PICTURE_WITH_CAPTION_TEXT">
    <p:spTree>
      <p:nvGrpSpPr>
        <p:cNvPr id="67" name="Shape 67"/>
        <p:cNvGrpSpPr/>
        <p:nvPr/>
      </p:nvGrpSpPr>
      <p:grpSpPr>
        <a:xfrm>
          <a:off x="0" y="0"/>
          <a:ext cx="0" cy="0"/>
          <a:chOff x="0" y="0"/>
          <a:chExt cx="0" cy="0"/>
        </a:xfrm>
      </p:grpSpPr>
      <p:sp>
        <p:nvSpPr>
          <p:cNvPr id="68" name="Google Shape;68;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Malgun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38"/>
          <p:cNvSpPr/>
          <p:nvPr>
            <p:ph idx="2" type="pic"/>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Malgun Gothic"/>
                <a:ea typeface="Malgun Gothic"/>
                <a:cs typeface="Malgun Gothic"/>
                <a:sym typeface="Malgun Gothic"/>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Malgun Gothic"/>
                <a:ea typeface="Malgun Gothic"/>
                <a:cs typeface="Malgun Gothic"/>
                <a:sym typeface="Malgun Gothic"/>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Malgun Gothic"/>
                <a:ea typeface="Malgun Gothic"/>
                <a:cs typeface="Malgun Gothic"/>
                <a:sym typeface="Malgun Gothic"/>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Malgun Gothic"/>
                <a:ea typeface="Malgun Gothic"/>
                <a:cs typeface="Malgun Gothic"/>
                <a:sym typeface="Malgun Gothic"/>
              </a:defRPr>
            </a:lvl9pPr>
          </a:lstStyle>
          <a:p/>
        </p:txBody>
      </p:sp>
      <p:sp>
        <p:nvSpPr>
          <p:cNvPr id="70" name="Google Shape;70;p3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1" name="Google Shape;71;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세로 제목 및 텍스트" type="vertTitleAndTx">
  <p:cSld name="VERTICAL_TITLE_AND_VERTICAL_TEXT">
    <p:spTree>
      <p:nvGrpSpPr>
        <p:cNvPr id="74" name="Shape 74"/>
        <p:cNvGrpSpPr/>
        <p:nvPr/>
      </p:nvGrpSpPr>
      <p:grpSpPr>
        <a:xfrm>
          <a:off x="0" y="0"/>
          <a:ext cx="0" cy="0"/>
          <a:chOff x="0" y="0"/>
          <a:chExt cx="0" cy="0"/>
        </a:xfrm>
      </p:grpSpPr>
      <p:sp>
        <p:nvSpPr>
          <p:cNvPr id="75" name="Google Shape;75;p3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9" name="Google Shape;9;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0" name="Google Shape;10;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Malgun Gothic"/>
                <a:ea typeface="Malgun Gothic"/>
                <a:cs typeface="Malgun Gothic"/>
                <a:sym typeface="Malgun Gothic"/>
              </a:defRPr>
            </a:lvl1pPr>
            <a:lvl2pPr indent="0" lvl="1" marL="0" marR="0" rtl="0" algn="r">
              <a:spcBef>
                <a:spcPts val="0"/>
              </a:spcBef>
              <a:buNone/>
              <a:defRPr b="0" i="0" sz="1200" u="none" cap="none" strike="noStrike">
                <a:solidFill>
                  <a:srgbClr val="888888"/>
                </a:solidFill>
                <a:latin typeface="Malgun Gothic"/>
                <a:ea typeface="Malgun Gothic"/>
                <a:cs typeface="Malgun Gothic"/>
                <a:sym typeface="Malgun Gothic"/>
              </a:defRPr>
            </a:lvl2pPr>
            <a:lvl3pPr indent="0" lvl="2" marL="0" marR="0" rtl="0" algn="r">
              <a:spcBef>
                <a:spcPts val="0"/>
              </a:spcBef>
              <a:buNone/>
              <a:defRPr b="0" i="0" sz="1200" u="none" cap="none" strike="noStrike">
                <a:solidFill>
                  <a:srgbClr val="888888"/>
                </a:solidFill>
                <a:latin typeface="Malgun Gothic"/>
                <a:ea typeface="Malgun Gothic"/>
                <a:cs typeface="Malgun Gothic"/>
                <a:sym typeface="Malgun Gothic"/>
              </a:defRPr>
            </a:lvl3pPr>
            <a:lvl4pPr indent="0" lvl="3" marL="0" marR="0" rtl="0" algn="r">
              <a:spcBef>
                <a:spcPts val="0"/>
              </a:spcBef>
              <a:buNone/>
              <a:defRPr b="0" i="0" sz="1200" u="none" cap="none" strike="noStrike">
                <a:solidFill>
                  <a:srgbClr val="888888"/>
                </a:solidFill>
                <a:latin typeface="Malgun Gothic"/>
                <a:ea typeface="Malgun Gothic"/>
                <a:cs typeface="Malgun Gothic"/>
                <a:sym typeface="Malgun Gothic"/>
              </a:defRPr>
            </a:lvl4pPr>
            <a:lvl5pPr indent="0" lvl="4" marL="0" marR="0" rtl="0" algn="r">
              <a:spcBef>
                <a:spcPts val="0"/>
              </a:spcBef>
              <a:buNone/>
              <a:defRPr b="0" i="0" sz="1200" u="none" cap="none" strike="noStrike">
                <a:solidFill>
                  <a:srgbClr val="888888"/>
                </a:solidFill>
                <a:latin typeface="Malgun Gothic"/>
                <a:ea typeface="Malgun Gothic"/>
                <a:cs typeface="Malgun Gothic"/>
                <a:sym typeface="Malgun Gothic"/>
              </a:defRPr>
            </a:lvl5pPr>
            <a:lvl6pPr indent="0" lvl="5" marL="0" marR="0" rtl="0" algn="r">
              <a:spcBef>
                <a:spcPts val="0"/>
              </a:spcBef>
              <a:buNone/>
              <a:defRPr b="0" i="0" sz="1200" u="none" cap="none" strike="noStrike">
                <a:solidFill>
                  <a:srgbClr val="888888"/>
                </a:solidFill>
                <a:latin typeface="Malgun Gothic"/>
                <a:ea typeface="Malgun Gothic"/>
                <a:cs typeface="Malgun Gothic"/>
                <a:sym typeface="Malgun Gothic"/>
              </a:defRPr>
            </a:lvl6pPr>
            <a:lvl7pPr indent="0" lvl="6" marL="0" marR="0" rtl="0" algn="r">
              <a:spcBef>
                <a:spcPts val="0"/>
              </a:spcBef>
              <a:buNone/>
              <a:defRPr b="0" i="0" sz="1200" u="none" cap="none" strike="noStrike">
                <a:solidFill>
                  <a:srgbClr val="888888"/>
                </a:solidFill>
                <a:latin typeface="Malgun Gothic"/>
                <a:ea typeface="Malgun Gothic"/>
                <a:cs typeface="Malgun Gothic"/>
                <a:sym typeface="Malgun Gothic"/>
              </a:defRPr>
            </a:lvl7pPr>
            <a:lvl8pPr indent="0" lvl="7" marL="0" marR="0" rtl="0" algn="r">
              <a:spcBef>
                <a:spcPts val="0"/>
              </a:spcBef>
              <a:buNone/>
              <a:defRPr b="0" i="0" sz="1200" u="none" cap="none" strike="noStrike">
                <a:solidFill>
                  <a:srgbClr val="888888"/>
                </a:solidFill>
                <a:latin typeface="Malgun Gothic"/>
                <a:ea typeface="Malgun Gothic"/>
                <a:cs typeface="Malgun Gothic"/>
                <a:sym typeface="Malgun Gothic"/>
              </a:defRPr>
            </a:lvl8pPr>
            <a:lvl9pPr indent="0" lvl="8" marL="0" marR="0" rtl="0" algn="r">
              <a:spcBef>
                <a:spcPts val="0"/>
              </a:spcBef>
              <a:buNone/>
              <a:defRPr b="0" i="0" sz="1200" u="none" cap="none" strike="noStrike">
                <a:solidFill>
                  <a:srgbClr val="888888"/>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10.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gdoc.go.kr/Index.jsp" TargetMode="Externa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3.png"/><Relationship Id="rId4" Type="http://schemas.openxmlformats.org/officeDocument/2006/relationships/image" Target="../media/image27.png"/><Relationship Id="rId5" Type="http://schemas.openxmlformats.org/officeDocument/2006/relationships/image" Target="../media/image34.png"/><Relationship Id="rId6" Type="http://schemas.openxmlformats.org/officeDocument/2006/relationships/image" Target="../media/image32.png"/><Relationship Id="rId7"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Malgun Gothic"/>
              <a:buNone/>
            </a:pPr>
            <a:r>
              <a:rPr lang="en-US"/>
              <a:t>문서유통 모듈 가이드</a:t>
            </a:r>
            <a:endParaRPr/>
          </a:p>
        </p:txBody>
      </p:sp>
      <p:sp>
        <p:nvSpPr>
          <p:cNvPr id="85" name="Google Shape;85;p1"/>
          <p:cNvSpPr txBox="1"/>
          <p:nvPr/>
        </p:nvSpPr>
        <p:spPr>
          <a:xfrm>
            <a:off x="7347008" y="4423410"/>
            <a:ext cx="326003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Malgun Gothic"/>
                <a:ea typeface="Malgun Gothic"/>
                <a:cs typeface="Malgun Gothic"/>
                <a:sym typeface="Malgun Gothic"/>
              </a:rPr>
              <a:t>2021 . 0</a:t>
            </a:r>
            <a:r>
              <a:rPr lang="en-US" sz="1800">
                <a:solidFill>
                  <a:schemeClr val="dk1"/>
                </a:solidFill>
                <a:latin typeface="Malgun Gothic"/>
                <a:ea typeface="Malgun Gothic"/>
                <a:cs typeface="Malgun Gothic"/>
                <a:sym typeface="Malgun Gothic"/>
              </a:rPr>
              <a:t>5</a:t>
            </a:r>
            <a:r>
              <a:rPr b="0" i="0" lang="en-US" sz="1800" u="none" cap="none" strike="noStrike">
                <a:solidFill>
                  <a:schemeClr val="dk1"/>
                </a:solidFill>
                <a:latin typeface="Malgun Gothic"/>
                <a:ea typeface="Malgun Gothic"/>
                <a:cs typeface="Malgun Gothic"/>
                <a:sym typeface="Malgun Gothic"/>
              </a:rPr>
              <a:t> . </a:t>
            </a:r>
            <a:r>
              <a:rPr lang="en-US" sz="1800">
                <a:solidFill>
                  <a:schemeClr val="dk1"/>
                </a:solidFill>
                <a:latin typeface="Malgun Gothic"/>
                <a:ea typeface="Malgun Gothic"/>
                <a:cs typeface="Malgun Gothic"/>
                <a:sym typeface="Malgun Gothic"/>
              </a:rPr>
              <a:t>27</a:t>
            </a:r>
            <a:r>
              <a:rPr b="0" i="0" lang="en-US" sz="1800" u="none" cap="none" strike="noStrike">
                <a:solidFill>
                  <a:schemeClr val="dk1"/>
                </a:solidFill>
                <a:latin typeface="Malgun Gothic"/>
                <a:ea typeface="Malgun Gothic"/>
                <a:cs typeface="Malgun Gothic"/>
                <a:sym typeface="Malgun Gothic"/>
              </a:rPr>
              <a:t>    </a:t>
            </a:r>
            <a:r>
              <a:rPr lang="en-US" sz="1800">
                <a:solidFill>
                  <a:schemeClr val="dk1"/>
                </a:solidFill>
                <a:latin typeface="Malgun Gothic"/>
                <a:ea typeface="Malgun Gothic"/>
                <a:cs typeface="Malgun Gothic"/>
                <a:sym typeface="Malgun Gothic"/>
              </a:rPr>
              <a:t>서한별</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graphicFrame>
        <p:nvGraphicFramePr>
          <p:cNvPr id="90" name="Google Shape;90;p2"/>
          <p:cNvGraphicFramePr/>
          <p:nvPr/>
        </p:nvGraphicFramePr>
        <p:xfrm>
          <a:off x="595745" y="429491"/>
          <a:ext cx="3000000" cy="3000000"/>
        </p:xfrm>
        <a:graphic>
          <a:graphicData uri="http://schemas.openxmlformats.org/drawingml/2006/table">
            <a:tbl>
              <a:tblPr bandRow="1" firstRow="1">
                <a:noFill/>
                <a:tableStyleId>{EE4F4514-04A8-43C5-9468-27915ED40666}</a:tableStyleId>
              </a:tblPr>
              <a:tblGrid>
                <a:gridCol w="1023050"/>
                <a:gridCol w="982700"/>
                <a:gridCol w="1842550"/>
                <a:gridCol w="4381750"/>
                <a:gridCol w="1351200"/>
                <a:gridCol w="1391575"/>
              </a:tblGrid>
              <a:tr h="404150">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번호</a:t>
                      </a:r>
                      <a:endParaRPr/>
                    </a:p>
                  </a:txBody>
                  <a:tcPr marT="45725" marB="45725" marR="91450" marL="91450">
                    <a:solidFill>
                      <a:srgbClr val="BFBFBF"/>
                    </a:solidFill>
                  </a:tcPr>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버전</a:t>
                      </a:r>
                      <a:endParaRPr/>
                    </a:p>
                  </a:txBody>
                  <a:tcPr marT="45725" marB="45725" marR="91450" marL="91450">
                    <a:solidFill>
                      <a:srgbClr val="BFBFBF"/>
                    </a:solidFill>
                  </a:tcPr>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작성일</a:t>
                      </a:r>
                      <a:endParaRPr/>
                    </a:p>
                  </a:txBody>
                  <a:tcPr marT="45725" marB="45725" marR="91450" marL="91450">
                    <a:solidFill>
                      <a:srgbClr val="BFBFBF"/>
                    </a:solidFill>
                  </a:tcPr>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변경사항</a:t>
                      </a:r>
                      <a:endParaRPr/>
                    </a:p>
                  </a:txBody>
                  <a:tcPr marT="45725" marB="45725" marR="91450" marL="91450">
                    <a:solidFill>
                      <a:srgbClr val="BFBFBF"/>
                    </a:solidFill>
                  </a:tcPr>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작성자</a:t>
                      </a:r>
                      <a:endParaRPr/>
                    </a:p>
                  </a:txBody>
                  <a:tcPr marT="45725" marB="45725" marR="91450" marL="91450">
                    <a:solidFill>
                      <a:srgbClr val="BFBFBF"/>
                    </a:solidFill>
                  </a:tcPr>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승인자</a:t>
                      </a:r>
                      <a:endParaRPr/>
                    </a:p>
                  </a:txBody>
                  <a:tcPr marT="45725" marB="45725" marR="91450" marL="91450">
                    <a:solidFill>
                      <a:srgbClr val="BFBFBF"/>
                    </a:solidFill>
                  </a:tcPr>
                </a:tc>
              </a:tr>
              <a:tr h="404150">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01</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1.0</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2019.12.13</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최초 작성</a:t>
                      </a:r>
                      <a:endParaRPr/>
                    </a:p>
                  </a:txBody>
                  <a:tcPr marT="45725" marB="45725" marR="91450" marL="91450"/>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홍대표</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r>
              <a:tr h="404150">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02</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1.1</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2020.08.21</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상세항목 추가 및 보완</a:t>
                      </a:r>
                      <a:endParaRPr/>
                    </a:p>
                  </a:txBody>
                  <a:tcPr marT="45725" marB="45725" marR="91450" marL="91450"/>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강민수</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r>
              <a:tr h="404150">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03</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1.2</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2021.01.11</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설치 오류관련 보완</a:t>
                      </a:r>
                      <a:endParaRPr/>
                    </a:p>
                  </a:txBody>
                  <a:tcPr marT="45725" marB="45725" marR="91450" marL="91450"/>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김민성</a:t>
                      </a:r>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r>
              <a:tr h="404150">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04</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1.3</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2021.02.02</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설치 이후 FLOW 보완</a:t>
                      </a:r>
                      <a:endParaRPr/>
                    </a:p>
                  </a:txBody>
                  <a:tcPr marT="45725" marB="45725" marR="91450" marL="91450"/>
                </a:tc>
                <a:tc>
                  <a:txBody>
                    <a:bodyPr/>
                    <a:lstStyle/>
                    <a:p>
                      <a:pPr indent="0" lvl="0" marL="0" marR="0" rtl="0" algn="ctr">
                        <a:lnSpc>
                          <a:spcPct val="150000"/>
                        </a:lnSpc>
                        <a:spcBef>
                          <a:spcPts val="0"/>
                        </a:spcBef>
                        <a:spcAft>
                          <a:spcPts val="0"/>
                        </a:spcAft>
                        <a:buNone/>
                      </a:pPr>
                      <a:r>
                        <a:rPr lang="en-US" sz="1000" u="none" cap="none" strike="noStrike">
                          <a:latin typeface="Malgun Gothic"/>
                          <a:ea typeface="Malgun Gothic"/>
                          <a:cs typeface="Malgun Gothic"/>
                          <a:sym typeface="Malgun Gothic"/>
                        </a:rPr>
                        <a:t>정주환</a:t>
                      </a:r>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r>
              <a:tr h="404150">
                <a:tc>
                  <a:txBody>
                    <a:bodyPr/>
                    <a:lstStyle/>
                    <a:p>
                      <a:pPr indent="0" lvl="0" marL="0" marR="0" rtl="0" algn="ctr">
                        <a:lnSpc>
                          <a:spcPct val="150000"/>
                        </a:lnSpc>
                        <a:spcBef>
                          <a:spcPts val="0"/>
                        </a:spcBef>
                        <a:spcAft>
                          <a:spcPts val="0"/>
                        </a:spcAft>
                        <a:buNone/>
                      </a:pPr>
                      <a:r>
                        <a:rPr lang="en-US" sz="1000">
                          <a:latin typeface="Malgun Gothic"/>
                          <a:ea typeface="Malgun Gothic"/>
                          <a:cs typeface="Malgun Gothic"/>
                          <a:sym typeface="Malgun Gothic"/>
                        </a:rPr>
                        <a:t>05</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rPr lang="en-US" sz="1000">
                          <a:latin typeface="Malgun Gothic"/>
                          <a:ea typeface="Malgun Gothic"/>
                          <a:cs typeface="Malgun Gothic"/>
                          <a:sym typeface="Malgun Gothic"/>
                        </a:rPr>
                        <a:t>1.4</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rPr lang="en-US" sz="1000">
                          <a:latin typeface="Malgun Gothic"/>
                          <a:ea typeface="Malgun Gothic"/>
                          <a:cs typeface="Malgun Gothic"/>
                          <a:sym typeface="Malgun Gothic"/>
                        </a:rPr>
                        <a:t>2021.05.27</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rPr lang="en-US" sz="1000">
                          <a:latin typeface="Malgun Gothic"/>
                          <a:ea typeface="Malgun Gothic"/>
                          <a:cs typeface="Malgun Gothic"/>
                          <a:sym typeface="Malgun Gothic"/>
                        </a:rPr>
                        <a:t>모듈실행 방법 및 테스트 방법 보완</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rPr lang="en-US" sz="1000">
                          <a:latin typeface="Malgun Gothic"/>
                          <a:ea typeface="Malgun Gothic"/>
                          <a:cs typeface="Malgun Gothic"/>
                          <a:sym typeface="Malgun Gothic"/>
                        </a:rPr>
                        <a:t>서한별</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r>
              <a:tr h="454825">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r>
              <a:tr h="454825">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r>
              <a:tr h="454825">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r>
              <a:tr h="454825">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r>
              <a:tr h="454825">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r>
              <a:tr h="454825">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r>
              <a:tr h="454825">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r>
              <a:tr h="404150">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c>
                  <a:txBody>
                    <a:bodyPr/>
                    <a:lstStyle/>
                    <a:p>
                      <a:pPr indent="0" lvl="0" marL="0" marR="0" rtl="0" algn="ctr">
                        <a:lnSpc>
                          <a:spcPct val="150000"/>
                        </a:lnSpc>
                        <a:spcBef>
                          <a:spcPts val="0"/>
                        </a:spcBef>
                        <a:spcAft>
                          <a:spcPts val="0"/>
                        </a:spcAft>
                        <a:buNone/>
                      </a:pPr>
                      <a:r>
                        <a:t/>
                      </a:r>
                      <a:endParaRPr sz="1000" u="none" cap="none" strike="noStrike">
                        <a:latin typeface="Malgun Gothic"/>
                        <a:ea typeface="Malgun Gothic"/>
                        <a:cs typeface="Malgun Gothic"/>
                        <a:sym typeface="Malgun Gothic"/>
                      </a:endParaRPr>
                    </a:p>
                  </a:txBody>
                  <a:tcPr marT="45725" marB="45725" marR="91450" marL="91450"/>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Malgun Gothic"/>
              <a:buNone/>
            </a:pPr>
            <a:r>
              <a:rPr lang="en-US"/>
              <a:t>목차</a:t>
            </a:r>
            <a:endParaRPr/>
          </a:p>
        </p:txBody>
      </p:sp>
      <p:sp>
        <p:nvSpPr>
          <p:cNvPr id="96" name="Google Shape;96;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문서유통 FLOW</a:t>
            </a:r>
            <a:endParaRPr/>
          </a:p>
          <a:p>
            <a:pPr indent="-228600" lvl="0" marL="228600" rtl="0" algn="l">
              <a:lnSpc>
                <a:spcPct val="90000"/>
              </a:lnSpc>
              <a:spcBef>
                <a:spcPts val="1000"/>
              </a:spcBef>
              <a:spcAft>
                <a:spcPts val="0"/>
              </a:spcAft>
              <a:buClr>
                <a:schemeClr val="dk1"/>
              </a:buClr>
              <a:buSzPct val="100000"/>
              <a:buChar char="•"/>
            </a:pPr>
            <a:r>
              <a:rPr lang="en-US"/>
              <a:t>문서유통 송수신 상태값</a:t>
            </a:r>
            <a:endParaRPr/>
          </a:p>
          <a:p>
            <a:pPr indent="-228600" lvl="0" marL="228600" rtl="0" algn="l">
              <a:lnSpc>
                <a:spcPct val="90000"/>
              </a:lnSpc>
              <a:spcBef>
                <a:spcPts val="1000"/>
              </a:spcBef>
              <a:spcAft>
                <a:spcPts val="0"/>
              </a:spcAft>
              <a:buClr>
                <a:schemeClr val="dk1"/>
              </a:buClr>
              <a:buSzPct val="100000"/>
              <a:buChar char="•"/>
            </a:pPr>
            <a:r>
              <a:rPr lang="en-US"/>
              <a:t>유통모듈 설치전 준비항목</a:t>
            </a:r>
            <a:endParaRPr/>
          </a:p>
          <a:p>
            <a:pPr indent="-228600" lvl="0" marL="228600" rtl="0" algn="l">
              <a:lnSpc>
                <a:spcPct val="90000"/>
              </a:lnSpc>
              <a:spcBef>
                <a:spcPts val="1000"/>
              </a:spcBef>
              <a:spcAft>
                <a:spcPts val="0"/>
              </a:spcAft>
              <a:buClr>
                <a:schemeClr val="dk1"/>
              </a:buClr>
              <a:buSzPct val="100000"/>
              <a:buChar char="•"/>
            </a:pPr>
            <a:r>
              <a:rPr lang="en-US"/>
              <a:t>유통모듈 설치</a:t>
            </a:r>
            <a:endParaRPr/>
          </a:p>
          <a:p>
            <a:pPr indent="-228600" lvl="0" marL="228600" rtl="0" algn="l">
              <a:lnSpc>
                <a:spcPct val="90000"/>
              </a:lnSpc>
              <a:spcBef>
                <a:spcPts val="1000"/>
              </a:spcBef>
              <a:spcAft>
                <a:spcPts val="0"/>
              </a:spcAft>
              <a:buClr>
                <a:schemeClr val="dk1"/>
              </a:buClr>
              <a:buSzPct val="100000"/>
              <a:buChar char="•"/>
            </a:pPr>
            <a:r>
              <a:rPr lang="en-US"/>
              <a:t>유통모듈 서버작업</a:t>
            </a:r>
            <a:endParaRPr/>
          </a:p>
          <a:p>
            <a:pPr indent="-228600" lvl="0" marL="228600" rtl="0" algn="l">
              <a:lnSpc>
                <a:spcPct val="90000"/>
              </a:lnSpc>
              <a:spcBef>
                <a:spcPts val="1000"/>
              </a:spcBef>
              <a:spcAft>
                <a:spcPts val="0"/>
              </a:spcAft>
              <a:buClr>
                <a:schemeClr val="dk1"/>
              </a:buClr>
              <a:buSzPct val="100000"/>
              <a:buChar char="•"/>
            </a:pPr>
            <a:r>
              <a:rPr lang="en-US"/>
              <a:t>그룹웨어 서버작업</a:t>
            </a:r>
            <a:endParaRPr/>
          </a:p>
          <a:p>
            <a:pPr indent="-228600" lvl="0" marL="228600" rtl="0" algn="l">
              <a:lnSpc>
                <a:spcPct val="90000"/>
              </a:lnSpc>
              <a:spcBef>
                <a:spcPts val="1000"/>
              </a:spcBef>
              <a:spcAft>
                <a:spcPts val="0"/>
              </a:spcAft>
              <a:buClr>
                <a:schemeClr val="dk1"/>
              </a:buClr>
              <a:buSzPct val="100000"/>
              <a:buChar char="•"/>
            </a:pPr>
            <a:r>
              <a:rPr lang="en-US"/>
              <a:t>설정 확인</a:t>
            </a:r>
            <a:endParaRPr/>
          </a:p>
          <a:p>
            <a:pPr indent="-228600" lvl="0" marL="228600" rtl="0" algn="l">
              <a:lnSpc>
                <a:spcPct val="90000"/>
              </a:lnSpc>
              <a:spcBef>
                <a:spcPts val="1000"/>
              </a:spcBef>
              <a:spcAft>
                <a:spcPts val="0"/>
              </a:spcAft>
              <a:buClr>
                <a:schemeClr val="dk1"/>
              </a:buClr>
              <a:buSzPct val="100000"/>
              <a:buChar char="•"/>
            </a:pPr>
            <a:r>
              <a:rPr lang="en-US"/>
              <a:t>문서유통 관련 오류</a:t>
            </a:r>
            <a:endParaRPr/>
          </a:p>
          <a:p>
            <a:pPr indent="-228600" lvl="0" marL="228600" rtl="0" algn="l">
              <a:lnSpc>
                <a:spcPct val="90000"/>
              </a:lnSpc>
              <a:spcBef>
                <a:spcPts val="1000"/>
              </a:spcBef>
              <a:spcAft>
                <a:spcPts val="0"/>
              </a:spcAft>
              <a:buClr>
                <a:schemeClr val="dk1"/>
              </a:buClr>
              <a:buSzPct val="100000"/>
              <a:buChar char="•"/>
            </a:pPr>
            <a:r>
              <a:rPr lang="en-US"/>
              <a:t>문서유통 운영 참고사항</a:t>
            </a:r>
            <a:endParaRPr/>
          </a:p>
          <a:p>
            <a:pPr indent="-228600" lvl="0" marL="228600" rtl="0" algn="l">
              <a:lnSpc>
                <a:spcPct val="90000"/>
              </a:lnSpc>
              <a:spcBef>
                <a:spcPts val="1000"/>
              </a:spcBef>
              <a:spcAft>
                <a:spcPts val="0"/>
              </a:spcAft>
              <a:buClr>
                <a:schemeClr val="dk1"/>
              </a:buClr>
              <a:buSzPct val="100000"/>
              <a:buChar char="•"/>
            </a:pPr>
            <a:r>
              <a:rPr lang="en-US"/>
              <a:t>유통 FLOW 별지</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p:nvPr/>
        </p:nvSpPr>
        <p:spPr>
          <a:xfrm>
            <a:off x="181926" y="1101021"/>
            <a:ext cx="466660" cy="5586857"/>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Malgun Gothic"/>
                <a:ea typeface="Malgun Gothic"/>
                <a:cs typeface="Malgun Gothic"/>
                <a:sym typeface="Malgun Gothic"/>
              </a:rPr>
              <a:t>송/수신처</a:t>
            </a:r>
            <a:endParaRPr/>
          </a:p>
        </p:txBody>
      </p:sp>
      <p:sp>
        <p:nvSpPr>
          <p:cNvPr id="102" name="Google Shape;102;p4"/>
          <p:cNvSpPr/>
          <p:nvPr/>
        </p:nvSpPr>
        <p:spPr>
          <a:xfrm>
            <a:off x="4413684" y="1101021"/>
            <a:ext cx="466660" cy="5586857"/>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Malgun Gothic"/>
                <a:ea typeface="Malgun Gothic"/>
                <a:cs typeface="Malgun Gothic"/>
                <a:sym typeface="Malgun Gothic"/>
              </a:rPr>
              <a:t>유통센터</a:t>
            </a:r>
            <a:endParaRPr/>
          </a:p>
        </p:txBody>
      </p:sp>
      <p:sp>
        <p:nvSpPr>
          <p:cNvPr id="103" name="Google Shape;103;p4"/>
          <p:cNvSpPr/>
          <p:nvPr/>
        </p:nvSpPr>
        <p:spPr>
          <a:xfrm>
            <a:off x="2027731" y="1196174"/>
            <a:ext cx="2235480" cy="478465"/>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04" name="Google Shape;104;p4"/>
          <p:cNvSpPr/>
          <p:nvPr/>
        </p:nvSpPr>
        <p:spPr>
          <a:xfrm rot="10800000">
            <a:off x="805853" y="2020751"/>
            <a:ext cx="3376270" cy="478465"/>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05" name="Google Shape;105;p4"/>
          <p:cNvSpPr/>
          <p:nvPr/>
        </p:nvSpPr>
        <p:spPr>
          <a:xfrm>
            <a:off x="2145862" y="1674639"/>
            <a:ext cx="21252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XML ,</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ACK : send/resend (재)발송</a:t>
            </a:r>
            <a:endParaRPr/>
          </a:p>
        </p:txBody>
      </p:sp>
      <p:pic>
        <p:nvPicPr>
          <p:cNvPr id="106" name="Google Shape;106;p4"/>
          <p:cNvPicPr preferRelativeResize="0"/>
          <p:nvPr/>
        </p:nvPicPr>
        <p:blipFill rotWithShape="1">
          <a:blip r:embed="rId3">
            <a:alphaModFix/>
          </a:blip>
          <a:srcRect b="0" l="0" r="0" t="0"/>
          <a:stretch/>
        </p:blipFill>
        <p:spPr>
          <a:xfrm>
            <a:off x="6203515" y="1392320"/>
            <a:ext cx="818334" cy="779366"/>
          </a:xfrm>
          <a:prstGeom prst="rect">
            <a:avLst/>
          </a:prstGeom>
          <a:noFill/>
          <a:ln>
            <a:noFill/>
          </a:ln>
        </p:spPr>
      </p:pic>
      <p:sp>
        <p:nvSpPr>
          <p:cNvPr id="107" name="Google Shape;107;p4"/>
          <p:cNvSpPr/>
          <p:nvPr/>
        </p:nvSpPr>
        <p:spPr>
          <a:xfrm>
            <a:off x="6078268" y="2147784"/>
            <a:ext cx="1068827"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FF0000"/>
                </a:solidFill>
                <a:latin typeface="Malgun Gothic"/>
                <a:ea typeface="Malgun Gothic"/>
                <a:cs typeface="Malgun Gothic"/>
                <a:sym typeface="Malgun Gothic"/>
              </a:rPr>
              <a:t>receivetemp </a:t>
            </a:r>
            <a:endParaRPr/>
          </a:p>
        </p:txBody>
      </p:sp>
      <p:pic>
        <p:nvPicPr>
          <p:cNvPr id="108" name="Google Shape;108;p4"/>
          <p:cNvPicPr preferRelativeResize="0"/>
          <p:nvPr/>
        </p:nvPicPr>
        <p:blipFill rotWithShape="1">
          <a:blip r:embed="rId3">
            <a:alphaModFix/>
          </a:blip>
          <a:srcRect b="0" l="0" r="0" t="0"/>
          <a:stretch/>
        </p:blipFill>
        <p:spPr>
          <a:xfrm>
            <a:off x="884177" y="1027903"/>
            <a:ext cx="818334" cy="779366"/>
          </a:xfrm>
          <a:prstGeom prst="rect">
            <a:avLst/>
          </a:prstGeom>
          <a:noFill/>
          <a:ln>
            <a:noFill/>
          </a:ln>
        </p:spPr>
      </p:pic>
      <p:sp>
        <p:nvSpPr>
          <p:cNvPr id="109" name="Google Shape;109;p4"/>
          <p:cNvSpPr/>
          <p:nvPr/>
        </p:nvSpPr>
        <p:spPr>
          <a:xfrm>
            <a:off x="635732" y="1780524"/>
            <a:ext cx="1549617"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FF0000"/>
                </a:solidFill>
                <a:latin typeface="Malgun Gothic"/>
                <a:ea typeface="Malgun Gothic"/>
                <a:cs typeface="Malgun Gothic"/>
                <a:sym typeface="Malgun Gothic"/>
              </a:rPr>
              <a:t>sendtemp -&gt; send</a:t>
            </a:r>
            <a:endParaRPr/>
          </a:p>
        </p:txBody>
      </p:sp>
      <p:sp>
        <p:nvSpPr>
          <p:cNvPr id="110" name="Google Shape;110;p4"/>
          <p:cNvSpPr/>
          <p:nvPr/>
        </p:nvSpPr>
        <p:spPr>
          <a:xfrm>
            <a:off x="4996904" y="1201487"/>
            <a:ext cx="957328" cy="478465"/>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11" name="Google Shape;111;p4"/>
          <p:cNvSpPr/>
          <p:nvPr/>
        </p:nvSpPr>
        <p:spPr>
          <a:xfrm>
            <a:off x="5006197" y="1679952"/>
            <a:ext cx="93874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XML 저장</a:t>
            </a:r>
            <a:endParaRPr/>
          </a:p>
        </p:txBody>
      </p:sp>
      <p:sp>
        <p:nvSpPr>
          <p:cNvPr id="112" name="Google Shape;112;p4"/>
          <p:cNvSpPr/>
          <p:nvPr/>
        </p:nvSpPr>
        <p:spPr>
          <a:xfrm rot="10800000">
            <a:off x="4996904" y="2010116"/>
            <a:ext cx="938742" cy="478465"/>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13" name="Google Shape;113;p4"/>
          <p:cNvSpPr/>
          <p:nvPr/>
        </p:nvSpPr>
        <p:spPr>
          <a:xfrm>
            <a:off x="5020185" y="2490813"/>
            <a:ext cx="1361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ACK : arrive 도달</a:t>
            </a:r>
            <a:endParaRPr/>
          </a:p>
        </p:txBody>
      </p:sp>
      <p:sp>
        <p:nvSpPr>
          <p:cNvPr id="114" name="Google Shape;114;p4"/>
          <p:cNvSpPr/>
          <p:nvPr/>
        </p:nvSpPr>
        <p:spPr>
          <a:xfrm>
            <a:off x="2027639" y="2501449"/>
            <a:ext cx="1361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ACK : arrive 도달</a:t>
            </a:r>
            <a:endParaRPr/>
          </a:p>
        </p:txBody>
      </p:sp>
      <p:sp>
        <p:nvSpPr>
          <p:cNvPr id="115" name="Google Shape;115;p4"/>
          <p:cNvSpPr/>
          <p:nvPr/>
        </p:nvSpPr>
        <p:spPr>
          <a:xfrm>
            <a:off x="7322809" y="1609447"/>
            <a:ext cx="850413" cy="418011"/>
          </a:xfrm>
          <a:prstGeom prst="rightArrow">
            <a:avLst>
              <a:gd fmla="val 50000" name="adj1"/>
              <a:gd fmla="val 50000" name="adj2"/>
            </a:avLst>
          </a:prstGeom>
          <a:solidFill>
            <a:srgbClr val="92D05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116" name="Google Shape;116;p4"/>
          <p:cNvGrpSpPr/>
          <p:nvPr/>
        </p:nvGrpSpPr>
        <p:grpSpPr>
          <a:xfrm>
            <a:off x="8298469" y="1201487"/>
            <a:ext cx="3568878" cy="3484142"/>
            <a:chOff x="3707581" y="1461365"/>
            <a:chExt cx="3568878" cy="3484142"/>
          </a:xfrm>
        </p:grpSpPr>
        <p:pic>
          <p:nvPicPr>
            <p:cNvPr id="117" name="Google Shape;117;p4"/>
            <p:cNvPicPr preferRelativeResize="0"/>
            <p:nvPr/>
          </p:nvPicPr>
          <p:blipFill rotWithShape="1">
            <a:blip r:embed="rId4">
              <a:alphaModFix/>
            </a:blip>
            <a:srcRect b="0" l="0" r="0" t="0"/>
            <a:stretch/>
          </p:blipFill>
          <p:spPr>
            <a:xfrm>
              <a:off x="5774780" y="1612112"/>
              <a:ext cx="838200" cy="895350"/>
            </a:xfrm>
            <a:prstGeom prst="rect">
              <a:avLst/>
            </a:prstGeom>
            <a:noFill/>
            <a:ln>
              <a:noFill/>
            </a:ln>
          </p:spPr>
        </p:pic>
        <p:pic>
          <p:nvPicPr>
            <p:cNvPr id="118" name="Google Shape;118;p4"/>
            <p:cNvPicPr preferRelativeResize="0"/>
            <p:nvPr/>
          </p:nvPicPr>
          <p:blipFill rotWithShape="1">
            <a:blip r:embed="rId3">
              <a:alphaModFix/>
            </a:blip>
            <a:srcRect b="0" l="0" r="0" t="0"/>
            <a:stretch/>
          </p:blipFill>
          <p:spPr>
            <a:xfrm>
              <a:off x="3953842" y="1728096"/>
              <a:ext cx="818334" cy="779366"/>
            </a:xfrm>
            <a:prstGeom prst="rect">
              <a:avLst/>
            </a:prstGeom>
            <a:noFill/>
            <a:ln>
              <a:noFill/>
            </a:ln>
          </p:spPr>
        </p:pic>
        <p:sp>
          <p:nvSpPr>
            <p:cNvPr id="119" name="Google Shape;119;p4"/>
            <p:cNvSpPr/>
            <p:nvPr/>
          </p:nvSpPr>
          <p:spPr>
            <a:xfrm>
              <a:off x="3833412" y="2507462"/>
              <a:ext cx="108561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FF0000"/>
                  </a:solidFill>
                  <a:latin typeface="Malgun Gothic"/>
                  <a:ea typeface="Malgun Gothic"/>
                  <a:cs typeface="Malgun Gothic"/>
                  <a:sym typeface="Malgun Gothic"/>
                </a:rPr>
                <a:t>receiveComp</a:t>
              </a:r>
              <a:endParaRPr sz="1200">
                <a:solidFill>
                  <a:srgbClr val="FF0000"/>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rgbClr val="FF0000"/>
                  </a:solidFill>
                  <a:latin typeface="Malgun Gothic"/>
                  <a:ea typeface="Malgun Gothic"/>
                  <a:cs typeface="Malgun Gothic"/>
                  <a:sym typeface="Malgun Gothic"/>
                </a:rPr>
                <a:t>receive</a:t>
              </a:r>
              <a:endParaRPr/>
            </a:p>
          </p:txBody>
        </p:sp>
        <p:sp>
          <p:nvSpPr>
            <p:cNvPr id="120" name="Google Shape;120;p4"/>
            <p:cNvSpPr/>
            <p:nvPr/>
          </p:nvSpPr>
          <p:spPr>
            <a:xfrm>
              <a:off x="5481931" y="2523160"/>
              <a:ext cx="155061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FF0000"/>
                  </a:solidFill>
                  <a:latin typeface="Malgun Gothic"/>
                  <a:ea typeface="Malgun Gothic"/>
                  <a:cs typeface="Malgun Gothic"/>
                  <a:sym typeface="Malgun Gothic"/>
                </a:rPr>
                <a:t>TBL_RECRELAYINFO</a:t>
              </a:r>
              <a:endParaRPr/>
            </a:p>
            <a:p>
              <a:pPr indent="0" lvl="0" marL="0" marR="0" rtl="0" algn="l">
                <a:spcBef>
                  <a:spcPts val="0"/>
                </a:spcBef>
                <a:spcAft>
                  <a:spcPts val="0"/>
                </a:spcAft>
                <a:buNone/>
              </a:pPr>
              <a:r>
                <a:rPr lang="en-US" sz="1200">
                  <a:solidFill>
                    <a:srgbClr val="FF0000"/>
                  </a:solidFill>
                  <a:latin typeface="Malgun Gothic"/>
                  <a:ea typeface="Malgun Gothic"/>
                  <a:cs typeface="Malgun Gothic"/>
                  <a:sym typeface="Malgun Gothic"/>
                </a:rPr>
                <a:t>TBL_APRDOCINFO</a:t>
              </a:r>
              <a:endParaRPr/>
            </a:p>
            <a:p>
              <a:pPr indent="0" lvl="0" marL="0" marR="0" rtl="0" algn="l">
                <a:spcBef>
                  <a:spcPts val="0"/>
                </a:spcBef>
                <a:spcAft>
                  <a:spcPts val="0"/>
                </a:spcAft>
                <a:buNone/>
              </a:pPr>
              <a:r>
                <a:rPr lang="en-US" sz="1200">
                  <a:solidFill>
                    <a:srgbClr val="FF0000"/>
                  </a:solidFill>
                  <a:latin typeface="Malgun Gothic"/>
                  <a:ea typeface="Malgun Gothic"/>
                  <a:cs typeface="Malgun Gothic"/>
                  <a:sym typeface="Malgun Gothic"/>
                </a:rPr>
                <a:t>(HREF = ‘’)</a:t>
              </a:r>
              <a:endParaRPr/>
            </a:p>
          </p:txBody>
        </p:sp>
        <p:sp>
          <p:nvSpPr>
            <p:cNvPr id="121" name="Google Shape;121;p4"/>
            <p:cNvSpPr/>
            <p:nvPr/>
          </p:nvSpPr>
          <p:spPr>
            <a:xfrm>
              <a:off x="3852701" y="4289777"/>
              <a:ext cx="330981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FF0000"/>
                  </a:solidFill>
                  <a:latin typeface="Malgun Gothic"/>
                  <a:ea typeface="Malgun Gothic"/>
                  <a:cs typeface="Malgun Gothic"/>
                  <a:sym typeface="Malgun Gothic"/>
                </a:rPr>
                <a:t>upload_approvalG\회사코드\ExDocXML</a:t>
              </a:r>
              <a:endParaRPr sz="1200">
                <a:solidFill>
                  <a:srgbClr val="FF0000"/>
                </a:solidFill>
                <a:latin typeface="Malgun Gothic"/>
                <a:ea typeface="Malgun Gothic"/>
                <a:cs typeface="Malgun Gothic"/>
                <a:sym typeface="Malgun Gothic"/>
              </a:endParaRPr>
            </a:p>
          </p:txBody>
        </p:sp>
        <p:pic>
          <p:nvPicPr>
            <p:cNvPr id="122" name="Google Shape;122;p4"/>
            <p:cNvPicPr preferRelativeResize="0"/>
            <p:nvPr/>
          </p:nvPicPr>
          <p:blipFill rotWithShape="1">
            <a:blip r:embed="rId3">
              <a:alphaModFix/>
            </a:blip>
            <a:srcRect b="0" l="0" r="0" t="0"/>
            <a:stretch/>
          </p:blipFill>
          <p:spPr>
            <a:xfrm>
              <a:off x="4772176" y="3438429"/>
              <a:ext cx="818334" cy="779366"/>
            </a:xfrm>
            <a:prstGeom prst="rect">
              <a:avLst/>
            </a:prstGeom>
            <a:noFill/>
            <a:ln>
              <a:noFill/>
            </a:ln>
          </p:spPr>
        </p:pic>
        <p:sp>
          <p:nvSpPr>
            <p:cNvPr id="123" name="Google Shape;123;p4"/>
            <p:cNvSpPr/>
            <p:nvPr/>
          </p:nvSpPr>
          <p:spPr>
            <a:xfrm>
              <a:off x="3707581" y="1461365"/>
              <a:ext cx="3568878" cy="3484142"/>
            </a:xfrm>
            <a:prstGeom prst="rect">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124" name="Google Shape;124;p4"/>
          <p:cNvSpPr/>
          <p:nvPr/>
        </p:nvSpPr>
        <p:spPr>
          <a:xfrm>
            <a:off x="7253410" y="2109084"/>
            <a:ext cx="93874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수신 처리</a:t>
            </a:r>
            <a:endParaRPr/>
          </a:p>
        </p:txBody>
      </p:sp>
      <p:sp>
        <p:nvSpPr>
          <p:cNvPr id="125" name="Google Shape;125;p4"/>
          <p:cNvSpPr/>
          <p:nvPr/>
        </p:nvSpPr>
        <p:spPr>
          <a:xfrm rot="10800000">
            <a:off x="5030818" y="3355975"/>
            <a:ext cx="3185097" cy="478465"/>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26" name="Google Shape;126;p4"/>
          <p:cNvSpPr/>
          <p:nvPr/>
        </p:nvSpPr>
        <p:spPr>
          <a:xfrm>
            <a:off x="6099089" y="3834440"/>
            <a:ext cx="146014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ACK : receive 수신</a:t>
            </a:r>
            <a:endParaRPr/>
          </a:p>
        </p:txBody>
      </p:sp>
      <p:sp>
        <p:nvSpPr>
          <p:cNvPr id="127" name="Google Shape;127;p4"/>
          <p:cNvSpPr/>
          <p:nvPr/>
        </p:nvSpPr>
        <p:spPr>
          <a:xfrm rot="10800000">
            <a:off x="797895" y="3366609"/>
            <a:ext cx="3376269" cy="478465"/>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28" name="Google Shape;128;p4"/>
          <p:cNvSpPr/>
          <p:nvPr/>
        </p:nvSpPr>
        <p:spPr>
          <a:xfrm>
            <a:off x="1964245" y="3845076"/>
            <a:ext cx="146014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ACK : receive 수신</a:t>
            </a:r>
            <a:endParaRPr/>
          </a:p>
        </p:txBody>
      </p:sp>
      <p:pic>
        <p:nvPicPr>
          <p:cNvPr id="129" name="Google Shape;129;p4"/>
          <p:cNvPicPr preferRelativeResize="0"/>
          <p:nvPr/>
        </p:nvPicPr>
        <p:blipFill rotWithShape="1">
          <a:blip r:embed="rId5">
            <a:alphaModFix/>
          </a:blip>
          <a:srcRect b="0" l="0" r="0" t="0"/>
          <a:stretch/>
        </p:blipFill>
        <p:spPr>
          <a:xfrm>
            <a:off x="6289714" y="4484336"/>
            <a:ext cx="1081185" cy="969500"/>
          </a:xfrm>
          <a:prstGeom prst="rect">
            <a:avLst/>
          </a:prstGeom>
          <a:noFill/>
          <a:ln>
            <a:noFill/>
          </a:ln>
        </p:spPr>
      </p:pic>
      <p:sp>
        <p:nvSpPr>
          <p:cNvPr id="130" name="Google Shape;130;p4"/>
          <p:cNvSpPr/>
          <p:nvPr/>
        </p:nvSpPr>
        <p:spPr>
          <a:xfrm rot="7828115">
            <a:off x="7630598" y="4288027"/>
            <a:ext cx="478972" cy="418011"/>
          </a:xfrm>
          <a:prstGeom prst="rightArrow">
            <a:avLst>
              <a:gd fmla="val 50000" name="adj1"/>
              <a:gd fmla="val 50000" name="adj2"/>
            </a:avLst>
          </a:prstGeom>
          <a:solidFill>
            <a:srgbClr val="92D05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31" name="Google Shape;131;p4"/>
          <p:cNvSpPr/>
          <p:nvPr/>
        </p:nvSpPr>
        <p:spPr>
          <a:xfrm>
            <a:off x="7589762" y="4804333"/>
            <a:ext cx="177330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최초 문서 확인</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rgbClr val="FF0000"/>
                </a:solidFill>
                <a:latin typeface="Malgun Gothic"/>
                <a:ea typeface="Malgun Gothic"/>
                <a:cs typeface="Malgun Gothic"/>
                <a:sym typeface="Malgun Gothic"/>
              </a:rPr>
              <a:t>(Href 등록, MHT 생성)</a:t>
            </a:r>
            <a:endParaRPr/>
          </a:p>
        </p:txBody>
      </p:sp>
      <p:sp>
        <p:nvSpPr>
          <p:cNvPr id="132" name="Google Shape;132;p4"/>
          <p:cNvSpPr/>
          <p:nvPr/>
        </p:nvSpPr>
        <p:spPr>
          <a:xfrm rot="10800000">
            <a:off x="4996904" y="4824004"/>
            <a:ext cx="938742" cy="478465"/>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33" name="Google Shape;133;p4"/>
          <p:cNvSpPr/>
          <p:nvPr/>
        </p:nvSpPr>
        <p:spPr>
          <a:xfrm>
            <a:off x="4907827" y="5304701"/>
            <a:ext cx="142962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ACK : accept 접수</a:t>
            </a:r>
            <a:endParaRPr/>
          </a:p>
        </p:txBody>
      </p:sp>
      <p:sp>
        <p:nvSpPr>
          <p:cNvPr id="134" name="Google Shape;134;p4"/>
          <p:cNvSpPr/>
          <p:nvPr/>
        </p:nvSpPr>
        <p:spPr>
          <a:xfrm rot="10800000">
            <a:off x="805853" y="4834638"/>
            <a:ext cx="3376270" cy="478465"/>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35" name="Google Shape;135;p4"/>
          <p:cNvSpPr/>
          <p:nvPr/>
        </p:nvSpPr>
        <p:spPr>
          <a:xfrm>
            <a:off x="1979326" y="5315337"/>
            <a:ext cx="142962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ACK : accept 접수</a:t>
            </a:r>
            <a:endParaRPr/>
          </a:p>
        </p:txBody>
      </p:sp>
      <p:pic>
        <p:nvPicPr>
          <p:cNvPr id="136" name="Google Shape;136;p4"/>
          <p:cNvPicPr preferRelativeResize="0"/>
          <p:nvPr/>
        </p:nvPicPr>
        <p:blipFill rotWithShape="1">
          <a:blip r:embed="rId5">
            <a:alphaModFix/>
          </a:blip>
          <a:srcRect b="0" l="0" r="0" t="0"/>
          <a:stretch/>
        </p:blipFill>
        <p:spPr>
          <a:xfrm>
            <a:off x="6269711" y="5644001"/>
            <a:ext cx="1085122" cy="973030"/>
          </a:xfrm>
          <a:prstGeom prst="rect">
            <a:avLst/>
          </a:prstGeom>
          <a:noFill/>
          <a:ln>
            <a:noFill/>
          </a:ln>
        </p:spPr>
      </p:pic>
      <p:sp>
        <p:nvSpPr>
          <p:cNvPr id="137" name="Google Shape;137;p4"/>
          <p:cNvSpPr/>
          <p:nvPr/>
        </p:nvSpPr>
        <p:spPr>
          <a:xfrm>
            <a:off x="7650431" y="6130516"/>
            <a:ext cx="130346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재전송 요청</a:t>
            </a:r>
            <a:endParaRPr sz="1200">
              <a:solidFill>
                <a:srgbClr val="FF0000"/>
              </a:solidFill>
              <a:latin typeface="Malgun Gothic"/>
              <a:ea typeface="Malgun Gothic"/>
              <a:cs typeface="Malgun Gothic"/>
              <a:sym typeface="Malgun Gothic"/>
            </a:endParaRPr>
          </a:p>
        </p:txBody>
      </p:sp>
      <p:sp>
        <p:nvSpPr>
          <p:cNvPr id="138" name="Google Shape;138;p4"/>
          <p:cNvSpPr/>
          <p:nvPr/>
        </p:nvSpPr>
        <p:spPr>
          <a:xfrm rot="10800000">
            <a:off x="4996904" y="5805003"/>
            <a:ext cx="938742" cy="478465"/>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39" name="Google Shape;139;p4"/>
          <p:cNvSpPr/>
          <p:nvPr/>
        </p:nvSpPr>
        <p:spPr>
          <a:xfrm>
            <a:off x="4926315" y="6285700"/>
            <a:ext cx="142526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ACK : req-resend </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재발송요청</a:t>
            </a:r>
            <a:endParaRPr sz="1200">
              <a:solidFill>
                <a:schemeClr val="dk1"/>
              </a:solidFill>
              <a:latin typeface="Malgun Gothic"/>
              <a:ea typeface="Malgun Gothic"/>
              <a:cs typeface="Malgun Gothic"/>
              <a:sym typeface="Malgun Gothic"/>
            </a:endParaRPr>
          </a:p>
        </p:txBody>
      </p:sp>
      <p:sp>
        <p:nvSpPr>
          <p:cNvPr id="140" name="Google Shape;140;p4"/>
          <p:cNvSpPr/>
          <p:nvPr/>
        </p:nvSpPr>
        <p:spPr>
          <a:xfrm rot="10800000">
            <a:off x="805853" y="5794372"/>
            <a:ext cx="3376270" cy="478465"/>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1" name="Google Shape;141;p4"/>
          <p:cNvSpPr/>
          <p:nvPr/>
        </p:nvSpPr>
        <p:spPr>
          <a:xfrm>
            <a:off x="2019062" y="6275071"/>
            <a:ext cx="142526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ACK : req-resend </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재발송요청</a:t>
            </a:r>
            <a:endParaRPr sz="1200">
              <a:solidFill>
                <a:schemeClr val="dk1"/>
              </a:solidFill>
              <a:latin typeface="Malgun Gothic"/>
              <a:ea typeface="Malgun Gothic"/>
              <a:cs typeface="Malgun Gothic"/>
              <a:sym typeface="Malgun Gothic"/>
            </a:endParaRPr>
          </a:p>
        </p:txBody>
      </p:sp>
      <p:sp>
        <p:nvSpPr>
          <p:cNvPr id="142" name="Google Shape;142;p4"/>
          <p:cNvSpPr/>
          <p:nvPr/>
        </p:nvSpPr>
        <p:spPr>
          <a:xfrm>
            <a:off x="8636741" y="823514"/>
            <a:ext cx="256712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Malgun Gothic"/>
                <a:ea typeface="Malgun Gothic"/>
                <a:cs typeface="Malgun Gothic"/>
                <a:sym typeface="Malgun Gothic"/>
              </a:rPr>
              <a:t>EzApprovalGRelayScheduler</a:t>
            </a:r>
            <a:endParaRPr b="1" sz="1050">
              <a:solidFill>
                <a:srgbClr val="FF0000"/>
              </a:solidFill>
              <a:latin typeface="Malgun Gothic"/>
              <a:ea typeface="Malgun Gothic"/>
              <a:cs typeface="Malgun Gothic"/>
              <a:sym typeface="Malgun Gothic"/>
            </a:endParaRPr>
          </a:p>
        </p:txBody>
      </p:sp>
      <p:sp>
        <p:nvSpPr>
          <p:cNvPr id="143" name="Google Shape;143;p4"/>
          <p:cNvSpPr/>
          <p:nvPr/>
        </p:nvSpPr>
        <p:spPr>
          <a:xfrm>
            <a:off x="54998" y="217042"/>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Malgun Gothic"/>
                <a:ea typeface="Malgun Gothic"/>
                <a:cs typeface="Malgun Gothic"/>
                <a:sym typeface="Malgun Gothic"/>
              </a:rPr>
              <a:t>문서유통 FLOW</a:t>
            </a:r>
            <a:endParaRPr sz="1800">
              <a:solidFill>
                <a:schemeClr val="dk1"/>
              </a:solidFill>
              <a:latin typeface="Malgun Gothic"/>
              <a:ea typeface="Malgun Gothic"/>
              <a:cs typeface="Malgun Gothic"/>
              <a:sym typeface="Malgun Gothic"/>
            </a:endParaRPr>
          </a:p>
        </p:txBody>
      </p:sp>
      <p:sp>
        <p:nvSpPr>
          <p:cNvPr id="144" name="Google Shape;144;p4"/>
          <p:cNvSpPr/>
          <p:nvPr/>
        </p:nvSpPr>
        <p:spPr>
          <a:xfrm>
            <a:off x="4907827" y="4507108"/>
            <a:ext cx="131638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접수버튼 클릭시</a:t>
            </a:r>
            <a:endParaRPr sz="1200">
              <a:solidFill>
                <a:schemeClr val="dk1"/>
              </a:solidFill>
              <a:latin typeface="Malgun Gothic"/>
              <a:ea typeface="Malgun Gothic"/>
              <a:cs typeface="Malgun Gothic"/>
              <a:sym typeface="Malgun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5"/>
          <p:cNvSpPr/>
          <p:nvPr/>
        </p:nvSpPr>
        <p:spPr>
          <a:xfrm>
            <a:off x="54997" y="217042"/>
            <a:ext cx="112400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Malgun Gothic"/>
                <a:ea typeface="Malgun Gothic"/>
                <a:cs typeface="Malgun Gothic"/>
                <a:sym typeface="Malgun Gothic"/>
              </a:rPr>
              <a:t>문서 유통 송수신 상태값</a:t>
            </a:r>
            <a:endParaRPr sz="1800">
              <a:solidFill>
                <a:schemeClr val="dk1"/>
              </a:solidFill>
              <a:latin typeface="Malgun Gothic"/>
              <a:ea typeface="Malgun Gothic"/>
              <a:cs typeface="Malgun Gothic"/>
              <a:sym typeface="Malgun Gothic"/>
            </a:endParaRPr>
          </a:p>
        </p:txBody>
      </p:sp>
      <p:pic>
        <p:nvPicPr>
          <p:cNvPr id="150" name="Google Shape;150;p5"/>
          <p:cNvPicPr preferRelativeResize="0"/>
          <p:nvPr/>
        </p:nvPicPr>
        <p:blipFill rotWithShape="1">
          <a:blip r:embed="rId3">
            <a:alphaModFix/>
          </a:blip>
          <a:srcRect b="0" l="0" r="0" t="0"/>
          <a:stretch/>
        </p:blipFill>
        <p:spPr>
          <a:xfrm>
            <a:off x="236722" y="661851"/>
            <a:ext cx="4355296" cy="5738949"/>
          </a:xfrm>
          <a:prstGeom prst="rect">
            <a:avLst/>
          </a:prstGeom>
          <a:noFill/>
          <a:ln>
            <a:noFill/>
          </a:ln>
        </p:spPr>
      </p:pic>
      <p:sp>
        <p:nvSpPr>
          <p:cNvPr id="151" name="Google Shape;151;p5"/>
          <p:cNvSpPr/>
          <p:nvPr/>
        </p:nvSpPr>
        <p:spPr>
          <a:xfrm>
            <a:off x="9626629" y="2077386"/>
            <a:ext cx="2201244"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Malgun Gothic"/>
                <a:ea typeface="Malgun Gothic"/>
                <a:cs typeface="Malgun Gothic"/>
                <a:sym typeface="Malgun Gothic"/>
              </a:rPr>
              <a:t>참고문서 : </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20190208_정부 </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전자문서 유통표준(전문).hwp</a:t>
            </a:r>
            <a:endParaRPr sz="1200">
              <a:solidFill>
                <a:schemeClr val="dk1"/>
              </a:solidFill>
              <a:latin typeface="Malgun Gothic"/>
              <a:ea typeface="Malgun Gothic"/>
              <a:cs typeface="Malgun Gothic"/>
              <a:sym typeface="Malgun Gothic"/>
            </a:endParaRPr>
          </a:p>
        </p:txBody>
      </p:sp>
      <p:pic>
        <p:nvPicPr>
          <p:cNvPr id="152" name="Google Shape;152;p5"/>
          <p:cNvPicPr preferRelativeResize="0"/>
          <p:nvPr/>
        </p:nvPicPr>
        <p:blipFill rotWithShape="1">
          <a:blip r:embed="rId4">
            <a:alphaModFix/>
          </a:blip>
          <a:srcRect b="0" l="0" r="0" t="0"/>
          <a:stretch/>
        </p:blipFill>
        <p:spPr>
          <a:xfrm>
            <a:off x="4946917" y="661851"/>
            <a:ext cx="4440307" cy="5738949"/>
          </a:xfrm>
          <a:prstGeom prst="rect">
            <a:avLst/>
          </a:prstGeom>
          <a:noFill/>
          <a:ln>
            <a:noFill/>
          </a:ln>
        </p:spPr>
      </p:pic>
      <p:sp>
        <p:nvSpPr>
          <p:cNvPr id="153" name="Google Shape;153;p5"/>
          <p:cNvSpPr/>
          <p:nvPr/>
        </p:nvSpPr>
        <p:spPr>
          <a:xfrm>
            <a:off x="5069148" y="5299969"/>
            <a:ext cx="4282564" cy="1065320"/>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154" name="Google Shape;154;p5"/>
          <p:cNvPicPr preferRelativeResize="0"/>
          <p:nvPr/>
        </p:nvPicPr>
        <p:blipFill rotWithShape="1">
          <a:blip r:embed="rId5">
            <a:alphaModFix/>
          </a:blip>
          <a:srcRect b="0" l="0" r="0" t="0"/>
          <a:stretch/>
        </p:blipFill>
        <p:spPr>
          <a:xfrm>
            <a:off x="2556142" y="6476277"/>
            <a:ext cx="4781550" cy="266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6"/>
          <p:cNvSpPr txBox="1"/>
          <p:nvPr>
            <p:ph idx="1" type="body"/>
          </p:nvPr>
        </p:nvSpPr>
        <p:spPr>
          <a:xfrm>
            <a:off x="838200" y="781119"/>
            <a:ext cx="10515600" cy="532617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1400"/>
              <a:buFont typeface="Malgun Gothic"/>
              <a:buAutoNum type="arabicPeriod"/>
            </a:pPr>
            <a:r>
              <a:rPr lang="en-US" sz="1400"/>
              <a:t>유통모듈 설치전 가온아이 게시판의 문서유통 설치 참고 가이드 v1.3 과 표준모듈 docs/tech/ezApprovalG/문서유통설치 의 파일들을 참조한다.</a:t>
            </a:r>
            <a:endParaRPr/>
          </a:p>
          <a:p>
            <a:pPr indent="-342900" lvl="0" marL="342900" rtl="0" algn="l">
              <a:lnSpc>
                <a:spcPct val="90000"/>
              </a:lnSpc>
              <a:spcBef>
                <a:spcPts val="1000"/>
              </a:spcBef>
              <a:spcAft>
                <a:spcPts val="0"/>
              </a:spcAft>
              <a:buClr>
                <a:schemeClr val="dk1"/>
              </a:buClr>
              <a:buSzPts val="1400"/>
              <a:buFont typeface="Malgun Gothic"/>
              <a:buAutoNum type="arabicPeriod"/>
            </a:pPr>
            <a:r>
              <a:rPr lang="en-US" sz="1400"/>
              <a:t>문서유통서버의 사용자 계정필요(jmocha)</a:t>
            </a:r>
            <a:endParaRPr/>
          </a:p>
          <a:p>
            <a:pPr indent="-342900" lvl="0" marL="342900" rtl="0" algn="l">
              <a:lnSpc>
                <a:spcPct val="90000"/>
              </a:lnSpc>
              <a:spcBef>
                <a:spcPts val="1000"/>
              </a:spcBef>
              <a:spcAft>
                <a:spcPts val="0"/>
              </a:spcAft>
              <a:buClr>
                <a:schemeClr val="dk1"/>
              </a:buClr>
              <a:buSzPts val="1400"/>
              <a:buFont typeface="Malgun Gothic"/>
              <a:buAutoNum type="arabicPeriod"/>
            </a:pPr>
            <a:r>
              <a:rPr lang="en-US" sz="1400"/>
              <a:t>필요한 포트 개방 요청(그룹웨어와 문서유통서버(nfs 선택적으로 신청), 문서유통서버와 GPKI, 문서유통서버와 문서유통센터) '행정표준코드시스템의 기관코드 확인</a:t>
            </a:r>
            <a:endParaRPr sz="1400"/>
          </a:p>
          <a:p>
            <a:pPr indent="-342900" lvl="0" marL="342900" rtl="0" algn="l">
              <a:lnSpc>
                <a:spcPct val="90000"/>
              </a:lnSpc>
              <a:spcBef>
                <a:spcPts val="1000"/>
              </a:spcBef>
              <a:spcAft>
                <a:spcPts val="0"/>
              </a:spcAft>
              <a:buClr>
                <a:schemeClr val="dk1"/>
              </a:buClr>
              <a:buSzPts val="1400"/>
              <a:buFont typeface="Malgun Gothic"/>
              <a:buAutoNum type="arabicPeriod"/>
            </a:pPr>
            <a:r>
              <a:rPr lang="en-US" sz="1400"/>
              <a:t>문서유통모듈(문서유통 공인 및 사설아이피와 같이 문서유통센터에 신청시 발급가능)</a:t>
            </a:r>
            <a:endParaRPr/>
          </a:p>
          <a:p>
            <a:pPr indent="-342900" lvl="0" marL="342900" rtl="0" algn="l">
              <a:lnSpc>
                <a:spcPct val="90000"/>
              </a:lnSpc>
              <a:spcBef>
                <a:spcPts val="1000"/>
              </a:spcBef>
              <a:spcAft>
                <a:spcPts val="0"/>
              </a:spcAft>
              <a:buClr>
                <a:schemeClr val="dk1"/>
              </a:buClr>
              <a:buSzPts val="1400"/>
              <a:buFont typeface="Malgun Gothic"/>
              <a:buAutoNum type="arabicPeriod"/>
            </a:pPr>
            <a:r>
              <a:rPr lang="en-US" sz="1400"/>
              <a:t>jdk 1.4 버전(문서유통모듈 실행시 사용) 사이트 전산 담당자에게 </a:t>
            </a:r>
            <a:r>
              <a:rPr lang="en-US" sz="1400">
                <a:solidFill>
                  <a:srgbClr val="FF0000"/>
                </a:solidFill>
              </a:rPr>
              <a:t>※</a:t>
            </a:r>
            <a:r>
              <a:rPr lang="en-US" sz="1400"/>
              <a:t> </a:t>
            </a:r>
            <a:r>
              <a:rPr lang="en-US" sz="1400">
                <a:solidFill>
                  <a:srgbClr val="FF0000"/>
                </a:solidFill>
              </a:rPr>
              <a:t>유통모듈 신청시 jdk1.4 32bit 반드시 요청</a:t>
            </a:r>
            <a:endParaRPr sz="1400">
              <a:solidFill>
                <a:srgbClr val="FF0000"/>
              </a:solidFill>
            </a:endParaRPr>
          </a:p>
          <a:p>
            <a:pPr indent="-342900" lvl="0" marL="342900" rtl="0" algn="l">
              <a:lnSpc>
                <a:spcPct val="90000"/>
              </a:lnSpc>
              <a:spcBef>
                <a:spcPts val="1000"/>
              </a:spcBef>
              <a:spcAft>
                <a:spcPts val="0"/>
              </a:spcAft>
              <a:buClr>
                <a:schemeClr val="dk1"/>
              </a:buClr>
              <a:buSzPts val="1400"/>
              <a:buFont typeface="Malgun Gothic"/>
              <a:buAutoNum type="arabicPeriod"/>
            </a:pPr>
            <a:r>
              <a:rPr lang="en-US" sz="1400"/>
              <a:t>GPKI 모듈(기존에 사용하는 문서유통모듈의 사용환경이 변화한 경우 다시 발급받아야 함. 초기 압축해제 비번:818)</a:t>
            </a:r>
            <a:endParaRPr/>
          </a:p>
          <a:p>
            <a:pPr indent="-342900" lvl="0" marL="342900" rtl="0" algn="l">
              <a:lnSpc>
                <a:spcPct val="90000"/>
              </a:lnSpc>
              <a:spcBef>
                <a:spcPts val="1000"/>
              </a:spcBef>
              <a:spcAft>
                <a:spcPts val="0"/>
              </a:spcAft>
              <a:buClr>
                <a:schemeClr val="dk1"/>
              </a:buClr>
              <a:buSzPts val="1400"/>
              <a:buFont typeface="Malgun Gothic"/>
              <a:buAutoNum type="arabicPeriod"/>
            </a:pPr>
            <a:r>
              <a:rPr lang="en-US" sz="1400"/>
              <a:t>GPKI 인증서(GPKI 모듈과 함께 전달 받음)</a:t>
            </a:r>
            <a:endParaRPr/>
          </a:p>
          <a:p>
            <a:pPr indent="-342900" lvl="0" marL="342900" rtl="0" algn="l">
              <a:lnSpc>
                <a:spcPct val="90000"/>
              </a:lnSpc>
              <a:spcBef>
                <a:spcPts val="1000"/>
              </a:spcBef>
              <a:spcAft>
                <a:spcPts val="0"/>
              </a:spcAft>
              <a:buClr>
                <a:schemeClr val="dk1"/>
              </a:buClr>
              <a:buSzPts val="1400"/>
              <a:buFont typeface="Malgun Gothic"/>
              <a:buAutoNum type="arabicPeriod"/>
            </a:pPr>
            <a:r>
              <a:rPr lang="en-US" sz="1400"/>
              <a:t>GPKI 사용자 인증서 및 인증서 비밀번호(cer 과 key 확장자 파일의 인증서 및 비밀번호)</a:t>
            </a:r>
            <a:endParaRPr/>
          </a:p>
          <a:p>
            <a:pPr indent="-342900" lvl="0" marL="342900" rtl="0" algn="l">
              <a:lnSpc>
                <a:spcPct val="90000"/>
              </a:lnSpc>
              <a:spcBef>
                <a:spcPts val="1000"/>
              </a:spcBef>
              <a:spcAft>
                <a:spcPts val="0"/>
              </a:spcAft>
              <a:buClr>
                <a:schemeClr val="dk1"/>
              </a:buClr>
              <a:buSzPts val="1400"/>
              <a:buFont typeface="Malgun Gothic"/>
              <a:buAutoNum type="arabicPeriod"/>
            </a:pPr>
            <a:r>
              <a:rPr lang="en-US" sz="1400"/>
              <a:t>exPack 폴더 및 파일(그룹웨어의 문서유통 관련 폴더)</a:t>
            </a:r>
            <a:endParaRPr/>
          </a:p>
          <a:p>
            <a:pPr indent="-342900" lvl="0" marL="342900" rtl="0" algn="l">
              <a:lnSpc>
                <a:spcPct val="90000"/>
              </a:lnSpc>
              <a:spcBef>
                <a:spcPts val="1000"/>
              </a:spcBef>
              <a:spcAft>
                <a:spcPts val="0"/>
              </a:spcAft>
              <a:buClr>
                <a:schemeClr val="dk1"/>
              </a:buClr>
              <a:buSzPts val="1400"/>
              <a:buFont typeface="Malgun Gothic"/>
              <a:buAutoNum type="arabicPeriod"/>
            </a:pPr>
            <a:r>
              <a:rPr lang="en-US" sz="1400"/>
              <a:t>32bitso(문서유통 모듈에서 사용해야 하는 라이브러리 파일들)</a:t>
            </a:r>
            <a:endParaRPr/>
          </a:p>
          <a:p>
            <a:pPr indent="-342900" lvl="0" marL="342900" rtl="0" algn="l">
              <a:lnSpc>
                <a:spcPct val="90000"/>
              </a:lnSpc>
              <a:spcBef>
                <a:spcPts val="1000"/>
              </a:spcBef>
              <a:spcAft>
                <a:spcPts val="0"/>
              </a:spcAft>
              <a:buClr>
                <a:schemeClr val="dk1"/>
              </a:buClr>
              <a:buSzPts val="1400"/>
              <a:buFont typeface="Malgun Gothic"/>
              <a:buAutoNum type="arabicPeriod"/>
            </a:pPr>
            <a:r>
              <a:rPr lang="en-US" sz="1400"/>
              <a:t>yum 명령어 사용 환경 필요(jdk 실행시 필요한 라이브러리 및 glibc.i686 설치)</a:t>
            </a:r>
            <a:endParaRPr/>
          </a:p>
          <a:p>
            <a:pPr indent="-254000" lvl="0" marL="342900" rtl="0" algn="l">
              <a:lnSpc>
                <a:spcPct val="90000"/>
              </a:lnSpc>
              <a:spcBef>
                <a:spcPts val="1000"/>
              </a:spcBef>
              <a:spcAft>
                <a:spcPts val="0"/>
              </a:spcAft>
              <a:buClr>
                <a:schemeClr val="dk1"/>
              </a:buClr>
              <a:buSzPts val="1400"/>
              <a:buFont typeface="Malgun Gothic"/>
              <a:buNone/>
            </a:pPr>
            <a:r>
              <a:t/>
            </a:r>
            <a:endParaRPr sz="1400"/>
          </a:p>
          <a:p>
            <a:pPr indent="-254000" lvl="0" marL="342900" rtl="0" algn="l">
              <a:lnSpc>
                <a:spcPct val="90000"/>
              </a:lnSpc>
              <a:spcBef>
                <a:spcPts val="1000"/>
              </a:spcBef>
              <a:spcAft>
                <a:spcPts val="0"/>
              </a:spcAft>
              <a:buClr>
                <a:schemeClr val="dk1"/>
              </a:buClr>
              <a:buSzPts val="1400"/>
              <a:buFont typeface="Malgun Gothic"/>
              <a:buNone/>
            </a:pPr>
            <a:r>
              <a:t/>
            </a:r>
            <a:endParaRPr sz="1400"/>
          </a:p>
        </p:txBody>
      </p:sp>
      <p:sp>
        <p:nvSpPr>
          <p:cNvPr id="160" name="Google Shape;160;p6"/>
          <p:cNvSpPr/>
          <p:nvPr/>
        </p:nvSpPr>
        <p:spPr>
          <a:xfrm>
            <a:off x="838200" y="217042"/>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Malgun Gothic"/>
                <a:ea typeface="Malgun Gothic"/>
                <a:cs typeface="Malgun Gothic"/>
                <a:sym typeface="Malgun Gothic"/>
              </a:rPr>
              <a:t>준비항목</a:t>
            </a:r>
            <a:endParaRPr sz="1800">
              <a:solidFill>
                <a:schemeClr val="dk1"/>
              </a:solidFill>
              <a:latin typeface="Malgun Gothic"/>
              <a:ea typeface="Malgun Gothic"/>
              <a:cs typeface="Malgun Gothic"/>
              <a:sym typeface="Malgun Gothic"/>
            </a:endParaRPr>
          </a:p>
        </p:txBody>
      </p:sp>
      <p:pic>
        <p:nvPicPr>
          <p:cNvPr id="161" name="Google Shape;161;p6"/>
          <p:cNvPicPr preferRelativeResize="0"/>
          <p:nvPr/>
        </p:nvPicPr>
        <p:blipFill rotWithShape="1">
          <a:blip r:embed="rId3">
            <a:alphaModFix/>
          </a:blip>
          <a:srcRect b="0" l="0" r="0" t="0"/>
          <a:stretch/>
        </p:blipFill>
        <p:spPr>
          <a:xfrm>
            <a:off x="4810763" y="4707923"/>
            <a:ext cx="1473024" cy="2157078"/>
          </a:xfrm>
          <a:prstGeom prst="rect">
            <a:avLst/>
          </a:prstGeom>
          <a:noFill/>
          <a:ln>
            <a:noFill/>
          </a:ln>
        </p:spPr>
      </p:pic>
      <p:pic>
        <p:nvPicPr>
          <p:cNvPr id="162" name="Google Shape;162;p6"/>
          <p:cNvPicPr preferRelativeResize="0"/>
          <p:nvPr/>
        </p:nvPicPr>
        <p:blipFill rotWithShape="1">
          <a:blip r:embed="rId4">
            <a:alphaModFix/>
          </a:blip>
          <a:srcRect b="0" l="0" r="0" t="0"/>
          <a:stretch/>
        </p:blipFill>
        <p:spPr>
          <a:xfrm>
            <a:off x="1384373" y="4707923"/>
            <a:ext cx="2564024" cy="215707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7"/>
          <p:cNvSpPr txBox="1"/>
          <p:nvPr/>
        </p:nvSpPr>
        <p:spPr>
          <a:xfrm>
            <a:off x="948690" y="651510"/>
            <a:ext cx="10470000" cy="5079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algun Gothic"/>
                <a:ea typeface="Malgun Gothic"/>
                <a:cs typeface="Malgun Gothic"/>
                <a:sym typeface="Malgun Gothic"/>
              </a:rPr>
              <a:t>유통모듈 설치</a:t>
            </a:r>
            <a:endParaRPr b="1"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b="1" sz="1800">
              <a:solidFill>
                <a:schemeClr val="dk1"/>
              </a:solidFill>
              <a:latin typeface="Malgun Gothic"/>
              <a:ea typeface="Malgun Gothic"/>
              <a:cs typeface="Malgun Gothic"/>
              <a:sym typeface="Malgun Gothic"/>
            </a:endParaRPr>
          </a:p>
          <a:p>
            <a:pPr indent="-342900" lvl="0" marL="342900" marR="0" rtl="0" algn="l">
              <a:spcBef>
                <a:spcPts val="0"/>
              </a:spcBef>
              <a:spcAft>
                <a:spcPts val="0"/>
              </a:spcAft>
              <a:buClr>
                <a:schemeClr val="dk1"/>
              </a:buClr>
              <a:buSzPts val="1600"/>
              <a:buFont typeface="Malgun Gothic"/>
              <a:buAutoNum type="arabicPeriod"/>
            </a:pPr>
            <a:r>
              <a:rPr lang="en-US" sz="1600">
                <a:solidFill>
                  <a:schemeClr val="dk1"/>
                </a:solidFill>
                <a:latin typeface="Malgun Gothic"/>
                <a:ea typeface="Malgun Gothic"/>
                <a:cs typeface="Malgun Gothic"/>
                <a:sym typeface="Malgun Gothic"/>
              </a:rPr>
              <a:t>문서유통 모듈을 압축해제. 특정 폴더에 위치(여기에서는 /home/jmocha/relay에 위치했다고 가정.)</a:t>
            </a:r>
            <a:endParaRPr/>
          </a:p>
          <a:p>
            <a:pPr indent="-342900" lvl="0" marL="342900" marR="0" rtl="0" algn="l">
              <a:spcBef>
                <a:spcPts val="0"/>
              </a:spcBef>
              <a:spcAft>
                <a:spcPts val="0"/>
              </a:spcAft>
              <a:buClr>
                <a:schemeClr val="dk1"/>
              </a:buClr>
              <a:buSzPts val="1600"/>
              <a:buFont typeface="Malgun Gothic"/>
              <a:buAutoNum type="arabicPeriod"/>
            </a:pPr>
            <a:r>
              <a:rPr lang="en-US" sz="1600">
                <a:solidFill>
                  <a:schemeClr val="dk1"/>
                </a:solidFill>
                <a:latin typeface="Malgun Gothic"/>
                <a:ea typeface="Malgun Gothic"/>
                <a:cs typeface="Malgun Gothic"/>
                <a:sym typeface="Malgun Gothic"/>
              </a:rPr>
              <a:t>/etc/hosts 파일에 유통서버ip를 호스트네임으로 등록해준다. 등록해주지 않으면 유통 모듈 올라갈 때, IP Match 관련 에러가 발생한다. (보통은 인터넷망으로 들어온걸 NAT를 통해 ip를 바꿔주므로 공인ip로 신청할 경우가 많음. 따라서, 공인ip를 입력해야 정상동작하는 경우가 많음.)</a:t>
            </a:r>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ex) 172.15.1.6	gwdoc  (</a:t>
            </a:r>
            <a:r>
              <a:rPr lang="en-US" sz="1600">
                <a:solidFill>
                  <a:schemeClr val="dk1"/>
                </a:solidFill>
                <a:latin typeface="Malgun Gothic"/>
                <a:ea typeface="Malgun Gothic"/>
                <a:cs typeface="Malgun Gothic"/>
                <a:sym typeface="Malgun Gothic"/>
              </a:rPr>
              <a:t>hostname으로 검색한 값 -&gt; gwdoc )</a:t>
            </a:r>
            <a:endParaRPr sz="1600">
              <a:solidFill>
                <a:schemeClr val="dk1"/>
              </a:solidFill>
              <a:latin typeface="Malgun Gothic"/>
              <a:ea typeface="Malgun Gothic"/>
              <a:cs typeface="Malgun Gothic"/>
              <a:sym typeface="Malgun Gothic"/>
            </a:endParaRPr>
          </a:p>
          <a:p>
            <a:pPr indent="-342900" lvl="0" marL="342900" marR="0" rtl="0" algn="l">
              <a:spcBef>
                <a:spcPts val="0"/>
              </a:spcBef>
              <a:spcAft>
                <a:spcPts val="0"/>
              </a:spcAft>
              <a:buClr>
                <a:srgbClr val="FF0000"/>
              </a:buClr>
              <a:buSzPts val="1600"/>
              <a:buFont typeface="Malgun Gothic"/>
              <a:buAutoNum type="arabicPeriod"/>
            </a:pPr>
            <a:r>
              <a:rPr lang="en-US" sz="1600">
                <a:solidFill>
                  <a:srgbClr val="FF0000"/>
                </a:solidFill>
                <a:latin typeface="Malgun Gothic"/>
                <a:ea typeface="Malgun Gothic"/>
                <a:cs typeface="Malgun Gothic"/>
                <a:sym typeface="Malgun Gothic"/>
              </a:rPr>
              <a:t>/home/jmocha/relay/data/안에 receiveComp 폴더가 없다면 생성.</a:t>
            </a:r>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342900" lvl="0" marL="342900" marR="0" rtl="0" algn="l">
              <a:spcBef>
                <a:spcPts val="0"/>
              </a:spcBef>
              <a:spcAft>
                <a:spcPts val="0"/>
              </a:spcAft>
              <a:buClr>
                <a:srgbClr val="FF0000"/>
              </a:buClr>
              <a:buSzPts val="1600"/>
              <a:buFont typeface="Malgun Gothic"/>
              <a:buAutoNum type="arabicPeriod"/>
            </a:pPr>
            <a:r>
              <a:rPr lang="en-US" sz="1600">
                <a:solidFill>
                  <a:srgbClr val="FF0000"/>
                </a:solidFill>
                <a:latin typeface="Malgun Gothic"/>
                <a:ea typeface="Malgun Gothic"/>
                <a:cs typeface="Malgun Gothic"/>
                <a:sym typeface="Malgun Gothic"/>
              </a:rPr>
              <a:t>receivetemp 폴더와 sendtemp 폴더안에 pack.dtd가 없다면 relay/dtd/ 폴더에서 복사해서 위치시킴.</a:t>
            </a:r>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0" lvl="1" marL="457200" marR="0" rtl="0" algn="l">
              <a:spcBef>
                <a:spcPts val="0"/>
              </a:spcBef>
              <a:spcAft>
                <a:spcPts val="0"/>
              </a:spcAft>
              <a:buNone/>
            </a:pPr>
            <a:r>
              <a:t/>
            </a:r>
            <a:endParaRPr b="0" i="0" sz="1600" u="none" cap="none" strike="noStrike">
              <a:solidFill>
                <a:schemeClr val="dk1"/>
              </a:solidFill>
              <a:latin typeface="Malgun Gothic"/>
              <a:ea typeface="Malgun Gothic"/>
              <a:cs typeface="Malgun Gothic"/>
              <a:sym typeface="Malgun Gothic"/>
            </a:endParaRPr>
          </a:p>
        </p:txBody>
      </p:sp>
      <p:pic>
        <p:nvPicPr>
          <p:cNvPr id="168" name="Google Shape;168;p7"/>
          <p:cNvPicPr preferRelativeResize="0"/>
          <p:nvPr/>
        </p:nvPicPr>
        <p:blipFill rotWithShape="1">
          <a:blip r:embed="rId3">
            <a:alphaModFix/>
          </a:blip>
          <a:srcRect b="0" l="0" r="0" t="0"/>
          <a:stretch/>
        </p:blipFill>
        <p:spPr>
          <a:xfrm>
            <a:off x="1335087" y="2796063"/>
            <a:ext cx="5000625" cy="1866900"/>
          </a:xfrm>
          <a:prstGeom prst="rect">
            <a:avLst/>
          </a:prstGeom>
          <a:noFill/>
          <a:ln>
            <a:noFill/>
          </a:ln>
        </p:spPr>
      </p:pic>
      <p:pic>
        <p:nvPicPr>
          <p:cNvPr id="169" name="Google Shape;169;p7"/>
          <p:cNvPicPr preferRelativeResize="0"/>
          <p:nvPr/>
        </p:nvPicPr>
        <p:blipFill rotWithShape="1">
          <a:blip r:embed="rId4">
            <a:alphaModFix/>
          </a:blip>
          <a:srcRect b="0" l="0" r="0" t="0"/>
          <a:stretch/>
        </p:blipFill>
        <p:spPr>
          <a:xfrm>
            <a:off x="1335087" y="5037472"/>
            <a:ext cx="4610100" cy="819150"/>
          </a:xfrm>
          <a:prstGeom prst="rect">
            <a:avLst/>
          </a:prstGeom>
          <a:noFill/>
          <a:ln>
            <a:noFill/>
          </a:ln>
        </p:spPr>
      </p:pic>
      <p:pic>
        <p:nvPicPr>
          <p:cNvPr id="170" name="Google Shape;170;p7"/>
          <p:cNvPicPr preferRelativeResize="0"/>
          <p:nvPr/>
        </p:nvPicPr>
        <p:blipFill rotWithShape="1">
          <a:blip r:embed="rId5">
            <a:alphaModFix/>
          </a:blip>
          <a:srcRect b="0" l="0" r="0" t="0"/>
          <a:stretch/>
        </p:blipFill>
        <p:spPr>
          <a:xfrm>
            <a:off x="7480890" y="2514407"/>
            <a:ext cx="3538328" cy="21485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8"/>
          <p:cNvSpPr txBox="1"/>
          <p:nvPr/>
        </p:nvSpPr>
        <p:spPr>
          <a:xfrm>
            <a:off x="948690" y="651510"/>
            <a:ext cx="10469880" cy="523220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algun Gothic"/>
                <a:ea typeface="Malgun Gothic"/>
                <a:cs typeface="Malgun Gothic"/>
                <a:sym typeface="Malgun Gothic"/>
              </a:rPr>
              <a:t>유통서버에서</a:t>
            </a:r>
            <a:endParaRPr b="1"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5. 문서유통 모듈은 </a:t>
            </a:r>
            <a:r>
              <a:rPr lang="en-US" sz="1600">
                <a:solidFill>
                  <a:srgbClr val="FF0000"/>
                </a:solidFill>
                <a:latin typeface="Malgun Gothic"/>
                <a:ea typeface="Malgun Gothic"/>
                <a:cs typeface="Malgun Gothic"/>
                <a:sym typeface="Malgun Gothic"/>
              </a:rPr>
              <a:t>jdk 1.4(32bit)</a:t>
            </a:r>
            <a:r>
              <a:rPr lang="en-US" sz="1600">
                <a:solidFill>
                  <a:schemeClr val="dk1"/>
                </a:solidFill>
                <a:latin typeface="Malgun Gothic"/>
                <a:ea typeface="Malgun Gothic"/>
                <a:cs typeface="Malgun Gothic"/>
                <a:sym typeface="Malgun Gothic"/>
              </a:rPr>
              <a:t>를 필요로 하기 때문에, jdk 1.4를 설치해준다.</a:t>
            </a:r>
            <a:endParaRPr/>
          </a:p>
          <a:p>
            <a:pPr indent="0" lvl="0" marL="0" marR="0" rtl="0" algn="l">
              <a:spcBef>
                <a:spcPts val="0"/>
              </a:spcBef>
              <a:spcAft>
                <a:spcPts val="0"/>
              </a:spcAft>
              <a:buNone/>
            </a:pPr>
            <a:r>
              <a:rPr b="0" lang="en-US" sz="1400">
                <a:solidFill>
                  <a:srgbClr val="2E75B5"/>
                </a:solidFill>
                <a:latin typeface="Consolas"/>
                <a:ea typeface="Consolas"/>
                <a:cs typeface="Consolas"/>
                <a:sym typeface="Consolas"/>
              </a:rPr>
              <a:t>    &gt; chmod +x j2sdk-1_4_2_19-linux-i586.bin</a:t>
            </a:r>
            <a:endParaRPr/>
          </a:p>
          <a:p>
            <a:pPr indent="0" lvl="0" marL="0" marR="0" rtl="0" algn="l">
              <a:spcBef>
                <a:spcPts val="0"/>
              </a:spcBef>
              <a:spcAft>
                <a:spcPts val="0"/>
              </a:spcAft>
              <a:buNone/>
            </a:pPr>
            <a:r>
              <a:rPr b="0" lang="en-US" sz="1400">
                <a:solidFill>
                  <a:srgbClr val="2E75B5"/>
                </a:solidFill>
                <a:latin typeface="Consolas"/>
                <a:ea typeface="Consolas"/>
                <a:cs typeface="Consolas"/>
                <a:sym typeface="Consolas"/>
              </a:rPr>
              <a:t>    &gt; ./j2sdk-1_4_2_19-linux-i586.bin </a:t>
            </a:r>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 jdk 1.4를 설치할때, ld-linux.so.2가 없다고 에러가 난다면, yum -y install ld-linux.so.2 로 설치 후 시도한다.</a:t>
            </a:r>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0" lvl="1" marL="457200" marR="0" rtl="0" algn="l">
              <a:spcBef>
                <a:spcPts val="0"/>
              </a:spcBef>
              <a:spcAft>
                <a:spcPts val="0"/>
              </a:spcAft>
              <a:buNone/>
            </a:pPr>
            <a:r>
              <a:t/>
            </a:r>
            <a:endParaRPr b="0" i="0" sz="1600" u="none" cap="none" strike="noStrike">
              <a:solidFill>
                <a:schemeClr val="dk1"/>
              </a:solidFill>
              <a:latin typeface="Malgun Gothic"/>
              <a:ea typeface="Malgun Gothic"/>
              <a:cs typeface="Malgun Gothic"/>
              <a:sym typeface="Malgun Gothic"/>
            </a:endParaRPr>
          </a:p>
        </p:txBody>
      </p:sp>
      <p:pic>
        <p:nvPicPr>
          <p:cNvPr id="176" name="Google Shape;176;p8"/>
          <p:cNvPicPr preferRelativeResize="0"/>
          <p:nvPr/>
        </p:nvPicPr>
        <p:blipFill rotWithShape="1">
          <a:blip r:embed="rId3">
            <a:alphaModFix/>
          </a:blip>
          <a:srcRect b="0" l="0" r="0" t="0"/>
          <a:stretch/>
        </p:blipFill>
        <p:spPr>
          <a:xfrm>
            <a:off x="1137507" y="2805415"/>
            <a:ext cx="5772150" cy="3019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9"/>
          <p:cNvSpPr txBox="1"/>
          <p:nvPr/>
        </p:nvSpPr>
        <p:spPr>
          <a:xfrm>
            <a:off x="948690" y="651510"/>
            <a:ext cx="10470000" cy="6155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algun Gothic"/>
                <a:ea typeface="Malgun Gothic"/>
                <a:cs typeface="Malgun Gothic"/>
                <a:sym typeface="Malgun Gothic"/>
              </a:rPr>
              <a:t>유통서버에서</a:t>
            </a:r>
            <a:endParaRPr b="1"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6. JAVA_HOME이 이미 다른 버전의 jdk로 이미 있거나, java -version 했을 때 jdk1.4 가 아닌 다른 버전이 실행될 경우, 유통모듈 설치 가이드에 따라서</a:t>
            </a:r>
            <a:r>
              <a:rPr lang="en-US" sz="1600">
                <a:solidFill>
                  <a:schemeClr val="dk1"/>
                </a:solidFill>
                <a:latin typeface="Malgun Gothic"/>
                <a:ea typeface="Malgun Gothic"/>
                <a:cs typeface="Malgun Gothic"/>
                <a:sym typeface="Malgun Gothic"/>
              </a:rPr>
              <a:t> </a:t>
            </a:r>
            <a:r>
              <a:rPr lang="en-US" sz="1600">
                <a:solidFill>
                  <a:srgbClr val="FF0000"/>
                </a:solidFill>
                <a:latin typeface="Malgun Gothic"/>
                <a:ea typeface="Malgun Gothic"/>
                <a:cs typeface="Malgun Gothic"/>
                <a:sym typeface="Malgun Gothic"/>
              </a:rPr>
              <a:t>RY_JAVA_HOME </a:t>
            </a:r>
            <a:r>
              <a:rPr lang="en-US" sz="1600">
                <a:solidFill>
                  <a:schemeClr val="dk1"/>
                </a:solidFill>
                <a:latin typeface="Malgun Gothic"/>
                <a:ea typeface="Malgun Gothic"/>
                <a:cs typeface="Malgun Gothic"/>
                <a:sym typeface="Malgun Gothic"/>
              </a:rPr>
              <a:t>환</a:t>
            </a:r>
            <a:r>
              <a:rPr lang="en-US" sz="1600">
                <a:solidFill>
                  <a:schemeClr val="dk1"/>
                </a:solidFill>
                <a:latin typeface="Malgun Gothic"/>
                <a:ea typeface="Malgun Gothic"/>
                <a:cs typeface="Malgun Gothic"/>
                <a:sym typeface="Malgun Gothic"/>
              </a:rPr>
              <a:t>경변수를 지정해주고 유통모듈의 모든 실행스크립트에서 java를 RY_JAVA_HOME/bin/java 으로 수정해준다. ebms/messaging/bin/derby_shutdown.sh, derby_startup.sh 도 수정. ebms/messaging/bin, ebms/monitoring/bin의 catalina.sh, tool-wrapper.sh, catalinabymonitor.sh 의 JAVA_HOME  재설정. 모듈 설치 가이드(별첨 1.2 참고) 잘 읽고 그대로 따라하면 됨.</a:t>
            </a:r>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수정할 목록</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relay/bin/ebms_start.sh</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relay/bin/ebms_stop.sh</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relay/bin/module_statuscheck.sh</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relay/bin/monitor_start.sh</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relay/bin/monitor_stop.sh</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relay/bin/relay_start.sh</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relay/bin/relay_stop.sh</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relay/bin/system/start_ebms.sh</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relay/bin/system/start_ebmsreceiverbymont.sh</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relay/bin/system/start_monitor2.sh</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relay/bin/system/stop_ebms.sh</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relay/bin/system/stop_ebmsreceiverbymont.sh</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relay/ebms/messaging/bin/catalina.sh</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relay/ebms/messaging/bin/catalinabymonitor.sh</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relay/ebms/messaging/bin/tool-wrapper.sh</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relay/ebms/messaging/bin/derby_startup.sh</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relay/ebms/messaging/bin/derby_shutdown.sh</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relay/ebms/monitoring/bin/catalina.sh</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relay/ebms/monitoring/bin/tool-wrapper.sh</a:t>
            </a:r>
            <a:endParaRPr/>
          </a:p>
        </p:txBody>
      </p:sp>
      <p:pic>
        <p:nvPicPr>
          <p:cNvPr id="182" name="Google Shape;182;p9"/>
          <p:cNvPicPr preferRelativeResize="0"/>
          <p:nvPr/>
        </p:nvPicPr>
        <p:blipFill rotWithShape="1">
          <a:blip r:embed="rId3">
            <a:alphaModFix/>
          </a:blip>
          <a:srcRect b="0" l="0" r="0" t="0"/>
          <a:stretch/>
        </p:blipFill>
        <p:spPr>
          <a:xfrm>
            <a:off x="5565775" y="5381625"/>
            <a:ext cx="5276850" cy="1276350"/>
          </a:xfrm>
          <a:prstGeom prst="rect">
            <a:avLst/>
          </a:prstGeom>
          <a:noFill/>
          <a:ln>
            <a:noFill/>
          </a:ln>
        </p:spPr>
      </p:pic>
      <p:pic>
        <p:nvPicPr>
          <p:cNvPr id="183" name="Google Shape;183;p9"/>
          <p:cNvPicPr preferRelativeResize="0"/>
          <p:nvPr/>
        </p:nvPicPr>
        <p:blipFill rotWithShape="1">
          <a:blip r:embed="rId4">
            <a:alphaModFix/>
          </a:blip>
          <a:srcRect b="0" l="0" r="0" t="0"/>
          <a:stretch/>
        </p:blipFill>
        <p:spPr>
          <a:xfrm>
            <a:off x="3598635" y="2840201"/>
            <a:ext cx="10436087" cy="8451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0"/>
          <p:cNvSpPr txBox="1"/>
          <p:nvPr/>
        </p:nvSpPr>
        <p:spPr>
          <a:xfrm>
            <a:off x="948690" y="651510"/>
            <a:ext cx="10469880" cy="517064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algun Gothic"/>
                <a:ea typeface="Malgun Gothic"/>
                <a:cs typeface="Malgun Gothic"/>
                <a:sym typeface="Malgun Gothic"/>
              </a:rPr>
              <a:t>유통서버에서</a:t>
            </a:r>
            <a:endParaRPr b="1"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7. relay/config/의 ?_properties.xml 파일을 적절히 선택하여 이름을 바꿔준다. </a:t>
            </a:r>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    1. 중계모듈설치경로/config 경로에서 설치 기관의 지역정보에 해당하는 *_properties.xml 파일을 properties.xml 파일명으로 변경합니다. </a:t>
            </a:r>
            <a:endParaRPr/>
          </a:p>
          <a:p>
            <a:pPr indent="0" lvl="0" marL="0" marR="0" rtl="0" algn="l">
              <a:spcBef>
                <a:spcPts val="0"/>
              </a:spcBef>
              <a:spcAft>
                <a:spcPts val="0"/>
              </a:spcAft>
              <a:buNone/>
            </a:pPr>
            <a:r>
              <a:rPr lang="en-US" sz="1600">
                <a:solidFill>
                  <a:srgbClr val="2E75B5"/>
                </a:solidFill>
                <a:latin typeface="Malgun Gothic"/>
                <a:ea typeface="Malgun Gothic"/>
                <a:cs typeface="Malgun Gothic"/>
                <a:sym typeface="Malgun Gothic"/>
              </a:rPr>
              <a:t>	</a:t>
            </a:r>
            <a:r>
              <a:rPr lang="en-US" sz="1400">
                <a:solidFill>
                  <a:srgbClr val="2E75B5"/>
                </a:solidFill>
                <a:latin typeface="Malgun Gothic"/>
                <a:ea typeface="Malgun Gothic"/>
                <a:cs typeface="Malgun Gothic"/>
                <a:sym typeface="Malgun Gothic"/>
              </a:rPr>
              <a:t>- D_properties.xml : 충청도, 전라도, 경상도, 제주도, 대전광역시, 울산광역시, 부산광역시, 광주광역시, 대구광역시 (남부지역) </a:t>
            </a:r>
            <a:endParaRPr/>
          </a:p>
          <a:p>
            <a:pPr indent="0" lvl="0" marL="0" marR="0" rtl="0" algn="l">
              <a:spcBef>
                <a:spcPts val="0"/>
              </a:spcBef>
              <a:spcAft>
                <a:spcPts val="0"/>
              </a:spcAft>
              <a:buNone/>
            </a:pPr>
            <a:r>
              <a:rPr lang="en-US" sz="1400">
                <a:solidFill>
                  <a:srgbClr val="2E75B5"/>
                </a:solidFill>
                <a:latin typeface="Malgun Gothic"/>
                <a:ea typeface="Malgun Gothic"/>
                <a:cs typeface="Malgun Gothic"/>
                <a:sym typeface="Malgun Gothic"/>
              </a:rPr>
              <a:t>	- S_properties.xml : 중앙행정부처, 경기도, 강원도, 서울특별시, 인천 (중부지역) </a:t>
            </a:r>
            <a:endParaRPr/>
          </a:p>
          <a:p>
            <a:pPr indent="0" lvl="0" marL="0" marR="0" rtl="0" algn="l">
              <a:spcBef>
                <a:spcPts val="0"/>
              </a:spcBef>
              <a:spcAft>
                <a:spcPts val="0"/>
              </a:spcAft>
              <a:buNone/>
            </a:pPr>
            <a:r>
              <a:rPr lang="en-US" sz="1400">
                <a:solidFill>
                  <a:srgbClr val="2E75B5"/>
                </a:solidFill>
                <a:latin typeface="Malgun Gothic"/>
                <a:ea typeface="Malgun Gothic"/>
                <a:cs typeface="Malgun Gothic"/>
                <a:sym typeface="Malgun Gothic"/>
              </a:rPr>
              <a:t>	- X_properties.xml : 교육기관 (교육청, 대학교 등) </a:t>
            </a:r>
            <a:endParaRPr/>
          </a:p>
          <a:p>
            <a:pPr indent="0" lvl="0" marL="0" marR="0" rtl="0" algn="l">
              <a:spcBef>
                <a:spcPts val="0"/>
              </a:spcBef>
              <a:spcAft>
                <a:spcPts val="0"/>
              </a:spcAft>
              <a:buNone/>
            </a:pPr>
            <a:r>
              <a:rPr lang="en-US" sz="1400">
                <a:solidFill>
                  <a:srgbClr val="2E75B5"/>
                </a:solidFill>
                <a:latin typeface="Malgun Gothic"/>
                <a:ea typeface="Malgun Gothic"/>
                <a:cs typeface="Malgun Gothic"/>
                <a:sym typeface="Malgun Gothic"/>
              </a:rPr>
              <a:t>	- T_properties.xml : 공공기관 등</a:t>
            </a:r>
            <a:endParaRPr sz="1400">
              <a:solidFill>
                <a:srgbClr val="2E75B5"/>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ex) T_properties.xml =&gt; properties.xml 로 작업해줌. 복사하면서 이름 바꿔도됨.</a:t>
            </a:r>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p:txBody>
      </p:sp>
      <p:pic>
        <p:nvPicPr>
          <p:cNvPr id="189" name="Google Shape;189;p10"/>
          <p:cNvPicPr preferRelativeResize="0"/>
          <p:nvPr/>
        </p:nvPicPr>
        <p:blipFill rotWithShape="1">
          <a:blip r:embed="rId3">
            <a:alphaModFix/>
          </a:blip>
          <a:srcRect b="0" l="0" r="0" t="0"/>
          <a:stretch/>
        </p:blipFill>
        <p:spPr>
          <a:xfrm>
            <a:off x="1297043" y="3354171"/>
            <a:ext cx="5029200" cy="18954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1"/>
          <p:cNvSpPr txBox="1"/>
          <p:nvPr/>
        </p:nvSpPr>
        <p:spPr>
          <a:xfrm>
            <a:off x="948690" y="651510"/>
            <a:ext cx="10469880" cy="38164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algun Gothic"/>
                <a:ea typeface="Malgun Gothic"/>
                <a:cs typeface="Malgun Gothic"/>
                <a:sym typeface="Malgun Gothic"/>
              </a:rPr>
              <a:t>유통서버에서</a:t>
            </a:r>
            <a:endParaRPr b="1"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8. properties.xml 파일 안에 serverproperty &gt; system(id), relaypath// gpkiproperty &gt; gpkiserverid, gpkipath, pin를 수정한다.</a:t>
            </a:r>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ex) &lt;SYSTEM TYPE="DOCUMENT" ID=“DOC</a:t>
            </a:r>
            <a:r>
              <a:rPr lang="en-US" sz="1600">
                <a:solidFill>
                  <a:srgbClr val="FF0000"/>
                </a:solidFill>
                <a:latin typeface="Malgun Gothic"/>
                <a:ea typeface="Malgun Gothic"/>
                <a:cs typeface="Malgun Gothic"/>
                <a:sym typeface="Malgun Gothic"/>
              </a:rPr>
              <a:t>S907000</a:t>
            </a:r>
            <a:r>
              <a:rPr lang="en-US" sz="1600">
                <a:solidFill>
                  <a:schemeClr val="dk1"/>
                </a:solidFill>
                <a:latin typeface="Malgun Gothic"/>
                <a:ea typeface="Malgun Gothic"/>
                <a:cs typeface="Malgun Gothic"/>
                <a:sym typeface="Malgun Gothic"/>
              </a:rPr>
              <a:t>01"/&gt;  (DOC + 기관코드(7) + 일련번호(2))</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Serverproperty의 id는 DOC + 기관코드7자리 + 일련번호 01~   로 구성 보통 일련번호는 01로 하면 거의됨</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&lt;RELAYPATH&gt;/home/jmocha/relay&lt;/RELAYPATH&gt;</a:t>
            </a:r>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&lt;GPKISERVERID&gt;SVRB551053001&lt;/GPKISERVERID&gt; (GPKI서버아이디는 GPKI </a:t>
            </a:r>
            <a:r>
              <a:rPr lang="en-US" sz="1600">
                <a:solidFill>
                  <a:srgbClr val="FF0000"/>
                </a:solidFill>
                <a:latin typeface="Malgun Gothic"/>
                <a:ea typeface="Malgun Gothic"/>
                <a:cs typeface="Malgun Gothic"/>
                <a:sym typeface="Malgun Gothic"/>
              </a:rPr>
              <a:t>인증서의 파일이름</a:t>
            </a:r>
            <a:r>
              <a:rPr lang="en-US" sz="1600">
                <a:solidFill>
                  <a:schemeClr val="dk1"/>
                </a:solidFill>
                <a:latin typeface="Malgun Gothic"/>
                <a:ea typeface="Malgun Gothic"/>
                <a:cs typeface="Malgun Gothic"/>
                <a:sym typeface="Malgun Gothic"/>
              </a:rPr>
              <a:t>과 동일)</a:t>
            </a:r>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&lt;GPKIPATH&gt;/home/jmocha/relay/gpki/&lt;/GPKIPATH&gt;   </a:t>
            </a:r>
            <a:r>
              <a:rPr lang="en-US" sz="1600">
                <a:solidFill>
                  <a:srgbClr val="FF0000"/>
                </a:solidFill>
                <a:latin typeface="Malgun Gothic"/>
                <a:ea typeface="Malgun Gothic"/>
                <a:cs typeface="Malgun Gothic"/>
                <a:sym typeface="Malgun Gothic"/>
              </a:rPr>
              <a:t>(제일 끝에 ‘/’ 까지 필수)</a:t>
            </a:r>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&lt;PIN&gt;&lt;![CDATA[</a:t>
            </a:r>
            <a:r>
              <a:rPr lang="en-US" sz="1600">
                <a:solidFill>
                  <a:srgbClr val="FF0000"/>
                </a:solidFill>
                <a:latin typeface="Malgun Gothic"/>
                <a:ea typeface="Malgun Gothic"/>
                <a:cs typeface="Malgun Gothic"/>
                <a:sym typeface="Malgun Gothic"/>
              </a:rPr>
              <a:t>passwordexample</a:t>
            </a:r>
            <a:r>
              <a:rPr lang="en-US" sz="1600">
                <a:solidFill>
                  <a:schemeClr val="dk1"/>
                </a:solidFill>
                <a:latin typeface="Malgun Gothic"/>
                <a:ea typeface="Malgun Gothic"/>
                <a:cs typeface="Malgun Gothic"/>
                <a:sym typeface="Malgun Gothic"/>
              </a:rPr>
              <a:t>]]&gt;&lt;/PIN&gt;   </a:t>
            </a:r>
            <a:r>
              <a:rPr lang="en-US" sz="1600">
                <a:solidFill>
                  <a:srgbClr val="FF0000"/>
                </a:solidFill>
                <a:latin typeface="Malgun Gothic"/>
                <a:ea typeface="Malgun Gothic"/>
                <a:cs typeface="Malgun Gothic"/>
                <a:sym typeface="Malgun Gothic"/>
              </a:rPr>
              <a:t>(gpki 패스워드)</a:t>
            </a:r>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다음화면 참고……………………….</a:t>
            </a:r>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2"/>
          <p:cNvSpPr txBox="1"/>
          <p:nvPr/>
        </p:nvSpPr>
        <p:spPr>
          <a:xfrm>
            <a:off x="948690" y="651510"/>
            <a:ext cx="10469880" cy="110799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algun Gothic"/>
                <a:ea typeface="Malgun Gothic"/>
                <a:cs typeface="Malgun Gothic"/>
                <a:sym typeface="Malgun Gothic"/>
              </a:rPr>
              <a:t>유통서버에서</a:t>
            </a:r>
            <a:endParaRPr b="1"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p:txBody>
      </p:sp>
      <p:pic>
        <p:nvPicPr>
          <p:cNvPr id="200" name="Google Shape;200;p12"/>
          <p:cNvPicPr preferRelativeResize="0"/>
          <p:nvPr/>
        </p:nvPicPr>
        <p:blipFill rotWithShape="1">
          <a:blip r:embed="rId3">
            <a:alphaModFix/>
          </a:blip>
          <a:srcRect b="0" l="0" r="0" t="0"/>
          <a:stretch/>
        </p:blipFill>
        <p:spPr>
          <a:xfrm>
            <a:off x="1032933" y="1075788"/>
            <a:ext cx="7987242" cy="5458362"/>
          </a:xfrm>
          <a:prstGeom prst="rect">
            <a:avLst/>
          </a:prstGeom>
          <a:noFill/>
          <a:ln>
            <a:noFill/>
          </a:ln>
        </p:spPr>
      </p:pic>
      <p:pic>
        <p:nvPicPr>
          <p:cNvPr id="201" name="Google Shape;201;p12"/>
          <p:cNvPicPr preferRelativeResize="0"/>
          <p:nvPr/>
        </p:nvPicPr>
        <p:blipFill rotWithShape="1">
          <a:blip r:embed="rId4">
            <a:alphaModFix/>
          </a:blip>
          <a:srcRect b="0" l="0" r="0" t="0"/>
          <a:stretch/>
        </p:blipFill>
        <p:spPr>
          <a:xfrm>
            <a:off x="7715250" y="5486400"/>
            <a:ext cx="4476750" cy="10477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3"/>
          <p:cNvSpPr txBox="1"/>
          <p:nvPr/>
        </p:nvSpPr>
        <p:spPr>
          <a:xfrm>
            <a:off x="948690" y="651510"/>
            <a:ext cx="10469880" cy="60324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algun Gothic"/>
                <a:ea typeface="Malgun Gothic"/>
                <a:cs typeface="Malgun Gothic"/>
                <a:sym typeface="Malgun Gothic"/>
              </a:rPr>
              <a:t>유통서버에서</a:t>
            </a:r>
            <a:endParaRPr b="1"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400">
                <a:solidFill>
                  <a:schemeClr val="dk1"/>
                </a:solidFill>
                <a:latin typeface="Malgun Gothic"/>
                <a:ea typeface="Malgun Gothic"/>
                <a:cs typeface="Malgun Gothic"/>
                <a:sym typeface="Malgun Gothic"/>
              </a:rPr>
              <a:t>9. 환경변수는 이것만 등록 하면 됨.</a:t>
            </a:r>
            <a:endParaRPr/>
          </a:p>
          <a:p>
            <a:pPr indent="-342900" lvl="1" marL="800100" marR="0" rtl="0" algn="l">
              <a:spcBef>
                <a:spcPts val="0"/>
              </a:spcBef>
              <a:spcAft>
                <a:spcPts val="0"/>
              </a:spcAft>
              <a:buClr>
                <a:schemeClr val="dk1"/>
              </a:buClr>
              <a:buSzPts val="1400"/>
              <a:buFont typeface="Malgun Gothic"/>
              <a:buAutoNum type="arabicPeriod"/>
            </a:pPr>
            <a:r>
              <a:rPr b="0" i="0" lang="en-US" sz="1400" u="none" cap="none" strike="noStrike">
                <a:solidFill>
                  <a:schemeClr val="dk1"/>
                </a:solidFill>
                <a:latin typeface="Malgun Gothic"/>
                <a:ea typeface="Malgun Gothic"/>
                <a:cs typeface="Malgun Gothic"/>
                <a:sym typeface="Malgun Gothic"/>
              </a:rPr>
              <a:t>export LIBPATH=$LIBPATH:/usr/lib:/usr/lib64:/home/jmocha/relay/lib</a:t>
            </a:r>
            <a:endParaRPr/>
          </a:p>
          <a:p>
            <a:pPr indent="-342900" lvl="1" marL="800100" marR="0" rtl="0" algn="l">
              <a:spcBef>
                <a:spcPts val="0"/>
              </a:spcBef>
              <a:spcAft>
                <a:spcPts val="0"/>
              </a:spcAft>
              <a:buClr>
                <a:schemeClr val="dk1"/>
              </a:buClr>
              <a:buSzPts val="1400"/>
              <a:buFont typeface="Malgun Gothic"/>
              <a:buAutoNum type="arabicPeriod"/>
            </a:pPr>
            <a:r>
              <a:rPr b="0" i="0" lang="en-US" sz="1400" u="none" cap="none" strike="noStrike">
                <a:solidFill>
                  <a:schemeClr val="dk1"/>
                </a:solidFill>
                <a:latin typeface="Malgun Gothic"/>
                <a:ea typeface="Malgun Gothic"/>
                <a:cs typeface="Malgun Gothic"/>
                <a:sym typeface="Malgun Gothic"/>
              </a:rPr>
              <a:t>export LD_LIBRARY_PATH=$LD_LIBRARY_PATH:/usr/lib:/usr/lib64:/home/jmocha/relay/lib</a:t>
            </a:r>
            <a:endParaRPr/>
          </a:p>
          <a:p>
            <a:pPr indent="-342900" lvl="1" marL="800100" marR="0" rtl="0" algn="l">
              <a:spcBef>
                <a:spcPts val="0"/>
              </a:spcBef>
              <a:spcAft>
                <a:spcPts val="0"/>
              </a:spcAft>
              <a:buClr>
                <a:schemeClr val="dk1"/>
              </a:buClr>
              <a:buSzPts val="1400"/>
              <a:buFont typeface="Malgun Gothic"/>
              <a:buAutoNum type="arabicPeriod"/>
            </a:pPr>
            <a:r>
              <a:rPr b="0" i="0" lang="en-US" sz="1400" u="none" cap="none" strike="noStrike">
                <a:solidFill>
                  <a:schemeClr val="dk1"/>
                </a:solidFill>
                <a:latin typeface="Malgun Gothic"/>
                <a:ea typeface="Malgun Gothic"/>
                <a:cs typeface="Malgun Gothic"/>
                <a:sym typeface="Malgun Gothic"/>
              </a:rPr>
              <a:t>export SHLIB_PATH=$SHLIB_PATH:/usr/lib:/usr/lib64:/home/jmocha/relay/lib</a:t>
            </a:r>
            <a:endParaRPr/>
          </a:p>
          <a:p>
            <a:pPr indent="-342900" lvl="1" marL="800100" marR="0" rtl="0" algn="l">
              <a:spcBef>
                <a:spcPts val="0"/>
              </a:spcBef>
              <a:spcAft>
                <a:spcPts val="0"/>
              </a:spcAft>
              <a:buClr>
                <a:schemeClr val="dk1"/>
              </a:buClr>
              <a:buSzPts val="1400"/>
              <a:buFont typeface="Malgun Gothic"/>
              <a:buAutoNum type="arabicPeriod"/>
            </a:pPr>
            <a:r>
              <a:rPr b="0" i="0" lang="en-US" sz="1400" u="none" cap="none" strike="noStrike">
                <a:solidFill>
                  <a:schemeClr val="dk1"/>
                </a:solidFill>
                <a:latin typeface="Malgun Gothic"/>
                <a:ea typeface="Malgun Gothic"/>
                <a:cs typeface="Malgun Gothic"/>
                <a:sym typeface="Malgun Gothic"/>
              </a:rPr>
              <a:t>export RELAY_HOME=/home/jmocha/relay</a:t>
            </a:r>
            <a:endParaRPr/>
          </a:p>
          <a:p>
            <a:pPr indent="-342900" lvl="1" marL="800100" marR="0" rtl="0" algn="l">
              <a:spcBef>
                <a:spcPts val="0"/>
              </a:spcBef>
              <a:spcAft>
                <a:spcPts val="0"/>
              </a:spcAft>
              <a:buClr>
                <a:schemeClr val="dk1"/>
              </a:buClr>
              <a:buSzPts val="1400"/>
              <a:buFont typeface="Malgun Gothic"/>
              <a:buAutoNum type="arabicPeriod"/>
            </a:pPr>
            <a:r>
              <a:rPr b="0" i="0" lang="en-US" sz="1400" u="none" cap="none" strike="noStrike">
                <a:solidFill>
                  <a:schemeClr val="dk1"/>
                </a:solidFill>
                <a:latin typeface="Malgun Gothic"/>
                <a:ea typeface="Malgun Gothic"/>
                <a:cs typeface="Malgun Gothic"/>
                <a:sym typeface="Malgun Gothic"/>
              </a:rPr>
              <a:t>export RY_JAVA_HOME=/home/jmocha/jdk1.4 (jdk1.4 경로에 따라 적절히 수정)</a:t>
            </a:r>
            <a:endParaRPr/>
          </a:p>
          <a:p>
            <a:pPr indent="0" lvl="0" marL="0" marR="0" rtl="0" algn="l">
              <a:spcBef>
                <a:spcPts val="0"/>
              </a:spcBef>
              <a:spcAft>
                <a:spcPts val="0"/>
              </a:spcAft>
              <a:buNone/>
            </a:pPr>
            <a:r>
              <a:rPr lang="en-US" sz="1400">
                <a:solidFill>
                  <a:schemeClr val="dk1"/>
                </a:solidFill>
                <a:latin typeface="Malgun Gothic"/>
                <a:ea typeface="Malgun Gothic"/>
                <a:cs typeface="Malgun Gothic"/>
                <a:sym typeface="Malgun Gothic"/>
              </a:rPr>
              <a:t>10. 위의 명령을 적절히 ~jmocha/.bashrc 에도 등록해준다.</a:t>
            </a:r>
            <a:endParaRPr/>
          </a:p>
          <a:p>
            <a:pPr indent="0" lvl="0" marL="0" marR="0" rtl="0" algn="l">
              <a:spcBef>
                <a:spcPts val="0"/>
              </a:spcBef>
              <a:spcAft>
                <a:spcPts val="0"/>
              </a:spcAft>
              <a:buNone/>
            </a:pPr>
            <a:r>
              <a:rPr lang="en-US" sz="1400">
                <a:solidFill>
                  <a:schemeClr val="dk1"/>
                </a:solidFill>
                <a:latin typeface="Malgun Gothic"/>
                <a:ea typeface="Malgun Gothic"/>
                <a:cs typeface="Malgun Gothic"/>
                <a:sym typeface="Malgun Gothic"/>
              </a:rPr>
              <a:t>11. LDAP 연결이 되는지 telnet 연결 해봄. 중계모듈 설치 가이드의 다.네트워크 설정의 확인 참고.</a:t>
            </a:r>
            <a:endParaRPr/>
          </a:p>
          <a:p>
            <a:pPr indent="0" lvl="0" marL="0" marR="0" rtl="0" algn="l">
              <a:spcBef>
                <a:spcPts val="0"/>
              </a:spcBef>
              <a:spcAft>
                <a:spcPts val="0"/>
              </a:spcAft>
              <a:buNone/>
            </a:pPr>
            <a:r>
              <a:rPr lang="en-US" sz="1400">
                <a:solidFill>
                  <a:schemeClr val="dk1"/>
                </a:solidFill>
                <a:latin typeface="Malgun Gothic"/>
                <a:ea typeface="Malgun Gothic"/>
                <a:cs typeface="Malgun Gothic"/>
                <a:sym typeface="Malgun Gothic"/>
              </a:rPr>
              <a:t>12. centos 7이상 버전일 경우, yum -y install glibc.i686</a:t>
            </a:r>
            <a:br>
              <a:rPr lang="en-US" sz="1400">
                <a:solidFill>
                  <a:schemeClr val="dk1"/>
                </a:solidFill>
                <a:latin typeface="Malgun Gothic"/>
                <a:ea typeface="Malgun Gothic"/>
                <a:cs typeface="Malgun Gothic"/>
                <a:sym typeface="Malgun Gothic"/>
              </a:rPr>
            </a:br>
            <a:r>
              <a:rPr lang="en-US" sz="1400">
                <a:solidFill>
                  <a:schemeClr val="dk1"/>
                </a:solidFill>
                <a:latin typeface="Malgun Gothic"/>
                <a:ea typeface="Malgun Gothic"/>
                <a:cs typeface="Malgun Gothic"/>
                <a:sym typeface="Malgun Gothic"/>
              </a:rPr>
              <a:t>centos 6버전일 경우, </a:t>
            </a:r>
            <a:endParaRPr sz="1400">
              <a:solidFill>
                <a:schemeClr val="dk1"/>
              </a:solidFill>
              <a:latin typeface="Malgun Gothic"/>
              <a:ea typeface="Malgun Gothic"/>
              <a:cs typeface="Malgun Gothic"/>
              <a:sym typeface="Malgun Gothic"/>
            </a:endParaRPr>
          </a:p>
          <a:p>
            <a:pPr indent="0" lvl="2" marL="914400" marR="0" rtl="0" algn="l">
              <a:spcBef>
                <a:spcPts val="0"/>
              </a:spcBef>
              <a:spcAft>
                <a:spcPts val="0"/>
              </a:spcAft>
              <a:buNone/>
            </a:pPr>
            <a:r>
              <a:rPr b="0" i="0" lang="en-US" sz="1400" u="none" cap="none" strike="noStrike">
                <a:solidFill>
                  <a:schemeClr val="dk1"/>
                </a:solidFill>
                <a:latin typeface="Malgun Gothic"/>
                <a:ea typeface="Malgun Gothic"/>
                <a:cs typeface="Malgun Gothic"/>
                <a:sym typeface="Malgun Gothic"/>
              </a:rPr>
              <a:t>wget http://copr-be.cloud.fedoraproject.org/results/mosquito/myrepo-el6/epel-6-i386/glibc-2.17-55.fc20/glibc-2.17-55.el6.i686.rpm</a:t>
            </a:r>
            <a:endParaRPr/>
          </a:p>
          <a:p>
            <a:pPr indent="0" lvl="2" marL="914400" marR="0" rtl="0" algn="l">
              <a:spcBef>
                <a:spcPts val="0"/>
              </a:spcBef>
              <a:spcAft>
                <a:spcPts val="0"/>
              </a:spcAft>
              <a:buNone/>
            </a:pPr>
            <a:r>
              <a:rPr b="0" i="0" lang="en-US" sz="1400" u="none" cap="none" strike="noStrike">
                <a:solidFill>
                  <a:schemeClr val="dk1"/>
                </a:solidFill>
                <a:latin typeface="Malgun Gothic"/>
                <a:ea typeface="Malgun Gothic"/>
                <a:cs typeface="Malgun Gothic"/>
                <a:sym typeface="Malgun Gothic"/>
              </a:rPr>
              <a:t>wget http://copr-be.cloud.fedoraproject.org/results/mosquito/myrepo-el6/epel-6-i386/glibc-2.17-55.fc20/glibc-common-2.17-55.el6.i686.rpm</a:t>
            </a:r>
            <a:endParaRPr/>
          </a:p>
          <a:p>
            <a:pPr indent="0" lvl="2" marL="914400" marR="0" rtl="0" algn="l">
              <a:spcBef>
                <a:spcPts val="0"/>
              </a:spcBef>
              <a:spcAft>
                <a:spcPts val="0"/>
              </a:spcAft>
              <a:buNone/>
            </a:pPr>
            <a:r>
              <a:rPr b="0" i="0" lang="en-US" sz="1400" u="none" cap="none" strike="noStrike">
                <a:solidFill>
                  <a:schemeClr val="dk1"/>
                </a:solidFill>
                <a:latin typeface="Malgun Gothic"/>
                <a:ea typeface="Malgun Gothic"/>
                <a:cs typeface="Malgun Gothic"/>
                <a:sym typeface="Malgun Gothic"/>
              </a:rPr>
              <a:t>wget http://copr-be.cloud.fedoraproject.org/results/mosquito/myrepo-el6/epel-6-i386/glibc-2.17-55.fc20/glibc-devel-2.17-55.el6.i686.rpm</a:t>
            </a:r>
            <a:endParaRPr/>
          </a:p>
          <a:p>
            <a:pPr indent="0" lvl="2" marL="914400" marR="0" rtl="0" algn="l">
              <a:spcBef>
                <a:spcPts val="0"/>
              </a:spcBef>
              <a:spcAft>
                <a:spcPts val="0"/>
              </a:spcAft>
              <a:buNone/>
            </a:pPr>
            <a:r>
              <a:rPr b="0" i="0" lang="en-US" sz="1400" u="none" cap="none" strike="noStrike">
                <a:solidFill>
                  <a:schemeClr val="dk1"/>
                </a:solidFill>
                <a:latin typeface="Malgun Gothic"/>
                <a:ea typeface="Malgun Gothic"/>
                <a:cs typeface="Malgun Gothic"/>
                <a:sym typeface="Malgun Gothic"/>
              </a:rPr>
              <a:t>wget http://copr-be.cloud.fedoraproject.org/results/mosquito/myrepo-el6/epel-6-i386/glibc-2.17-55.fc20/glibc-headers-2.17-55.el6.i686.rpm</a:t>
            </a:r>
            <a:endParaRPr/>
          </a:p>
          <a:p>
            <a:pPr indent="-254000" lvl="2" marL="1257300" marR="0" rtl="0" algn="l">
              <a:spcBef>
                <a:spcPts val="0"/>
              </a:spcBef>
              <a:spcAft>
                <a:spcPts val="0"/>
              </a:spcAft>
              <a:buClr>
                <a:schemeClr val="dk1"/>
              </a:buClr>
              <a:buSzPts val="1400"/>
              <a:buFont typeface="Malgun Gothic"/>
              <a:buNone/>
            </a:pPr>
            <a:r>
              <a:t/>
            </a:r>
            <a:endParaRPr b="0" i="0" sz="1400" u="none" cap="none" strike="noStrike">
              <a:solidFill>
                <a:schemeClr val="dk1"/>
              </a:solidFill>
              <a:latin typeface="Malgun Gothic"/>
              <a:ea typeface="Malgun Gothic"/>
              <a:cs typeface="Malgun Gothic"/>
              <a:sym typeface="Malgun Gothic"/>
            </a:endParaRPr>
          </a:p>
          <a:p>
            <a:pPr indent="0" lvl="2" marL="914400" marR="0" rtl="0" algn="l">
              <a:spcBef>
                <a:spcPts val="0"/>
              </a:spcBef>
              <a:spcAft>
                <a:spcPts val="0"/>
              </a:spcAft>
              <a:buNone/>
            </a:pPr>
            <a:r>
              <a:rPr b="0" i="0" lang="en-US" sz="1400" u="none" cap="none" strike="noStrike">
                <a:solidFill>
                  <a:schemeClr val="dk1"/>
                </a:solidFill>
                <a:latin typeface="Malgun Gothic"/>
                <a:ea typeface="Malgun Gothic"/>
                <a:cs typeface="Malgun Gothic"/>
                <a:sym typeface="Malgun Gothic"/>
              </a:rPr>
              <a:t>sudo rpm -Uvh glibc-2.17-55.el6.i686.rpm \</a:t>
            </a:r>
            <a:endParaRPr/>
          </a:p>
          <a:p>
            <a:pPr indent="0" lvl="2" marL="914400" marR="0" rtl="0" algn="l">
              <a:spcBef>
                <a:spcPts val="0"/>
              </a:spcBef>
              <a:spcAft>
                <a:spcPts val="0"/>
              </a:spcAft>
              <a:buNone/>
            </a:pPr>
            <a:r>
              <a:rPr b="0" i="0" lang="en-US" sz="1400" u="none" cap="none" strike="noStrike">
                <a:solidFill>
                  <a:schemeClr val="dk1"/>
                </a:solidFill>
                <a:latin typeface="Malgun Gothic"/>
                <a:ea typeface="Malgun Gothic"/>
                <a:cs typeface="Malgun Gothic"/>
                <a:sym typeface="Malgun Gothic"/>
              </a:rPr>
              <a:t>glibc-common-2.17-55.el6.i686.rpm \</a:t>
            </a:r>
            <a:endParaRPr/>
          </a:p>
          <a:p>
            <a:pPr indent="0" lvl="2" marL="914400" marR="0" rtl="0" algn="l">
              <a:spcBef>
                <a:spcPts val="0"/>
              </a:spcBef>
              <a:spcAft>
                <a:spcPts val="0"/>
              </a:spcAft>
              <a:buNone/>
            </a:pPr>
            <a:r>
              <a:rPr b="0" i="0" lang="en-US" sz="1400" u="none" cap="none" strike="noStrike">
                <a:solidFill>
                  <a:schemeClr val="dk1"/>
                </a:solidFill>
                <a:latin typeface="Malgun Gothic"/>
                <a:ea typeface="Malgun Gothic"/>
                <a:cs typeface="Malgun Gothic"/>
                <a:sym typeface="Malgun Gothic"/>
              </a:rPr>
              <a:t>glibc-devel-2.17-55.el6.i686.rpm \</a:t>
            </a:r>
            <a:endParaRPr/>
          </a:p>
          <a:p>
            <a:pPr indent="0" lvl="2" marL="914400" marR="0" rtl="0" algn="l">
              <a:spcBef>
                <a:spcPts val="0"/>
              </a:spcBef>
              <a:spcAft>
                <a:spcPts val="0"/>
              </a:spcAft>
              <a:buNone/>
            </a:pPr>
            <a:r>
              <a:rPr b="0" i="0" lang="en-US" sz="1400" u="none" cap="none" strike="noStrike">
                <a:solidFill>
                  <a:schemeClr val="dk1"/>
                </a:solidFill>
                <a:latin typeface="Malgun Gothic"/>
                <a:ea typeface="Malgun Gothic"/>
                <a:cs typeface="Malgun Gothic"/>
                <a:sym typeface="Malgun Gothic"/>
              </a:rPr>
              <a:t>glibc-headers-2.17-55.el6.i686.rpm</a:t>
            </a:r>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4"/>
          <p:cNvSpPr txBox="1"/>
          <p:nvPr/>
        </p:nvSpPr>
        <p:spPr>
          <a:xfrm>
            <a:off x="948690" y="651510"/>
            <a:ext cx="10469880" cy="48320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Malgun Gothic"/>
                <a:ea typeface="Malgun Gothic"/>
                <a:cs typeface="Malgun Gothic"/>
                <a:sym typeface="Malgun Gothic"/>
              </a:rPr>
              <a:t>유통서버에서</a:t>
            </a:r>
            <a:endParaRPr b="1"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13. GPKI 모듈 설정 방법.</a:t>
            </a:r>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gpki표준 api 압축 파일을 해제 (보통 암호는 818)</a:t>
            </a:r>
            <a:br>
              <a:rPr b="0" i="0" lang="en-US" sz="1600" u="none" cap="none" strike="noStrike">
                <a:solidFill>
                  <a:schemeClr val="dk1"/>
                </a:solidFill>
                <a:latin typeface="Malgun Gothic"/>
                <a:ea typeface="Malgun Gothic"/>
                <a:cs typeface="Malgun Gothic"/>
                <a:sym typeface="Malgun Gothic"/>
              </a:rPr>
            </a:br>
            <a:r>
              <a:rPr b="0" i="0" lang="en-US" sz="1600" u="none" cap="none" strike="noStrike">
                <a:solidFill>
                  <a:schemeClr val="dk1"/>
                </a:solidFill>
                <a:latin typeface="Malgun Gothic"/>
                <a:ea typeface="Malgun Gothic"/>
                <a:cs typeface="Malgun Gothic"/>
                <a:sym typeface="Malgun Gothic"/>
              </a:rPr>
              <a:t>임시라이센스, 정상라이센스, 모듈이 생김.</a:t>
            </a:r>
            <a:br>
              <a:rPr b="0" i="0" lang="en-US" sz="1600" u="none" cap="none" strike="noStrike">
                <a:solidFill>
                  <a:schemeClr val="dk1"/>
                </a:solidFill>
                <a:latin typeface="Malgun Gothic"/>
                <a:ea typeface="Malgun Gothic"/>
                <a:cs typeface="Malgun Gothic"/>
                <a:sym typeface="Malgun Gothic"/>
              </a:rPr>
            </a:br>
            <a:r>
              <a:rPr b="0" i="0" lang="en-US" sz="1600" u="none" cap="none" strike="noStrike">
                <a:solidFill>
                  <a:schemeClr val="dk1"/>
                </a:solidFill>
                <a:latin typeface="Malgun Gothic"/>
                <a:ea typeface="Malgun Gothic"/>
                <a:cs typeface="Malgun Gothic"/>
                <a:sym typeface="Malgun Gothic"/>
              </a:rPr>
              <a:t>임시라이센스는 기간이 3개월이고 ip 체크를 하지 않음. 그래서 정상라이센스로 설치 작업하는게 나음.</a:t>
            </a:r>
            <a:br>
              <a:rPr b="0" i="0" lang="en-US" sz="1600" u="none" cap="none" strike="noStrike">
                <a:solidFill>
                  <a:schemeClr val="dk1"/>
                </a:solidFill>
                <a:latin typeface="Malgun Gothic"/>
                <a:ea typeface="Malgun Gothic"/>
                <a:cs typeface="Malgun Gothic"/>
                <a:sym typeface="Malgun Gothic"/>
              </a:rPr>
            </a:br>
            <a:br>
              <a:rPr b="0" i="0" lang="en-US" sz="1600" u="none" cap="none" strike="noStrike">
                <a:solidFill>
                  <a:schemeClr val="dk1"/>
                </a:solidFill>
                <a:latin typeface="Malgun Gothic"/>
                <a:ea typeface="Malgun Gothic"/>
                <a:cs typeface="Malgun Gothic"/>
                <a:sym typeface="Malgun Gothic"/>
              </a:rPr>
            </a:br>
            <a:r>
              <a:rPr b="0" i="0" lang="en-US" sz="1600" u="none" cap="none" strike="noStrike">
                <a:solidFill>
                  <a:schemeClr val="dk1"/>
                </a:solidFill>
                <a:latin typeface="Malgun Gothic"/>
                <a:ea typeface="Malgun Gothic"/>
                <a:cs typeface="Malgun Gothic"/>
                <a:sym typeface="Malgun Gothic"/>
              </a:rPr>
              <a:t>* 임시라이센스의 경우, 3개월이 되어도 서비스가 종료되진 않지만 유통모듈을 재시작하면 시작 시 에러가 발생함.</a:t>
            </a:r>
            <a:br>
              <a:rPr b="0" i="0" lang="en-US" sz="1600" u="none" cap="none" strike="noStrike">
                <a:solidFill>
                  <a:schemeClr val="dk1"/>
                </a:solidFill>
                <a:latin typeface="Malgun Gothic"/>
                <a:ea typeface="Malgun Gothic"/>
                <a:cs typeface="Malgun Gothic"/>
                <a:sym typeface="Malgun Gothic"/>
              </a:rPr>
            </a:br>
            <a:br>
              <a:rPr b="0" i="0" lang="en-US" sz="1600" u="none" cap="none" strike="noStrike">
                <a:solidFill>
                  <a:schemeClr val="dk1"/>
                </a:solidFill>
                <a:latin typeface="Malgun Gothic"/>
                <a:ea typeface="Malgun Gothic"/>
                <a:cs typeface="Malgun Gothic"/>
                <a:sym typeface="Malgun Gothic"/>
              </a:rPr>
            </a:br>
            <a:r>
              <a:rPr b="0" i="0" lang="en-US" sz="1600" u="none" cap="none" strike="noStrike">
                <a:solidFill>
                  <a:schemeClr val="dk1"/>
                </a:solidFill>
                <a:latin typeface="Malgun Gothic"/>
                <a:ea typeface="Malgun Gothic"/>
                <a:cs typeface="Malgun Gothic"/>
                <a:sym typeface="Malgun Gothic"/>
              </a:rPr>
              <a:t>정상라이센스 폴더의 gpkiapi.lic 파일을 relay/gpki/를 생성하여 위치시킴.</a:t>
            </a:r>
            <a:br>
              <a:rPr b="0" i="0" lang="en-US" sz="1600" u="none" cap="none" strike="noStrike">
                <a:solidFill>
                  <a:schemeClr val="dk1"/>
                </a:solidFill>
                <a:latin typeface="Malgun Gothic"/>
                <a:ea typeface="Malgun Gothic"/>
                <a:cs typeface="Malgun Gothic"/>
                <a:sym typeface="Malgun Gothic"/>
              </a:rPr>
            </a:br>
            <a:r>
              <a:rPr b="0" i="0" lang="en-US" sz="1600" u="none" cap="none" strike="noStrike">
                <a:solidFill>
                  <a:schemeClr val="dk1"/>
                </a:solidFill>
                <a:latin typeface="Malgun Gothic"/>
                <a:ea typeface="Malgun Gothic"/>
                <a:cs typeface="Malgun Gothic"/>
                <a:sym typeface="Malgun Gothic"/>
              </a:rPr>
              <a:t>gpki 인증서 파일도 같은 곳에 위치시킴.</a:t>
            </a:r>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p:txBody>
      </p:sp>
      <p:pic>
        <p:nvPicPr>
          <p:cNvPr id="212" name="Google Shape;212;p14"/>
          <p:cNvPicPr preferRelativeResize="0"/>
          <p:nvPr/>
        </p:nvPicPr>
        <p:blipFill rotWithShape="1">
          <a:blip r:embed="rId3">
            <a:alphaModFix/>
          </a:blip>
          <a:srcRect b="0" l="0" r="0" t="0"/>
          <a:stretch/>
        </p:blipFill>
        <p:spPr>
          <a:xfrm>
            <a:off x="1781569" y="3590270"/>
            <a:ext cx="5667375" cy="1619250"/>
          </a:xfrm>
          <a:prstGeom prst="rect">
            <a:avLst/>
          </a:prstGeom>
          <a:noFill/>
          <a:ln>
            <a:noFill/>
          </a:ln>
        </p:spPr>
      </p:pic>
      <p:pic>
        <p:nvPicPr>
          <p:cNvPr id="213" name="Google Shape;213;p14"/>
          <p:cNvPicPr preferRelativeResize="0"/>
          <p:nvPr/>
        </p:nvPicPr>
        <p:blipFill rotWithShape="1">
          <a:blip r:embed="rId4">
            <a:alphaModFix/>
          </a:blip>
          <a:srcRect b="0" l="0" r="0" t="0"/>
          <a:stretch/>
        </p:blipFill>
        <p:spPr>
          <a:xfrm>
            <a:off x="7728585" y="3272790"/>
            <a:ext cx="4219575" cy="2933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5"/>
          <p:cNvSpPr txBox="1"/>
          <p:nvPr/>
        </p:nvSpPr>
        <p:spPr>
          <a:xfrm>
            <a:off x="948690" y="233499"/>
            <a:ext cx="5368200" cy="418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Malgun Gothic"/>
                <a:ea typeface="Malgun Gothic"/>
                <a:cs typeface="Malgun Gothic"/>
                <a:sym typeface="Malgun Gothic"/>
              </a:rPr>
              <a:t>유통서버에서</a:t>
            </a:r>
            <a:endParaRPr b="1"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4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400">
                <a:solidFill>
                  <a:schemeClr val="dk1"/>
                </a:solidFill>
                <a:latin typeface="Malgun Gothic"/>
                <a:ea typeface="Malgun Gothic"/>
                <a:cs typeface="Malgun Gothic"/>
                <a:sym typeface="Malgun Gothic"/>
              </a:rPr>
              <a:t>14. GPKI 모듈 설정 방법. </a:t>
            </a:r>
            <a:endParaRPr/>
          </a:p>
          <a:p>
            <a:pPr indent="-342900" lvl="1" marL="800100" marR="0" rtl="0" algn="l">
              <a:spcBef>
                <a:spcPts val="0"/>
              </a:spcBef>
              <a:spcAft>
                <a:spcPts val="0"/>
              </a:spcAft>
              <a:buClr>
                <a:schemeClr val="dk1"/>
              </a:buClr>
              <a:buSzPts val="1400"/>
              <a:buFont typeface="Malgun Gothic"/>
              <a:buAutoNum type="arabicPeriod"/>
            </a:pPr>
            <a:r>
              <a:rPr b="0" i="0" lang="en-US" sz="1400" u="none" cap="none" strike="noStrike">
                <a:solidFill>
                  <a:schemeClr val="dk1"/>
                </a:solidFill>
                <a:latin typeface="Malgun Gothic"/>
                <a:ea typeface="Malgun Gothic"/>
                <a:cs typeface="Malgun Gothic"/>
                <a:sym typeface="Malgun Gothic"/>
              </a:rPr>
              <a:t>gpkiapiV1.4.0.0_Linux_2.6.9-34.26AX_32bit_20170501.tgz 를 사용. 압축 해제</a:t>
            </a:r>
            <a:endParaRPr b="0" i="0" sz="1400" u="none" cap="none" strike="noStrike">
              <a:solidFill>
                <a:schemeClr val="dk1"/>
              </a:solidFill>
              <a:latin typeface="Malgun Gothic"/>
              <a:ea typeface="Malgun Gothic"/>
              <a:cs typeface="Malgun Gothic"/>
              <a:sym typeface="Malgun Gothic"/>
            </a:endParaRPr>
          </a:p>
          <a:p>
            <a:pPr indent="-342900" lvl="1" marL="800100" marR="0" rtl="0" algn="l">
              <a:spcBef>
                <a:spcPts val="0"/>
              </a:spcBef>
              <a:spcAft>
                <a:spcPts val="0"/>
              </a:spcAft>
              <a:buClr>
                <a:schemeClr val="dk1"/>
              </a:buClr>
              <a:buSzPts val="1400"/>
              <a:buFont typeface="Malgun Gothic"/>
              <a:buAutoNum type="arabicPeriod"/>
            </a:pPr>
            <a:r>
              <a:rPr b="0" i="0" lang="en-US" sz="1400" u="none" cap="none" strike="noStrike">
                <a:solidFill>
                  <a:schemeClr val="dk1"/>
                </a:solidFill>
                <a:latin typeface="Malgun Gothic"/>
                <a:ea typeface="Malgun Gothic"/>
                <a:cs typeface="Malgun Gothic"/>
                <a:sym typeface="Malgun Gothic"/>
              </a:rPr>
              <a:t>압축 해제하여 생성된 폴더 안에 conf/gpkiapi.conf 파일을 relay/config/에 파일과 교체</a:t>
            </a:r>
            <a:endParaRPr b="0" i="0" sz="1400" u="none" cap="none" strike="noStrike">
              <a:solidFill>
                <a:schemeClr val="dk1"/>
              </a:solidFill>
              <a:latin typeface="Malgun Gothic"/>
              <a:ea typeface="Malgun Gothic"/>
              <a:cs typeface="Malgun Gothic"/>
              <a:sym typeface="Malgun Gothic"/>
            </a:endParaRPr>
          </a:p>
          <a:p>
            <a:pPr indent="-342900" lvl="1" marL="800100" marR="0" rtl="0" algn="l">
              <a:spcBef>
                <a:spcPts val="0"/>
              </a:spcBef>
              <a:spcAft>
                <a:spcPts val="0"/>
              </a:spcAft>
              <a:buClr>
                <a:schemeClr val="dk1"/>
              </a:buClr>
              <a:buSzPts val="1400"/>
              <a:buFont typeface="Malgun Gothic"/>
              <a:buAutoNum type="arabicPeriod"/>
            </a:pPr>
            <a:r>
              <a:rPr b="0" i="0" lang="en-US" sz="1400" u="none" cap="none" strike="noStrike">
                <a:solidFill>
                  <a:schemeClr val="dk1"/>
                </a:solidFill>
                <a:latin typeface="Malgun Gothic"/>
                <a:ea typeface="Malgun Gothic"/>
                <a:cs typeface="Malgun Gothic"/>
                <a:sym typeface="Malgun Gothic"/>
              </a:rPr>
              <a:t>압축 해제하여 생성된 폴더 안에 lib/ 안에 모든 파일을 relay/lib로 복사.</a:t>
            </a:r>
            <a:endParaRPr/>
          </a:p>
          <a:p>
            <a:pPr indent="-342900" lvl="1" marL="800100" marR="0" rtl="0" algn="l">
              <a:spcBef>
                <a:spcPts val="0"/>
              </a:spcBef>
              <a:spcAft>
                <a:spcPts val="0"/>
              </a:spcAft>
              <a:buClr>
                <a:schemeClr val="dk1"/>
              </a:buClr>
              <a:buSzPts val="1400"/>
              <a:buFont typeface="Malgun Gothic"/>
              <a:buAutoNum type="arabicPeriod"/>
            </a:pPr>
            <a:r>
              <a:rPr b="0" i="0" lang="en-US" sz="1400" u="none" cap="none" strike="noStrike">
                <a:solidFill>
                  <a:schemeClr val="dk1"/>
                </a:solidFill>
                <a:latin typeface="Malgun Gothic"/>
                <a:ea typeface="Malgun Gothic"/>
                <a:cs typeface="Malgun Gothic"/>
                <a:sym typeface="Malgun Gothic"/>
              </a:rPr>
              <a:t>32bitso 모음을 압축해제하여 relay/lib 폴더안에 위치.</a:t>
            </a:r>
            <a:endParaRPr/>
          </a:p>
          <a:p>
            <a:pPr indent="-342900" lvl="2" marL="1257300" marR="0" rtl="0" algn="l">
              <a:spcBef>
                <a:spcPts val="0"/>
              </a:spcBef>
              <a:spcAft>
                <a:spcPts val="0"/>
              </a:spcAft>
              <a:buClr>
                <a:schemeClr val="dk1"/>
              </a:buClr>
              <a:buSzPts val="1400"/>
              <a:buFont typeface="Malgun Gothic"/>
              <a:buAutoNum type="arabicPeriod"/>
            </a:pPr>
            <a:r>
              <a:rPr b="0" i="0" lang="en-US" sz="1400" u="none" cap="none" strike="noStrike">
                <a:solidFill>
                  <a:schemeClr val="dk1"/>
                </a:solidFill>
                <a:latin typeface="Malgun Gothic"/>
                <a:ea typeface="Malgun Gothic"/>
                <a:cs typeface="Malgun Gothic"/>
                <a:sym typeface="Malgun Gothic"/>
              </a:rPr>
              <a:t>relay/lib 에서 ldd gpkiapi_info, ldd libgpkiapi.so, ldd liblber.so, ldd libldap.so로 의존성을 확인하면서 연결 안된 것은 연결해줘야하는데 보통 32bitso안에 있으므로 심볼릭 링크로 필요한 파일을 이름 같게</a:t>
            </a:r>
            <a:r>
              <a:rPr b="0" i="0" lang="en-US" sz="1600" u="none" cap="none" strike="noStrike">
                <a:solidFill>
                  <a:schemeClr val="dk1"/>
                </a:solidFill>
                <a:latin typeface="Malgun Gothic"/>
                <a:ea typeface="Malgun Gothic"/>
                <a:cs typeface="Malgun Gothic"/>
                <a:sym typeface="Malgun Gothic"/>
              </a:rPr>
              <a:t> 위치시켜줌.</a:t>
            </a:r>
            <a:endParaRPr/>
          </a:p>
          <a:p>
            <a:pPr indent="-241300" lvl="2" marL="12573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2" marL="12573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p:txBody>
      </p:sp>
      <p:pic>
        <p:nvPicPr>
          <p:cNvPr id="219" name="Google Shape;219;p15"/>
          <p:cNvPicPr preferRelativeResize="0"/>
          <p:nvPr/>
        </p:nvPicPr>
        <p:blipFill rotWithShape="1">
          <a:blip r:embed="rId3">
            <a:alphaModFix/>
          </a:blip>
          <a:srcRect b="0" l="0" r="0" t="0"/>
          <a:stretch/>
        </p:blipFill>
        <p:spPr>
          <a:xfrm>
            <a:off x="948690" y="3907716"/>
            <a:ext cx="5301108" cy="2799292"/>
          </a:xfrm>
          <a:prstGeom prst="rect">
            <a:avLst/>
          </a:prstGeom>
          <a:noFill/>
          <a:ln>
            <a:noFill/>
          </a:ln>
        </p:spPr>
      </p:pic>
      <p:sp>
        <p:nvSpPr>
          <p:cNvPr id="220" name="Google Shape;220;p15"/>
          <p:cNvSpPr txBox="1"/>
          <p:nvPr/>
        </p:nvSpPr>
        <p:spPr>
          <a:xfrm>
            <a:off x="6400800" y="651510"/>
            <a:ext cx="5486400" cy="51398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200">
                <a:solidFill>
                  <a:schemeClr val="dk1"/>
                </a:solidFill>
                <a:latin typeface="Consolas"/>
                <a:ea typeface="Consolas"/>
                <a:cs typeface="Consolas"/>
                <a:sym typeface="Consolas"/>
              </a:rPr>
              <a:t>ldd  gpkiapi_info</a:t>
            </a:r>
            <a:endParaRPr b="0" sz="1200">
              <a:solidFill>
                <a:schemeClr val="dk1"/>
              </a:solidFill>
              <a:latin typeface="Consolas"/>
              <a:ea typeface="Consolas"/>
              <a:cs typeface="Consolas"/>
              <a:sym typeface="Consolas"/>
            </a:endParaRPr>
          </a:p>
          <a:p>
            <a:pPr indent="0" lvl="0" marL="0" marR="0" rtl="0" algn="l">
              <a:spcBef>
                <a:spcPts val="0"/>
              </a:spcBef>
              <a:spcAft>
                <a:spcPts val="0"/>
              </a:spcAft>
              <a:buNone/>
            </a:pPr>
            <a:r>
              <a:rPr b="0" lang="en-US" sz="1200">
                <a:solidFill>
                  <a:schemeClr val="dk1"/>
                </a:solidFill>
                <a:latin typeface="Consolas"/>
                <a:ea typeface="Consolas"/>
                <a:cs typeface="Consolas"/>
                <a:sym typeface="Consolas"/>
              </a:rPr>
              <a:t>ln -s liblber.so liblber.so.7</a:t>
            </a:r>
            <a:endParaRPr/>
          </a:p>
          <a:p>
            <a:pPr indent="0" lvl="0" marL="0" marR="0" rtl="0" algn="l">
              <a:spcBef>
                <a:spcPts val="0"/>
              </a:spcBef>
              <a:spcAft>
                <a:spcPts val="0"/>
              </a:spcAft>
              <a:buNone/>
            </a:pPr>
            <a:r>
              <a:rPr b="0" lang="en-US" sz="1200">
                <a:solidFill>
                  <a:schemeClr val="dk1"/>
                </a:solidFill>
                <a:latin typeface="Consolas"/>
                <a:ea typeface="Consolas"/>
                <a:cs typeface="Consolas"/>
                <a:sym typeface="Consolas"/>
              </a:rPr>
              <a:t>ln -s liblber.so liblber-2.2.so.7</a:t>
            </a:r>
            <a:endParaRPr/>
          </a:p>
          <a:p>
            <a:pPr indent="0" lvl="0" marL="0" marR="0" rtl="0" algn="l">
              <a:spcBef>
                <a:spcPts val="0"/>
              </a:spcBef>
              <a:spcAft>
                <a:spcPts val="0"/>
              </a:spcAft>
              <a:buNone/>
            </a:pPr>
            <a:r>
              <a:rPr b="0" lang="en-US" sz="1200">
                <a:solidFill>
                  <a:schemeClr val="dk1"/>
                </a:solidFill>
                <a:latin typeface="Consolas"/>
                <a:ea typeface="Consolas"/>
                <a:cs typeface="Consolas"/>
                <a:sym typeface="Consolas"/>
              </a:rPr>
              <a:t>ln -s 32bitso/lib/libdb_cxx-4.2.so libdb_cxx-4.2.so</a:t>
            </a:r>
            <a:endParaRPr/>
          </a:p>
          <a:p>
            <a:pPr indent="0" lvl="0" marL="0" marR="0" rtl="0" algn="l">
              <a:spcBef>
                <a:spcPts val="0"/>
              </a:spcBef>
              <a:spcAft>
                <a:spcPts val="0"/>
              </a:spcAft>
              <a:buNone/>
            </a:pPr>
            <a:r>
              <a:rPr b="0" lang="en-US" sz="1200">
                <a:solidFill>
                  <a:schemeClr val="dk1"/>
                </a:solidFill>
                <a:latin typeface="Consolas"/>
                <a:ea typeface="Consolas"/>
                <a:cs typeface="Consolas"/>
                <a:sym typeface="Consolas"/>
              </a:rPr>
              <a:t>ln -s 32bitso/lib/libsasl2.so.2.0.23 libsasl2.so.2</a:t>
            </a:r>
            <a:endParaRPr/>
          </a:p>
          <a:p>
            <a:pPr indent="0" lvl="0" marL="0" marR="0" rtl="0" algn="l">
              <a:spcBef>
                <a:spcPts val="0"/>
              </a:spcBef>
              <a:spcAft>
                <a:spcPts val="0"/>
              </a:spcAft>
              <a:buNone/>
            </a:pPr>
            <a:r>
              <a:rPr b="0" lang="en-US" sz="1200">
                <a:solidFill>
                  <a:schemeClr val="dk1"/>
                </a:solidFill>
                <a:latin typeface="Consolas"/>
                <a:ea typeface="Consolas"/>
                <a:cs typeface="Consolas"/>
                <a:sym typeface="Consolas"/>
              </a:rPr>
              <a:t>ln -s 32bitso/lib/libssl.so.1.0.2k libssl.so.4</a:t>
            </a:r>
            <a:endParaRPr/>
          </a:p>
          <a:p>
            <a:pPr indent="0" lvl="0" marL="0" marR="0" rtl="0" algn="l">
              <a:spcBef>
                <a:spcPts val="0"/>
              </a:spcBef>
              <a:spcAft>
                <a:spcPts val="0"/>
              </a:spcAft>
              <a:buNone/>
            </a:pPr>
            <a:r>
              <a:rPr b="0" lang="en-US" sz="1200">
                <a:solidFill>
                  <a:schemeClr val="dk1"/>
                </a:solidFill>
                <a:latin typeface="Consolas"/>
                <a:ea typeface="Consolas"/>
                <a:cs typeface="Consolas"/>
                <a:sym typeface="Consolas"/>
              </a:rPr>
              <a:t>ln -s 32bitso/lib/libcrypto.so.1.0.2k libcrypto.so.4</a:t>
            </a:r>
            <a:endParaRPr/>
          </a:p>
          <a:p>
            <a:pPr indent="0" lvl="0" marL="0" marR="0" rtl="0" algn="l">
              <a:spcBef>
                <a:spcPts val="0"/>
              </a:spcBef>
              <a:spcAft>
                <a:spcPts val="0"/>
              </a:spcAft>
              <a:buNone/>
            </a:pPr>
            <a:r>
              <a:rPr b="0" lang="en-US" sz="1200">
                <a:solidFill>
                  <a:schemeClr val="dk1"/>
                </a:solidFill>
                <a:latin typeface="Consolas"/>
                <a:ea typeface="Consolas"/>
                <a:cs typeface="Consolas"/>
                <a:sym typeface="Consolas"/>
              </a:rPr>
              <a:t>ln -s 32bitso/libk5crypto.so.3.1 libk5crypto.so.3</a:t>
            </a:r>
            <a:endParaRPr/>
          </a:p>
          <a:p>
            <a:pPr indent="0" lvl="0" marL="0" marR="0" rtl="0" algn="l">
              <a:spcBef>
                <a:spcPts val="0"/>
              </a:spcBef>
              <a:spcAft>
                <a:spcPts val="0"/>
              </a:spcAft>
              <a:buNone/>
            </a:pPr>
            <a:r>
              <a:rPr b="0" lang="en-US" sz="1200">
                <a:solidFill>
                  <a:schemeClr val="dk1"/>
                </a:solidFill>
                <a:latin typeface="Consolas"/>
                <a:ea typeface="Consolas"/>
                <a:cs typeface="Consolas"/>
                <a:sym typeface="Consolas"/>
              </a:rPr>
              <a:t>ldd  </a:t>
            </a:r>
            <a:r>
              <a:rPr lang="en-US" sz="1200">
                <a:solidFill>
                  <a:schemeClr val="dk1"/>
                </a:solidFill>
                <a:latin typeface="Malgun Gothic"/>
                <a:ea typeface="Malgun Gothic"/>
                <a:cs typeface="Malgun Gothic"/>
                <a:sym typeface="Malgun Gothic"/>
              </a:rPr>
              <a:t> libgpkiapi.so </a:t>
            </a:r>
            <a:endParaRPr/>
          </a:p>
          <a:p>
            <a:pPr indent="0" lvl="0" marL="0" marR="0" rtl="0" algn="l">
              <a:spcBef>
                <a:spcPts val="0"/>
              </a:spcBef>
              <a:spcAft>
                <a:spcPts val="0"/>
              </a:spcAft>
              <a:buNone/>
            </a:pPr>
            <a:r>
              <a:rPr b="0" lang="en-US" sz="1200">
                <a:solidFill>
                  <a:schemeClr val="dk1"/>
                </a:solidFill>
                <a:latin typeface="Consolas"/>
                <a:ea typeface="Consolas"/>
                <a:cs typeface="Consolas"/>
                <a:sym typeface="Consolas"/>
              </a:rPr>
              <a:t>ln -s 32bitso/lib/libstdc++.so.6.0.19 libstdc++.so.6</a:t>
            </a:r>
            <a:endParaRPr/>
          </a:p>
          <a:p>
            <a:pPr indent="0" lvl="0" marL="0" marR="0" rtl="0" algn="l">
              <a:spcBef>
                <a:spcPts val="0"/>
              </a:spcBef>
              <a:spcAft>
                <a:spcPts val="0"/>
              </a:spcAft>
              <a:buNone/>
            </a:pPr>
            <a:r>
              <a:rPr b="0" lang="en-US" sz="1200">
                <a:solidFill>
                  <a:schemeClr val="dk1"/>
                </a:solidFill>
                <a:latin typeface="Consolas"/>
                <a:ea typeface="Consolas"/>
                <a:cs typeface="Consolas"/>
                <a:sym typeface="Consolas"/>
              </a:rPr>
              <a:t>ln -s 32bitso/lib/libcrypt-2.17.so libcrypt.so.1</a:t>
            </a:r>
            <a:endParaRPr/>
          </a:p>
          <a:p>
            <a:pPr indent="0" lvl="0" marL="0" marR="0" rtl="0" algn="l">
              <a:spcBef>
                <a:spcPts val="0"/>
              </a:spcBef>
              <a:spcAft>
                <a:spcPts val="0"/>
              </a:spcAft>
              <a:buNone/>
            </a:pPr>
            <a:r>
              <a:rPr b="0" lang="en-US" sz="1200">
                <a:solidFill>
                  <a:schemeClr val="dk1"/>
                </a:solidFill>
                <a:latin typeface="Consolas"/>
                <a:ea typeface="Consolas"/>
                <a:cs typeface="Consolas"/>
                <a:sym typeface="Consolas"/>
              </a:rPr>
              <a:t>ln -s 32bitso/lib/libgssapi_krb5.so.2.2 libgssapi_krb5.so.2</a:t>
            </a:r>
            <a:endParaRPr/>
          </a:p>
          <a:p>
            <a:pPr indent="0" lvl="0" marL="0" marR="0" rtl="0" algn="l">
              <a:spcBef>
                <a:spcPts val="0"/>
              </a:spcBef>
              <a:spcAft>
                <a:spcPts val="0"/>
              </a:spcAft>
              <a:buNone/>
            </a:pPr>
            <a:r>
              <a:rPr b="0" lang="en-US" sz="1200">
                <a:solidFill>
                  <a:schemeClr val="dk1"/>
                </a:solidFill>
                <a:latin typeface="Consolas"/>
                <a:ea typeface="Consolas"/>
                <a:cs typeface="Consolas"/>
                <a:sym typeface="Consolas"/>
              </a:rPr>
              <a:t>ln -s 32bitso/lib/libkrb5.so.3.3 libkrb5.so.3</a:t>
            </a:r>
            <a:endParaRPr/>
          </a:p>
          <a:p>
            <a:pPr indent="0" lvl="0" marL="0" marR="0" rtl="0" algn="l">
              <a:spcBef>
                <a:spcPts val="0"/>
              </a:spcBef>
              <a:spcAft>
                <a:spcPts val="0"/>
              </a:spcAft>
              <a:buNone/>
            </a:pPr>
            <a:r>
              <a:rPr b="0" lang="en-US" sz="1200">
                <a:solidFill>
                  <a:schemeClr val="dk1"/>
                </a:solidFill>
                <a:latin typeface="Consolas"/>
                <a:ea typeface="Consolas"/>
                <a:cs typeface="Consolas"/>
                <a:sym typeface="Consolas"/>
              </a:rPr>
              <a:t>ln -s 32bitso/lib/libcom_err.so.2.1 libcom_err.so.2</a:t>
            </a:r>
            <a:endParaRPr/>
          </a:p>
          <a:p>
            <a:pPr indent="0" lvl="0" marL="0" marR="0" rtl="0" algn="l">
              <a:spcBef>
                <a:spcPts val="0"/>
              </a:spcBef>
              <a:spcAft>
                <a:spcPts val="0"/>
              </a:spcAft>
              <a:buNone/>
            </a:pPr>
            <a:r>
              <a:rPr b="0" lang="en-US" sz="1200">
                <a:solidFill>
                  <a:schemeClr val="dk1"/>
                </a:solidFill>
                <a:latin typeface="Consolas"/>
                <a:ea typeface="Consolas"/>
                <a:cs typeface="Consolas"/>
                <a:sym typeface="Consolas"/>
              </a:rPr>
              <a:t>ln -s 32bitso/lib/libk5crypto.so.3.1 libk5crypto.so.3</a:t>
            </a:r>
            <a:endParaRPr/>
          </a:p>
          <a:p>
            <a:pPr indent="0" lvl="0" marL="0" marR="0" rtl="0" algn="l">
              <a:spcBef>
                <a:spcPts val="0"/>
              </a:spcBef>
              <a:spcAft>
                <a:spcPts val="0"/>
              </a:spcAft>
              <a:buNone/>
            </a:pPr>
            <a:r>
              <a:rPr b="0" lang="en-US" sz="1200">
                <a:solidFill>
                  <a:schemeClr val="dk1"/>
                </a:solidFill>
                <a:latin typeface="Consolas"/>
                <a:ea typeface="Consolas"/>
                <a:cs typeface="Consolas"/>
                <a:sym typeface="Consolas"/>
              </a:rPr>
              <a:t>ln -s 32bitso/lib/libz.so.1.2.7 libz.so.1</a:t>
            </a:r>
            <a:endParaRPr/>
          </a:p>
          <a:p>
            <a:pPr indent="0" lvl="0" marL="0" marR="0" rtl="0" algn="l">
              <a:spcBef>
                <a:spcPts val="0"/>
              </a:spcBef>
              <a:spcAft>
                <a:spcPts val="0"/>
              </a:spcAft>
              <a:buNone/>
            </a:pPr>
            <a:r>
              <a:rPr b="0" lang="en-US" sz="1200">
                <a:solidFill>
                  <a:schemeClr val="dk1"/>
                </a:solidFill>
                <a:latin typeface="Consolas"/>
                <a:ea typeface="Consolas"/>
                <a:cs typeface="Consolas"/>
                <a:sym typeface="Consolas"/>
              </a:rPr>
              <a:t>ldd  </a:t>
            </a:r>
            <a:r>
              <a:rPr lang="en-US" sz="1200">
                <a:solidFill>
                  <a:schemeClr val="dk1"/>
                </a:solidFill>
                <a:latin typeface="Malgun Gothic"/>
                <a:ea typeface="Malgun Gothic"/>
                <a:cs typeface="Malgun Gothic"/>
                <a:sym typeface="Malgun Gothic"/>
              </a:rPr>
              <a:t>liblber.so </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ln -s 32bitso/lib/libgcc_s-4.8.5-20150702.so.1 libgcc_s.so.1</a:t>
            </a:r>
            <a:endParaRPr sz="1200">
              <a:solidFill>
                <a:schemeClr val="dk1"/>
              </a:solidFill>
              <a:latin typeface="Consolas"/>
              <a:ea typeface="Consolas"/>
              <a:cs typeface="Consolas"/>
              <a:sym typeface="Consolas"/>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ln -s 32bitso/lib/libfreebl3.so libfreebl3.so</a:t>
            </a:r>
            <a:endParaRPr sz="1200">
              <a:solidFill>
                <a:schemeClr val="dk1"/>
              </a:solidFill>
              <a:latin typeface="Consolas"/>
              <a:ea typeface="Consolas"/>
              <a:cs typeface="Consolas"/>
              <a:sym typeface="Consolas"/>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ln -s 32bitso/lib/libkrb5support.so.0.1 libkrb5support.so.0</a:t>
            </a:r>
            <a:endParaRPr sz="1200">
              <a:solidFill>
                <a:schemeClr val="dk1"/>
              </a:solidFill>
              <a:latin typeface="Consolas"/>
              <a:ea typeface="Consolas"/>
              <a:cs typeface="Consolas"/>
              <a:sym typeface="Consolas"/>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ln -s 32bitso/lib/libkeyutils.so.1.5 libkeyutils.so.1</a:t>
            </a:r>
            <a:endParaRPr sz="1200">
              <a:solidFill>
                <a:schemeClr val="dk1"/>
              </a:solidFill>
              <a:latin typeface="Consolas"/>
              <a:ea typeface="Consolas"/>
              <a:cs typeface="Consolas"/>
              <a:sym typeface="Consolas"/>
            </a:endParaRPr>
          </a:p>
          <a:p>
            <a:pPr indent="0" lvl="0" marL="0" marR="0" rtl="0" algn="l">
              <a:spcBef>
                <a:spcPts val="0"/>
              </a:spcBef>
              <a:spcAft>
                <a:spcPts val="0"/>
              </a:spcAft>
              <a:buNone/>
            </a:pPr>
            <a:r>
              <a:rPr b="0" lang="en-US" sz="1200">
                <a:solidFill>
                  <a:schemeClr val="dk1"/>
                </a:solidFill>
                <a:latin typeface="Consolas"/>
                <a:ea typeface="Consolas"/>
                <a:cs typeface="Consolas"/>
                <a:sym typeface="Consolas"/>
              </a:rPr>
              <a:t>ldd  </a:t>
            </a:r>
            <a:r>
              <a:rPr lang="en-US" sz="1200">
                <a:solidFill>
                  <a:schemeClr val="dk1"/>
                </a:solidFill>
                <a:latin typeface="Malgun Gothic"/>
                <a:ea typeface="Malgun Gothic"/>
                <a:cs typeface="Malgun Gothic"/>
                <a:sym typeface="Malgun Gothic"/>
              </a:rPr>
              <a:t> libldap.so </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ln -s 32bitso/lib/libselinux.so.1 libselinux.so.1</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ln -s 32bitso/lib/libpcre.so.1.2.0 libpcre.so.1</a:t>
            </a:r>
            <a:endParaRPr/>
          </a:p>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해당 로그는 예시이며, ldd 명령어로 gpkiapi_info, libgpkiapi.so, liblber.so, libldap.so 네 파일에 대해 의존성을 다 확인하며 심볼릭 링크를 추가함</a:t>
            </a:r>
            <a:endParaRPr sz="1200">
              <a:solidFill>
                <a:schemeClr val="dk1"/>
              </a:solidFill>
              <a:latin typeface="Malgun Gothic"/>
              <a:ea typeface="Malgun Gothic"/>
              <a:cs typeface="Malgun Gothic"/>
              <a:sym typeface="Malgun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6"/>
          <p:cNvSpPr txBox="1"/>
          <p:nvPr/>
        </p:nvSpPr>
        <p:spPr>
          <a:xfrm>
            <a:off x="948690" y="651510"/>
            <a:ext cx="10469880"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Malgun Gothic"/>
                <a:ea typeface="Malgun Gothic"/>
                <a:cs typeface="Malgun Gothic"/>
                <a:sym typeface="Malgun Gothic"/>
              </a:rPr>
              <a:t>유통서버에서</a:t>
            </a:r>
            <a:endParaRPr b="1"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15. GPKI 모듈 설정 방법.</a:t>
            </a:r>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○gpkiapiV1.4.0.0_20101002_j.zip 파일 해제</a:t>
            </a:r>
            <a:endParaRPr b="0" i="0" sz="1600" u="none" cap="none" strike="noStrike">
              <a:solidFill>
                <a:schemeClr val="dk1"/>
              </a:solidFill>
              <a:latin typeface="Malgun Gothic"/>
              <a:ea typeface="Malgun Gothic"/>
              <a:cs typeface="Malgun Gothic"/>
              <a:sym typeface="Malgun Gothic"/>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해제된폴더/lib/libgpkiapi_jni.jar 을 relay/classes/에  복사.</a:t>
            </a:r>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p:txBody>
      </p:sp>
      <p:pic>
        <p:nvPicPr>
          <p:cNvPr id="226" name="Google Shape;226;p16"/>
          <p:cNvPicPr preferRelativeResize="0"/>
          <p:nvPr/>
        </p:nvPicPr>
        <p:blipFill rotWithShape="1">
          <a:blip r:embed="rId3">
            <a:alphaModFix/>
          </a:blip>
          <a:srcRect b="0" l="0" r="0" t="0"/>
          <a:stretch/>
        </p:blipFill>
        <p:spPr>
          <a:xfrm>
            <a:off x="1239721" y="1931236"/>
            <a:ext cx="5838825" cy="2047875"/>
          </a:xfrm>
          <a:prstGeom prst="rect">
            <a:avLst/>
          </a:prstGeom>
          <a:noFill/>
          <a:ln>
            <a:noFill/>
          </a:ln>
        </p:spPr>
      </p:pic>
      <p:sp>
        <p:nvSpPr>
          <p:cNvPr id="227" name="Google Shape;227;p16"/>
          <p:cNvSpPr/>
          <p:nvPr/>
        </p:nvSpPr>
        <p:spPr>
          <a:xfrm>
            <a:off x="5057775" y="3324225"/>
            <a:ext cx="1905000" cy="190500"/>
          </a:xfrm>
          <a:prstGeom prst="rect">
            <a:avLst/>
          </a:prstGeom>
          <a:noFill/>
          <a:ln cap="flat" cmpd="sng" w="28575">
            <a:solidFill>
              <a:srgbClr val="2E7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7"/>
          <p:cNvSpPr txBox="1"/>
          <p:nvPr/>
        </p:nvSpPr>
        <p:spPr>
          <a:xfrm>
            <a:off x="948690" y="651510"/>
            <a:ext cx="10469880" cy="480131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algun Gothic"/>
                <a:ea typeface="Malgun Gothic"/>
                <a:cs typeface="Malgun Gothic"/>
                <a:sym typeface="Malgun Gothic"/>
              </a:rPr>
              <a:t>그룹웨어서버에서</a:t>
            </a:r>
            <a:endParaRPr b="1" sz="1800">
              <a:solidFill>
                <a:schemeClr val="dk1"/>
              </a:solidFill>
              <a:latin typeface="Malgun Gothic"/>
              <a:ea typeface="Malgun Gothic"/>
              <a:cs typeface="Malgun Gothic"/>
              <a:sym typeface="Malgun Gothic"/>
            </a:endParaRPr>
          </a:p>
          <a:p>
            <a:pPr indent="-342900" lvl="0" marL="342900" marR="0" rtl="0" algn="l">
              <a:spcBef>
                <a:spcPts val="0"/>
              </a:spcBef>
              <a:spcAft>
                <a:spcPts val="0"/>
              </a:spcAft>
              <a:buClr>
                <a:schemeClr val="dk1"/>
              </a:buClr>
              <a:buSzPts val="1600"/>
              <a:buFont typeface="Malgun Gothic"/>
              <a:buAutoNum type="arabicPeriod"/>
            </a:pPr>
            <a:r>
              <a:rPr lang="en-US" sz="1600">
                <a:solidFill>
                  <a:schemeClr val="dk1"/>
                </a:solidFill>
                <a:latin typeface="Malgun Gothic"/>
                <a:ea typeface="Malgun Gothic"/>
                <a:cs typeface="Malgun Gothic"/>
                <a:sym typeface="Malgun Gothic"/>
              </a:rPr>
              <a:t>ezflow의 config.properties 에</a:t>
            </a:r>
            <a:endParaRPr sz="1600">
              <a:solidFill>
                <a:schemeClr val="dk1"/>
              </a:solidFill>
              <a:latin typeface="Malgun Gothic"/>
              <a:ea typeface="Malgun Gothic"/>
              <a:cs typeface="Malgun Gothic"/>
              <a:sym typeface="Malgun Gothic"/>
            </a:endParaRPr>
          </a:p>
          <a:p>
            <a:pPr indent="-342900" lvl="1" marL="800100" marR="0" rtl="0" algn="l">
              <a:spcBef>
                <a:spcPts val="0"/>
              </a:spcBef>
              <a:spcAft>
                <a:spcPts val="0"/>
              </a:spcAft>
              <a:buClr>
                <a:srgbClr val="FF0000"/>
              </a:buClr>
              <a:buSzPts val="1600"/>
              <a:buFont typeface="Malgun Gothic"/>
              <a:buAutoNum type="arabicPeriod"/>
            </a:pPr>
            <a:r>
              <a:rPr b="0" i="0" lang="en-US" sz="1600" u="none" cap="none" strike="noStrike">
                <a:solidFill>
                  <a:srgbClr val="FF0000"/>
                </a:solidFill>
                <a:latin typeface="Malgun Gothic"/>
                <a:ea typeface="Malgun Gothic"/>
                <a:cs typeface="Malgun Gothic"/>
                <a:sym typeface="Malgun Gothic"/>
              </a:rPr>
              <a:t>relay_root = /home/jmocha/ezEKP/ezFlow/webapps/ROOT (ROOT가 있는 위치까지의 경로)</a:t>
            </a:r>
            <a:endParaRPr/>
          </a:p>
          <a:p>
            <a:pPr indent="-342900" lvl="1" marL="800100" marR="0" rtl="0" algn="l">
              <a:spcBef>
                <a:spcPts val="0"/>
              </a:spcBef>
              <a:spcAft>
                <a:spcPts val="0"/>
              </a:spcAft>
              <a:buClr>
                <a:srgbClr val="FF0000"/>
              </a:buClr>
              <a:buSzPts val="1600"/>
              <a:buFont typeface="Malgun Gothic"/>
              <a:buAutoNum type="arabicPeriod"/>
            </a:pPr>
            <a:r>
              <a:rPr b="0" i="0" lang="en-US" sz="1600" u="none" cap="none" strike="noStrike">
                <a:solidFill>
                  <a:srgbClr val="FF0000"/>
                </a:solidFill>
                <a:latin typeface="Malgun Gothic"/>
                <a:ea typeface="Malgun Gothic"/>
                <a:cs typeface="Malgun Gothic"/>
                <a:sym typeface="Malgun Gothic"/>
              </a:rPr>
              <a:t>Upload_relay.ROOT = /relay</a:t>
            </a:r>
            <a:endParaRPr/>
          </a:p>
          <a:p>
            <a:pPr indent="-342900" lvl="1" marL="800100" marR="0" rtl="0" algn="l">
              <a:spcBef>
                <a:spcPts val="0"/>
              </a:spcBef>
              <a:spcAft>
                <a:spcPts val="0"/>
              </a:spcAft>
              <a:buClr>
                <a:srgbClr val="FF0000"/>
              </a:buClr>
              <a:buSzPts val="1600"/>
              <a:buFont typeface="Malgun Gothic"/>
              <a:buAutoNum type="arabicPeriod"/>
            </a:pPr>
            <a:r>
              <a:rPr b="0" i="0" lang="en-US" sz="1600" u="none" cap="none" strike="noStrike">
                <a:solidFill>
                  <a:srgbClr val="FF0000"/>
                </a:solidFill>
                <a:latin typeface="Malgun Gothic"/>
                <a:ea typeface="Malgun Gothic"/>
                <a:cs typeface="Malgun Gothic"/>
                <a:sym typeface="Malgun Gothic"/>
              </a:rPr>
              <a:t>upload_relay.R_DocPath = /files/upload_approvalG 로 설정.</a:t>
            </a:r>
            <a:endParaRPr/>
          </a:p>
          <a:p>
            <a:pPr indent="-342900" lvl="1" marL="800100" marR="0" rtl="0" algn="l">
              <a:spcBef>
                <a:spcPts val="0"/>
              </a:spcBef>
              <a:spcAft>
                <a:spcPts val="0"/>
              </a:spcAft>
              <a:buClr>
                <a:srgbClr val="FF0000"/>
              </a:buClr>
              <a:buSzPts val="1600"/>
              <a:buFont typeface="Malgun Gothic"/>
              <a:buAutoNum type="arabicPeriod"/>
            </a:pPr>
            <a:r>
              <a:rPr b="0" i="0" lang="en-US" sz="1600" u="none" cap="none" strike="noStrike">
                <a:solidFill>
                  <a:srgbClr val="FF0000"/>
                </a:solidFill>
                <a:latin typeface="Malgun Gothic"/>
                <a:ea typeface="Malgun Gothic"/>
                <a:cs typeface="Malgun Gothic"/>
                <a:sym typeface="Malgun Gothic"/>
              </a:rPr>
              <a:t>config.companyNum = '기관코드’</a:t>
            </a:r>
            <a:endParaRPr b="0" i="0" sz="1600" u="none" cap="none" strike="noStrike">
              <a:solidFill>
                <a:schemeClr val="dk1"/>
              </a:solidFill>
              <a:latin typeface="Malgun Gothic"/>
              <a:ea typeface="Malgun Gothic"/>
              <a:cs typeface="Malgun Gothic"/>
              <a:sym typeface="Malgun Gothic"/>
            </a:endParaRPr>
          </a:p>
          <a:p>
            <a:pPr indent="-342900" lvl="1" marL="800100" marR="0" rtl="0" algn="l">
              <a:spcBef>
                <a:spcPts val="0"/>
              </a:spcBef>
              <a:spcAft>
                <a:spcPts val="0"/>
              </a:spcAft>
              <a:buClr>
                <a:srgbClr val="FF0000"/>
              </a:buClr>
              <a:buSzPts val="1600"/>
              <a:buFont typeface="Malgun Gothic"/>
              <a:buAutoNum type="arabicPeriod"/>
            </a:pPr>
            <a:r>
              <a:rPr b="0" i="0" lang="en-US" sz="1600" u="none" cap="none" strike="noStrike">
                <a:solidFill>
                  <a:srgbClr val="FF0000"/>
                </a:solidFill>
                <a:latin typeface="Malgun Gothic"/>
                <a:ea typeface="Malgun Gothic"/>
                <a:cs typeface="Malgun Gothic"/>
                <a:sym typeface="Malgun Gothic"/>
              </a:rPr>
              <a:t>config.Run_RelayScheduler = YES</a:t>
            </a:r>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rgbClr val="FF0000"/>
              </a:solidFill>
              <a:latin typeface="Malgun Gothic"/>
              <a:ea typeface="Malgun Gothic"/>
              <a:cs typeface="Malgun Gothic"/>
              <a:sym typeface="Malgun Gothic"/>
            </a:endParaRPr>
          </a:p>
          <a:p>
            <a:pPr indent="-342900" lvl="0" marL="342900" marR="0" rtl="0" algn="l">
              <a:spcBef>
                <a:spcPts val="0"/>
              </a:spcBef>
              <a:spcAft>
                <a:spcPts val="0"/>
              </a:spcAft>
              <a:buClr>
                <a:schemeClr val="dk1"/>
              </a:buClr>
              <a:buSzPts val="1600"/>
              <a:buFont typeface="Malgun Gothic"/>
              <a:buAutoNum type="arabicPeriod"/>
            </a:pPr>
            <a:r>
              <a:rPr lang="en-US" sz="1600">
                <a:solidFill>
                  <a:schemeClr val="dk1"/>
                </a:solidFill>
                <a:latin typeface="Malgun Gothic"/>
                <a:ea typeface="Malgun Gothic"/>
                <a:cs typeface="Malgun Gothic"/>
                <a:sym typeface="Malgun Gothic"/>
              </a:rPr>
              <a:t>ezflow가 설치된 서버에서</a:t>
            </a:r>
            <a:endParaRPr sz="1600">
              <a:solidFill>
                <a:schemeClr val="dk1"/>
              </a:solidFill>
              <a:latin typeface="Malgun Gothic"/>
              <a:ea typeface="Malgun Gothic"/>
              <a:cs typeface="Malgun Gothic"/>
              <a:sym typeface="Malgun Gothic"/>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/home/jmocha/ezEKP/ezFlow/webapps/ROOT/fileroot/0/files에 /home/jmocha/relay를 심볼릭 링크 생성. (유통서버와 ezFlow서버가 분리되어 있을 경우, 마운트한 relay에는 data와 dtd 폴더가 있어야함. data만 마운트하고 dtd는 별도로 복사해줘도 동작함.)</a:t>
            </a:r>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p:txBody>
      </p:sp>
      <p:pic>
        <p:nvPicPr>
          <p:cNvPr id="233" name="Google Shape;233;p17"/>
          <p:cNvPicPr preferRelativeResize="0"/>
          <p:nvPr/>
        </p:nvPicPr>
        <p:blipFill rotWithShape="1">
          <a:blip r:embed="rId3">
            <a:alphaModFix/>
          </a:blip>
          <a:srcRect b="0" l="0" r="0" t="0"/>
          <a:stretch/>
        </p:blipFill>
        <p:spPr>
          <a:xfrm>
            <a:off x="1854071" y="3725091"/>
            <a:ext cx="6143625" cy="20383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8"/>
          <p:cNvSpPr txBox="1"/>
          <p:nvPr/>
        </p:nvSpPr>
        <p:spPr>
          <a:xfrm>
            <a:off x="948690" y="651510"/>
            <a:ext cx="10470000" cy="5787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algun Gothic"/>
                <a:ea typeface="Malgun Gothic"/>
                <a:cs typeface="Malgun Gothic"/>
                <a:sym typeface="Malgun Gothic"/>
              </a:rPr>
              <a:t>그룹웨어서버에서</a:t>
            </a:r>
            <a:endParaRPr b="1"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3. ezflow가 설치된 서버에서</a:t>
            </a:r>
            <a:endParaRPr sz="1600">
              <a:solidFill>
                <a:schemeClr val="dk1"/>
              </a:solidFill>
              <a:latin typeface="Malgun Gothic"/>
              <a:ea typeface="Malgun Gothic"/>
              <a:cs typeface="Malgun Gothic"/>
              <a:sym typeface="Malgun Gothic"/>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/home/jmocha/ezEKP/ezFlow/webapps/ROOT/fileroot/0/files/upload_approvaG/</a:t>
            </a:r>
            <a:r>
              <a:rPr lang="en-US" sz="1600">
                <a:solidFill>
                  <a:schemeClr val="dk1"/>
                </a:solidFill>
                <a:latin typeface="Malgun Gothic"/>
                <a:ea typeface="Malgun Gothic"/>
                <a:cs typeface="Malgun Gothic"/>
                <a:sym typeface="Malgun Gothic"/>
              </a:rPr>
              <a:t>회사아이디/</a:t>
            </a:r>
            <a:r>
              <a:rPr b="0" i="0" lang="en-US" sz="1600" u="none" cap="none" strike="noStrike">
                <a:solidFill>
                  <a:schemeClr val="dk1"/>
                </a:solidFill>
                <a:latin typeface="Malgun Gothic"/>
                <a:ea typeface="Malgun Gothic"/>
                <a:cs typeface="Malgun Gothic"/>
                <a:sym typeface="Malgun Gothic"/>
              </a:rPr>
              <a:t> 에 exPack 관련 폴더들을 위치시켜야함. </a:t>
            </a:r>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한글기안기로 발송할 경우, ROOT/files/upload_approvalG/</a:t>
            </a:r>
            <a:r>
              <a:rPr lang="en-US" sz="1600">
                <a:solidFill>
                  <a:schemeClr val="dk1"/>
                </a:solidFill>
                <a:latin typeface="Malgun Gothic"/>
                <a:ea typeface="Malgun Gothic"/>
                <a:cs typeface="Malgun Gothic"/>
                <a:sym typeface="Malgun Gothic"/>
              </a:rPr>
              <a:t>회사아이디/</a:t>
            </a:r>
            <a:r>
              <a:rPr b="0" i="0" lang="en-US" sz="1600" u="none" cap="none" strike="noStrike">
                <a:solidFill>
                  <a:schemeClr val="dk1"/>
                </a:solidFill>
                <a:latin typeface="Malgun Gothic"/>
                <a:ea typeface="Malgun Gothic"/>
                <a:cs typeface="Malgun Gothic"/>
                <a:sym typeface="Malgun Gothic"/>
              </a:rPr>
              <a:t> 에 로고파일과 심볼파일을 위치시켜주고, ezSimsaG_HWP.js 에서 makeXML 함수내용 중 logo, simbol 처리 부분에서 setDocumentElement의 파일명을 실제 로고, 심볼 파일과 맞춰준다.</a:t>
            </a:r>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한글기안기의 경우 logo, symbol이 없더라도 파일은 생성해주어야 함. 해당 경로의 파일을 가져오는 로직이 있어 파일이 없는 경우 오류가 발생</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rgbClr val="FF0000"/>
                </a:solidFill>
                <a:latin typeface="Malgun Gothic"/>
                <a:ea typeface="Malgun Gothic"/>
                <a:cs typeface="Malgun Gothic"/>
                <a:sym typeface="Malgun Gothic"/>
              </a:rPr>
              <a:t>4. relay/dtd/에 sample.xml을 백업하고 빈 껍데기 sample.xml로 교체(빈 파일 생성하는 것이 아님!)</a:t>
            </a:r>
            <a:endParaRPr/>
          </a:p>
          <a:p>
            <a:pPr indent="0" lvl="0" marL="0" marR="0" rtl="0" algn="l">
              <a:spcBef>
                <a:spcPts val="0"/>
              </a:spcBef>
              <a:spcAft>
                <a:spcPts val="0"/>
              </a:spcAft>
              <a:buNone/>
            </a:pPr>
            <a:r>
              <a:rPr lang="en-US" sz="1600">
                <a:solidFill>
                  <a:srgbClr val="FF0000"/>
                </a:solidFill>
                <a:latin typeface="Malgun Gothic"/>
                <a:ea typeface="Malgun Gothic"/>
                <a:cs typeface="Malgun Gothic"/>
                <a:sym typeface="Malgun Gothic"/>
              </a:rPr>
              <a:t> send-orgcode가 없으면 에러남. (유통 sample 태그와 자사 flow상 태그명이 상이함)</a:t>
            </a:r>
            <a:endParaRPr/>
          </a:p>
          <a:p>
            <a:pPr indent="-241300" lvl="0" marL="342900" marR="0" rtl="0" algn="l">
              <a:spcBef>
                <a:spcPts val="0"/>
              </a:spcBef>
              <a:spcAft>
                <a:spcPts val="0"/>
              </a:spcAft>
              <a:buClr>
                <a:schemeClr val="dk1"/>
              </a:buClr>
              <a:buSzPts val="1600"/>
              <a:buFont typeface="Malgun Gothic"/>
              <a:buNone/>
            </a:pPr>
            <a:r>
              <a:rPr lang="en-US" sz="1600">
                <a:solidFill>
                  <a:schemeClr val="dk1"/>
                </a:solidFill>
                <a:latin typeface="Malgun Gothic"/>
                <a:ea typeface="Malgun Gothic"/>
                <a:cs typeface="Malgun Gothic"/>
                <a:sym typeface="Malgun Gothic"/>
              </a:rPr>
              <a:t>여기서의 빈 껍데기 sapmle.xml은 문서유통모듈설치가이드 파일안에 들어 있다.</a:t>
            </a:r>
            <a:endParaRPr b="0" i="0" sz="1800" u="none" cap="none" strike="noStrike">
              <a:solidFill>
                <a:schemeClr val="dk1"/>
              </a:solidFill>
              <a:latin typeface="Malgun Gothic"/>
              <a:ea typeface="Malgun Gothic"/>
              <a:cs typeface="Malgun Gothic"/>
              <a:sym typeface="Malgun Gothic"/>
            </a:endParaRPr>
          </a:p>
        </p:txBody>
      </p:sp>
      <p:pic>
        <p:nvPicPr>
          <p:cNvPr id="239" name="Google Shape;239;p18"/>
          <p:cNvPicPr preferRelativeResize="0"/>
          <p:nvPr/>
        </p:nvPicPr>
        <p:blipFill rotWithShape="1">
          <a:blip r:embed="rId3">
            <a:alphaModFix/>
          </a:blip>
          <a:srcRect b="0" l="0" r="0" t="0"/>
          <a:stretch/>
        </p:blipFill>
        <p:spPr>
          <a:xfrm>
            <a:off x="1885776" y="1734155"/>
            <a:ext cx="3999635" cy="2388887"/>
          </a:xfrm>
          <a:prstGeom prst="rect">
            <a:avLst/>
          </a:prstGeom>
          <a:noFill/>
          <a:ln>
            <a:noFill/>
          </a:ln>
        </p:spPr>
      </p:pic>
      <p:sp>
        <p:nvSpPr>
          <p:cNvPr id="240" name="Google Shape;240;p18"/>
          <p:cNvSpPr/>
          <p:nvPr/>
        </p:nvSpPr>
        <p:spPr>
          <a:xfrm>
            <a:off x="4429125" y="3352800"/>
            <a:ext cx="1114425" cy="171450"/>
          </a:xfrm>
          <a:prstGeom prst="rect">
            <a:avLst/>
          </a:prstGeom>
          <a:noFill/>
          <a:ln cap="flat" cmpd="sng" w="28575">
            <a:solidFill>
              <a:srgbClr val="2E7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41" name="Google Shape;241;p18"/>
          <p:cNvSpPr/>
          <p:nvPr/>
        </p:nvSpPr>
        <p:spPr>
          <a:xfrm>
            <a:off x="4429125" y="2309812"/>
            <a:ext cx="1114425" cy="957263"/>
          </a:xfrm>
          <a:prstGeom prst="rect">
            <a:avLst/>
          </a:prstGeom>
          <a:noFill/>
          <a:ln cap="flat" cmpd="sng" w="28575">
            <a:solidFill>
              <a:srgbClr val="2E7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9"/>
          <p:cNvSpPr txBox="1"/>
          <p:nvPr/>
        </p:nvSpPr>
        <p:spPr>
          <a:xfrm>
            <a:off x="880110" y="822965"/>
            <a:ext cx="10469880" cy="144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Malgun Gothic"/>
                <a:ea typeface="Malgun Gothic"/>
                <a:cs typeface="Malgun Gothic"/>
                <a:sym typeface="Malgun Gothic"/>
              </a:rPr>
              <a:t>tenant_config 설정.</a:t>
            </a:r>
            <a:endParaRPr/>
          </a:p>
          <a:p>
            <a:pPr indent="-342900" lvl="1" marL="800100" marR="0" rtl="0" algn="l">
              <a:spcBef>
                <a:spcPts val="0"/>
              </a:spcBef>
              <a:spcAft>
                <a:spcPts val="0"/>
              </a:spcAft>
              <a:buClr>
                <a:srgbClr val="2E75B5"/>
              </a:buClr>
              <a:buSzPts val="1400"/>
              <a:buFont typeface="Malgun Gothic"/>
              <a:buAutoNum type="arabicPeriod"/>
            </a:pPr>
            <a:r>
              <a:rPr b="0" i="0" lang="en-US" sz="1400" u="none" cap="none" strike="noStrike">
                <a:solidFill>
                  <a:srgbClr val="2E75B5"/>
                </a:solidFill>
                <a:latin typeface="Malgun Gothic"/>
                <a:ea typeface="Malgun Gothic"/>
                <a:cs typeface="Malgun Gothic"/>
                <a:sym typeface="Malgun Gothic"/>
              </a:rPr>
              <a:t>tbl_codelist</a:t>
            </a:r>
            <a:r>
              <a:rPr b="0" i="0" lang="en-US" sz="1400" u="none" cap="none" strike="noStrike">
                <a:solidFill>
                  <a:schemeClr val="dk1"/>
                </a:solidFill>
                <a:latin typeface="Malgun Gothic"/>
                <a:ea typeface="Malgun Gothic"/>
                <a:cs typeface="Malgun Gothic"/>
                <a:sym typeface="Malgun Gothic"/>
              </a:rPr>
              <a:t>에서 유통양식 경로(</a:t>
            </a:r>
            <a:r>
              <a:rPr b="0" i="0" lang="en-US" sz="1400" u="none" cap="none" strike="noStrike">
                <a:solidFill>
                  <a:srgbClr val="2E75B5"/>
                </a:solidFill>
                <a:latin typeface="Malgun Gothic"/>
                <a:ea typeface="Malgun Gothic"/>
                <a:cs typeface="Malgun Gothic"/>
                <a:sym typeface="Malgun Gothic"/>
              </a:rPr>
              <a:t>A36, 003</a:t>
            </a:r>
            <a:r>
              <a:rPr b="0" i="0" lang="en-US" sz="1400" u="none" cap="none" strike="noStrike">
                <a:solidFill>
                  <a:schemeClr val="dk1"/>
                </a:solidFill>
                <a:latin typeface="Malgun Gothic"/>
                <a:ea typeface="Malgun Gothic"/>
                <a:cs typeface="Malgun Gothic"/>
                <a:sym typeface="Malgun Gothic"/>
              </a:rPr>
              <a:t>)를 웹기안기/한글기안기에 맞게 양식 경로 설정.</a:t>
            </a:r>
            <a:endParaRPr/>
          </a:p>
          <a:p>
            <a:pPr indent="0" lvl="1" marL="457200" marR="0" rtl="0" algn="l">
              <a:spcBef>
                <a:spcPts val="0"/>
              </a:spcBef>
              <a:spcAft>
                <a:spcPts val="0"/>
              </a:spcAft>
              <a:buNone/>
            </a:pPr>
            <a:r>
              <a:rPr b="0" i="0" lang="en-US" sz="1400" u="none" cap="none" strike="noStrike">
                <a:solidFill>
                  <a:schemeClr val="dk1"/>
                </a:solidFill>
                <a:latin typeface="Malgun Gothic"/>
                <a:ea typeface="Malgun Gothic"/>
                <a:cs typeface="Malgun Gothic"/>
                <a:sym typeface="Malgun Gothic"/>
              </a:rPr>
              <a:t>ex) hwp = /files/upload_approvalG/form/relay001.hwp</a:t>
            </a:r>
            <a:endParaRPr/>
          </a:p>
          <a:p>
            <a:pPr indent="0" lvl="1" marL="457200" marR="0" rtl="0" algn="l">
              <a:spcBef>
                <a:spcPts val="0"/>
              </a:spcBef>
              <a:spcAft>
                <a:spcPts val="0"/>
              </a:spcAft>
              <a:buNone/>
            </a:pPr>
            <a:r>
              <a:rPr b="0" i="0" lang="en-US" sz="1400" u="none" cap="none" strike="noStrike">
                <a:solidFill>
                  <a:schemeClr val="dk1"/>
                </a:solidFill>
                <a:latin typeface="Malgun Gothic"/>
                <a:ea typeface="Malgun Gothic"/>
                <a:cs typeface="Malgun Gothic"/>
                <a:sym typeface="Malgun Gothic"/>
              </a:rPr>
              <a:t>     mht = /files/upload_approvalG/form/2016000001.mht</a:t>
            </a:r>
            <a:endParaRPr/>
          </a:p>
          <a:p>
            <a:pPr indent="0" lvl="1" marL="457200" marR="0" rtl="0" algn="l">
              <a:spcBef>
                <a:spcPts val="0"/>
              </a:spcBef>
              <a:spcAft>
                <a:spcPts val="0"/>
              </a:spcAft>
              <a:buNone/>
            </a:pPr>
            <a:r>
              <a:t/>
            </a:r>
            <a:endParaRPr b="0" i="0" sz="1400" u="none" cap="none" strike="noStrike">
              <a:solidFill>
                <a:schemeClr val="dk1"/>
              </a:solidFill>
              <a:latin typeface="Malgun Gothic"/>
              <a:ea typeface="Malgun Gothic"/>
              <a:cs typeface="Malgun Gothic"/>
              <a:sym typeface="Malgun Gothic"/>
            </a:endParaRPr>
          </a:p>
          <a:p>
            <a:pPr indent="-342900" lvl="1" marL="800100" marR="0" rtl="0" algn="l">
              <a:spcBef>
                <a:spcPts val="0"/>
              </a:spcBef>
              <a:spcAft>
                <a:spcPts val="0"/>
              </a:spcAft>
              <a:buClr>
                <a:srgbClr val="2E75B5"/>
              </a:buClr>
              <a:buSzPts val="1400"/>
              <a:buFont typeface="Malgun Gothic"/>
              <a:buAutoNum type="arabicPeriod" startAt="2"/>
            </a:pPr>
            <a:r>
              <a:rPr b="0" i="0" lang="en-US" sz="1400" u="none" cap="none" strike="noStrike">
                <a:solidFill>
                  <a:srgbClr val="2E75B5"/>
                </a:solidFill>
                <a:latin typeface="Malgun Gothic"/>
                <a:ea typeface="Malgun Gothic"/>
                <a:cs typeface="Malgun Gothic"/>
                <a:sym typeface="Malgun Gothic"/>
              </a:rPr>
              <a:t>tbl_tenant_config</a:t>
            </a:r>
            <a:r>
              <a:rPr b="0" i="0" lang="en-US" sz="1400" u="none" cap="none" strike="noStrike">
                <a:solidFill>
                  <a:schemeClr val="dk1"/>
                </a:solidFill>
                <a:latin typeface="Malgun Gothic"/>
                <a:ea typeface="Malgun Gothic"/>
                <a:cs typeface="Malgun Gothic"/>
                <a:sym typeface="Malgun Gothic"/>
              </a:rPr>
              <a:t> 에서 </a:t>
            </a:r>
            <a:r>
              <a:rPr b="0" i="0" lang="en-US" sz="1400" u="none" cap="none" strike="noStrike">
                <a:solidFill>
                  <a:srgbClr val="2E75B5"/>
                </a:solidFill>
                <a:latin typeface="Malgun Gothic"/>
                <a:ea typeface="Malgun Gothic"/>
                <a:cs typeface="Malgun Gothic"/>
                <a:sym typeface="Malgun Gothic"/>
              </a:rPr>
              <a:t>UserInfo_RelayG_Type</a:t>
            </a:r>
            <a:r>
              <a:rPr b="0" i="0" lang="en-US" sz="1400" u="none" cap="none" strike="noStrike">
                <a:solidFill>
                  <a:schemeClr val="dk1"/>
                </a:solidFill>
                <a:latin typeface="Malgun Gothic"/>
                <a:ea typeface="Malgun Gothic"/>
                <a:cs typeface="Malgun Gothic"/>
                <a:sym typeface="Malgun Gothic"/>
              </a:rPr>
              <a:t> = </a:t>
            </a:r>
            <a:r>
              <a:rPr b="0" i="0" lang="en-US" sz="1400" u="none" cap="none" strike="noStrike">
                <a:solidFill>
                  <a:srgbClr val="2E75B5"/>
                </a:solidFill>
                <a:latin typeface="Malgun Gothic"/>
                <a:ea typeface="Malgun Gothic"/>
                <a:cs typeface="Malgun Gothic"/>
                <a:sym typeface="Malgun Gothic"/>
              </a:rPr>
              <a:t>HWP</a:t>
            </a:r>
            <a:r>
              <a:rPr b="0" i="0" lang="en-US" sz="1400" u="none" cap="none" strike="noStrike">
                <a:solidFill>
                  <a:schemeClr val="dk1"/>
                </a:solidFill>
                <a:latin typeface="Malgun Gothic"/>
                <a:ea typeface="Malgun Gothic"/>
                <a:cs typeface="Malgun Gothic"/>
                <a:sym typeface="Malgun Gothic"/>
              </a:rPr>
              <a:t> 또는 </a:t>
            </a:r>
            <a:r>
              <a:rPr b="0" i="0" lang="en-US" sz="1400" u="none" cap="none" strike="noStrike">
                <a:solidFill>
                  <a:srgbClr val="2E75B5"/>
                </a:solidFill>
                <a:latin typeface="Malgun Gothic"/>
                <a:ea typeface="Malgun Gothic"/>
                <a:cs typeface="Malgun Gothic"/>
                <a:sym typeface="Malgun Gothic"/>
              </a:rPr>
              <a:t>MHT</a:t>
            </a:r>
            <a:endParaRPr/>
          </a:p>
        </p:txBody>
      </p:sp>
      <p:sp>
        <p:nvSpPr>
          <p:cNvPr id="247" name="Google Shape;247;p19"/>
          <p:cNvSpPr txBox="1"/>
          <p:nvPr/>
        </p:nvSpPr>
        <p:spPr>
          <a:xfrm>
            <a:off x="747849" y="3131470"/>
            <a:ext cx="10469880"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Malgun Gothic"/>
                <a:ea typeface="Malgun Gothic"/>
                <a:cs typeface="Malgun Gothic"/>
                <a:sym typeface="Malgun Gothic"/>
              </a:rPr>
              <a:t>그룹웨어 설정.</a:t>
            </a:r>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관리자 - 조직도 - 외부문서를 수신할 부서에 기관코드를 입력.</a:t>
            </a:r>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tbl_codelist에서 설정한 양식 경로에 양식을 추가해야하는데, </a:t>
            </a:r>
            <a:endParaRPr/>
          </a:p>
          <a:p>
            <a:pPr indent="0" lvl="1" marL="457200" marR="0" rtl="0" algn="l">
              <a:spcBef>
                <a:spcPts val="0"/>
              </a:spcBef>
              <a:spcAft>
                <a:spcPts val="0"/>
              </a:spcAft>
              <a:buNone/>
            </a:pPr>
            <a:r>
              <a:rPr b="0" i="0" lang="en-US" sz="1600" u="none" cap="none" strike="noStrike">
                <a:solidFill>
                  <a:schemeClr val="dk1"/>
                </a:solidFill>
                <a:latin typeface="Malgun Gothic"/>
                <a:ea typeface="Malgun Gothic"/>
                <a:cs typeface="Malgun Gothic"/>
                <a:sym typeface="Malgun Gothic"/>
              </a:rPr>
              <a:t>각 사이트에서 사용하고 있는 대외발송 양식을 </a:t>
            </a:r>
            <a:endParaRPr b="0" i="0" sz="1600" u="none" cap="none" strike="noStrike">
              <a:solidFill>
                <a:schemeClr val="dk1"/>
              </a:solidFill>
              <a:latin typeface="Malgun Gothic"/>
              <a:ea typeface="Malgun Gothic"/>
              <a:cs typeface="Malgun Gothic"/>
              <a:sym typeface="Malgun Gothic"/>
            </a:endParaRPr>
          </a:p>
          <a:p>
            <a:pPr indent="0" lvl="1" marL="457200" marR="0" rtl="0" algn="l">
              <a:spcBef>
                <a:spcPts val="0"/>
              </a:spcBef>
              <a:spcAft>
                <a:spcPts val="0"/>
              </a:spcAft>
              <a:buNone/>
            </a:pPr>
            <a:r>
              <a:rPr b="0" i="0" lang="en-US" sz="1600" u="none" cap="none" strike="noStrike">
                <a:solidFill>
                  <a:schemeClr val="dk1"/>
                </a:solidFill>
                <a:latin typeface="Malgun Gothic"/>
                <a:ea typeface="Malgun Gothic"/>
                <a:cs typeface="Malgun Gothic"/>
                <a:sym typeface="Malgun Gothic"/>
              </a:rPr>
              <a:t>수정해서 대외발송접수 양식(껍데기양식)으로 사용한다. </a:t>
            </a:r>
            <a:endParaRPr b="0" i="0" sz="1600" u="none" cap="none" strike="noStrike">
              <a:solidFill>
                <a:schemeClr val="dk1"/>
              </a:solidFill>
              <a:latin typeface="Malgun Gothic"/>
              <a:ea typeface="Malgun Gothic"/>
              <a:cs typeface="Malgun Gothic"/>
              <a:sym typeface="Malgun Gothic"/>
            </a:endParaRPr>
          </a:p>
        </p:txBody>
      </p:sp>
      <p:sp>
        <p:nvSpPr>
          <p:cNvPr id="248" name="Google Shape;248;p19"/>
          <p:cNvSpPr txBox="1"/>
          <p:nvPr/>
        </p:nvSpPr>
        <p:spPr>
          <a:xfrm>
            <a:off x="880110" y="4914793"/>
            <a:ext cx="10469880" cy="19082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Malgun Gothic"/>
                <a:ea typeface="Malgun Gothic"/>
                <a:cs typeface="Malgun Gothic"/>
                <a:sym typeface="Malgun Gothic"/>
              </a:rPr>
              <a:t>config.properties 설정.</a:t>
            </a:r>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config.companyNum 에 기관코드 입력.</a:t>
            </a:r>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relay_root만 /home/jmocha/ezEKP/ezFlow/webapps/ROOT (ROOT가 있는 위치까지의 경로)</a:t>
            </a:r>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config.Run_RelayScheduler = YES</a:t>
            </a:r>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Upload_relay.ROOT = /relay</a:t>
            </a:r>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upload_relay.R_DocPath = /files/upload_approvalG</a:t>
            </a:r>
            <a:endParaRPr b="0" i="0" sz="1600" u="none" cap="none" strike="noStrike">
              <a:solidFill>
                <a:schemeClr val="dk1"/>
              </a:solidFill>
              <a:latin typeface="Malgun Gothic"/>
              <a:ea typeface="Malgun Gothic"/>
              <a:cs typeface="Malgun Gothic"/>
              <a:sym typeface="Malgun Gothic"/>
            </a:endParaRPr>
          </a:p>
          <a:p>
            <a:pPr indent="-228600" lvl="1" marL="800100" marR="0" rtl="0" algn="l">
              <a:spcBef>
                <a:spcPts val="0"/>
              </a:spcBef>
              <a:spcAft>
                <a:spcPts val="0"/>
              </a:spcAft>
              <a:buClr>
                <a:schemeClr val="dk1"/>
              </a:buClr>
              <a:buSzPts val="1800"/>
              <a:buFont typeface="Malgun Gothic"/>
              <a:buNone/>
            </a:pPr>
            <a:r>
              <a:t/>
            </a:r>
            <a:endParaRPr b="0" i="0" sz="1800" u="none" cap="none" strike="noStrike">
              <a:solidFill>
                <a:schemeClr val="dk1"/>
              </a:solidFill>
              <a:latin typeface="Malgun Gothic"/>
              <a:ea typeface="Malgun Gothic"/>
              <a:cs typeface="Malgun Gothic"/>
              <a:sym typeface="Malgun Gothic"/>
            </a:endParaRPr>
          </a:p>
        </p:txBody>
      </p:sp>
      <p:pic>
        <p:nvPicPr>
          <p:cNvPr id="249" name="Google Shape;249;p19"/>
          <p:cNvPicPr preferRelativeResize="0"/>
          <p:nvPr/>
        </p:nvPicPr>
        <p:blipFill rotWithShape="1">
          <a:blip r:embed="rId3">
            <a:alphaModFix/>
          </a:blip>
          <a:srcRect b="0" l="0" r="0" t="0"/>
          <a:stretch/>
        </p:blipFill>
        <p:spPr>
          <a:xfrm>
            <a:off x="9037328" y="822983"/>
            <a:ext cx="2882100" cy="3035250"/>
          </a:xfrm>
          <a:prstGeom prst="rect">
            <a:avLst/>
          </a:prstGeom>
          <a:noFill/>
          <a:ln>
            <a:noFill/>
          </a:ln>
        </p:spPr>
      </p:pic>
      <p:sp>
        <p:nvSpPr>
          <p:cNvPr id="250" name="Google Shape;250;p19"/>
          <p:cNvSpPr/>
          <p:nvPr/>
        </p:nvSpPr>
        <p:spPr>
          <a:xfrm>
            <a:off x="682509" y="270748"/>
            <a:ext cx="152477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Malgun Gothic"/>
                <a:ea typeface="Malgun Gothic"/>
                <a:cs typeface="Malgun Gothic"/>
                <a:sym typeface="Malgun Gothic"/>
              </a:rPr>
              <a:t>설정 확인</a:t>
            </a:r>
            <a:endParaRPr b="1" sz="2400">
              <a:solidFill>
                <a:schemeClr val="dk1"/>
              </a:solidFill>
              <a:latin typeface="Malgun Gothic"/>
              <a:ea typeface="Malgun Gothic"/>
              <a:cs typeface="Malgun Gothic"/>
              <a:sym typeface="Malgun Gothic"/>
            </a:endParaRPr>
          </a:p>
        </p:txBody>
      </p:sp>
      <p:pic>
        <p:nvPicPr>
          <p:cNvPr id="251" name="Google Shape;251;p19"/>
          <p:cNvPicPr preferRelativeResize="0"/>
          <p:nvPr/>
        </p:nvPicPr>
        <p:blipFill rotWithShape="1">
          <a:blip r:embed="rId4">
            <a:alphaModFix/>
          </a:blip>
          <a:srcRect b="0" l="0" r="0" t="0"/>
          <a:stretch/>
        </p:blipFill>
        <p:spPr>
          <a:xfrm>
            <a:off x="7382284" y="2673531"/>
            <a:ext cx="1502802" cy="246602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0"/>
          <p:cNvSpPr txBox="1"/>
          <p:nvPr/>
        </p:nvSpPr>
        <p:spPr>
          <a:xfrm>
            <a:off x="948690" y="651510"/>
            <a:ext cx="10470000" cy="6095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Malgun Gothic"/>
                <a:ea typeface="Malgun Gothic"/>
                <a:cs typeface="Malgun Gothic"/>
                <a:sym typeface="Malgun Gothic"/>
              </a:rPr>
              <a:t>NFS 설정방법</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NFS 마운트하기 위한 방화벽, 경로 확인.</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그룹웨어에서 telnet으로 111, 2049, 20048 포트 개방 확인</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닫혀있으면, source 그룹웨어 destination 문서유통으로 해당포트 개방 요청.</a:t>
            </a:r>
            <a:endParaRPr/>
          </a:p>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문서유통서버에서</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rpm -qa nfs-utils 로 설치유무 검색</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설치가 안되어 있으면,ㅁ</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yum install -y nfs-utils 로 설치.</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/etc/exports 를 편집하여 옵션설정</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ex) /home/jmocha/relay 10.4.204.*(rw,sync,fsid=0)</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exportfs -v 로 </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exportfs -r 로 갱신해야 exports 파일 수정 내용이 반영됨.</a:t>
            </a:r>
            <a:endParaRPr/>
          </a:p>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그룹웨어 서버에서</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/etc/fstab에 마운트 위치 작성</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ex) 172.16.1.5:/home/jmocha/relay	/home/jmocha/relay	nfs	defaults	0 0</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fstab 작성 후,</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mount -t 172.16.1.5:/home/jmocha/relay 를 하면 해당 경로를 찾아서 /home/jmocha/relay에 마운트 됨.</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showmount가 없다면  </a:t>
            </a:r>
            <a:r>
              <a:rPr b="0" i="0" lang="en-US" sz="1200">
                <a:solidFill>
                  <a:srgbClr val="333333"/>
                </a:solidFill>
                <a:latin typeface="Malgun Gothic"/>
                <a:ea typeface="Malgun Gothic"/>
                <a:cs typeface="Malgun Gothic"/>
                <a:sym typeface="Malgun Gothic"/>
              </a:rPr>
              <a:t>yum install showmount</a:t>
            </a:r>
            <a:r>
              <a:rPr lang="en-US" sz="1200">
                <a:solidFill>
                  <a:srgbClr val="333333"/>
                </a:solidFill>
                <a:latin typeface="Malgun Gothic"/>
                <a:ea typeface="Malgun Gothic"/>
                <a:cs typeface="Malgun Gothic"/>
                <a:sym typeface="Malgun Gothic"/>
              </a:rPr>
              <a:t>로 설치</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showmount -e 로 마운트 유무를 확인할 수 있는데 showmount는 접근이 안돼도 마운트는 되기도 하므로 마운트 시도를 해봄.</a:t>
            </a:r>
            <a:endParaRPr/>
          </a:p>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마운트 후 위에 no_root_squash 옵션이 없다면 접근은 못하는데,</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이때, /etc/passwd 에서 유통서버 jmocha 사용자와 그룹웨어 서버의 jmocha 사용자의 uid와 gid를 일치시켜주고</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해당 사용자의 폴더 소유자를 바꿔주면 접근 할 수 있다.</a:t>
            </a:r>
            <a:endParaRPr/>
          </a:p>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위와 같이 했는데도 안되면, 그룹웨어에서 telnet으로 붙고 유통서버에서 netstat -antp 로 2049, 20048, 111 포트에 붙는</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ip주소가 어떤지 확인한다.</a:t>
            </a:r>
            <a:endParaRPr/>
          </a:p>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이것을 확인해도 안될 경우, /var/messages의 로그를 확인한다. 로그에서 illegal port 라고 나올 경우, </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/etc/exports의 옵션에 insecure 옵션을 추가한다.</a:t>
            </a:r>
            <a:endParaRPr/>
          </a:p>
        </p:txBody>
      </p:sp>
      <p:pic>
        <p:nvPicPr>
          <p:cNvPr id="257" name="Google Shape;257;p20"/>
          <p:cNvPicPr preferRelativeResize="0"/>
          <p:nvPr/>
        </p:nvPicPr>
        <p:blipFill rotWithShape="1">
          <a:blip r:embed="rId3">
            <a:alphaModFix/>
          </a:blip>
          <a:srcRect b="0" l="0" r="0" t="0"/>
          <a:stretch/>
        </p:blipFill>
        <p:spPr>
          <a:xfrm>
            <a:off x="948690" y="5898593"/>
            <a:ext cx="4857750" cy="276225"/>
          </a:xfrm>
          <a:prstGeom prst="rect">
            <a:avLst/>
          </a:prstGeom>
          <a:noFill/>
          <a:ln>
            <a:noFill/>
          </a:ln>
        </p:spPr>
      </p:pic>
      <p:sp>
        <p:nvSpPr>
          <p:cNvPr id="258" name="Google Shape;258;p20"/>
          <p:cNvSpPr/>
          <p:nvPr/>
        </p:nvSpPr>
        <p:spPr>
          <a:xfrm>
            <a:off x="682509" y="270748"/>
            <a:ext cx="141577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Malgun Gothic"/>
                <a:ea typeface="Malgun Gothic"/>
                <a:cs typeface="Malgun Gothic"/>
                <a:sym typeface="Malgun Gothic"/>
              </a:rPr>
              <a:t>기타설정</a:t>
            </a:r>
            <a:endParaRPr b="1" sz="2400">
              <a:solidFill>
                <a:schemeClr val="dk1"/>
              </a:solidFill>
              <a:latin typeface="Malgun Gothic"/>
              <a:ea typeface="Malgun Gothic"/>
              <a:cs typeface="Malgun Gothic"/>
              <a:sym typeface="Malgun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1"/>
          <p:cNvSpPr txBox="1"/>
          <p:nvPr/>
        </p:nvSpPr>
        <p:spPr>
          <a:xfrm>
            <a:off x="948690" y="651510"/>
            <a:ext cx="10469880" cy="60324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algun Gothic"/>
                <a:ea typeface="Malgun Gothic"/>
                <a:cs typeface="Malgun Gothic"/>
                <a:sym typeface="Malgun Gothic"/>
              </a:rPr>
              <a:t>문서유통 관련 오류</a:t>
            </a:r>
            <a:endParaRPr b="1" sz="1800">
              <a:solidFill>
                <a:schemeClr val="dk1"/>
              </a:solidFill>
              <a:latin typeface="Malgun Gothic"/>
              <a:ea typeface="Malgun Gothic"/>
              <a:cs typeface="Malgun Gothic"/>
              <a:sym typeface="Malgun Gothic"/>
            </a:endParaRPr>
          </a:p>
          <a:p>
            <a:pPr indent="-342900" lvl="0" marL="342900" marR="0" rtl="0" algn="l">
              <a:spcBef>
                <a:spcPts val="0"/>
              </a:spcBef>
              <a:spcAft>
                <a:spcPts val="0"/>
              </a:spcAft>
              <a:buClr>
                <a:schemeClr val="dk1"/>
              </a:buClr>
              <a:buSzPts val="1600"/>
              <a:buFont typeface="Malgun Gothic"/>
              <a:buAutoNum type="arabicPeriod"/>
            </a:pPr>
            <a:r>
              <a:rPr lang="en-US" sz="1600">
                <a:solidFill>
                  <a:schemeClr val="dk1"/>
                </a:solidFill>
                <a:latin typeface="Malgun Gothic"/>
                <a:ea typeface="Malgun Gothic"/>
                <a:cs typeface="Malgun Gothic"/>
                <a:sym typeface="Malgun Gothic"/>
              </a:rPr>
              <a:t>유통 모듈 실행 후 ‘Match IP does not exist’ 관련 오류 발생시</a:t>
            </a:r>
            <a:endParaRPr sz="1600">
              <a:solidFill>
                <a:schemeClr val="dk1"/>
              </a:solidFill>
              <a:latin typeface="Malgun Gothic"/>
              <a:ea typeface="Malgun Gothic"/>
              <a:cs typeface="Malgun Gothic"/>
              <a:sym typeface="Malgun Gothic"/>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241300" lvl="0" marL="342900" marR="0" rtl="0" algn="l">
              <a:spcBef>
                <a:spcPts val="0"/>
              </a:spcBef>
              <a:spcAft>
                <a:spcPts val="0"/>
              </a:spcAft>
              <a:buClr>
                <a:schemeClr val="dk1"/>
              </a:buClr>
              <a:buSzPts val="1600"/>
              <a:buFont typeface="Malgun Gothic"/>
              <a:buNone/>
            </a:pPr>
            <a:r>
              <a:t/>
            </a:r>
            <a:endParaRPr sz="1600">
              <a:solidFill>
                <a:schemeClr val="dk1"/>
              </a:solidFill>
              <a:latin typeface="Malgun Gothic"/>
              <a:ea typeface="Malgun Gothic"/>
              <a:cs typeface="Malgun Gothic"/>
              <a:sym typeface="Malgun Gothic"/>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내부망을 사용하는 서버인 경우 외부 IP와 내부 IP가 다름. </a:t>
            </a:r>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유통센터에 인증서를 신청할 때 IP를 외부 IP 주소로 신청하게 되는데, 유통 모듈 실행시에는 내부 IP와 비교하게 되므로 Match IP 관련 오류가 생김. </a:t>
            </a:r>
            <a:endParaRPr b="0" i="0" sz="1600" u="none" cap="none" strike="noStrike">
              <a:solidFill>
                <a:schemeClr val="dk1"/>
              </a:solidFill>
              <a:latin typeface="Malgun Gothic"/>
              <a:ea typeface="Malgun Gothic"/>
              <a:cs typeface="Malgun Gothic"/>
              <a:sym typeface="Malgun Gothic"/>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외부 IP를 /etc/hosts 파일에 호스트 등록후 서버를 실행하면 정상적으로 동작함</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342900" lvl="0" marL="342900" marR="0" rtl="0" algn="l">
              <a:spcBef>
                <a:spcPts val="0"/>
              </a:spcBef>
              <a:spcAft>
                <a:spcPts val="0"/>
              </a:spcAft>
              <a:buClr>
                <a:schemeClr val="dk1"/>
              </a:buClr>
              <a:buSzPts val="1600"/>
              <a:buFont typeface="Malgun Gothic"/>
              <a:buAutoNum type="arabicPeriod"/>
            </a:pPr>
            <a:r>
              <a:rPr lang="en-US" sz="1600">
                <a:solidFill>
                  <a:schemeClr val="dk1"/>
                </a:solidFill>
                <a:latin typeface="Malgun Gothic"/>
                <a:ea typeface="Malgun Gothic"/>
                <a:cs typeface="Malgun Gothic"/>
                <a:sym typeface="Malgun Gothic"/>
              </a:rPr>
              <a:t>유통 모듈 실행 후 receivetemp 폴더에 문서가 있음에도 스케줄러에서 문서리스트를 가져오지 않을 때</a:t>
            </a:r>
            <a:endParaRPr sz="1600">
              <a:solidFill>
                <a:schemeClr val="dk1"/>
              </a:solidFill>
              <a:latin typeface="Malgun Gothic"/>
              <a:ea typeface="Malgun Gothic"/>
              <a:cs typeface="Malgun Gothic"/>
              <a:sym typeface="Malgun Gothic"/>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서버가 다르고 모듈 실행 계정이 다른 경우 권한 이슈가 발생할 수 있음</a:t>
            </a:r>
            <a:endParaRPr b="0" i="0" sz="1600" u="none" cap="none" strike="noStrike">
              <a:solidFill>
                <a:schemeClr val="dk1"/>
              </a:solidFill>
              <a:latin typeface="Malgun Gothic"/>
              <a:ea typeface="Malgun Gothic"/>
              <a:cs typeface="Malgun Gothic"/>
              <a:sym typeface="Malgun Gothic"/>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예를 들어 그룹웨어 실행은 jmocha로 실행하지만 유통 모듈 실행을 jeus로 하는 경우, 같은 권한그룹에 없으면 Permission Denied로 파일을 읽지 못함(그룹웨어에서는 로그X)</a:t>
            </a:r>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Jmocha와 jeus계정을 같은 권한 그룹으로 설정해주고, 유통 모듈을 재시작 하면 정상적으로 동작함</a:t>
            </a:r>
            <a:endParaRPr b="0" i="0" sz="1600" u="none" cap="none" strike="noStrike">
              <a:solidFill>
                <a:schemeClr val="dk1"/>
              </a:solidFill>
              <a:latin typeface="Malgun Gothic"/>
              <a:ea typeface="Malgun Gothic"/>
              <a:cs typeface="Malgun Gothic"/>
              <a:sym typeface="Malgun Gothic"/>
            </a:endParaRPr>
          </a:p>
          <a:p>
            <a:pPr indent="-342900" lvl="1" marL="800100" marR="0" rtl="0" algn="l">
              <a:spcBef>
                <a:spcPts val="0"/>
              </a:spcBef>
              <a:spcAft>
                <a:spcPts val="0"/>
              </a:spcAft>
              <a:buClr>
                <a:schemeClr val="dk1"/>
              </a:buClr>
              <a:buSzPts val="1600"/>
              <a:buFont typeface="Malgun Gothic"/>
              <a:buAutoNum type="arabicPeriod"/>
            </a:pPr>
            <a:r>
              <a:rPr b="0" i="0" lang="en-US" sz="1600" u="none" cap="none" strike="noStrike">
                <a:solidFill>
                  <a:schemeClr val="dk1"/>
                </a:solidFill>
                <a:latin typeface="Malgun Gothic"/>
                <a:ea typeface="Malgun Gothic"/>
                <a:cs typeface="Malgun Gothic"/>
                <a:sym typeface="Malgun Gothic"/>
              </a:rPr>
              <a:t>경우에 따라 relay 폴더의 group 접근 권한(읽기, 쓰기, 실행)을 추가로 설정해주어야 함</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a:p>
            <a:pPr indent="-241300" lvl="1" marL="800100" marR="0" rtl="0" algn="l">
              <a:spcBef>
                <a:spcPts val="0"/>
              </a:spcBef>
              <a:spcAft>
                <a:spcPts val="0"/>
              </a:spcAft>
              <a:buClr>
                <a:schemeClr val="dk1"/>
              </a:buClr>
              <a:buSzPts val="1600"/>
              <a:buFont typeface="Malgun Gothic"/>
              <a:buNone/>
            </a:pPr>
            <a:r>
              <a:t/>
            </a:r>
            <a:endParaRPr b="0" i="0" sz="1600" u="none" cap="none" strike="noStrike">
              <a:solidFill>
                <a:schemeClr val="dk1"/>
              </a:solidFill>
              <a:latin typeface="Malgun Gothic"/>
              <a:ea typeface="Malgun Gothic"/>
              <a:cs typeface="Malgun Gothic"/>
              <a:sym typeface="Malgun Gothic"/>
            </a:endParaRPr>
          </a:p>
        </p:txBody>
      </p:sp>
      <p:pic>
        <p:nvPicPr>
          <p:cNvPr id="264" name="Google Shape;264;p21"/>
          <p:cNvPicPr preferRelativeResize="0"/>
          <p:nvPr/>
        </p:nvPicPr>
        <p:blipFill rotWithShape="1">
          <a:blip r:embed="rId3">
            <a:alphaModFix/>
          </a:blip>
          <a:srcRect b="0" l="0" r="0" t="0"/>
          <a:stretch/>
        </p:blipFill>
        <p:spPr>
          <a:xfrm>
            <a:off x="1310498" y="1276050"/>
            <a:ext cx="7792537" cy="21529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gd7e84b5083_0_0"/>
          <p:cNvPicPr preferRelativeResize="0"/>
          <p:nvPr/>
        </p:nvPicPr>
        <p:blipFill rotWithShape="1">
          <a:blip r:embed="rId3">
            <a:alphaModFix/>
          </a:blip>
          <a:srcRect b="4335" l="546" r="0" t="2233"/>
          <a:stretch/>
        </p:blipFill>
        <p:spPr>
          <a:xfrm>
            <a:off x="707475" y="1282925"/>
            <a:ext cx="8282026" cy="4273276"/>
          </a:xfrm>
          <a:prstGeom prst="rect">
            <a:avLst/>
          </a:prstGeom>
          <a:noFill/>
          <a:ln cap="flat" cmpd="sng" w="9525">
            <a:solidFill>
              <a:srgbClr val="F2F2F2"/>
            </a:solidFill>
            <a:prstDash val="solid"/>
            <a:round/>
            <a:headEnd len="sm" w="sm" type="none"/>
            <a:tailEnd len="sm" w="sm" type="none"/>
          </a:ln>
        </p:spPr>
      </p:pic>
      <p:sp>
        <p:nvSpPr>
          <p:cNvPr id="270" name="Google Shape;270;gd7e84b5083_0_0"/>
          <p:cNvSpPr txBox="1"/>
          <p:nvPr/>
        </p:nvSpPr>
        <p:spPr>
          <a:xfrm>
            <a:off x="7083900" y="5556200"/>
            <a:ext cx="4773300" cy="831300"/>
          </a:xfrm>
          <a:prstGeom prst="rect">
            <a:avLst/>
          </a:prstGeom>
          <a:noFill/>
          <a:ln cap="flat" cmpd="sng" w="9525">
            <a:solidFill>
              <a:srgbClr val="BFBFB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Malgun Gothic"/>
                <a:ea typeface="Malgun Gothic"/>
                <a:cs typeface="Malgun Gothic"/>
                <a:sym typeface="Malgun Gothic"/>
              </a:rPr>
              <a:t>다음과 같은 에러가 발생하였을 경우, 심볼릭링크가 제대로 걸리지 않은 경우 일 수 도 있으므로, ldd를 이용하여 의존성을 확인 후 심볼릭을 걸어준다. (14번)</a:t>
            </a:r>
            <a:endParaRPr>
              <a:latin typeface="Malgun Gothic"/>
              <a:ea typeface="Malgun Gothic"/>
              <a:cs typeface="Malgun Gothic"/>
              <a:sym typeface="Malgun Gothic"/>
            </a:endParaRPr>
          </a:p>
        </p:txBody>
      </p:sp>
      <p:sp>
        <p:nvSpPr>
          <p:cNvPr id="271" name="Google Shape;271;gd7e84b5083_0_0"/>
          <p:cNvSpPr txBox="1"/>
          <p:nvPr/>
        </p:nvSpPr>
        <p:spPr>
          <a:xfrm>
            <a:off x="613175" y="433925"/>
            <a:ext cx="7518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latin typeface="Malgun Gothic"/>
                <a:ea typeface="Malgun Gothic"/>
                <a:cs typeface="Malgun Gothic"/>
                <a:sym typeface="Malgun Gothic"/>
              </a:rPr>
              <a:t>relay_start.sh 로 모듈을 실행 시켰을 경우</a:t>
            </a:r>
            <a:endParaRPr b="1" sz="1600">
              <a:latin typeface="Malgun Gothic"/>
              <a:ea typeface="Malgun Gothic"/>
              <a:cs typeface="Malgun Gothic"/>
              <a:sym typeface="Malgun Gothic"/>
            </a:endParaRPr>
          </a:p>
        </p:txBody>
      </p:sp>
      <p:sp>
        <p:nvSpPr>
          <p:cNvPr id="272" name="Google Shape;272;gd7e84b5083_0_0"/>
          <p:cNvSpPr txBox="1"/>
          <p:nvPr/>
        </p:nvSpPr>
        <p:spPr>
          <a:xfrm>
            <a:off x="8989500" y="4724900"/>
            <a:ext cx="2867700" cy="831300"/>
          </a:xfrm>
          <a:prstGeom prst="rect">
            <a:avLst/>
          </a:prstGeom>
          <a:noFill/>
          <a:ln cap="flat" cmpd="sng" w="9525">
            <a:solidFill>
              <a:srgbClr val="BFBFB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Malgun Gothic"/>
                <a:ea typeface="Malgun Gothic"/>
                <a:cs typeface="Malgun Gothic"/>
                <a:sym typeface="Malgun Gothic"/>
              </a:rPr>
              <a:t>root로 실행 할 경우 </a:t>
            </a:r>
            <a:endParaRPr>
              <a:latin typeface="Malgun Gothic"/>
              <a:ea typeface="Malgun Gothic"/>
              <a:cs typeface="Malgun Gothic"/>
              <a:sym typeface="Malgun Gothic"/>
            </a:endParaRPr>
          </a:p>
          <a:p>
            <a:pPr indent="0" lvl="0" marL="0" rtl="0" algn="l">
              <a:spcBef>
                <a:spcPts val="0"/>
              </a:spcBef>
              <a:spcAft>
                <a:spcPts val="0"/>
              </a:spcAft>
              <a:buNone/>
            </a:pPr>
            <a:r>
              <a:rPr lang="en-US">
                <a:latin typeface="Malgun Gothic"/>
                <a:ea typeface="Malgun Gothic"/>
                <a:cs typeface="Malgun Gothic"/>
                <a:sym typeface="Malgun Gothic"/>
              </a:rPr>
              <a:t>root의 bashrc에도 환경설정하고, </a:t>
            </a:r>
            <a:br>
              <a:rPr lang="en-US">
                <a:latin typeface="Malgun Gothic"/>
                <a:ea typeface="Malgun Gothic"/>
                <a:cs typeface="Malgun Gothic"/>
                <a:sym typeface="Malgun Gothic"/>
              </a:rPr>
            </a:br>
            <a:r>
              <a:rPr lang="en-US">
                <a:latin typeface="Malgun Gothic"/>
                <a:ea typeface="Malgun Gothic"/>
                <a:cs typeface="Malgun Gothic"/>
                <a:sym typeface="Malgun Gothic"/>
              </a:rPr>
              <a:t>sudo su - 로 실행하면 해결</a:t>
            </a:r>
            <a:endParaRPr>
              <a:latin typeface="Malgun Gothic"/>
              <a:ea typeface="Malgun Gothic"/>
              <a:cs typeface="Malgun Gothic"/>
              <a:sym typeface="Malgun Gothic"/>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dcf38b2049_0_0"/>
          <p:cNvSpPr txBox="1"/>
          <p:nvPr/>
        </p:nvSpPr>
        <p:spPr>
          <a:xfrm>
            <a:off x="613175" y="433925"/>
            <a:ext cx="7518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latin typeface="Malgun Gothic"/>
                <a:ea typeface="Malgun Gothic"/>
                <a:cs typeface="Malgun Gothic"/>
                <a:sym typeface="Malgun Gothic"/>
              </a:rPr>
              <a:t>스케쥴러가 돌지 않는 경우</a:t>
            </a:r>
            <a:endParaRPr b="1" sz="1600">
              <a:latin typeface="Malgun Gothic"/>
              <a:ea typeface="Malgun Gothic"/>
              <a:cs typeface="Malgun Gothic"/>
              <a:sym typeface="Malgun Gothic"/>
            </a:endParaRPr>
          </a:p>
        </p:txBody>
      </p:sp>
      <p:sp>
        <p:nvSpPr>
          <p:cNvPr id="278" name="Google Shape;278;gdcf38b2049_0_0"/>
          <p:cNvSpPr txBox="1"/>
          <p:nvPr/>
        </p:nvSpPr>
        <p:spPr>
          <a:xfrm>
            <a:off x="773525" y="1037650"/>
            <a:ext cx="9065400" cy="1693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Malgun Gothic"/>
              <a:buAutoNum type="arabicPeriod"/>
            </a:pPr>
            <a:r>
              <a:rPr lang="en-US">
                <a:latin typeface="Malgun Gothic"/>
                <a:ea typeface="Malgun Gothic"/>
                <a:cs typeface="Malgun Gothic"/>
                <a:sym typeface="Malgun Gothic"/>
              </a:rPr>
              <a:t>이중화 서버의 경우 두서버의 config.properties의 config.schedulerserver값이 달라야 한다.</a:t>
            </a:r>
            <a:endParaRPr>
              <a:latin typeface="Malgun Gothic"/>
              <a:ea typeface="Malgun Gothic"/>
              <a:cs typeface="Malgun Gothic"/>
              <a:sym typeface="Malgun Gothic"/>
            </a:endParaRPr>
          </a:p>
          <a:p>
            <a:pPr indent="0" lvl="0" marL="0" rtl="0" algn="l">
              <a:spcBef>
                <a:spcPts val="0"/>
              </a:spcBef>
              <a:spcAft>
                <a:spcPts val="0"/>
              </a:spcAft>
              <a:buNone/>
            </a:pPr>
            <a:r>
              <a:t/>
            </a:r>
            <a:endParaRPr>
              <a:latin typeface="Malgun Gothic"/>
              <a:ea typeface="Malgun Gothic"/>
              <a:cs typeface="Malgun Gothic"/>
              <a:sym typeface="Malgun Gothic"/>
            </a:endParaRPr>
          </a:p>
          <a:p>
            <a:pPr indent="0" lvl="0" marL="0" rtl="0" algn="l">
              <a:spcBef>
                <a:spcPts val="0"/>
              </a:spcBef>
              <a:spcAft>
                <a:spcPts val="0"/>
              </a:spcAft>
              <a:buNone/>
            </a:pPr>
            <a:r>
              <a:t/>
            </a:r>
            <a:endParaRPr>
              <a:latin typeface="Malgun Gothic"/>
              <a:ea typeface="Malgun Gothic"/>
              <a:cs typeface="Malgun Gothic"/>
              <a:sym typeface="Malgun Gothic"/>
            </a:endParaRPr>
          </a:p>
          <a:p>
            <a:pPr indent="0" lvl="0" marL="0" rtl="0" algn="l">
              <a:spcBef>
                <a:spcPts val="0"/>
              </a:spcBef>
              <a:spcAft>
                <a:spcPts val="0"/>
              </a:spcAft>
              <a:buNone/>
            </a:pPr>
            <a:r>
              <a:t/>
            </a:r>
            <a:endParaRPr>
              <a:latin typeface="Malgun Gothic"/>
              <a:ea typeface="Malgun Gothic"/>
              <a:cs typeface="Malgun Gothic"/>
              <a:sym typeface="Malgun Gothic"/>
            </a:endParaRPr>
          </a:p>
          <a:p>
            <a:pPr indent="-317500" lvl="0" marL="457200" rtl="0" algn="l">
              <a:spcBef>
                <a:spcPts val="0"/>
              </a:spcBef>
              <a:spcAft>
                <a:spcPts val="0"/>
              </a:spcAft>
              <a:buSzPts val="1400"/>
              <a:buFont typeface="Malgun Gothic"/>
              <a:buAutoNum type="arabicPeriod"/>
            </a:pPr>
            <a:r>
              <a:rPr lang="en-US">
                <a:latin typeface="Malgun Gothic"/>
                <a:ea typeface="Malgun Gothic"/>
                <a:cs typeface="Malgun Gothic"/>
                <a:sym typeface="Malgun Gothic"/>
              </a:rPr>
              <a:t>database가 11g버전인경우, PK의 길이가 너무 길다는 오류가 발생하여, PK를 줄이고, 해당 테이블을 추가시켜주었다.</a:t>
            </a:r>
            <a:endParaRPr>
              <a:latin typeface="Malgun Gothic"/>
              <a:ea typeface="Malgun Gothic"/>
              <a:cs typeface="Malgun Gothic"/>
              <a:sym typeface="Malgun Gothic"/>
            </a:endParaRPr>
          </a:p>
          <a:p>
            <a:pPr indent="0" lvl="0" marL="457200" rtl="0" algn="l">
              <a:spcBef>
                <a:spcPts val="0"/>
              </a:spcBef>
              <a:spcAft>
                <a:spcPts val="0"/>
              </a:spcAft>
              <a:buNone/>
            </a:pPr>
            <a:r>
              <a:t/>
            </a:r>
            <a:endParaRPr>
              <a:latin typeface="Malgun Gothic"/>
              <a:ea typeface="Malgun Gothic"/>
              <a:cs typeface="Malgun Gothic"/>
              <a:sym typeface="Malgun Gothic"/>
            </a:endParaRPr>
          </a:p>
        </p:txBody>
      </p:sp>
      <p:pic>
        <p:nvPicPr>
          <p:cNvPr id="279" name="Google Shape;279;gdcf38b2049_0_0"/>
          <p:cNvPicPr preferRelativeResize="0"/>
          <p:nvPr/>
        </p:nvPicPr>
        <p:blipFill>
          <a:blip r:embed="rId3">
            <a:alphaModFix/>
          </a:blip>
          <a:stretch>
            <a:fillRect/>
          </a:stretch>
        </p:blipFill>
        <p:spPr>
          <a:xfrm>
            <a:off x="1058025" y="2461675"/>
            <a:ext cx="7419975" cy="14001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dc77572007_0_2"/>
          <p:cNvSpPr txBox="1"/>
          <p:nvPr/>
        </p:nvSpPr>
        <p:spPr>
          <a:xfrm>
            <a:off x="860990" y="412060"/>
            <a:ext cx="10470000" cy="5787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algun Gothic"/>
                <a:ea typeface="Malgun Gothic"/>
                <a:cs typeface="Malgun Gothic"/>
                <a:sym typeface="Malgun Gothic"/>
              </a:rPr>
              <a:t>문서유통 실행 및 테스트 방법  (문서유통모듈설치가이드.pdf 문서를 읽고 진행)</a:t>
            </a:r>
            <a:endParaRPr b="1" sz="1800">
              <a:solidFill>
                <a:schemeClr val="dk1"/>
              </a:solidFill>
              <a:latin typeface="Malgun Gothic"/>
              <a:ea typeface="Malgun Gothic"/>
              <a:cs typeface="Malgun Gothic"/>
              <a:sym typeface="Malgun Gothic"/>
            </a:endParaRPr>
          </a:p>
          <a:p>
            <a:pPr indent="-330200" lvl="0" marL="457200" marR="0" rtl="0" algn="l">
              <a:spcBef>
                <a:spcPts val="0"/>
              </a:spcBef>
              <a:spcAft>
                <a:spcPts val="0"/>
              </a:spcAft>
              <a:buClr>
                <a:schemeClr val="dk1"/>
              </a:buClr>
              <a:buSzPts val="1600"/>
              <a:buFont typeface="Malgun Gothic"/>
              <a:buChar char="●"/>
            </a:pPr>
            <a:r>
              <a:rPr lang="en-US" sz="1600">
                <a:solidFill>
                  <a:schemeClr val="dk1"/>
                </a:solidFill>
                <a:latin typeface="Malgun Gothic"/>
                <a:ea typeface="Malgun Gothic"/>
                <a:cs typeface="Malgun Gothic"/>
                <a:sym typeface="Malgun Gothic"/>
              </a:rPr>
              <a:t>사전지식</a:t>
            </a:r>
            <a:endParaRPr sz="1600">
              <a:solidFill>
                <a:schemeClr val="dk1"/>
              </a:solidFill>
              <a:latin typeface="Malgun Gothic"/>
              <a:ea typeface="Malgun Gothic"/>
              <a:cs typeface="Malgun Gothic"/>
              <a:sym typeface="Malgun Gothic"/>
            </a:endParaRPr>
          </a:p>
          <a:p>
            <a:pPr indent="-330200" lvl="0" marL="457200" marR="0" rtl="0" algn="l">
              <a:spcBef>
                <a:spcPts val="0"/>
              </a:spcBef>
              <a:spcAft>
                <a:spcPts val="0"/>
              </a:spcAft>
              <a:buClr>
                <a:schemeClr val="dk1"/>
              </a:buClr>
              <a:buSzPts val="1600"/>
              <a:buFont typeface="Malgun Gothic"/>
              <a:buChar char="-"/>
            </a:pPr>
            <a:r>
              <a:rPr lang="en-US" sz="1600">
                <a:solidFill>
                  <a:schemeClr val="dk1"/>
                </a:solidFill>
                <a:latin typeface="Malgun Gothic"/>
                <a:ea typeface="Malgun Gothic"/>
                <a:cs typeface="Malgun Gothic"/>
                <a:sym typeface="Malgun Gothic"/>
              </a:rPr>
              <a:t>문서유통센터와 GPKI인증센터는 다른센터로, 유통관련 테스트 시에는 (</a:t>
            </a:r>
            <a:r>
              <a:rPr lang="en-US" sz="1600" u="sng">
                <a:solidFill>
                  <a:schemeClr val="hlink"/>
                </a:solidFill>
                <a:latin typeface="Malgun Gothic"/>
                <a:ea typeface="Malgun Gothic"/>
                <a:cs typeface="Malgun Gothic"/>
                <a:sym typeface="Malgun Gothic"/>
                <a:hlinkClick r:id="rId3"/>
              </a:rPr>
              <a:t>https://gdoc.go.kr/Index.jsp</a:t>
            </a:r>
            <a:r>
              <a:rPr lang="en-US" sz="1600">
                <a:solidFill>
                  <a:schemeClr val="dk1"/>
                </a:solidFill>
                <a:latin typeface="Malgun Gothic"/>
                <a:ea typeface="Malgun Gothic"/>
                <a:cs typeface="Malgun Gothic"/>
                <a:sym typeface="Malgun Gothic"/>
              </a:rPr>
              <a:t>)에 접속하여, 전화번호(02-3771-2801)로 전화를 걸어서 테스트로 보낸 문서가 잘보내졌는지 확인 하면된다.</a:t>
            </a:r>
            <a:endParaRPr sz="1600">
              <a:solidFill>
                <a:schemeClr val="dk1"/>
              </a:solidFill>
              <a:latin typeface="Malgun Gothic"/>
              <a:ea typeface="Malgun Gothic"/>
              <a:cs typeface="Malgun Gothic"/>
              <a:sym typeface="Malgun Gothic"/>
            </a:endParaRPr>
          </a:p>
          <a:p>
            <a:pPr indent="-330200" lvl="0" marL="457200" marR="0" rtl="0" algn="l">
              <a:spcBef>
                <a:spcPts val="0"/>
              </a:spcBef>
              <a:spcAft>
                <a:spcPts val="0"/>
              </a:spcAft>
              <a:buClr>
                <a:schemeClr val="dk1"/>
              </a:buClr>
              <a:buSzPts val="1600"/>
              <a:buFont typeface="Malgun Gothic"/>
              <a:buChar char="-"/>
            </a:pPr>
            <a:r>
              <a:rPr lang="en-US" sz="1600">
                <a:solidFill>
                  <a:schemeClr val="dk1"/>
                </a:solidFill>
                <a:latin typeface="Malgun Gothic"/>
                <a:ea typeface="Malgun Gothic"/>
                <a:cs typeface="Malgun Gothic"/>
                <a:sym typeface="Malgun Gothic"/>
              </a:rPr>
              <a:t>문서 유통시 open일정을 유통센터에 알려야 함. (그때부터 모듈로 문서가 들어오기 때문)</a:t>
            </a:r>
            <a:endParaRPr sz="1600">
              <a:solidFill>
                <a:schemeClr val="dk1"/>
              </a:solidFill>
              <a:latin typeface="Malgun Gothic"/>
              <a:ea typeface="Malgun Gothic"/>
              <a:cs typeface="Malgun Gothic"/>
              <a:sym typeface="Malgun Gothic"/>
            </a:endParaRPr>
          </a:p>
          <a:p>
            <a:pPr indent="-330200" lvl="0" marL="457200" marR="0" rtl="0" algn="l">
              <a:spcBef>
                <a:spcPts val="0"/>
              </a:spcBef>
              <a:spcAft>
                <a:spcPts val="0"/>
              </a:spcAft>
              <a:buClr>
                <a:schemeClr val="dk1"/>
              </a:buClr>
              <a:buSzPts val="1600"/>
              <a:buFont typeface="Malgun Gothic"/>
              <a:buChar char="-"/>
            </a:pPr>
            <a:r>
              <a:rPr lang="en-US" sz="1600">
                <a:solidFill>
                  <a:schemeClr val="dk1"/>
                </a:solidFill>
                <a:latin typeface="Malgun Gothic"/>
                <a:ea typeface="Malgun Gothic"/>
                <a:cs typeface="Malgun Gothic"/>
                <a:sym typeface="Malgun Gothic"/>
              </a:rPr>
              <a:t>임시인증서보다 정상인증서에 제한이 더 많아 왠만하면 정상인증서로 테스트를 진행하는게 좋음</a:t>
            </a:r>
            <a:endParaRPr sz="1600">
              <a:solidFill>
                <a:schemeClr val="dk1"/>
              </a:solidFill>
              <a:latin typeface="Malgun Gothic"/>
              <a:ea typeface="Malgun Gothic"/>
              <a:cs typeface="Malgun Gothic"/>
              <a:sym typeface="Malgun Gothic"/>
            </a:endParaRPr>
          </a:p>
          <a:p>
            <a:pPr indent="0" lvl="0" marL="137160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330200" lvl="0" marL="457200" marR="0" rtl="0" algn="l">
              <a:spcBef>
                <a:spcPts val="0"/>
              </a:spcBef>
              <a:spcAft>
                <a:spcPts val="0"/>
              </a:spcAft>
              <a:buClr>
                <a:schemeClr val="dk1"/>
              </a:buClr>
              <a:buSzPts val="1600"/>
              <a:buFont typeface="Malgun Gothic"/>
              <a:buChar char="-"/>
            </a:pPr>
            <a:r>
              <a:rPr lang="en-US" sz="1600">
                <a:solidFill>
                  <a:schemeClr val="dk1"/>
                </a:solidFill>
                <a:latin typeface="Malgun Gothic"/>
                <a:ea typeface="Malgun Gothic"/>
                <a:cs typeface="Malgun Gothic"/>
                <a:sym typeface="Malgun Gothic"/>
              </a:rPr>
              <a:t>문서유통 확인 방법</a:t>
            </a:r>
            <a:endParaRPr sz="1600">
              <a:solidFill>
                <a:schemeClr val="dk1"/>
              </a:solidFill>
              <a:latin typeface="Malgun Gothic"/>
              <a:ea typeface="Malgun Gothic"/>
              <a:cs typeface="Malgun Gothic"/>
              <a:sym typeface="Malgun Gothic"/>
            </a:endParaRPr>
          </a:p>
          <a:p>
            <a:pPr indent="-330200" lvl="0" marL="457200" marR="0" rtl="0" algn="l">
              <a:spcBef>
                <a:spcPts val="0"/>
              </a:spcBef>
              <a:spcAft>
                <a:spcPts val="0"/>
              </a:spcAft>
              <a:buClr>
                <a:schemeClr val="dk1"/>
              </a:buClr>
              <a:buSzPts val="1600"/>
              <a:buFont typeface="Malgun Gothic"/>
              <a:buAutoNum type="arabicPeriod"/>
            </a:pPr>
            <a:r>
              <a:rPr lang="en-US" sz="1600">
                <a:solidFill>
                  <a:schemeClr val="dk1"/>
                </a:solidFill>
                <a:latin typeface="Malgun Gothic"/>
                <a:ea typeface="Malgun Gothic"/>
                <a:cs typeface="Malgun Gothic"/>
                <a:sym typeface="Malgun Gothic"/>
              </a:rPr>
              <a:t>유통서버의 sendtemp 에 문서를 두었을 때, 유통센터로 잘 도달하는지 확인</a:t>
            </a:r>
            <a:endParaRPr sz="1600">
              <a:solidFill>
                <a:schemeClr val="dk1"/>
              </a:solidFill>
              <a:latin typeface="Malgun Gothic"/>
              <a:ea typeface="Malgun Gothic"/>
              <a:cs typeface="Malgun Gothic"/>
              <a:sym typeface="Malgun Gothic"/>
            </a:endParaRPr>
          </a:p>
          <a:p>
            <a:pPr indent="-330200" lvl="0" marL="457200" marR="0" rtl="0" algn="l">
              <a:spcBef>
                <a:spcPts val="0"/>
              </a:spcBef>
              <a:spcAft>
                <a:spcPts val="0"/>
              </a:spcAft>
              <a:buClr>
                <a:schemeClr val="dk1"/>
              </a:buClr>
              <a:buSzPts val="1600"/>
              <a:buFont typeface="Malgun Gothic"/>
              <a:buAutoNum type="arabicPeriod"/>
            </a:pPr>
            <a:r>
              <a:rPr lang="en-US" sz="1600">
                <a:solidFill>
                  <a:schemeClr val="dk1"/>
                </a:solidFill>
                <a:latin typeface="Malgun Gothic"/>
                <a:ea typeface="Malgun Gothic"/>
                <a:cs typeface="Malgun Gothic"/>
                <a:sym typeface="Malgun Gothic"/>
              </a:rPr>
              <a:t>그룹웨어에서 심사자, 문서과아이디 등을 지정한 후, 기안 -&gt; 외부수신자(유테3과) 로 지정하여 문서가 잘 도달했는지 확인    </a:t>
            </a:r>
            <a:endParaRPr sz="1600">
              <a:solidFill>
                <a:schemeClr val="dk1"/>
              </a:solidFill>
              <a:latin typeface="Malgun Gothic"/>
              <a:ea typeface="Malgun Gothic"/>
              <a:cs typeface="Malgun Gothic"/>
              <a:sym typeface="Malgun Gothic"/>
            </a:endParaRPr>
          </a:p>
          <a:p>
            <a:pPr indent="0" lvl="0" marL="91440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  - 문서유통 실행  ( 문서유통모듈설치가이드.pdf 문서의 사.Unix/Linux 계열에서의 중계 모듈 시작과 종료 에 자세히 나와있다)</a:t>
            </a:r>
            <a:endParaRPr sz="1600">
              <a:solidFill>
                <a:schemeClr val="dk1"/>
              </a:solidFill>
              <a:latin typeface="Malgun Gothic"/>
              <a:ea typeface="Malgun Gothic"/>
              <a:cs typeface="Malgun Gothic"/>
              <a:sym typeface="Malgun Gothic"/>
            </a:endParaRPr>
          </a:p>
          <a:p>
            <a:pPr indent="-330200" lvl="0" marL="457200" marR="0" rtl="0" algn="l">
              <a:spcBef>
                <a:spcPts val="0"/>
              </a:spcBef>
              <a:spcAft>
                <a:spcPts val="0"/>
              </a:spcAft>
              <a:buClr>
                <a:schemeClr val="dk1"/>
              </a:buClr>
              <a:buSzPts val="1600"/>
              <a:buFont typeface="Malgun Gothic"/>
              <a:buAutoNum type="arabicPeriod"/>
            </a:pPr>
            <a:r>
              <a:rPr lang="en-US" sz="1600">
                <a:solidFill>
                  <a:schemeClr val="dk1"/>
                </a:solidFill>
                <a:latin typeface="Malgun Gothic"/>
                <a:ea typeface="Malgun Gothic"/>
                <a:cs typeface="Malgun Gothic"/>
                <a:sym typeface="Malgun Gothic"/>
              </a:rPr>
              <a:t>relay/bin/relay_start.sh 실행 -&gt; 오류발생 -&gt; 오류해결</a:t>
            </a:r>
            <a:endParaRPr sz="1600">
              <a:solidFill>
                <a:schemeClr val="dk1"/>
              </a:solidFill>
              <a:latin typeface="Malgun Gothic"/>
              <a:ea typeface="Malgun Gothic"/>
              <a:cs typeface="Malgun Gothic"/>
              <a:sym typeface="Malgun Gothic"/>
            </a:endParaRPr>
          </a:p>
          <a:p>
            <a:pPr indent="-330200" lvl="0" marL="457200" marR="0" rtl="0" algn="l">
              <a:spcBef>
                <a:spcPts val="0"/>
              </a:spcBef>
              <a:spcAft>
                <a:spcPts val="0"/>
              </a:spcAft>
              <a:buClr>
                <a:schemeClr val="dk1"/>
              </a:buClr>
              <a:buSzPts val="1600"/>
              <a:buFont typeface="Malgun Gothic"/>
              <a:buAutoNum type="arabicPeriod"/>
            </a:pPr>
            <a:r>
              <a:rPr lang="en-US" sz="1600">
                <a:solidFill>
                  <a:schemeClr val="dk1"/>
                </a:solidFill>
                <a:latin typeface="Malgun Gothic"/>
                <a:ea typeface="Malgun Gothic"/>
                <a:cs typeface="Malgun Gothic"/>
                <a:sym typeface="Malgun Gothic"/>
              </a:rPr>
              <a:t>relay/bin/stop_all.sh 실행 </a:t>
            </a:r>
            <a:endParaRPr sz="1600">
              <a:solidFill>
                <a:schemeClr val="dk1"/>
              </a:solidFill>
              <a:latin typeface="Malgun Gothic"/>
              <a:ea typeface="Malgun Gothic"/>
              <a:cs typeface="Malgun Gothic"/>
              <a:sym typeface="Malgun Gothic"/>
            </a:endParaRPr>
          </a:p>
          <a:p>
            <a:pPr indent="-330200" lvl="0" marL="457200" marR="0" rtl="0" algn="l">
              <a:spcBef>
                <a:spcPts val="0"/>
              </a:spcBef>
              <a:spcAft>
                <a:spcPts val="0"/>
              </a:spcAft>
              <a:buClr>
                <a:schemeClr val="dk1"/>
              </a:buClr>
              <a:buSzPts val="1600"/>
              <a:buFont typeface="Malgun Gothic"/>
              <a:buAutoNum type="arabicPeriod"/>
            </a:pPr>
            <a:r>
              <a:rPr lang="en-US" sz="1600">
                <a:solidFill>
                  <a:schemeClr val="dk1"/>
                </a:solidFill>
                <a:latin typeface="Malgun Gothic"/>
                <a:ea typeface="Malgun Gothic"/>
                <a:cs typeface="Malgun Gothic"/>
                <a:sym typeface="Malgun Gothic"/>
              </a:rPr>
              <a:t>relay/bin/start_all.sh 실행</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330200" lvl="0" marL="457200" marR="0" rtl="0" algn="l">
              <a:spcBef>
                <a:spcPts val="0"/>
              </a:spcBef>
              <a:spcAft>
                <a:spcPts val="0"/>
              </a:spcAft>
              <a:buClr>
                <a:schemeClr val="dk1"/>
              </a:buClr>
              <a:buSzPts val="1600"/>
              <a:buFont typeface="Malgun Gothic"/>
              <a:buChar char="-"/>
            </a:pPr>
            <a:r>
              <a:rPr lang="en-US" sz="1600">
                <a:solidFill>
                  <a:schemeClr val="dk1"/>
                </a:solidFill>
                <a:latin typeface="Malgun Gothic"/>
                <a:ea typeface="Malgun Gothic"/>
                <a:cs typeface="Malgun Gothic"/>
                <a:sym typeface="Malgun Gothic"/>
              </a:rPr>
              <a:t>테스트 (문서유통 실행에 오류가 없을경우 테스트를 진행한다) </a:t>
            </a:r>
            <a:endParaRPr sz="1600">
              <a:solidFill>
                <a:schemeClr val="dk1"/>
              </a:solidFill>
              <a:latin typeface="Malgun Gothic"/>
              <a:ea typeface="Malgun Gothic"/>
              <a:cs typeface="Malgun Gothic"/>
              <a:sym typeface="Malgun Gothic"/>
            </a:endParaRPr>
          </a:p>
          <a:p>
            <a:pPr indent="-330200" lvl="0" marL="457200" marR="0" rtl="0" algn="l">
              <a:spcBef>
                <a:spcPts val="0"/>
              </a:spcBef>
              <a:spcAft>
                <a:spcPts val="0"/>
              </a:spcAft>
              <a:buClr>
                <a:schemeClr val="dk1"/>
              </a:buClr>
              <a:buSzPts val="1600"/>
              <a:buFont typeface="Malgun Gothic"/>
              <a:buAutoNum type="arabicPeriod"/>
            </a:pPr>
            <a:r>
              <a:rPr lang="en-US" sz="1600">
                <a:solidFill>
                  <a:schemeClr val="dk1"/>
                </a:solidFill>
                <a:latin typeface="Malgun Gothic"/>
                <a:ea typeface="Malgun Gothic"/>
                <a:cs typeface="Malgun Gothic"/>
                <a:sym typeface="Malgun Gothic"/>
              </a:rPr>
              <a:t>유통서버의 sendtemp에 문서를 두었을 때 유통센터로 잘 도달하는지 확인 (전화)</a:t>
            </a:r>
            <a:endParaRPr sz="1600">
              <a:solidFill>
                <a:schemeClr val="dk1"/>
              </a:solidFill>
              <a:latin typeface="Malgun Gothic"/>
              <a:ea typeface="Malgun Gothic"/>
              <a:cs typeface="Malgun Gothic"/>
              <a:sym typeface="Malgun Gothic"/>
            </a:endParaRPr>
          </a:p>
          <a:p>
            <a:pPr indent="0" lvl="0" marL="0" rtl="0" algn="l">
              <a:spcBef>
                <a:spcPts val="0"/>
              </a:spcBef>
              <a:spcAft>
                <a:spcPts val="0"/>
              </a:spcAft>
              <a:buNone/>
            </a:pPr>
            <a:r>
              <a:rPr lang="en-US" sz="1600">
                <a:solidFill>
                  <a:schemeClr val="dk1"/>
                </a:solidFill>
                <a:latin typeface="Malgun Gothic"/>
                <a:ea typeface="Malgun Gothic"/>
                <a:cs typeface="Malgun Gothic"/>
                <a:sym typeface="Malgun Gothic"/>
              </a:rPr>
              <a:t>( 문서유통모듈설치가이드.pdf 문서의 아.중계문서 유통 테스트에 자세히 나와있다)</a:t>
            </a:r>
            <a:endParaRPr sz="1600">
              <a:solidFill>
                <a:schemeClr val="dk1"/>
              </a:solidFill>
              <a:latin typeface="Malgun Gothic"/>
              <a:ea typeface="Malgun Gothic"/>
              <a:cs typeface="Malgun Gothic"/>
              <a:sym typeface="Malgun Gothic"/>
            </a:endParaRPr>
          </a:p>
          <a:p>
            <a:pPr indent="0" lvl="0" marL="0" rtl="0" algn="l">
              <a:spcBef>
                <a:spcPts val="0"/>
              </a:spcBef>
              <a:spcAft>
                <a:spcPts val="0"/>
              </a:spcAft>
              <a:buNone/>
            </a:pPr>
            <a:r>
              <a:rPr lang="en-US" sz="1600">
                <a:solidFill>
                  <a:schemeClr val="dk1"/>
                </a:solidFill>
                <a:latin typeface="Malgun Gothic"/>
                <a:ea typeface="Malgun Gothic"/>
                <a:cs typeface="Malgun Gothic"/>
                <a:sym typeface="Malgun Gothic"/>
              </a:rPr>
              <a:t>2. 그룹웨어 서버에서 접속한 계정에 심사자권한과, 계정의 부서에 문서과 아이디(기관코드)를 넣어준다. -&gt; 기안-&gt; 시행문으로 외부수신자 유테3과로 지정 -&gt; 발송  -&gt; 유통센터로 잘 도달하는지 확인 (전화)</a:t>
            </a:r>
            <a:endParaRPr sz="1600">
              <a:solidFill>
                <a:schemeClr val="dk1"/>
              </a:solidFill>
              <a:latin typeface="Malgun Gothic"/>
              <a:ea typeface="Malgun Gothic"/>
              <a:cs typeface="Malgun Gothic"/>
              <a:sym typeface="Malgun Gothic"/>
            </a:endParaRPr>
          </a:p>
        </p:txBody>
      </p:sp>
      <p:pic>
        <p:nvPicPr>
          <p:cNvPr id="285" name="Google Shape;285;gdc77572007_0_2"/>
          <p:cNvPicPr preferRelativeResize="0"/>
          <p:nvPr/>
        </p:nvPicPr>
        <p:blipFill>
          <a:blip r:embed="rId4">
            <a:alphaModFix/>
          </a:blip>
          <a:stretch>
            <a:fillRect/>
          </a:stretch>
        </p:blipFill>
        <p:spPr>
          <a:xfrm>
            <a:off x="7161525" y="3814150"/>
            <a:ext cx="3954575" cy="11279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dc77572007_0_11"/>
          <p:cNvSpPr txBox="1"/>
          <p:nvPr/>
        </p:nvSpPr>
        <p:spPr>
          <a:xfrm>
            <a:off x="860990" y="518435"/>
            <a:ext cx="10470000" cy="307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algun Gothic"/>
                <a:ea typeface="Malgun Gothic"/>
                <a:cs typeface="Malgun Gothic"/>
                <a:sym typeface="Malgun Gothic"/>
              </a:rPr>
              <a:t>문서유통 실행 및 테스트 방법</a:t>
            </a:r>
            <a:endParaRPr b="1" sz="1800">
              <a:solidFill>
                <a:schemeClr val="dk1"/>
              </a:solidFill>
              <a:latin typeface="Malgun Gothic"/>
              <a:ea typeface="Malgun Gothic"/>
              <a:cs typeface="Malgun Gothic"/>
              <a:sym typeface="Malgun Gothic"/>
            </a:endParaRPr>
          </a:p>
          <a:p>
            <a:pPr indent="-330200" lvl="0" marL="457200" marR="0" rtl="0" algn="l">
              <a:spcBef>
                <a:spcPts val="0"/>
              </a:spcBef>
              <a:spcAft>
                <a:spcPts val="0"/>
              </a:spcAft>
              <a:buClr>
                <a:schemeClr val="dk1"/>
              </a:buClr>
              <a:buSzPts val="1600"/>
              <a:buFont typeface="Malgun Gothic"/>
              <a:buChar char="-"/>
            </a:pPr>
            <a:r>
              <a:rPr lang="en-US" sz="1600">
                <a:solidFill>
                  <a:schemeClr val="dk1"/>
                </a:solidFill>
                <a:latin typeface="Malgun Gothic"/>
                <a:ea typeface="Malgun Gothic"/>
                <a:cs typeface="Malgun Gothic"/>
                <a:sym typeface="Malgun Gothic"/>
              </a:rPr>
              <a:t>문서유통 테스트는 ie에서 해야 테스트를 정확히 할 수 있다.</a:t>
            </a:r>
            <a:endParaRPr sz="1600">
              <a:solidFill>
                <a:schemeClr val="dk1"/>
              </a:solidFill>
              <a:latin typeface="Malgun Gothic"/>
              <a:ea typeface="Malgun Gothic"/>
              <a:cs typeface="Malgun Gothic"/>
              <a:sym typeface="Malgun Gothic"/>
            </a:endParaRPr>
          </a:p>
          <a:p>
            <a:pPr indent="-330200" lvl="0" marL="457200" marR="0" rtl="0" algn="l">
              <a:spcBef>
                <a:spcPts val="0"/>
              </a:spcBef>
              <a:spcAft>
                <a:spcPts val="0"/>
              </a:spcAft>
              <a:buClr>
                <a:schemeClr val="dk1"/>
              </a:buClr>
              <a:buSzPts val="1600"/>
              <a:buFont typeface="Malgun Gothic"/>
              <a:buChar char="-"/>
            </a:pPr>
            <a:r>
              <a:rPr lang="en-US" sz="1600">
                <a:solidFill>
                  <a:schemeClr val="dk1"/>
                </a:solidFill>
                <a:latin typeface="Malgun Gothic"/>
                <a:ea typeface="Malgun Gothic"/>
                <a:cs typeface="Malgun Gothic"/>
                <a:sym typeface="Malgun Gothic"/>
              </a:rPr>
              <a:t>수신확인의 경우 recievetemp에 send파일의 ~.xml 파일을 넣는데, 그 파일을 열어서 sendid 와 receiveid를 바꾸어 넣어주어야한다 (송수신관련부분 모두 바꾸어주어야한다)</a:t>
            </a:r>
            <a:br>
              <a:rPr lang="en-US" sz="1600">
                <a:solidFill>
                  <a:schemeClr val="dk1"/>
                </a:solidFill>
                <a:latin typeface="Malgun Gothic"/>
                <a:ea typeface="Malgun Gothic"/>
                <a:cs typeface="Malgun Gothic"/>
                <a:sym typeface="Malgun Gothic"/>
              </a:rPr>
            </a:br>
            <a:br>
              <a:rPr lang="en-US" sz="1600">
                <a:solidFill>
                  <a:schemeClr val="dk1"/>
                </a:solidFill>
                <a:latin typeface="Malgun Gothic"/>
                <a:ea typeface="Malgun Gothic"/>
                <a:cs typeface="Malgun Gothic"/>
                <a:sym typeface="Malgun Gothic"/>
              </a:rPr>
            </a:br>
            <a:r>
              <a:rPr lang="en-US" sz="1600">
                <a:solidFill>
                  <a:schemeClr val="dk1"/>
                </a:solidFill>
                <a:latin typeface="Malgun Gothic"/>
                <a:ea typeface="Malgun Gothic"/>
                <a:cs typeface="Malgun Gothic"/>
                <a:sym typeface="Malgun Gothic"/>
              </a:rPr>
              <a:t>xml 파일명의 send   receive를 나타내는 부분이 있어서, 그부분도 바꾸어주어야한다.</a:t>
            </a:r>
            <a:endParaRPr sz="1600">
              <a:solidFill>
                <a:schemeClr val="dk1"/>
              </a:solidFill>
              <a:latin typeface="Malgun Gothic"/>
              <a:ea typeface="Malgun Gothic"/>
              <a:cs typeface="Malgun Gothic"/>
              <a:sym typeface="Malgun Gothic"/>
            </a:endParaRPr>
          </a:p>
          <a:p>
            <a:pPr indent="0" lvl="0" marL="457200" marR="0" rtl="0" algn="l">
              <a:spcBef>
                <a:spcPts val="0"/>
              </a:spcBef>
              <a:spcAft>
                <a:spcPts val="0"/>
              </a:spcAft>
              <a:buNone/>
            </a:pPr>
            <a:r>
              <a:rPr lang="en-US" sz="1600">
                <a:solidFill>
                  <a:schemeClr val="dk1"/>
                </a:solidFill>
                <a:latin typeface="Malgun Gothic"/>
                <a:ea typeface="Malgun Gothic"/>
                <a:cs typeface="Malgun Gothic"/>
                <a:sym typeface="Malgun Gothic"/>
              </a:rPr>
              <a:t>바꾸지않으면, docid만드는 곳에 에러가난다… (ex 1111111999999920210000000000 -&gt; 999999911111112021000000000)</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330200" lvl="0" marL="457200" marR="0" rtl="0" algn="l">
              <a:spcBef>
                <a:spcPts val="0"/>
              </a:spcBef>
              <a:spcAft>
                <a:spcPts val="0"/>
              </a:spcAft>
              <a:buClr>
                <a:schemeClr val="dk1"/>
              </a:buClr>
              <a:buSzPts val="1600"/>
              <a:buFont typeface="Malgun Gothic"/>
              <a:buChar char="-"/>
            </a:pPr>
            <a:r>
              <a:rPr lang="en-US" sz="1600">
                <a:solidFill>
                  <a:schemeClr val="dk1"/>
                </a:solidFill>
                <a:latin typeface="Malgun Gothic"/>
                <a:ea typeface="Malgun Gothic"/>
                <a:cs typeface="Malgun Gothic"/>
                <a:sym typeface="Malgun Gothic"/>
              </a:rPr>
              <a:t>기관코드를 모를경우, 유통센터에 문의하면 알 수 있다.</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2"/>
          <p:cNvSpPr/>
          <p:nvPr/>
        </p:nvSpPr>
        <p:spPr>
          <a:xfrm>
            <a:off x="1706879" y="1431348"/>
            <a:ext cx="8642465" cy="4474874"/>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None/>
            </a:pPr>
            <a:r>
              <a:rPr b="1" lang="en-US" sz="4000">
                <a:solidFill>
                  <a:schemeClr val="dk1"/>
                </a:solidFill>
                <a:latin typeface="Malgun Gothic"/>
                <a:ea typeface="Malgun Gothic"/>
                <a:cs typeface="Malgun Gothic"/>
                <a:sym typeface="Malgun Gothic"/>
              </a:rPr>
              <a:t> </a:t>
            </a:r>
            <a:r>
              <a:rPr b="1" lang="en-US" sz="3200">
                <a:solidFill>
                  <a:schemeClr val="dk1"/>
                </a:solidFill>
                <a:latin typeface="Malgun Gothic"/>
                <a:ea typeface="Malgun Gothic"/>
                <a:cs typeface="Malgun Gothic"/>
                <a:sym typeface="Malgun Gothic"/>
              </a:rPr>
              <a:t> </a:t>
            </a:r>
            <a:endParaRPr b="1" sz="4000">
              <a:solidFill>
                <a:schemeClr val="dk1"/>
              </a:solidFill>
              <a:latin typeface="Malgun Gothic"/>
              <a:ea typeface="Malgun Gothic"/>
              <a:cs typeface="Malgun Gothic"/>
              <a:sym typeface="Malgun Gothic"/>
            </a:endParaRPr>
          </a:p>
        </p:txBody>
      </p:sp>
      <p:sp>
        <p:nvSpPr>
          <p:cNvPr id="296" name="Google Shape;296;p22"/>
          <p:cNvSpPr txBox="1"/>
          <p:nvPr/>
        </p:nvSpPr>
        <p:spPr>
          <a:xfrm>
            <a:off x="1550930" y="790590"/>
            <a:ext cx="91572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algun Gothic"/>
                <a:ea typeface="Malgun Gothic"/>
                <a:cs typeface="Malgun Gothic"/>
                <a:sym typeface="Malgun Gothic"/>
              </a:rPr>
              <a:t>문서유통 운영참고 사항</a:t>
            </a:r>
            <a:endParaRPr b="1" sz="1800">
              <a:solidFill>
                <a:schemeClr val="dk1"/>
              </a:solidFill>
              <a:latin typeface="Malgun Gothic"/>
              <a:ea typeface="Malgun Gothic"/>
              <a:cs typeface="Malgun Gothic"/>
              <a:sym typeface="Malgun Gothic"/>
            </a:endParaRPr>
          </a:p>
        </p:txBody>
      </p:sp>
      <p:sp>
        <p:nvSpPr>
          <p:cNvPr id="297" name="Google Shape;297;p22"/>
          <p:cNvSpPr txBox="1"/>
          <p:nvPr/>
        </p:nvSpPr>
        <p:spPr>
          <a:xfrm>
            <a:off x="1936864" y="1679171"/>
            <a:ext cx="7547957" cy="427809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1-1. 외부에서 접수된 문서에 대한 정보는 tbl_recrelayinfo 테이블을 확인한다.</a:t>
            </a:r>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1-2. 외부로 발송하는 문서의 경우, 첨부파일과 문서의 용량을 합쳐서 5메가 바이트 이하가 되어야한다.</a:t>
            </a:r>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1-3. 웹기안기의 경우, 운영 전에 표, 폰트 스타일, 외부 에디터에서 복사 붙여넣기 등으로 발송하고 발송한 문서를 접수테스트 하면서 오류를 수정한다. 외부기관에서 보낸 문서를 접수하는 과정보다는 발송하는 부분에서 오류가 많이 발생한다.</a:t>
            </a:r>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1-4. 해당 기관 관인 이미지를 적용하고 관인 크기나, 위치를 조정한다.</a:t>
            </a:r>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1-5 아직 접수하지 않은 유통문서를 지우는 방법.</a:t>
            </a:r>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  &gt; DB에서 tbl_aprreceiptprocessinfo 에서 해당 문서의 DOCID로 검색하고 해당 문서의 APRSTATUS 컬럼을 015(회송)으로 바꾸고 부서수신함의 리스트를 보면 삭제버튼이 활성화 되어 지울 수 있다.</a:t>
            </a:r>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3"/>
          <p:cNvSpPr/>
          <p:nvPr/>
        </p:nvSpPr>
        <p:spPr>
          <a:xfrm>
            <a:off x="1706879" y="1431348"/>
            <a:ext cx="8642465" cy="4474874"/>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None/>
            </a:pPr>
            <a:r>
              <a:rPr b="1" lang="en-US" sz="4000">
                <a:solidFill>
                  <a:schemeClr val="dk1"/>
                </a:solidFill>
                <a:latin typeface="Malgun Gothic"/>
                <a:ea typeface="Malgun Gothic"/>
                <a:cs typeface="Malgun Gothic"/>
                <a:sym typeface="Malgun Gothic"/>
              </a:rPr>
              <a:t> </a:t>
            </a:r>
            <a:r>
              <a:rPr b="1" lang="en-US" sz="3200">
                <a:solidFill>
                  <a:schemeClr val="dk1"/>
                </a:solidFill>
                <a:latin typeface="Malgun Gothic"/>
                <a:ea typeface="Malgun Gothic"/>
                <a:cs typeface="Malgun Gothic"/>
                <a:sym typeface="Malgun Gothic"/>
              </a:rPr>
              <a:t> </a:t>
            </a:r>
            <a:endParaRPr b="1" sz="4000">
              <a:solidFill>
                <a:schemeClr val="dk1"/>
              </a:solidFill>
              <a:latin typeface="Malgun Gothic"/>
              <a:ea typeface="Malgun Gothic"/>
              <a:cs typeface="Malgun Gothic"/>
              <a:sym typeface="Malgun Gothic"/>
            </a:endParaRPr>
          </a:p>
        </p:txBody>
      </p:sp>
      <p:sp>
        <p:nvSpPr>
          <p:cNvPr id="303" name="Google Shape;303;p23"/>
          <p:cNvSpPr txBox="1"/>
          <p:nvPr/>
        </p:nvSpPr>
        <p:spPr>
          <a:xfrm>
            <a:off x="1936864" y="1679171"/>
            <a:ext cx="7547957" cy="32932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1-6. 접수 후 로직(배부, 지정, 결재올림) 등은 아직 보완되어야 할 부분이 많다. 배부 후 로직, 지정 후 로직 등</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1-7. 외부문서 접수용 양식의 필드는 ezFlow4Java/src/main/webapp/files/upload_approvalG/form/2016000001.mht를 참고한다.</a:t>
            </a:r>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1-8. relay/data/ 하위 폴더 중, receiveComp만 그룹웨어에서 관리하고 나머지 폴더는 문서유통 모듈이 관리하며 15일이 지난 문서는 삭제된다.</a:t>
            </a:r>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1-9 우리 그룹웨어에서 발송한 문서의 표나 글씨 스타일 등이 적용되지 않으면 온나라 시스템에서 발송된 외부문서의 HTML을 참고하여 비슷한 속성이나 스타일이 들어가도록 수정한다.</a:t>
            </a:r>
            <a:endParaRPr/>
          </a:p>
        </p:txBody>
      </p:sp>
      <p:sp>
        <p:nvSpPr>
          <p:cNvPr id="304" name="Google Shape;304;p23"/>
          <p:cNvSpPr txBox="1"/>
          <p:nvPr/>
        </p:nvSpPr>
        <p:spPr>
          <a:xfrm>
            <a:off x="1550930" y="790590"/>
            <a:ext cx="91572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algun Gothic"/>
                <a:ea typeface="Malgun Gothic"/>
                <a:cs typeface="Malgun Gothic"/>
                <a:sym typeface="Malgun Gothic"/>
              </a:rPr>
              <a:t>문서유통 운영참고 사항</a:t>
            </a:r>
            <a:endParaRPr b="1" sz="1800">
              <a:solidFill>
                <a:schemeClr val="dk1"/>
              </a:solidFill>
              <a:latin typeface="Malgun Gothic"/>
              <a:ea typeface="Malgun Gothic"/>
              <a:cs typeface="Malgun Gothic"/>
              <a:sym typeface="Malgun Gothic"/>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4"/>
          <p:cNvSpPr/>
          <p:nvPr/>
        </p:nvSpPr>
        <p:spPr>
          <a:xfrm>
            <a:off x="1706879" y="1431348"/>
            <a:ext cx="8642465" cy="4873658"/>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None/>
            </a:pPr>
            <a:r>
              <a:rPr b="1" lang="en-US" sz="4000">
                <a:solidFill>
                  <a:schemeClr val="dk1"/>
                </a:solidFill>
                <a:latin typeface="Malgun Gothic"/>
                <a:ea typeface="Malgun Gothic"/>
                <a:cs typeface="Malgun Gothic"/>
                <a:sym typeface="Malgun Gothic"/>
              </a:rPr>
              <a:t> </a:t>
            </a:r>
            <a:r>
              <a:rPr b="1" lang="en-US" sz="3200">
                <a:solidFill>
                  <a:schemeClr val="dk1"/>
                </a:solidFill>
                <a:latin typeface="Malgun Gothic"/>
                <a:ea typeface="Malgun Gothic"/>
                <a:cs typeface="Malgun Gothic"/>
                <a:sym typeface="Malgun Gothic"/>
              </a:rPr>
              <a:t> </a:t>
            </a:r>
            <a:endParaRPr b="1" sz="4000">
              <a:solidFill>
                <a:schemeClr val="dk1"/>
              </a:solidFill>
              <a:latin typeface="Malgun Gothic"/>
              <a:ea typeface="Malgun Gothic"/>
              <a:cs typeface="Malgun Gothic"/>
              <a:sym typeface="Malgun Gothic"/>
            </a:endParaRPr>
          </a:p>
        </p:txBody>
      </p:sp>
      <p:sp>
        <p:nvSpPr>
          <p:cNvPr id="310" name="Google Shape;310;p24"/>
          <p:cNvSpPr txBox="1"/>
          <p:nvPr/>
        </p:nvSpPr>
        <p:spPr>
          <a:xfrm>
            <a:off x="1936864" y="1679171"/>
            <a:ext cx="7781902"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2-1. 문서유통에 첨부할 수 있는 첨부파일 용량을 늘려줄 수 있냐는 문의.</a:t>
            </a:r>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  &gt; 유통센터에서 본문의 첨부파일을 합쳐 5MB로 제한하는 것을 권장한다고 안내.</a:t>
            </a:r>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  &gt; 문서유통모듈이 만들어진 XML을 암호화하고 이것을 실행파일로 만들어서 전송하는데 이때 용량이 늘어난다고 함.</a:t>
            </a:r>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2-2. 문서유통 모듈의 수발신 로그는 relay/log/에 있는 receive, receiveerr, send, sender 폴더나 relay/syslog/에 있는 send, recv 폴더에서 확인할 수 있다.</a:t>
            </a:r>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2-3. 수신된 문서의 본문이 확인되지 않을때 receive(Comp) 폴더와 approvalG/ExDocXml 폴더의 파일을 확인하거나 로그를 확인한다.</a:t>
            </a:r>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2-4. 발송된 문서에 오류가 있을시 send(Comp) 폴더를 확인하거나 로그를 확인한다.</a:t>
            </a:r>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2-5. 유통문서 송수신 test할 경우 receive(Comp) 의 파일명,date에서 시간부분을 변경하고 receiveTemp 폴더에 이동하면 모듈이 다시 문서를 수신한다.(송신도 동일)</a:t>
            </a:r>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2-6. mht가 정상적으로 생성되지 않을 경우 유통문서 id의 href 를 삭제한 후 다시 문서를 열면 다시 문서가 생성된다.</a:t>
            </a:r>
            <a:endParaRPr/>
          </a:p>
        </p:txBody>
      </p:sp>
      <p:sp>
        <p:nvSpPr>
          <p:cNvPr id="311" name="Google Shape;311;p24"/>
          <p:cNvSpPr txBox="1"/>
          <p:nvPr/>
        </p:nvSpPr>
        <p:spPr>
          <a:xfrm>
            <a:off x="1550930" y="790590"/>
            <a:ext cx="91572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algun Gothic"/>
                <a:ea typeface="Malgun Gothic"/>
                <a:cs typeface="Malgun Gothic"/>
                <a:sym typeface="Malgun Gothic"/>
              </a:rPr>
              <a:t>문서유통 운영참고 사항</a:t>
            </a:r>
            <a:endParaRPr b="1" sz="1800">
              <a:solidFill>
                <a:schemeClr val="dk1"/>
              </a:solidFill>
              <a:latin typeface="Malgun Gothic"/>
              <a:ea typeface="Malgun Gothic"/>
              <a:cs typeface="Malgun Gothic"/>
              <a:sym typeface="Malgun Gothic"/>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5"/>
          <p:cNvSpPr/>
          <p:nvPr/>
        </p:nvSpPr>
        <p:spPr>
          <a:xfrm>
            <a:off x="1706879" y="1431348"/>
            <a:ext cx="8642465" cy="4873658"/>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None/>
            </a:pPr>
            <a:r>
              <a:rPr b="1" lang="en-US" sz="4000">
                <a:solidFill>
                  <a:schemeClr val="dk1"/>
                </a:solidFill>
                <a:latin typeface="Malgun Gothic"/>
                <a:ea typeface="Malgun Gothic"/>
                <a:cs typeface="Malgun Gothic"/>
                <a:sym typeface="Malgun Gothic"/>
              </a:rPr>
              <a:t> </a:t>
            </a:r>
            <a:r>
              <a:rPr b="1" lang="en-US" sz="3200">
                <a:solidFill>
                  <a:schemeClr val="dk1"/>
                </a:solidFill>
                <a:latin typeface="Malgun Gothic"/>
                <a:ea typeface="Malgun Gothic"/>
                <a:cs typeface="Malgun Gothic"/>
                <a:sym typeface="Malgun Gothic"/>
              </a:rPr>
              <a:t> </a:t>
            </a:r>
            <a:endParaRPr b="1" sz="4000">
              <a:solidFill>
                <a:schemeClr val="dk1"/>
              </a:solidFill>
              <a:latin typeface="Malgun Gothic"/>
              <a:ea typeface="Malgun Gothic"/>
              <a:cs typeface="Malgun Gothic"/>
              <a:sym typeface="Malgun Gothic"/>
            </a:endParaRPr>
          </a:p>
        </p:txBody>
      </p:sp>
      <p:sp>
        <p:nvSpPr>
          <p:cNvPr id="317" name="Google Shape;317;p25"/>
          <p:cNvSpPr txBox="1"/>
          <p:nvPr/>
        </p:nvSpPr>
        <p:spPr>
          <a:xfrm>
            <a:off x="1936864" y="1679171"/>
            <a:ext cx="7781902" cy="38472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2-7. 공공기관 연동시스템과 온나라문서 시스템간의 몇가지 차이점이 존재한다.</a:t>
            </a:r>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 1) 공공기관에서는 반송에 관련된 기능을 고려하지 않는다.</a:t>
            </a:r>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 2) 공공기관에서는 첨부파일 기능을 이용할때 url 만을 이용하고 xml 내부의 attach_body를 사용하지 않는다. </a:t>
            </a:r>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 3) 2)의 차이로 인해 공공기관 파일 크기는 5MB 이하로 제한되며</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     위 태그를 사용하기 위한 설정값 separate = false 혹은 ‘’ 으로만 처리된다.</a:t>
            </a:r>
            <a:endParaRPr/>
          </a:p>
          <a:p>
            <a:pPr indent="0" lvl="0" marL="0" marR="0" rtl="0" algn="l">
              <a:spcBef>
                <a:spcPts val="0"/>
              </a:spcBef>
              <a:spcAft>
                <a:spcPts val="0"/>
              </a:spcAft>
              <a:buNone/>
            </a:pPr>
            <a:r>
              <a:rPr lang="en-US" sz="1800">
                <a:solidFill>
                  <a:schemeClr val="dk1"/>
                </a:solidFill>
                <a:latin typeface="Malgun Gothic"/>
                <a:ea typeface="Malgun Gothic"/>
                <a:cs typeface="Malgun Gothic"/>
                <a:sym typeface="Malgun Gothic"/>
              </a:rPr>
              <a:t>&lt;body separate="false"&gt;</a:t>
            </a:r>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2-8. 발송에 실패한 문서를 임의로 수정하여 재발송할 경우 send폴더의 xml 내용을 수정 후에 파일 이름의 시간 부분을 수정한 후 sendtemp 폴더로 이동하면 재발송 로직을 거치지 않고 재발송이 가능하다.</a:t>
            </a:r>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600">
                <a:solidFill>
                  <a:schemeClr val="dk1"/>
                </a:solidFill>
                <a:latin typeface="Malgun Gothic"/>
                <a:ea typeface="Malgun Gothic"/>
                <a:cs typeface="Malgun Gothic"/>
                <a:sym typeface="Malgun Gothic"/>
              </a:rPr>
              <a:t>2-9. TBL_ENDRECEIPTPOINTINFO 테이블의 PROCESSYN 컬럼에서 현재 유통 문서의 ACK 상태를 확인 가능하다.</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p:txBody>
      </p:sp>
      <p:sp>
        <p:nvSpPr>
          <p:cNvPr id="318" name="Google Shape;318;p25"/>
          <p:cNvSpPr txBox="1"/>
          <p:nvPr/>
        </p:nvSpPr>
        <p:spPr>
          <a:xfrm>
            <a:off x="1550930" y="790590"/>
            <a:ext cx="91572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algun Gothic"/>
                <a:ea typeface="Malgun Gothic"/>
                <a:cs typeface="Malgun Gothic"/>
                <a:sym typeface="Malgun Gothic"/>
              </a:rPr>
              <a:t>문서유통 운영참고 사항</a:t>
            </a:r>
            <a:endParaRPr b="1" sz="1800">
              <a:solidFill>
                <a:schemeClr val="dk1"/>
              </a:solidFill>
              <a:latin typeface="Malgun Gothic"/>
              <a:ea typeface="Malgun Gothic"/>
              <a:cs typeface="Malgun Gothic"/>
              <a:sym typeface="Malgun Gothic"/>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id="323" name="Google Shape;323;p26"/>
          <p:cNvPicPr preferRelativeResize="0"/>
          <p:nvPr/>
        </p:nvPicPr>
        <p:blipFill rotWithShape="1">
          <a:blip r:embed="rId3">
            <a:alphaModFix/>
          </a:blip>
          <a:srcRect b="0" l="0" r="0" t="0"/>
          <a:stretch/>
        </p:blipFill>
        <p:spPr>
          <a:xfrm>
            <a:off x="5588842" y="2264249"/>
            <a:ext cx="1063985" cy="954077"/>
          </a:xfrm>
          <a:prstGeom prst="rect">
            <a:avLst/>
          </a:prstGeom>
          <a:noFill/>
          <a:ln>
            <a:noFill/>
          </a:ln>
        </p:spPr>
      </p:pic>
      <p:sp>
        <p:nvSpPr>
          <p:cNvPr id="324" name="Google Shape;324;p26"/>
          <p:cNvSpPr/>
          <p:nvPr/>
        </p:nvSpPr>
        <p:spPr>
          <a:xfrm rot="2473335">
            <a:off x="2156679" y="3708762"/>
            <a:ext cx="478972" cy="418011"/>
          </a:xfrm>
          <a:prstGeom prst="rightArrow">
            <a:avLst>
              <a:gd fmla="val 50000" name="adj1"/>
              <a:gd fmla="val 50000" name="adj2"/>
            </a:avLst>
          </a:prstGeom>
          <a:solidFill>
            <a:srgbClr val="92D05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325" name="Google Shape;325;p26"/>
          <p:cNvPicPr preferRelativeResize="0"/>
          <p:nvPr/>
        </p:nvPicPr>
        <p:blipFill rotWithShape="1">
          <a:blip r:embed="rId4">
            <a:alphaModFix/>
          </a:blip>
          <a:srcRect b="0" l="0" r="0" t="0"/>
          <a:stretch/>
        </p:blipFill>
        <p:spPr>
          <a:xfrm>
            <a:off x="1027689" y="3062484"/>
            <a:ext cx="818334" cy="779366"/>
          </a:xfrm>
          <a:prstGeom prst="rect">
            <a:avLst/>
          </a:prstGeom>
          <a:noFill/>
          <a:ln>
            <a:noFill/>
          </a:ln>
        </p:spPr>
      </p:pic>
      <p:sp>
        <p:nvSpPr>
          <p:cNvPr id="326" name="Google Shape;326;p26"/>
          <p:cNvSpPr/>
          <p:nvPr/>
        </p:nvSpPr>
        <p:spPr>
          <a:xfrm>
            <a:off x="65985" y="3827881"/>
            <a:ext cx="2640466" cy="13619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FF0000"/>
                </a:solidFill>
                <a:latin typeface="Malgun Gothic"/>
                <a:ea typeface="Malgun Gothic"/>
                <a:cs typeface="Malgun Gothic"/>
                <a:sym typeface="Malgun Gothic"/>
              </a:rPr>
              <a:t>receivetemp </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 파일명 형식 : </a:t>
            </a:r>
            <a:endParaRPr/>
          </a:p>
          <a:p>
            <a:pPr indent="0" lvl="0" marL="0" marR="0" rtl="0" algn="l">
              <a:spcBef>
                <a:spcPts val="0"/>
              </a:spcBef>
              <a:spcAft>
                <a:spcPts val="0"/>
              </a:spcAft>
              <a:buNone/>
            </a:pPr>
            <a:r>
              <a:rPr lang="en-US" sz="1050">
                <a:solidFill>
                  <a:schemeClr val="dk1"/>
                </a:solidFill>
                <a:latin typeface="Malgun Gothic"/>
                <a:ea typeface="Malgun Gothic"/>
                <a:cs typeface="Malgun Gothic"/>
                <a:sym typeface="Malgun Gothic"/>
              </a:rPr>
              <a:t>1013050S9070002021011513410199.xml</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1013050 : 송신처 코드</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S907000 : 수신처 코드</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20210115134101 : 시간</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99 : 임의의 수</a:t>
            </a:r>
            <a:endParaRPr/>
          </a:p>
        </p:txBody>
      </p:sp>
      <p:sp>
        <p:nvSpPr>
          <p:cNvPr id="327" name="Google Shape;327;p26"/>
          <p:cNvSpPr/>
          <p:nvPr/>
        </p:nvSpPr>
        <p:spPr>
          <a:xfrm>
            <a:off x="181927" y="1790698"/>
            <a:ext cx="11628384" cy="378873"/>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Malgun Gothic"/>
                <a:ea typeface="Malgun Gothic"/>
                <a:cs typeface="Malgun Gothic"/>
                <a:sym typeface="Malgun Gothic"/>
              </a:rPr>
              <a:t>유통센터</a:t>
            </a:r>
            <a:endParaRPr/>
          </a:p>
        </p:txBody>
      </p:sp>
      <p:sp>
        <p:nvSpPr>
          <p:cNvPr id="328" name="Google Shape;328;p26"/>
          <p:cNvSpPr/>
          <p:nvPr/>
        </p:nvSpPr>
        <p:spPr>
          <a:xfrm rot="5400000">
            <a:off x="801333" y="2413453"/>
            <a:ext cx="707599" cy="418011"/>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329" name="Google Shape;329;p26"/>
          <p:cNvSpPr/>
          <p:nvPr/>
        </p:nvSpPr>
        <p:spPr>
          <a:xfrm>
            <a:off x="9378089" y="4109539"/>
            <a:ext cx="2640466" cy="19159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FF0000"/>
                </a:solidFill>
                <a:latin typeface="Malgun Gothic"/>
                <a:ea typeface="Malgun Gothic"/>
                <a:cs typeface="Malgun Gothic"/>
                <a:sym typeface="Malgun Gothic"/>
              </a:rPr>
              <a:t>sendtemp -&gt; send</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ACK code 전송용 xml 파일 생성/</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송신 문서 전송</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 파일명 형식 : </a:t>
            </a:r>
            <a:endParaRPr/>
          </a:p>
          <a:p>
            <a:pPr indent="0" lvl="0" marL="0" marR="0" rtl="0" algn="l">
              <a:spcBef>
                <a:spcPts val="0"/>
              </a:spcBef>
              <a:spcAft>
                <a:spcPts val="0"/>
              </a:spcAft>
              <a:buNone/>
            </a:pPr>
            <a:r>
              <a:rPr lang="en-US" sz="1050">
                <a:solidFill>
                  <a:schemeClr val="dk1"/>
                </a:solidFill>
                <a:latin typeface="Malgun Gothic"/>
                <a:ea typeface="Malgun Gothic"/>
                <a:cs typeface="Malgun Gothic"/>
                <a:sym typeface="Malgun Gothic"/>
              </a:rPr>
              <a:t>1013050S9070002021011513410199.xml</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1013050 : 송신처 코드</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S907000 : 수신처 코드</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20210115134101 : 시간</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99 : 임의의 수</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&lt;doc-type&gt; type = ACK code 전송</a:t>
            </a:r>
            <a:endParaRPr sz="1000">
              <a:solidFill>
                <a:schemeClr val="dk1"/>
              </a:solidFill>
              <a:latin typeface="Malgun Gothic"/>
              <a:ea typeface="Malgun Gothic"/>
              <a:cs typeface="Malgun Gothic"/>
              <a:sym typeface="Malgun Gothic"/>
            </a:endParaRPr>
          </a:p>
        </p:txBody>
      </p:sp>
      <p:sp>
        <p:nvSpPr>
          <p:cNvPr id="330" name="Google Shape;330;p26"/>
          <p:cNvSpPr/>
          <p:nvPr/>
        </p:nvSpPr>
        <p:spPr>
          <a:xfrm>
            <a:off x="181926" y="559070"/>
            <a:ext cx="11628384" cy="367388"/>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Malgun Gothic"/>
                <a:ea typeface="Malgun Gothic"/>
                <a:cs typeface="Malgun Gothic"/>
                <a:sym typeface="Malgun Gothic"/>
              </a:rPr>
              <a:t>송/수신처</a:t>
            </a:r>
            <a:endParaRPr/>
          </a:p>
        </p:txBody>
      </p:sp>
      <p:sp>
        <p:nvSpPr>
          <p:cNvPr id="331" name="Google Shape;331;p26"/>
          <p:cNvSpPr/>
          <p:nvPr/>
        </p:nvSpPr>
        <p:spPr>
          <a:xfrm>
            <a:off x="0" y="5109805"/>
            <a:ext cx="2969083"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0000"/>
                </a:solidFill>
                <a:latin typeface="Malgun Gothic"/>
                <a:ea typeface="Malgun Gothic"/>
                <a:cs typeface="Malgun Gothic"/>
                <a:sym typeface="Malgun Gothic"/>
              </a:rPr>
              <a:t>ACK code : </a:t>
            </a:r>
            <a:r>
              <a:rPr lang="en-US" sz="1050">
                <a:solidFill>
                  <a:schemeClr val="dk1"/>
                </a:solidFill>
                <a:latin typeface="Malgun Gothic"/>
                <a:ea typeface="Malgun Gothic"/>
                <a:cs typeface="Malgun Gothic"/>
                <a:sym typeface="Malgun Gothic"/>
              </a:rPr>
              <a:t>TBL_ENDRECEIPTPOINTINFO</a:t>
            </a:r>
            <a:endParaRPr/>
          </a:p>
          <a:p>
            <a:pPr indent="0" lvl="0" marL="0" marR="0" rtl="0" algn="l">
              <a:spcBef>
                <a:spcPts val="0"/>
              </a:spcBef>
              <a:spcAft>
                <a:spcPts val="0"/>
              </a:spcAft>
              <a:buNone/>
            </a:pPr>
            <a:r>
              <a:rPr lang="en-US" sz="1050">
                <a:solidFill>
                  <a:schemeClr val="dk1"/>
                </a:solidFill>
                <a:latin typeface="Malgun Gothic"/>
                <a:ea typeface="Malgun Gothic"/>
                <a:cs typeface="Malgun Gothic"/>
                <a:sym typeface="Malgun Gothic"/>
              </a:rPr>
              <a:t>“send” : “S” 전송                       </a:t>
            </a:r>
            <a:endParaRPr/>
          </a:p>
          <a:p>
            <a:pPr indent="0" lvl="0" marL="0" marR="0" rtl="0" algn="l">
              <a:spcBef>
                <a:spcPts val="0"/>
              </a:spcBef>
              <a:spcAft>
                <a:spcPts val="0"/>
              </a:spcAft>
              <a:buNone/>
            </a:pPr>
            <a:r>
              <a:rPr lang="en-US" sz="1050">
                <a:solidFill>
                  <a:schemeClr val="dk1"/>
                </a:solidFill>
                <a:latin typeface="Malgun Gothic"/>
                <a:ea typeface="Malgun Gothic"/>
                <a:cs typeface="Malgun Gothic"/>
                <a:sym typeface="Malgun Gothic"/>
              </a:rPr>
              <a:t>“resend” : “S” 재전송                    </a:t>
            </a:r>
            <a:endParaRPr/>
          </a:p>
          <a:p>
            <a:pPr indent="0" lvl="0" marL="0" marR="0" rtl="0" algn="l">
              <a:spcBef>
                <a:spcPts val="0"/>
              </a:spcBef>
              <a:spcAft>
                <a:spcPts val="0"/>
              </a:spcAft>
              <a:buNone/>
            </a:pPr>
            <a:r>
              <a:rPr lang="en-US" sz="1050">
                <a:solidFill>
                  <a:schemeClr val="dk1"/>
                </a:solidFill>
                <a:latin typeface="Malgun Gothic"/>
                <a:ea typeface="Malgun Gothic"/>
                <a:cs typeface="Malgun Gothic"/>
                <a:sym typeface="Malgun Gothic"/>
              </a:rPr>
              <a:t>“fail” : “E” 실패                       </a:t>
            </a:r>
            <a:endParaRPr/>
          </a:p>
          <a:p>
            <a:pPr indent="0" lvl="0" marL="0" marR="0" rtl="0" algn="l">
              <a:spcBef>
                <a:spcPts val="0"/>
              </a:spcBef>
              <a:spcAft>
                <a:spcPts val="0"/>
              </a:spcAft>
              <a:buNone/>
            </a:pPr>
            <a:r>
              <a:rPr lang="en-US" sz="1050">
                <a:solidFill>
                  <a:schemeClr val="dk1"/>
                </a:solidFill>
                <a:latin typeface="Malgun Gothic"/>
                <a:ea typeface="Malgun Gothic"/>
                <a:cs typeface="Malgun Gothic"/>
                <a:sym typeface="Malgun Gothic"/>
              </a:rPr>
              <a:t>”arrive” : “V” 도달 : temp에 xml 저장 후    </a:t>
            </a:r>
            <a:endParaRPr/>
          </a:p>
          <a:p>
            <a:pPr indent="0" lvl="0" marL="0" marR="0" rtl="0" algn="l">
              <a:spcBef>
                <a:spcPts val="0"/>
              </a:spcBef>
              <a:spcAft>
                <a:spcPts val="0"/>
              </a:spcAft>
              <a:buNone/>
            </a:pPr>
            <a:r>
              <a:rPr lang="en-US" sz="1050">
                <a:solidFill>
                  <a:schemeClr val="dk1"/>
                </a:solidFill>
                <a:latin typeface="Malgun Gothic"/>
                <a:ea typeface="Malgun Gothic"/>
                <a:cs typeface="Malgun Gothic"/>
                <a:sym typeface="Malgun Gothic"/>
              </a:rPr>
              <a:t>”receive” : “R” 수신 : temp - &gt; receive </a:t>
            </a:r>
            <a:endParaRPr/>
          </a:p>
          <a:p>
            <a:pPr indent="0" lvl="0" marL="0" marR="0" rtl="0" algn="l">
              <a:spcBef>
                <a:spcPts val="0"/>
              </a:spcBef>
              <a:spcAft>
                <a:spcPts val="0"/>
              </a:spcAft>
              <a:buNone/>
            </a:pPr>
            <a:r>
              <a:rPr lang="en-US" sz="1050">
                <a:solidFill>
                  <a:schemeClr val="dk1"/>
                </a:solidFill>
                <a:latin typeface="Malgun Gothic"/>
                <a:ea typeface="Malgun Gothic"/>
                <a:cs typeface="Malgun Gothic"/>
                <a:sym typeface="Malgun Gothic"/>
              </a:rPr>
              <a:t>“accept” : “I” 접수 : 문서확인 후            </a:t>
            </a:r>
            <a:endParaRPr/>
          </a:p>
          <a:p>
            <a:pPr indent="0" lvl="0" marL="0" marR="0" rtl="0" algn="l">
              <a:spcBef>
                <a:spcPts val="0"/>
              </a:spcBef>
              <a:spcAft>
                <a:spcPts val="0"/>
              </a:spcAft>
              <a:buNone/>
            </a:pPr>
            <a:r>
              <a:rPr lang="en-US" sz="1050">
                <a:solidFill>
                  <a:schemeClr val="dk1"/>
                </a:solidFill>
                <a:latin typeface="Malgun Gothic"/>
                <a:ea typeface="Malgun Gothic"/>
                <a:cs typeface="Malgun Gothic"/>
                <a:sym typeface="Malgun Gothic"/>
              </a:rPr>
              <a:t>“req-resend“,”return” : “T” 재발송 요청 / 반송</a:t>
            </a:r>
            <a:endParaRPr sz="1050">
              <a:solidFill>
                <a:schemeClr val="dk1"/>
              </a:solidFill>
              <a:latin typeface="Malgun Gothic"/>
              <a:ea typeface="Malgun Gothic"/>
              <a:cs typeface="Malgun Gothic"/>
              <a:sym typeface="Malgun Gothic"/>
            </a:endParaRPr>
          </a:p>
        </p:txBody>
      </p:sp>
      <p:sp>
        <p:nvSpPr>
          <p:cNvPr id="332" name="Google Shape;332;p26"/>
          <p:cNvSpPr/>
          <p:nvPr/>
        </p:nvSpPr>
        <p:spPr>
          <a:xfrm rot="-2554432">
            <a:off x="9030751" y="3687684"/>
            <a:ext cx="478972" cy="418011"/>
          </a:xfrm>
          <a:prstGeom prst="rightArrow">
            <a:avLst>
              <a:gd fmla="val 50000" name="adj1"/>
              <a:gd fmla="val 50000" name="adj2"/>
            </a:avLst>
          </a:prstGeom>
          <a:solidFill>
            <a:srgbClr val="92D05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333" name="Google Shape;333;p26"/>
          <p:cNvPicPr preferRelativeResize="0"/>
          <p:nvPr/>
        </p:nvPicPr>
        <p:blipFill rotWithShape="1">
          <a:blip r:embed="rId4">
            <a:alphaModFix/>
          </a:blip>
          <a:srcRect b="0" l="0" r="0" t="0"/>
          <a:stretch/>
        </p:blipFill>
        <p:spPr>
          <a:xfrm>
            <a:off x="10109290" y="3062484"/>
            <a:ext cx="818334" cy="779366"/>
          </a:xfrm>
          <a:prstGeom prst="rect">
            <a:avLst/>
          </a:prstGeom>
          <a:noFill/>
          <a:ln>
            <a:noFill/>
          </a:ln>
        </p:spPr>
      </p:pic>
      <p:sp>
        <p:nvSpPr>
          <p:cNvPr id="334" name="Google Shape;334;p26"/>
          <p:cNvSpPr/>
          <p:nvPr/>
        </p:nvSpPr>
        <p:spPr>
          <a:xfrm rot="10800000">
            <a:off x="1471748" y="2264250"/>
            <a:ext cx="418012" cy="712006"/>
          </a:xfrm>
          <a:prstGeom prst="down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335" name="Google Shape;335;p26"/>
          <p:cNvSpPr/>
          <p:nvPr/>
        </p:nvSpPr>
        <p:spPr>
          <a:xfrm>
            <a:off x="1889760" y="2570901"/>
            <a:ext cx="63395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Malgun Gothic"/>
                <a:ea typeface="Malgun Gothic"/>
                <a:cs typeface="Malgun Gothic"/>
                <a:sym typeface="Malgun Gothic"/>
              </a:rPr>
              <a:t>arrive</a:t>
            </a:r>
            <a:endParaRPr sz="1400">
              <a:solidFill>
                <a:schemeClr val="dk1"/>
              </a:solidFill>
              <a:latin typeface="Malgun Gothic"/>
              <a:ea typeface="Malgun Gothic"/>
              <a:cs typeface="Malgun Gothic"/>
              <a:sym typeface="Malgun Gothic"/>
            </a:endParaRPr>
          </a:p>
        </p:txBody>
      </p:sp>
      <p:grpSp>
        <p:nvGrpSpPr>
          <p:cNvPr id="336" name="Google Shape;336;p26"/>
          <p:cNvGrpSpPr/>
          <p:nvPr/>
        </p:nvGrpSpPr>
        <p:grpSpPr>
          <a:xfrm>
            <a:off x="2865942" y="4486428"/>
            <a:ext cx="6456657" cy="2195901"/>
            <a:chOff x="2849271" y="2939313"/>
            <a:chExt cx="6456657" cy="2195901"/>
          </a:xfrm>
        </p:grpSpPr>
        <p:pic>
          <p:nvPicPr>
            <p:cNvPr id="337" name="Google Shape;337;p26"/>
            <p:cNvPicPr preferRelativeResize="0"/>
            <p:nvPr/>
          </p:nvPicPr>
          <p:blipFill rotWithShape="1">
            <a:blip r:embed="rId5">
              <a:alphaModFix/>
            </a:blip>
            <a:srcRect b="0" l="0" r="0" t="0"/>
            <a:stretch/>
          </p:blipFill>
          <p:spPr>
            <a:xfrm>
              <a:off x="4745082" y="3033055"/>
              <a:ext cx="838200" cy="895350"/>
            </a:xfrm>
            <a:prstGeom prst="rect">
              <a:avLst/>
            </a:prstGeom>
            <a:noFill/>
            <a:ln>
              <a:noFill/>
            </a:ln>
          </p:spPr>
        </p:pic>
        <p:pic>
          <p:nvPicPr>
            <p:cNvPr id="338" name="Google Shape;338;p26"/>
            <p:cNvPicPr preferRelativeResize="0"/>
            <p:nvPr/>
          </p:nvPicPr>
          <p:blipFill rotWithShape="1">
            <a:blip r:embed="rId4">
              <a:alphaModFix/>
            </a:blip>
            <a:srcRect b="0" l="0" r="0" t="0"/>
            <a:stretch/>
          </p:blipFill>
          <p:spPr>
            <a:xfrm>
              <a:off x="3007902" y="3091047"/>
              <a:ext cx="818334" cy="779366"/>
            </a:xfrm>
            <a:prstGeom prst="rect">
              <a:avLst/>
            </a:prstGeom>
            <a:noFill/>
            <a:ln>
              <a:noFill/>
            </a:ln>
          </p:spPr>
        </p:pic>
        <p:sp>
          <p:nvSpPr>
            <p:cNvPr id="339" name="Google Shape;339;p26"/>
            <p:cNvSpPr/>
            <p:nvPr/>
          </p:nvSpPr>
          <p:spPr>
            <a:xfrm>
              <a:off x="3015120" y="3870413"/>
              <a:ext cx="108561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FF0000"/>
                  </a:solidFill>
                  <a:latin typeface="Malgun Gothic"/>
                  <a:ea typeface="Malgun Gothic"/>
                  <a:cs typeface="Malgun Gothic"/>
                  <a:sym typeface="Malgun Gothic"/>
                </a:rPr>
                <a:t>receiveComp</a:t>
              </a:r>
              <a:endParaRPr sz="1200">
                <a:solidFill>
                  <a:srgbClr val="FF0000"/>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rgbClr val="FF0000"/>
                  </a:solidFill>
                  <a:latin typeface="Malgun Gothic"/>
                  <a:ea typeface="Malgun Gothic"/>
                  <a:cs typeface="Malgun Gothic"/>
                  <a:sym typeface="Malgun Gothic"/>
                </a:rPr>
                <a:t>receive</a:t>
              </a:r>
              <a:endParaRPr/>
            </a:p>
          </p:txBody>
        </p:sp>
        <p:sp>
          <p:nvSpPr>
            <p:cNvPr id="340" name="Google Shape;340;p26"/>
            <p:cNvSpPr/>
            <p:nvPr/>
          </p:nvSpPr>
          <p:spPr>
            <a:xfrm>
              <a:off x="4094890" y="3203436"/>
              <a:ext cx="478972" cy="418011"/>
            </a:xfrm>
            <a:prstGeom prst="rightArrow">
              <a:avLst>
                <a:gd fmla="val 50000" name="adj1"/>
                <a:gd fmla="val 50000" name="adj2"/>
              </a:avLst>
            </a:prstGeom>
            <a:solidFill>
              <a:srgbClr val="92D05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341" name="Google Shape;341;p26"/>
            <p:cNvSpPr/>
            <p:nvPr/>
          </p:nvSpPr>
          <p:spPr>
            <a:xfrm>
              <a:off x="4445501" y="3870413"/>
              <a:ext cx="155061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FF0000"/>
                  </a:solidFill>
                  <a:latin typeface="Malgun Gothic"/>
                  <a:ea typeface="Malgun Gothic"/>
                  <a:cs typeface="Malgun Gothic"/>
                  <a:sym typeface="Malgun Gothic"/>
                </a:rPr>
                <a:t>TBL_RECRELAYINFO</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TBL_APRDOCINFO</a:t>
              </a:r>
              <a:endParaRPr/>
            </a:p>
            <a:p>
              <a:pPr indent="0" lvl="0" marL="0" marR="0" rtl="0" algn="l">
                <a:spcBef>
                  <a:spcPts val="0"/>
                </a:spcBef>
                <a:spcAft>
                  <a:spcPts val="0"/>
                </a:spcAft>
                <a:buNone/>
              </a:pPr>
              <a:r>
                <a:rPr lang="en-US" sz="1200">
                  <a:solidFill>
                    <a:srgbClr val="FF0000"/>
                  </a:solidFill>
                  <a:latin typeface="Malgun Gothic"/>
                  <a:ea typeface="Malgun Gothic"/>
                  <a:cs typeface="Malgun Gothic"/>
                  <a:sym typeface="Malgun Gothic"/>
                </a:rPr>
                <a:t>(HREF = ‘’)</a:t>
              </a:r>
              <a:endParaRPr/>
            </a:p>
          </p:txBody>
        </p:sp>
        <p:sp>
          <p:nvSpPr>
            <p:cNvPr id="342" name="Google Shape;342;p26"/>
            <p:cNvSpPr/>
            <p:nvPr/>
          </p:nvSpPr>
          <p:spPr>
            <a:xfrm>
              <a:off x="5996118" y="3876774"/>
              <a:ext cx="330981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FF0000"/>
                  </a:solidFill>
                  <a:latin typeface="Malgun Gothic"/>
                  <a:ea typeface="Malgun Gothic"/>
                  <a:cs typeface="Malgun Gothic"/>
                  <a:sym typeface="Malgun Gothic"/>
                </a:rPr>
                <a:t>upload_approvalG\회사코드\ExDocXML</a:t>
              </a:r>
              <a:endParaRPr sz="1200">
                <a:solidFill>
                  <a:srgbClr val="FF0000"/>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파일명 : </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TBL_RECRELAYINFO</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xDocID.replace("/", "_").replace("#", "_")</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 received(수신부서) + ".xml");</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00000000000000001257boh.xml</a:t>
              </a:r>
              <a:endParaRPr/>
            </a:p>
          </p:txBody>
        </p:sp>
        <p:pic>
          <p:nvPicPr>
            <p:cNvPr id="343" name="Google Shape;343;p26"/>
            <p:cNvPicPr preferRelativeResize="0"/>
            <p:nvPr/>
          </p:nvPicPr>
          <p:blipFill rotWithShape="1">
            <a:blip r:embed="rId4">
              <a:alphaModFix/>
            </a:blip>
            <a:srcRect b="0" l="0" r="0" t="0"/>
            <a:stretch/>
          </p:blipFill>
          <p:spPr>
            <a:xfrm>
              <a:off x="6566220" y="3091047"/>
              <a:ext cx="818334" cy="779366"/>
            </a:xfrm>
            <a:prstGeom prst="rect">
              <a:avLst/>
            </a:prstGeom>
            <a:noFill/>
            <a:ln>
              <a:noFill/>
            </a:ln>
          </p:spPr>
        </p:pic>
        <p:sp>
          <p:nvSpPr>
            <p:cNvPr id="344" name="Google Shape;344;p26"/>
            <p:cNvSpPr/>
            <p:nvPr/>
          </p:nvSpPr>
          <p:spPr>
            <a:xfrm>
              <a:off x="5774780" y="3203436"/>
              <a:ext cx="478972" cy="418011"/>
            </a:xfrm>
            <a:prstGeom prst="rightArrow">
              <a:avLst>
                <a:gd fmla="val 50000" name="adj1"/>
                <a:gd fmla="val 50000" name="adj2"/>
              </a:avLst>
            </a:prstGeom>
            <a:solidFill>
              <a:srgbClr val="92D05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345" name="Google Shape;345;p26"/>
            <p:cNvSpPr/>
            <p:nvPr/>
          </p:nvSpPr>
          <p:spPr>
            <a:xfrm>
              <a:off x="2849271" y="2939313"/>
              <a:ext cx="6184055" cy="2195901"/>
            </a:xfrm>
            <a:prstGeom prst="rect">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346" name="Google Shape;346;p26"/>
          <p:cNvSpPr/>
          <p:nvPr/>
        </p:nvSpPr>
        <p:spPr>
          <a:xfrm rot="10800000">
            <a:off x="3123399" y="2264249"/>
            <a:ext cx="418012" cy="1781685"/>
          </a:xfrm>
          <a:prstGeom prst="down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347" name="Google Shape;347;p26"/>
          <p:cNvSpPr/>
          <p:nvPr/>
        </p:nvSpPr>
        <p:spPr>
          <a:xfrm>
            <a:off x="3613143" y="2769106"/>
            <a:ext cx="75161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Malgun Gothic"/>
                <a:ea typeface="Malgun Gothic"/>
                <a:cs typeface="Malgun Gothic"/>
                <a:sym typeface="Malgun Gothic"/>
              </a:rPr>
              <a:t>receive</a:t>
            </a:r>
            <a:endParaRPr sz="1400">
              <a:solidFill>
                <a:schemeClr val="dk1"/>
              </a:solidFill>
              <a:latin typeface="Malgun Gothic"/>
              <a:ea typeface="Malgun Gothic"/>
              <a:cs typeface="Malgun Gothic"/>
              <a:sym typeface="Malgun Gothic"/>
            </a:endParaRPr>
          </a:p>
        </p:txBody>
      </p:sp>
      <p:sp>
        <p:nvSpPr>
          <p:cNvPr id="348" name="Google Shape;348;p26"/>
          <p:cNvSpPr/>
          <p:nvPr/>
        </p:nvSpPr>
        <p:spPr>
          <a:xfrm rot="10800000">
            <a:off x="10286362" y="2225296"/>
            <a:ext cx="418012" cy="740789"/>
          </a:xfrm>
          <a:prstGeom prst="down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349" name="Google Shape;349;p26"/>
          <p:cNvSpPr/>
          <p:nvPr/>
        </p:nvSpPr>
        <p:spPr>
          <a:xfrm>
            <a:off x="10704374" y="2560730"/>
            <a:ext cx="103265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Malgun Gothic"/>
                <a:ea typeface="Malgun Gothic"/>
                <a:cs typeface="Malgun Gothic"/>
                <a:sym typeface="Malgun Gothic"/>
              </a:rPr>
              <a:t>XML, send</a:t>
            </a:r>
            <a:endParaRPr sz="1400">
              <a:solidFill>
                <a:schemeClr val="dk1"/>
              </a:solidFill>
              <a:latin typeface="Malgun Gothic"/>
              <a:ea typeface="Malgun Gothic"/>
              <a:cs typeface="Malgun Gothic"/>
              <a:sym typeface="Malgun Gothic"/>
            </a:endParaRPr>
          </a:p>
        </p:txBody>
      </p:sp>
      <p:sp>
        <p:nvSpPr>
          <p:cNvPr id="350" name="Google Shape;350;p26"/>
          <p:cNvSpPr/>
          <p:nvPr/>
        </p:nvSpPr>
        <p:spPr>
          <a:xfrm>
            <a:off x="80930" y="2551036"/>
            <a:ext cx="54373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Malgun Gothic"/>
                <a:ea typeface="Malgun Gothic"/>
                <a:cs typeface="Malgun Gothic"/>
                <a:sym typeface="Malgun Gothic"/>
              </a:rPr>
              <a:t>XML</a:t>
            </a:r>
            <a:endParaRPr sz="1400">
              <a:solidFill>
                <a:schemeClr val="dk1"/>
              </a:solidFill>
              <a:latin typeface="Malgun Gothic"/>
              <a:ea typeface="Malgun Gothic"/>
              <a:cs typeface="Malgun Gothic"/>
              <a:sym typeface="Malgun Gothic"/>
            </a:endParaRPr>
          </a:p>
        </p:txBody>
      </p:sp>
      <p:sp>
        <p:nvSpPr>
          <p:cNvPr id="351" name="Google Shape;351;p26"/>
          <p:cNvSpPr/>
          <p:nvPr/>
        </p:nvSpPr>
        <p:spPr>
          <a:xfrm rot="-5400000">
            <a:off x="6622347" y="4002596"/>
            <a:ext cx="478972" cy="418011"/>
          </a:xfrm>
          <a:prstGeom prst="rightArrow">
            <a:avLst>
              <a:gd fmla="val 50000" name="adj1"/>
              <a:gd fmla="val 50000" name="adj2"/>
            </a:avLst>
          </a:prstGeom>
          <a:solidFill>
            <a:srgbClr val="92D05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352" name="Google Shape;352;p26"/>
          <p:cNvSpPr/>
          <p:nvPr/>
        </p:nvSpPr>
        <p:spPr>
          <a:xfrm rot="5400000">
            <a:off x="1022814" y="1257238"/>
            <a:ext cx="478972" cy="418011"/>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353" name="Google Shape;353;p26"/>
          <p:cNvSpPr/>
          <p:nvPr/>
        </p:nvSpPr>
        <p:spPr>
          <a:xfrm>
            <a:off x="148879" y="1239681"/>
            <a:ext cx="103265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Malgun Gothic"/>
                <a:ea typeface="Malgun Gothic"/>
                <a:cs typeface="Malgun Gothic"/>
                <a:sym typeface="Malgun Gothic"/>
              </a:rPr>
              <a:t>XML, send</a:t>
            </a:r>
            <a:endParaRPr sz="1800">
              <a:solidFill>
                <a:schemeClr val="dk1"/>
              </a:solidFill>
              <a:latin typeface="Malgun Gothic"/>
              <a:ea typeface="Malgun Gothic"/>
              <a:cs typeface="Malgun Gothic"/>
              <a:sym typeface="Malgun Gothic"/>
            </a:endParaRPr>
          </a:p>
        </p:txBody>
      </p:sp>
      <p:sp>
        <p:nvSpPr>
          <p:cNvPr id="354" name="Google Shape;354;p26"/>
          <p:cNvSpPr/>
          <p:nvPr/>
        </p:nvSpPr>
        <p:spPr>
          <a:xfrm rot="10800000">
            <a:off x="1539697" y="1196256"/>
            <a:ext cx="418012" cy="478973"/>
          </a:xfrm>
          <a:prstGeom prst="down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355" name="Google Shape;355;p26"/>
          <p:cNvSpPr/>
          <p:nvPr/>
        </p:nvSpPr>
        <p:spPr>
          <a:xfrm>
            <a:off x="1957709" y="1269872"/>
            <a:ext cx="63395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Malgun Gothic"/>
                <a:ea typeface="Malgun Gothic"/>
                <a:cs typeface="Malgun Gothic"/>
                <a:sym typeface="Malgun Gothic"/>
              </a:rPr>
              <a:t>arrive</a:t>
            </a:r>
            <a:endParaRPr sz="1400">
              <a:solidFill>
                <a:schemeClr val="dk1"/>
              </a:solidFill>
              <a:latin typeface="Malgun Gothic"/>
              <a:ea typeface="Malgun Gothic"/>
              <a:cs typeface="Malgun Gothic"/>
              <a:sym typeface="Malgun Gothic"/>
            </a:endParaRPr>
          </a:p>
        </p:txBody>
      </p:sp>
      <p:sp>
        <p:nvSpPr>
          <p:cNvPr id="356" name="Google Shape;356;p26"/>
          <p:cNvSpPr/>
          <p:nvPr/>
        </p:nvSpPr>
        <p:spPr>
          <a:xfrm rot="10800000">
            <a:off x="3123398" y="1041084"/>
            <a:ext cx="418012" cy="642651"/>
          </a:xfrm>
          <a:prstGeom prst="down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357" name="Google Shape;357;p26"/>
          <p:cNvSpPr/>
          <p:nvPr/>
        </p:nvSpPr>
        <p:spPr>
          <a:xfrm>
            <a:off x="3540329" y="1059802"/>
            <a:ext cx="75161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Malgun Gothic"/>
                <a:ea typeface="Malgun Gothic"/>
                <a:cs typeface="Malgun Gothic"/>
                <a:sym typeface="Malgun Gothic"/>
              </a:rPr>
              <a:t>receive</a:t>
            </a:r>
            <a:endParaRPr sz="1400">
              <a:solidFill>
                <a:schemeClr val="dk1"/>
              </a:solidFill>
              <a:latin typeface="Malgun Gothic"/>
              <a:ea typeface="Malgun Gothic"/>
              <a:cs typeface="Malgun Gothic"/>
              <a:sym typeface="Malgun Gothic"/>
            </a:endParaRPr>
          </a:p>
        </p:txBody>
      </p:sp>
      <p:sp>
        <p:nvSpPr>
          <p:cNvPr id="358" name="Google Shape;358;p26"/>
          <p:cNvSpPr/>
          <p:nvPr/>
        </p:nvSpPr>
        <p:spPr>
          <a:xfrm rot="10800000">
            <a:off x="10263913" y="1062770"/>
            <a:ext cx="418012" cy="478973"/>
          </a:xfrm>
          <a:prstGeom prst="down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359" name="Google Shape;359;p26"/>
          <p:cNvSpPr/>
          <p:nvPr/>
        </p:nvSpPr>
        <p:spPr>
          <a:xfrm>
            <a:off x="10681925" y="1136386"/>
            <a:ext cx="54373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Malgun Gothic"/>
                <a:ea typeface="Malgun Gothic"/>
                <a:cs typeface="Malgun Gothic"/>
                <a:sym typeface="Malgun Gothic"/>
              </a:rPr>
              <a:t>XML</a:t>
            </a:r>
            <a:endParaRPr sz="1400">
              <a:solidFill>
                <a:schemeClr val="dk1"/>
              </a:solidFill>
              <a:latin typeface="Malgun Gothic"/>
              <a:ea typeface="Malgun Gothic"/>
              <a:cs typeface="Malgun Gothic"/>
              <a:sym typeface="Malgun Gothic"/>
            </a:endParaRPr>
          </a:p>
        </p:txBody>
      </p:sp>
      <p:sp>
        <p:nvSpPr>
          <p:cNvPr id="360" name="Google Shape;360;p26"/>
          <p:cNvSpPr/>
          <p:nvPr/>
        </p:nvSpPr>
        <p:spPr>
          <a:xfrm>
            <a:off x="5455197" y="3179600"/>
            <a:ext cx="382671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TBL_APRDOCINFO </a:t>
            </a:r>
            <a:r>
              <a:rPr lang="en-US" sz="1200">
                <a:solidFill>
                  <a:srgbClr val="FF0000"/>
                </a:solidFill>
                <a:latin typeface="Malgun Gothic"/>
                <a:ea typeface="Malgun Gothic"/>
                <a:cs typeface="Malgun Gothic"/>
                <a:sym typeface="Malgun Gothic"/>
              </a:rPr>
              <a:t>(HREF = ‘’)</a:t>
            </a:r>
            <a:r>
              <a:rPr lang="en-US" sz="1200">
                <a:solidFill>
                  <a:schemeClr val="dk1"/>
                </a:solidFill>
                <a:latin typeface="Malgun Gothic"/>
                <a:ea typeface="Malgun Gothic"/>
                <a:cs typeface="Malgun Gothic"/>
                <a:sym typeface="Malgun Gothic"/>
              </a:rPr>
              <a:t>인 문서를 </a:t>
            </a:r>
            <a:r>
              <a:rPr lang="en-US" sz="1200">
                <a:solidFill>
                  <a:srgbClr val="FF0000"/>
                </a:solidFill>
                <a:latin typeface="Malgun Gothic"/>
                <a:ea typeface="Malgun Gothic"/>
                <a:cs typeface="Malgun Gothic"/>
                <a:sym typeface="Malgun Gothic"/>
              </a:rPr>
              <a:t>처음</a:t>
            </a:r>
            <a:r>
              <a:rPr lang="en-US" sz="1200">
                <a:solidFill>
                  <a:schemeClr val="dk1"/>
                </a:solidFill>
                <a:latin typeface="Malgun Gothic"/>
                <a:ea typeface="Malgun Gothic"/>
                <a:cs typeface="Malgun Gothic"/>
                <a:sym typeface="Malgun Gothic"/>
              </a:rPr>
              <a:t> 열면</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rgbClr val="FF0000"/>
                </a:solidFill>
                <a:latin typeface="Malgun Gothic"/>
                <a:ea typeface="Malgun Gothic"/>
                <a:cs typeface="Malgun Gothic"/>
                <a:sym typeface="Malgun Gothic"/>
              </a:rPr>
              <a:t>TBL_RECRELAYINFO </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upload_approvalG/?/ExDocXML/</a:t>
            </a:r>
            <a:r>
              <a:rPr lang="en-US" sz="1200">
                <a:solidFill>
                  <a:srgbClr val="FF0000"/>
                </a:solidFill>
                <a:latin typeface="Malgun Gothic"/>
                <a:ea typeface="Malgun Gothic"/>
                <a:cs typeface="Malgun Gothic"/>
                <a:sym typeface="Malgun Gothic"/>
              </a:rPr>
              <a:t>xmlURL</a:t>
            </a:r>
            <a:r>
              <a:rPr lang="en-US" sz="1200">
                <a:solidFill>
                  <a:schemeClr val="dk1"/>
                </a:solidFill>
                <a:latin typeface="Malgun Gothic"/>
                <a:ea typeface="Malgun Gothic"/>
                <a:cs typeface="Malgun Gothic"/>
                <a:sym typeface="Malgun Gothic"/>
              </a:rPr>
              <a:t>에서 </a:t>
            </a:r>
            <a:br>
              <a:rPr lang="en-US" sz="1200">
                <a:solidFill>
                  <a:schemeClr val="dk1"/>
                </a:solidFill>
                <a:latin typeface="Malgun Gothic"/>
                <a:ea typeface="Malgun Gothic"/>
                <a:cs typeface="Malgun Gothic"/>
                <a:sym typeface="Malgun Gothic"/>
              </a:rPr>
            </a:br>
            <a:r>
              <a:rPr lang="en-US" sz="1200">
                <a:solidFill>
                  <a:schemeClr val="dk1"/>
                </a:solidFill>
                <a:latin typeface="Malgun Gothic"/>
                <a:ea typeface="Malgun Gothic"/>
                <a:cs typeface="Malgun Gothic"/>
                <a:sym typeface="Malgun Gothic"/>
              </a:rPr>
              <a:t>본문 내용을 불러온 후 HREF에 저장</a:t>
            </a:r>
            <a:endParaRPr sz="1200">
              <a:solidFill>
                <a:srgbClr val="FF0000"/>
              </a:solidFill>
              <a:latin typeface="Malgun Gothic"/>
              <a:ea typeface="Malgun Gothic"/>
              <a:cs typeface="Malgun Gothic"/>
              <a:sym typeface="Malgun Gothic"/>
            </a:endParaRPr>
          </a:p>
        </p:txBody>
      </p:sp>
      <p:sp>
        <p:nvSpPr>
          <p:cNvPr id="361" name="Google Shape;361;p26"/>
          <p:cNvSpPr/>
          <p:nvPr/>
        </p:nvSpPr>
        <p:spPr>
          <a:xfrm rot="10800000">
            <a:off x="7214258" y="2288351"/>
            <a:ext cx="418012" cy="765180"/>
          </a:xfrm>
          <a:prstGeom prst="down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362" name="Google Shape;362;p26"/>
          <p:cNvSpPr/>
          <p:nvPr/>
        </p:nvSpPr>
        <p:spPr>
          <a:xfrm>
            <a:off x="7632270" y="2648174"/>
            <a:ext cx="215796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Malgun Gothic"/>
                <a:ea typeface="Malgun Gothic"/>
                <a:cs typeface="Malgun Gothic"/>
                <a:sym typeface="Malgun Gothic"/>
              </a:rPr>
              <a:t>접수버튼 클릭시 accept</a:t>
            </a:r>
            <a:endParaRPr sz="1400">
              <a:solidFill>
                <a:schemeClr val="dk1"/>
              </a:solidFill>
              <a:latin typeface="Malgun Gothic"/>
              <a:ea typeface="Malgun Gothic"/>
              <a:cs typeface="Malgun Gothic"/>
              <a:sym typeface="Malgun Gothic"/>
            </a:endParaRPr>
          </a:p>
        </p:txBody>
      </p:sp>
      <p:sp>
        <p:nvSpPr>
          <p:cNvPr id="363" name="Google Shape;363;p26"/>
          <p:cNvSpPr/>
          <p:nvPr/>
        </p:nvSpPr>
        <p:spPr>
          <a:xfrm rot="10800000">
            <a:off x="7214258" y="1041084"/>
            <a:ext cx="418012" cy="585347"/>
          </a:xfrm>
          <a:prstGeom prst="down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364" name="Google Shape;364;p26"/>
          <p:cNvSpPr/>
          <p:nvPr/>
        </p:nvSpPr>
        <p:spPr>
          <a:xfrm>
            <a:off x="7661491" y="1052527"/>
            <a:ext cx="71365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Malgun Gothic"/>
                <a:ea typeface="Malgun Gothic"/>
                <a:cs typeface="Malgun Gothic"/>
                <a:sym typeface="Malgun Gothic"/>
              </a:rPr>
              <a:t>accept</a:t>
            </a:r>
            <a:endParaRPr sz="1400">
              <a:solidFill>
                <a:schemeClr val="dk1"/>
              </a:solidFill>
              <a:latin typeface="Malgun Gothic"/>
              <a:ea typeface="Malgun Gothic"/>
              <a:cs typeface="Malgun Gothic"/>
              <a:sym typeface="Malgun Gothic"/>
            </a:endParaRPr>
          </a:p>
        </p:txBody>
      </p:sp>
      <p:sp>
        <p:nvSpPr>
          <p:cNvPr id="365" name="Google Shape;365;p26"/>
          <p:cNvSpPr txBox="1"/>
          <p:nvPr/>
        </p:nvSpPr>
        <p:spPr>
          <a:xfrm>
            <a:off x="148879" y="102800"/>
            <a:ext cx="91572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algun Gothic"/>
                <a:ea typeface="Malgun Gothic"/>
                <a:cs typeface="Malgun Gothic"/>
                <a:sym typeface="Malgun Gothic"/>
              </a:rPr>
              <a:t>문서유통 FLOW 별지</a:t>
            </a:r>
            <a:endParaRPr b="1" sz="1800">
              <a:solidFill>
                <a:schemeClr val="dk1"/>
              </a:solidFill>
              <a:latin typeface="Malgun Gothic"/>
              <a:ea typeface="Malgun Gothic"/>
              <a:cs typeface="Malgun Gothic"/>
              <a:sym typeface="Malgun Gothic"/>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7"/>
          <p:cNvSpPr/>
          <p:nvPr/>
        </p:nvSpPr>
        <p:spPr>
          <a:xfrm>
            <a:off x="0" y="1022961"/>
            <a:ext cx="8334103"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mhtToHTMLContent.do   ?href=URL</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rgbClr val="FF0000"/>
                </a:solidFill>
                <a:latin typeface="Malgun Gothic"/>
                <a:ea typeface="Malgun Gothic"/>
                <a:cs typeface="Malgun Gothic"/>
                <a:sym typeface="Malgun Gothic"/>
              </a:rPr>
              <a:t>TBL_APRDOCINFO : HREF </a:t>
            </a:r>
            <a:r>
              <a:rPr lang="en-US" sz="1200">
                <a:solidFill>
                  <a:schemeClr val="dk1"/>
                </a:solidFill>
                <a:latin typeface="Malgun Gothic"/>
                <a:ea typeface="Malgun Gothic"/>
                <a:cs typeface="Malgun Gothic"/>
                <a:sym typeface="Malgun Gothic"/>
              </a:rPr>
              <a:t>가 ‘’ 이므로</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Return : MHT 데이터가 존재하지 않습니다.</a:t>
            </a:r>
            <a:endParaRPr/>
          </a:p>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getRelayDocInfo.do</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Param : docID</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Return : </a:t>
            </a:r>
            <a:r>
              <a:rPr lang="en-US" sz="1200">
                <a:solidFill>
                  <a:srgbClr val="FF0000"/>
                </a:solidFill>
                <a:latin typeface="Malgun Gothic"/>
                <a:ea typeface="Malgun Gothic"/>
                <a:cs typeface="Malgun Gothic"/>
                <a:sym typeface="Malgun Gothic"/>
              </a:rPr>
              <a:t>TBL_RECRELAYINFO  </a:t>
            </a:r>
            <a:r>
              <a:rPr lang="en-US" sz="1200">
                <a:solidFill>
                  <a:schemeClr val="dk1"/>
                </a:solidFill>
                <a:latin typeface="Malgun Gothic"/>
                <a:ea typeface="Malgun Gothic"/>
                <a:cs typeface="Malgun Gothic"/>
                <a:sym typeface="Malgun Gothic"/>
              </a:rPr>
              <a:t>정보</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loadDocXML.do</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Param : upload_approvalG/회사코드/</a:t>
            </a:r>
            <a:r>
              <a:rPr lang="en-US" sz="1200">
                <a:solidFill>
                  <a:srgbClr val="FF0000"/>
                </a:solidFill>
                <a:latin typeface="Malgun Gothic"/>
                <a:ea typeface="Malgun Gothic"/>
                <a:cs typeface="Malgun Gothic"/>
                <a:sym typeface="Malgun Gothic"/>
              </a:rPr>
              <a:t>ExDocXML</a:t>
            </a:r>
            <a:r>
              <a:rPr lang="en-US" sz="1200">
                <a:solidFill>
                  <a:schemeClr val="dk1"/>
                </a:solidFill>
                <a:latin typeface="Malgun Gothic"/>
                <a:ea typeface="Malgun Gothic"/>
                <a:cs typeface="Malgun Gothic"/>
                <a:sym typeface="Malgun Gothic"/>
              </a:rPr>
              <a:t>/xmlURL</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Return : pubdoc xml</a:t>
            </a:r>
            <a:endParaRPr/>
          </a:p>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setHref.do : href 정보 update</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htmlToMHT.do : html 변환 </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saveFile.do : MHT 파일 저장</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sendAckforReSend.do : 접수 Ack 유통센터 전송</a:t>
            </a:r>
            <a:endParaRPr sz="1200">
              <a:solidFill>
                <a:schemeClr val="dk1"/>
              </a:solidFill>
              <a:latin typeface="Malgun Gothic"/>
              <a:ea typeface="Malgun Gothic"/>
              <a:cs typeface="Malgun Gothic"/>
              <a:sym typeface="Malgun Gothic"/>
            </a:endParaRPr>
          </a:p>
        </p:txBody>
      </p:sp>
      <p:sp>
        <p:nvSpPr>
          <p:cNvPr id="371" name="Google Shape;371;p27"/>
          <p:cNvSpPr/>
          <p:nvPr/>
        </p:nvSpPr>
        <p:spPr>
          <a:xfrm>
            <a:off x="0" y="572995"/>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Malgun Gothic"/>
                <a:ea typeface="Malgun Gothic"/>
                <a:cs typeface="Malgun Gothic"/>
                <a:sym typeface="Malgun Gothic"/>
              </a:rPr>
              <a:t>유통문서 처음 open</a:t>
            </a:r>
            <a:endParaRPr sz="1800">
              <a:solidFill>
                <a:schemeClr val="dk1"/>
              </a:solidFill>
              <a:latin typeface="Malgun Gothic"/>
              <a:ea typeface="Malgun Gothic"/>
              <a:cs typeface="Malgun Gothic"/>
              <a:sym typeface="Malgun Gothic"/>
            </a:endParaRPr>
          </a:p>
        </p:txBody>
      </p:sp>
      <p:sp>
        <p:nvSpPr>
          <p:cNvPr id="372" name="Google Shape;372;p27"/>
          <p:cNvSpPr/>
          <p:nvPr/>
        </p:nvSpPr>
        <p:spPr>
          <a:xfrm>
            <a:off x="0" y="5071577"/>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Malgun Gothic"/>
                <a:ea typeface="Malgun Gothic"/>
                <a:cs typeface="Malgun Gothic"/>
                <a:sym typeface="Malgun Gothic"/>
              </a:rPr>
              <a:t>유통문서 발송전</a:t>
            </a:r>
            <a:endParaRPr/>
          </a:p>
        </p:txBody>
      </p:sp>
      <p:sp>
        <p:nvSpPr>
          <p:cNvPr id="373" name="Google Shape;373;p27"/>
          <p:cNvSpPr/>
          <p:nvPr/>
        </p:nvSpPr>
        <p:spPr>
          <a:xfrm>
            <a:off x="0" y="5421308"/>
            <a:ext cx="8089587"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FF0000"/>
                </a:solidFill>
                <a:latin typeface="Malgun Gothic"/>
                <a:ea typeface="Malgun Gothic"/>
                <a:cs typeface="Malgun Gothic"/>
                <a:sym typeface="Malgun Gothic"/>
              </a:rPr>
              <a:t>Front : Document_Encode()</a:t>
            </a:r>
            <a:r>
              <a:rPr b="1" lang="en-US" sz="1200">
                <a:solidFill>
                  <a:srgbClr val="FF0000"/>
                </a:solidFill>
                <a:latin typeface="Malgun Gothic"/>
                <a:ea typeface="Malgun Gothic"/>
                <a:cs typeface="Malgun Gothic"/>
                <a:sym typeface="Malgun Gothic"/>
              </a:rPr>
              <a:t> - apprGezSimsaG.jsp</a:t>
            </a:r>
            <a:r>
              <a:rPr lang="en-US" sz="1200">
                <a:solidFill>
                  <a:srgbClr val="FF0000"/>
                </a:solidFill>
                <a:latin typeface="Malgun Gothic"/>
                <a:ea typeface="Malgun Gothic"/>
                <a:cs typeface="Malgun Gothic"/>
                <a:sym typeface="Malgun Gothic"/>
              </a:rPr>
              <a:t> , Back : beforeXmlConverter() </a:t>
            </a:r>
            <a:r>
              <a:rPr b="1" lang="en-US" sz="1200">
                <a:solidFill>
                  <a:srgbClr val="FF0000"/>
                </a:solidFill>
                <a:latin typeface="Malgun Gothic"/>
                <a:ea typeface="Malgun Gothic"/>
                <a:cs typeface="Malgun Gothic"/>
                <a:sym typeface="Malgun Gothic"/>
              </a:rPr>
              <a:t>- EzApprovalGServiceImpl.java </a:t>
            </a:r>
            <a:endParaRPr sz="1200">
              <a:solidFill>
                <a:srgbClr val="FF0000"/>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에서 문서 유통시 xml 변환규칙에 따라 오류 발생 가능성이 있는 tag를 제거.</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Front 와 back 에서 각각 처리하는 로직이 존재하나 모든 경우를 상정하지 않아 오류 발생이 일어남.</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동부병원에서는 back 단의 처리에서 tag 내부에 “ 가 존재시 String 오류 발생 회피를 위해 \” 로 변환하는 처리를</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반복하여 오류가 발생하는 사례가 있었음.</a:t>
            </a:r>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해당 사례에서는 전처리 오류 발생으로 처리 되거나 </a:t>
            </a:r>
            <a:endParaRPr sz="1200">
              <a:solidFill>
                <a:schemeClr val="dk1"/>
              </a:solidFill>
              <a:latin typeface="Malgun Gothic"/>
              <a:ea typeface="Malgun Gothic"/>
              <a:cs typeface="Malgun Gothic"/>
              <a:sym typeface="Malgun Gothic"/>
            </a:endParaRPr>
          </a:p>
        </p:txBody>
      </p:sp>
      <p:pic>
        <p:nvPicPr>
          <p:cNvPr id="374" name="Google Shape;374;p27"/>
          <p:cNvPicPr preferRelativeResize="0"/>
          <p:nvPr/>
        </p:nvPicPr>
        <p:blipFill rotWithShape="1">
          <a:blip r:embed="rId3">
            <a:alphaModFix/>
          </a:blip>
          <a:srcRect b="0" l="0" r="0" t="0"/>
          <a:stretch/>
        </p:blipFill>
        <p:spPr>
          <a:xfrm>
            <a:off x="3179989" y="1064673"/>
            <a:ext cx="2305050" cy="571500"/>
          </a:xfrm>
          <a:prstGeom prst="rect">
            <a:avLst/>
          </a:prstGeom>
          <a:noFill/>
          <a:ln>
            <a:noFill/>
          </a:ln>
        </p:spPr>
      </p:pic>
      <p:pic>
        <p:nvPicPr>
          <p:cNvPr id="375" name="Google Shape;375;p27"/>
          <p:cNvPicPr preferRelativeResize="0"/>
          <p:nvPr/>
        </p:nvPicPr>
        <p:blipFill rotWithShape="1">
          <a:blip r:embed="rId4">
            <a:alphaModFix/>
          </a:blip>
          <a:srcRect b="0" l="0" r="0" t="0"/>
          <a:stretch/>
        </p:blipFill>
        <p:spPr>
          <a:xfrm>
            <a:off x="2259875" y="3598359"/>
            <a:ext cx="3343275" cy="514350"/>
          </a:xfrm>
          <a:prstGeom prst="rect">
            <a:avLst/>
          </a:prstGeom>
          <a:noFill/>
          <a:ln>
            <a:noFill/>
          </a:ln>
        </p:spPr>
      </p:pic>
      <p:graphicFrame>
        <p:nvGraphicFramePr>
          <p:cNvPr id="376" name="Google Shape;376;p27"/>
          <p:cNvGraphicFramePr/>
          <p:nvPr/>
        </p:nvGraphicFramePr>
        <p:xfrm>
          <a:off x="8484463" y="655947"/>
          <a:ext cx="3000000" cy="3000000"/>
        </p:xfrm>
        <a:graphic>
          <a:graphicData uri="http://schemas.openxmlformats.org/drawingml/2006/table">
            <a:tbl>
              <a:tblPr>
                <a:noFill/>
                <a:tableStyleId>{EE4F4514-04A8-43C5-9468-27915ED40666}</a:tableStyleId>
              </a:tblPr>
              <a:tblGrid>
                <a:gridCol w="973100"/>
                <a:gridCol w="1575250"/>
              </a:tblGrid>
              <a:tr h="209550">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docID</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그룹웨어문서ID</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xDocID</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중계문서ID</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recdate</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발송일시</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mFrom</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발신부서명</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mTo</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수신부서코드</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xMailType</a:t>
                      </a:r>
                      <a:endParaRPr b="0" i="0" sz="1100" u="none" cap="none" strike="noStrike">
                        <a:solidFill>
                          <a:srgbClr val="000000"/>
                        </a:solidFill>
                        <a:latin typeface="Malgun Gothic"/>
                        <a:ea typeface="Malgun Gothic"/>
                        <a:cs typeface="Malgun Gothic"/>
                        <a:sym typeface="Malgun Gothic"/>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메일종류 (사용안함)</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xFromCode</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발신부서코드</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xToCode</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수신부서코드</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xGw</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발신기관 그룹웨어명</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xDocType</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문서종류</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xDtdversion</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참조DTD버전</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xxslVersion</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참조XSL버전</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contentType</a:t>
                      </a:r>
                      <a:endParaRPr b="0" i="0" sz="1100" u="none" cap="none" strike="noStrike">
                        <a:solidFill>
                          <a:srgbClr val="000000"/>
                        </a:solidFill>
                        <a:latin typeface="Malgun Gothic"/>
                        <a:ea typeface="Malgun Gothic"/>
                        <a:cs typeface="Malgun Gothic"/>
                        <a:sym typeface="Malgun Gothic"/>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본문형식 (사용안함)</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sealURL</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관인이미지파일명</a:t>
                      </a:r>
                      <a:endParaRPr b="0" i="0" sz="1100" u="none" cap="none" strike="noStrike">
                        <a:solidFill>
                          <a:srgbClr val="000000"/>
                        </a:solidFill>
                        <a:latin typeface="Malgun Gothic"/>
                        <a:ea typeface="Malgun Gothic"/>
                        <a:cs typeface="Malgun Gothic"/>
                        <a:sym typeface="Malgun Gothic"/>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xmlURL</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본문XML파일명</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emlURL</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암호화된본문XML파일명</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isPKI</a:t>
                      </a:r>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00" u="none" cap="none" strike="noStrike">
                          <a:solidFill>
                            <a:srgbClr val="000000"/>
                          </a:solidFill>
                          <a:latin typeface="Malgun Gothic"/>
                          <a:ea typeface="Malgun Gothic"/>
                          <a:cs typeface="Malgun Gothic"/>
                          <a:sym typeface="Malgun Gothic"/>
                        </a:rPr>
                        <a:t>전자관인암호화여부</a:t>
                      </a:r>
                      <a:endParaRPr b="0" i="0" sz="1100" u="none" cap="none" strike="noStrike">
                        <a:solidFill>
                          <a:srgbClr val="000000"/>
                        </a:solidFill>
                        <a:latin typeface="Malgun Gothic"/>
                        <a:ea typeface="Malgun Gothic"/>
                        <a:cs typeface="Malgun Gothic"/>
                        <a:sym typeface="Malgun Gothic"/>
                      </a:endParaRPr>
                    </a:p>
                  </a:txBody>
                  <a:tcPr marT="9525" marB="0" marR="9525" marL="95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377" name="Google Shape;377;p27"/>
          <p:cNvPicPr preferRelativeResize="0"/>
          <p:nvPr/>
        </p:nvPicPr>
        <p:blipFill rotWithShape="1">
          <a:blip r:embed="rId5">
            <a:alphaModFix/>
          </a:blip>
          <a:srcRect b="0" l="0" r="0" t="0"/>
          <a:stretch/>
        </p:blipFill>
        <p:spPr>
          <a:xfrm>
            <a:off x="2551548" y="1784223"/>
            <a:ext cx="4519750" cy="359045"/>
          </a:xfrm>
          <a:prstGeom prst="rect">
            <a:avLst/>
          </a:prstGeom>
          <a:noFill/>
          <a:ln>
            <a:noFill/>
          </a:ln>
        </p:spPr>
      </p:pic>
      <p:pic>
        <p:nvPicPr>
          <p:cNvPr id="378" name="Google Shape;378;p27"/>
          <p:cNvPicPr preferRelativeResize="0"/>
          <p:nvPr/>
        </p:nvPicPr>
        <p:blipFill rotWithShape="1">
          <a:blip r:embed="rId6">
            <a:alphaModFix/>
          </a:blip>
          <a:srcRect b="0" l="0" r="0" t="0"/>
          <a:stretch/>
        </p:blipFill>
        <p:spPr>
          <a:xfrm>
            <a:off x="2551548" y="2143269"/>
            <a:ext cx="5782555" cy="294122"/>
          </a:xfrm>
          <a:prstGeom prst="rect">
            <a:avLst/>
          </a:prstGeom>
          <a:noFill/>
          <a:ln>
            <a:noFill/>
          </a:ln>
        </p:spPr>
      </p:pic>
      <p:pic>
        <p:nvPicPr>
          <p:cNvPr id="379" name="Google Shape;379;p27"/>
          <p:cNvPicPr preferRelativeResize="0"/>
          <p:nvPr/>
        </p:nvPicPr>
        <p:blipFill rotWithShape="1">
          <a:blip r:embed="rId7">
            <a:alphaModFix/>
          </a:blip>
          <a:srcRect b="0" l="0" r="0" t="0"/>
          <a:stretch/>
        </p:blipFill>
        <p:spPr>
          <a:xfrm>
            <a:off x="2551548" y="2437122"/>
            <a:ext cx="5782555" cy="366931"/>
          </a:xfrm>
          <a:prstGeom prst="rect">
            <a:avLst/>
          </a:prstGeom>
          <a:noFill/>
          <a:ln>
            <a:noFill/>
          </a:ln>
        </p:spPr>
      </p:pic>
      <p:cxnSp>
        <p:nvCxnSpPr>
          <p:cNvPr id="380" name="Google Shape;380;p27"/>
          <p:cNvCxnSpPr/>
          <p:nvPr/>
        </p:nvCxnSpPr>
        <p:spPr>
          <a:xfrm>
            <a:off x="-1" y="4967002"/>
            <a:ext cx="12192000" cy="0"/>
          </a:xfrm>
          <a:prstGeom prst="straightConnector1">
            <a:avLst/>
          </a:prstGeom>
          <a:noFill/>
          <a:ln cap="flat" cmpd="sng" w="9525">
            <a:solidFill>
              <a:schemeClr val="accent1"/>
            </a:solidFill>
            <a:prstDash val="solid"/>
            <a:miter lim="800000"/>
            <a:headEnd len="sm" w="sm" type="none"/>
            <a:tailEnd len="sm" w="sm" type="none"/>
          </a:ln>
        </p:spPr>
      </p:cxnSp>
      <p:sp>
        <p:nvSpPr>
          <p:cNvPr id="381" name="Google Shape;381;p27"/>
          <p:cNvSpPr txBox="1"/>
          <p:nvPr/>
        </p:nvSpPr>
        <p:spPr>
          <a:xfrm>
            <a:off x="-1" y="161177"/>
            <a:ext cx="91572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algun Gothic"/>
                <a:ea typeface="Malgun Gothic"/>
                <a:cs typeface="Malgun Gothic"/>
                <a:sym typeface="Malgun Gothic"/>
              </a:rPr>
              <a:t>문서유통 FLOW 별지</a:t>
            </a:r>
            <a:endParaRPr b="1" sz="1800">
              <a:solidFill>
                <a:schemeClr val="dk1"/>
              </a:solidFill>
              <a:latin typeface="Malgun Gothic"/>
              <a:ea typeface="Malgun Gothic"/>
              <a:cs typeface="Malgun Gothic"/>
              <a:sym typeface="Malgun Gothic"/>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2019-12-03T02:22:00Z</dcterms:created>
  <dc:creator>Windows 사용자</dc:creator>
</cp:coreProperties>
</file>