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FD6922-D332-46B5-B944-D7C49FF15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E90384-24C6-4B4E-B9CD-631053029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A6A8BC-2399-4943-B043-097958F72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416BCD-BDE9-4E74-9BB8-529CF1E0A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9F4614-8AE5-43AF-9CCF-0417DD447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159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8BB27E-1092-4CED-BF3C-9555BC700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2FCE5D-F667-485E-A20A-5A90F00D7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90BE3D-7EFC-40E1-803B-7B1469BE0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264352-3FB0-4FA4-BE7E-4795F776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47EC5C-A322-4078-9960-593C50EB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7500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D9127A-0DB2-4814-A055-10B64A8E6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1C4DAA-3ECF-4812-B98E-9D78CE7C9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7B4C9D-55FF-477B-A34B-64D021E8A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1F9F31-32BB-43AB-BBCE-8489BE8C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FFFCD31-52A6-4F1C-8706-5A82756C1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0194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EB17AA-A318-4F71-9703-6A502CBD3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3E4427-C138-421B-8100-B58C8D6F31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CDF1D4-5042-40F8-99D9-2A7834593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ED9D48-149A-454D-BDC1-0ED0EF92B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896E794-DB07-4763-8DF4-608125A4A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5EE619-6A32-437D-9BBF-1530BD98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2522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50029-99F5-4BA5-B5CE-029E2B88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47FBF2-115E-4314-A17D-4EA59DF6C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2163FE-C412-4182-AB4A-D2A201015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8B01C6-D6C6-49EA-9AD9-7D19F9E935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36755B-D247-45B6-9D04-2DE1C2799D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E2CE70-4F2F-408C-8867-E2D5CC3E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7A1815-5CFA-428C-B86C-AE4C6852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368477-99C5-44D3-94C5-1A3F6E12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616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5295B-8B30-41CE-9F17-78203EC5C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EABC88A-726F-4B77-B146-609A3E1D7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AD21A03-BB63-49CA-B390-4572E6CEE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E1B80F-B34E-4A76-9799-4AE4BC76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773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AD7D81B-6AEC-49D5-9225-1CB4CE2A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ACE7C9-8BC7-452F-A57D-E538E238C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592736-1589-4FB4-9A80-413392185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774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8ADEC-DB0E-430A-8881-FEB6AE275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2EE905-6846-4FD0-BB19-0C26E0A71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E344755-0D0A-4D80-B50E-8031EFB95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0BE9-ECEB-4C39-AA34-6BCEC28B7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E5D275-6398-47C7-AA53-AE82BB70D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AF41A4C-049C-4EDF-B3EA-6FE0C9422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008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5F949-3796-45EE-BE35-3066094A1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1D7CEB8-3539-413A-89D6-D9083F3E8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392ADA-A5EA-42DA-9E58-8C7BA5E1C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621C5A0-99A9-4D82-9EE1-17A360B7B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3B559A-446C-4815-BF0C-3A433D344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57BC86-F13A-43A2-8BA3-E3E67323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6046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5E7EC1-FD35-4CB6-913B-CBB3A8B5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9C162C-9963-412B-B941-030408066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E6D045-CEE0-491D-8BBA-6A0B8A55A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5A6A9B-AB3B-43FF-992A-F2F5850E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67025-E77C-45B4-B7A0-98B2492BB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20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86E931-7145-4580-9287-E3E447A768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D68365B-03B4-4BFE-B631-2753D6F30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AFA8FF-A2BC-4BE5-BAF4-144041C1A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130B03-10B9-4B89-BD4E-4EF992DF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7013B3-D99D-4189-B633-25E439F82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810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0BB3057-2105-4183-8312-F01793426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AE1B5A-C3CB-4D08-BE57-C04F5C6C3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0DD75F-CFF8-48D0-8F44-5FD6931ACA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55FDC3-933D-4DF3-A721-CCC133AE908B}" type="datetimeFigureOut">
              <a:rPr lang="ko-KR" altLang="en-US" smtClean="0"/>
              <a:t>2020-08-13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A3C9B5-4329-487E-909E-F781D003B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30BE51-F128-4E46-9315-EBBEB1EA87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3F533-EC9E-4DB1-ABCB-E1376493861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997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538D8A60-3CBA-46BF-B45D-64846202B018}"/>
              </a:ext>
            </a:extLst>
          </p:cNvPr>
          <p:cNvSpPr/>
          <p:nvPr/>
        </p:nvSpPr>
        <p:spPr>
          <a:xfrm>
            <a:off x="2112034" y="852937"/>
            <a:ext cx="8465913" cy="707886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pPr algn="ctr"/>
            <a:r>
              <a:rPr lang="ko-KR" altLang="en-US" sz="4000" b="1" dirty="0">
                <a:solidFill>
                  <a:srgbClr val="1B7A9E"/>
                </a:solidFill>
                <a:effectLst>
                  <a:glow rad="101600"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그룹웨어 결재 연동</a:t>
            </a:r>
            <a:endParaRPr lang="en-US" altLang="ko-KR" sz="4000" b="1" dirty="0">
              <a:solidFill>
                <a:srgbClr val="1B7A9E"/>
              </a:solidFill>
              <a:effectLst>
                <a:glow rad="101600">
                  <a:prstClr val="white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48901E-A690-46F7-A454-E2CBE04408B7}"/>
              </a:ext>
            </a:extLst>
          </p:cNvPr>
          <p:cNvSpPr/>
          <p:nvPr/>
        </p:nvSpPr>
        <p:spPr>
          <a:xfrm>
            <a:off x="5279337" y="1560823"/>
            <a:ext cx="1768434" cy="461665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pPr algn="ctr"/>
            <a:r>
              <a:rPr lang="en-US" altLang="ko-KR" sz="2400" b="1" dirty="0">
                <a:effectLst>
                  <a:glow rad="101600">
                    <a:prstClr val="white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2020.08.13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87412C-CB49-43D5-B842-A5BAD1BBB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00" y="6414447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70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1AE432-855B-42FC-B532-BDD9AA1CE0F3}"/>
              </a:ext>
            </a:extLst>
          </p:cNvPr>
          <p:cNvSpPr txBox="1"/>
          <p:nvPr/>
        </p:nvSpPr>
        <p:spPr>
          <a:xfrm>
            <a:off x="1056829" y="350315"/>
            <a:ext cx="9563578" cy="477985"/>
          </a:xfrm>
          <a:prstGeom prst="rect">
            <a:avLst/>
          </a:prstGeom>
          <a:noFill/>
        </p:spPr>
        <p:txBody>
          <a:bodyPr wrap="square" lIns="107602" tIns="53801" rIns="107602" bIns="53801" rtlCol="0">
            <a:spAutoFit/>
          </a:bodyPr>
          <a:lstStyle/>
          <a:p>
            <a:pPr lvl="0"/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1. 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결재 연동 시점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1CB59-E0A9-4B32-92E8-E8343CA0E0F6}"/>
              </a:ext>
            </a:extLst>
          </p:cNvPr>
          <p:cNvSpPr txBox="1"/>
          <p:nvPr/>
        </p:nvSpPr>
        <p:spPr>
          <a:xfrm>
            <a:off x="4593252" y="1484784"/>
            <a:ext cx="670271" cy="369332"/>
          </a:xfrm>
          <a:prstGeom prst="round1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ko-KR" dirty="0"/>
              <a:t>ERP</a:t>
            </a:r>
            <a:r>
              <a:rPr lang="ko-KR" alt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BEE1BF-350B-4672-948D-BF61CB1678D3}"/>
              </a:ext>
            </a:extLst>
          </p:cNvPr>
          <p:cNvSpPr txBox="1"/>
          <p:nvPr/>
        </p:nvSpPr>
        <p:spPr>
          <a:xfrm>
            <a:off x="7319922" y="1484784"/>
            <a:ext cx="1118711" cy="369332"/>
          </a:xfrm>
          <a:prstGeom prst="round1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ko-KR" altLang="en-US" dirty="0"/>
              <a:t>그룹웨어</a:t>
            </a: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E20C567B-745C-4BCF-8375-9FE03A6E317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12597" y="1972484"/>
            <a:ext cx="0" cy="403244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456C986-ECB6-493F-9278-B7A2744A4BA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67028" y="1972484"/>
            <a:ext cx="0" cy="4032448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C827009E-885D-444F-AD7F-223CA2CF7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039" y="2250228"/>
            <a:ext cx="235115" cy="216368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E591FF-396E-4617-ADDE-8EDE78BB6663}"/>
              </a:ext>
            </a:extLst>
          </p:cNvPr>
          <p:cNvSpPr txBox="1"/>
          <p:nvPr/>
        </p:nvSpPr>
        <p:spPr>
          <a:xfrm>
            <a:off x="2212799" y="2231051"/>
            <a:ext cx="131638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데이터 입력완료</a:t>
            </a:r>
            <a:endParaRPr lang="en-US" altLang="ko-KR" sz="120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30BC59A-D4F6-4F0F-AD43-ACF2F3353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5039" y="2682104"/>
            <a:ext cx="235115" cy="216368"/>
          </a:xfrm>
          <a:prstGeom prst="rect">
            <a:avLst/>
          </a:prstGeom>
          <a:solidFill>
            <a:srgbClr val="7030A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94A588-F3B4-421E-BED1-EF3D3C5F5648}"/>
              </a:ext>
            </a:extLst>
          </p:cNvPr>
          <p:cNvSpPr txBox="1"/>
          <p:nvPr/>
        </p:nvSpPr>
        <p:spPr>
          <a:xfrm>
            <a:off x="2685685" y="2578453"/>
            <a:ext cx="800219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결재요청</a:t>
            </a:r>
            <a:endParaRPr lang="en-US" altLang="ko-KR" sz="1200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50EECDDD-6208-4191-9E95-9E780F5AA786}"/>
              </a:ext>
            </a:extLst>
          </p:cNvPr>
          <p:cNvCxnSpPr>
            <a:cxnSpLocks noChangeShapeType="1"/>
            <a:stCxn id="9" idx="3"/>
            <a:endCxn id="38" idx="1"/>
          </p:cNvCxnSpPr>
          <p:nvPr/>
        </p:nvCxnSpPr>
        <p:spPr bwMode="auto">
          <a:xfrm flipV="1">
            <a:off x="5030154" y="2782968"/>
            <a:ext cx="2394473" cy="7320"/>
          </a:xfrm>
          <a:prstGeom prst="straightConnector1">
            <a:avLst/>
          </a:prstGeom>
          <a:noFill/>
          <a:ln w="19050">
            <a:solidFill>
              <a:srgbClr val="7030A0"/>
            </a:solidFill>
            <a:round/>
            <a:headEnd type="none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16FFD56-8D84-4ACB-909A-DD239DBD3D77}"/>
              </a:ext>
            </a:extLst>
          </p:cNvPr>
          <p:cNvSpPr txBox="1"/>
          <p:nvPr/>
        </p:nvSpPr>
        <p:spPr>
          <a:xfrm>
            <a:off x="3590442" y="2201706"/>
            <a:ext cx="101200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200" b="1" dirty="0"/>
              <a:t>INPUT: </a:t>
            </a:r>
            <a:r>
              <a:rPr lang="en-US" altLang="ko-KR" sz="1200" b="1" dirty="0">
                <a:solidFill>
                  <a:srgbClr val="C00000"/>
                </a:solidFill>
              </a:rPr>
              <a:t>INP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31CD65-41AA-427D-BD02-35B8B44DBDAF}"/>
              </a:ext>
            </a:extLst>
          </p:cNvPr>
          <p:cNvSpPr txBox="1"/>
          <p:nvPr/>
        </p:nvSpPr>
        <p:spPr>
          <a:xfrm>
            <a:off x="4156494" y="2575356"/>
            <a:ext cx="445956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sz="1200" b="1" dirty="0">
                <a:solidFill>
                  <a:srgbClr val="C00000"/>
                </a:solidFill>
              </a:rPr>
              <a:t>INT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6E213C-B692-4757-B4CE-C164AAED854F}"/>
              </a:ext>
            </a:extLst>
          </p:cNvPr>
          <p:cNvSpPr txBox="1"/>
          <p:nvPr/>
        </p:nvSpPr>
        <p:spPr>
          <a:xfrm>
            <a:off x="9776584" y="3112206"/>
            <a:ext cx="137088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/>
              <a:t>기안상신</a:t>
            </a:r>
            <a:r>
              <a:rPr lang="ko-KR" altLang="en-US" sz="1200" dirty="0"/>
              <a:t> 및 진행</a:t>
            </a:r>
            <a:endParaRPr lang="en-US" altLang="ko-KR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83841D-9AF0-4DF8-BA22-92B45E904AE2}"/>
              </a:ext>
            </a:extLst>
          </p:cNvPr>
          <p:cNvSpPr txBox="1"/>
          <p:nvPr/>
        </p:nvSpPr>
        <p:spPr>
          <a:xfrm>
            <a:off x="8102143" y="3099097"/>
            <a:ext cx="46679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>
                <a:solidFill>
                  <a:srgbClr val="C00000"/>
                </a:solidFill>
              </a:rPr>
              <a:t>ING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6553F47-065E-490B-B5BF-BD93CAFD9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720" y="3196276"/>
            <a:ext cx="235115" cy="21636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74869C48-7147-4D25-9AA9-08789C95482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32381" y="3304460"/>
            <a:ext cx="2827843" cy="0"/>
          </a:xfrm>
          <a:prstGeom prst="straightConnector1">
            <a:avLst/>
          </a:prstGeom>
          <a:noFill/>
          <a:ln w="19050">
            <a:solidFill>
              <a:srgbClr val="00B05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A0D7AD5-2F86-4197-87A8-1F6398545C49}"/>
              </a:ext>
            </a:extLst>
          </p:cNvPr>
          <p:cNvSpPr txBox="1"/>
          <p:nvPr/>
        </p:nvSpPr>
        <p:spPr>
          <a:xfrm>
            <a:off x="9776584" y="3565556"/>
            <a:ext cx="1008609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 err="1"/>
              <a:t>기안자</a:t>
            </a:r>
            <a:r>
              <a:rPr lang="ko-KR" altLang="en-US" sz="1200" dirty="0"/>
              <a:t> 회수</a:t>
            </a:r>
            <a:endParaRPr lang="en-US" altLang="ko-KR" sz="12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EF73470-A761-47A3-A61B-8FB34343D2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720" y="3646087"/>
            <a:ext cx="235115" cy="21636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3DE90BE-9809-455A-B3DD-94D6388F33C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32381" y="3754271"/>
            <a:ext cx="2827843" cy="0"/>
          </a:xfrm>
          <a:prstGeom prst="straightConnector1">
            <a:avLst/>
          </a:prstGeom>
          <a:noFill/>
          <a:ln w="19050">
            <a:solidFill>
              <a:srgbClr val="00B05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EE30412-33C0-46FB-A704-D31A106BDC80}"/>
              </a:ext>
            </a:extLst>
          </p:cNvPr>
          <p:cNvSpPr txBox="1"/>
          <p:nvPr/>
        </p:nvSpPr>
        <p:spPr>
          <a:xfrm>
            <a:off x="8102143" y="3531145"/>
            <a:ext cx="1102994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RECALL:</a:t>
            </a:r>
            <a:r>
              <a:rPr lang="en-US" altLang="ko-KR" sz="1200" b="1" dirty="0">
                <a:solidFill>
                  <a:srgbClr val="C00000"/>
                </a:solidFill>
              </a:rPr>
              <a:t> RCL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2B93D4C-696E-4E0A-BD74-2FED6C363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720" y="4095453"/>
            <a:ext cx="235115" cy="21636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C15E4A-C425-4AC8-B10B-9BA9B7C96CE4}"/>
              </a:ext>
            </a:extLst>
          </p:cNvPr>
          <p:cNvSpPr txBox="1"/>
          <p:nvPr/>
        </p:nvSpPr>
        <p:spPr>
          <a:xfrm>
            <a:off x="9776584" y="4018906"/>
            <a:ext cx="1008609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결재자 반송</a:t>
            </a:r>
            <a:endParaRPr lang="en-US" altLang="ko-KR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24406AD-0359-4E22-B46F-836DAE657204}"/>
              </a:ext>
            </a:extLst>
          </p:cNvPr>
          <p:cNvSpPr txBox="1"/>
          <p:nvPr/>
        </p:nvSpPr>
        <p:spPr>
          <a:xfrm>
            <a:off x="8102143" y="4024975"/>
            <a:ext cx="12564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RETURN:</a:t>
            </a:r>
            <a:r>
              <a:rPr lang="en-US" altLang="ko-KR" sz="1200" b="1" dirty="0">
                <a:solidFill>
                  <a:srgbClr val="C00000"/>
                </a:solidFill>
              </a:rPr>
              <a:t> RTN 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5B3B318E-CC35-48EC-BDA9-2EB007A713C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32381" y="4203637"/>
            <a:ext cx="2827843" cy="0"/>
          </a:xfrm>
          <a:prstGeom prst="straightConnector1">
            <a:avLst/>
          </a:prstGeom>
          <a:noFill/>
          <a:ln w="19050">
            <a:solidFill>
              <a:srgbClr val="00B05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2CFAF1B-8F70-43D6-AE84-874E6DD8C16E}"/>
              </a:ext>
            </a:extLst>
          </p:cNvPr>
          <p:cNvSpPr txBox="1"/>
          <p:nvPr/>
        </p:nvSpPr>
        <p:spPr>
          <a:xfrm>
            <a:off x="9776584" y="4472256"/>
            <a:ext cx="11624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기안부서 완료</a:t>
            </a:r>
            <a:endParaRPr lang="en-US" altLang="ko-KR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4EA58EA-CB63-47FC-BC49-F7C28DDE70E2}"/>
              </a:ext>
            </a:extLst>
          </p:cNvPr>
          <p:cNvSpPr txBox="1"/>
          <p:nvPr/>
        </p:nvSpPr>
        <p:spPr>
          <a:xfrm>
            <a:off x="8102143" y="4456288"/>
            <a:ext cx="1413207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LASTSIGN:</a:t>
            </a:r>
            <a:r>
              <a:rPr lang="en-US" altLang="ko-KR" sz="1200" b="1" dirty="0">
                <a:solidFill>
                  <a:srgbClr val="C00000"/>
                </a:solidFill>
              </a:rPr>
              <a:t> LSN 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1A9EB2F-39B4-4515-914A-217252271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720" y="4540955"/>
            <a:ext cx="235115" cy="21636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92B3221-F3EB-4523-9681-A75BC8839005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32381" y="4649139"/>
            <a:ext cx="2827843" cy="0"/>
          </a:xfrm>
          <a:prstGeom prst="straightConnector1">
            <a:avLst/>
          </a:prstGeom>
          <a:noFill/>
          <a:ln w="19050">
            <a:solidFill>
              <a:srgbClr val="00B05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A5B4BA-BBEC-4309-8E5F-CE1223647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720" y="4988773"/>
            <a:ext cx="235115" cy="21636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6981D9DA-43B9-4C85-8EF9-75E2DF769DB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32381" y="5096957"/>
            <a:ext cx="2827843" cy="0"/>
          </a:xfrm>
          <a:prstGeom prst="straightConnector1">
            <a:avLst/>
          </a:prstGeom>
          <a:noFill/>
          <a:ln w="19050">
            <a:solidFill>
              <a:srgbClr val="00B05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E2974C5-E215-4E6E-82C3-91E14EB68AD4}"/>
              </a:ext>
            </a:extLst>
          </p:cNvPr>
          <p:cNvSpPr txBox="1"/>
          <p:nvPr/>
        </p:nvSpPr>
        <p:spPr>
          <a:xfrm>
            <a:off x="9776584" y="4909834"/>
            <a:ext cx="11624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수신부서 회송</a:t>
            </a:r>
            <a:endParaRPr lang="en-US" altLang="ko-KR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986219-9349-44E0-A1E1-EFCDC1AE75E8}"/>
              </a:ext>
            </a:extLst>
          </p:cNvPr>
          <p:cNvSpPr txBox="1"/>
          <p:nvPr/>
        </p:nvSpPr>
        <p:spPr>
          <a:xfrm>
            <a:off x="8102143" y="4909833"/>
            <a:ext cx="1730987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SUSINRETURN:</a:t>
            </a:r>
            <a:r>
              <a:rPr lang="en-US" altLang="ko-KR" sz="1200" b="1" dirty="0">
                <a:solidFill>
                  <a:srgbClr val="C00000"/>
                </a:solidFill>
              </a:rPr>
              <a:t> SRT  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F9F635E-F705-4CAD-BB45-11B6166E2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1720" y="5442774"/>
            <a:ext cx="235115" cy="216368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5A925CC3-C7CB-4CE4-8E85-FE8E90C3DC44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4932381" y="5550958"/>
            <a:ext cx="2827843" cy="0"/>
          </a:xfrm>
          <a:prstGeom prst="straightConnector1">
            <a:avLst/>
          </a:prstGeom>
          <a:noFill/>
          <a:ln w="19050">
            <a:solidFill>
              <a:srgbClr val="00B050"/>
            </a:solidFill>
            <a:prstDash val="dash"/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81AE7E0-AB11-4D37-AF78-C026E5F0CE1E}"/>
              </a:ext>
            </a:extLst>
          </p:cNvPr>
          <p:cNvSpPr txBox="1"/>
          <p:nvPr/>
        </p:nvSpPr>
        <p:spPr>
          <a:xfrm>
            <a:off x="9776584" y="5394185"/>
            <a:ext cx="1162498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200" dirty="0"/>
              <a:t>수신부서 완료</a:t>
            </a:r>
            <a:endParaRPr lang="en-US" altLang="ko-KR" sz="12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B35AAF-D125-4315-A759-85BD6A52A391}"/>
              </a:ext>
            </a:extLst>
          </p:cNvPr>
          <p:cNvSpPr txBox="1"/>
          <p:nvPr/>
        </p:nvSpPr>
        <p:spPr>
          <a:xfrm>
            <a:off x="8102143" y="5394184"/>
            <a:ext cx="1473480" cy="3336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 dirty="0"/>
              <a:t>SUSINEND:</a:t>
            </a:r>
            <a:r>
              <a:rPr lang="en-US" altLang="ko-KR" sz="1200" b="1" dirty="0">
                <a:solidFill>
                  <a:srgbClr val="C00000"/>
                </a:solidFill>
              </a:rPr>
              <a:t> SLS   </a:t>
            </a:r>
          </a:p>
        </p:txBody>
      </p:sp>
      <p:sp>
        <p:nvSpPr>
          <p:cNvPr id="38" name="순서도: 문서 37">
            <a:extLst>
              <a:ext uri="{FF2B5EF4-FFF2-40B4-BE49-F238E27FC236}">
                <a16:creationId xmlns:a16="http://schemas.microsoft.com/office/drawing/2014/main" id="{C725711A-7D15-400E-B09D-7500586959EB}"/>
              </a:ext>
            </a:extLst>
          </p:cNvPr>
          <p:cNvSpPr/>
          <p:nvPr/>
        </p:nvSpPr>
        <p:spPr>
          <a:xfrm>
            <a:off x="7424627" y="2510601"/>
            <a:ext cx="892959" cy="544734"/>
          </a:xfrm>
          <a:prstGeom prst="flowChartDocumen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altLang="ko-KR" sz="1000" b="1" dirty="0"/>
              <a:t>SSO -&gt;</a:t>
            </a:r>
          </a:p>
          <a:p>
            <a:pPr algn="ctr"/>
            <a:r>
              <a:rPr lang="ko-KR" altLang="en-US" sz="1000" b="1" dirty="0" err="1"/>
              <a:t>기안기호출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E05599-5C5C-4DB2-AEA3-AF224351443C}"/>
              </a:ext>
            </a:extLst>
          </p:cNvPr>
          <p:cNvSpPr txBox="1"/>
          <p:nvPr/>
        </p:nvSpPr>
        <p:spPr>
          <a:xfrm>
            <a:off x="1388929" y="3773212"/>
            <a:ext cx="3313902" cy="2140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※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제약조건</a:t>
            </a:r>
            <a:endParaRPr lang="en-US" altLang="ko-KR" sz="1000" b="1" dirty="0">
              <a:solidFill>
                <a:srgbClr val="FF0000"/>
              </a:solidFill>
              <a:latin typeface="+mn-ea"/>
            </a:endParaRPr>
          </a:p>
          <a:p>
            <a:pPr marL="182563" indent="-182563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대리 기안 상신 불가함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182563" indent="-182563">
              <a:lnSpc>
                <a:spcPct val="150000"/>
              </a:lnSpc>
              <a:buFontTx/>
              <a:buChar char="-"/>
            </a:pPr>
            <a:r>
              <a:rPr lang="en-US" altLang="ko-KR" sz="1000" dirty="0">
                <a:latin typeface="+mn-ea"/>
              </a:rPr>
              <a:t>INT, ING </a:t>
            </a:r>
            <a:r>
              <a:rPr lang="ko-KR" altLang="en-US" sz="1000" dirty="0">
                <a:latin typeface="+mn-ea"/>
              </a:rPr>
              <a:t>진행상태의 연동 데이터는 해당 </a:t>
            </a:r>
            <a:r>
              <a:rPr lang="ko-KR" altLang="en-US" sz="1000" dirty="0" err="1">
                <a:latin typeface="+mn-ea"/>
              </a:rPr>
              <a:t>기간계</a:t>
            </a:r>
            <a:r>
              <a:rPr lang="ko-KR" altLang="en-US" sz="1000" dirty="0">
                <a:latin typeface="+mn-ea"/>
              </a:rPr>
              <a:t> 시스템에서 데이터 </a:t>
            </a:r>
            <a:r>
              <a:rPr lang="ko-KR" altLang="en-US" sz="1000" dirty="0" err="1">
                <a:latin typeface="+mn-ea"/>
              </a:rPr>
              <a:t>락이</a:t>
            </a:r>
            <a:r>
              <a:rPr lang="ko-KR" altLang="en-US" sz="1000" dirty="0">
                <a:latin typeface="+mn-ea"/>
              </a:rPr>
              <a:t> 되어야 함</a:t>
            </a:r>
            <a:r>
              <a:rPr lang="en-US" altLang="ko-KR" sz="1000" dirty="0">
                <a:latin typeface="+mn-ea"/>
              </a:rPr>
              <a:t>.</a:t>
            </a:r>
            <a:r>
              <a:rPr lang="ko-KR" altLang="en-US" sz="1000" dirty="0">
                <a:latin typeface="+mn-ea"/>
              </a:rPr>
              <a:t> </a:t>
            </a:r>
            <a:endParaRPr lang="en-US" altLang="ko-KR" sz="1000" dirty="0">
              <a:latin typeface="+mn-ea"/>
            </a:endParaRPr>
          </a:p>
          <a:p>
            <a:pPr marL="182563" indent="-182563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회수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반송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회송된 것은 그룹웨어 </a:t>
            </a:r>
            <a:r>
              <a:rPr lang="ko-KR" altLang="en-US" sz="1000" dirty="0" err="1">
                <a:latin typeface="+mn-ea"/>
              </a:rPr>
              <a:t>재기안</a:t>
            </a:r>
            <a:r>
              <a:rPr lang="ko-KR" altLang="en-US" sz="1000" dirty="0">
                <a:latin typeface="+mn-ea"/>
              </a:rPr>
              <a:t> 불가하고 </a:t>
            </a:r>
            <a:r>
              <a:rPr lang="en-US" altLang="ko-KR" sz="1000" dirty="0">
                <a:latin typeface="+mn-ea"/>
              </a:rPr>
              <a:t>ERP </a:t>
            </a:r>
            <a:r>
              <a:rPr lang="ko-KR" altLang="en-US" sz="1000" dirty="0">
                <a:latin typeface="+mn-ea"/>
              </a:rPr>
              <a:t>시스템에서 결재요청을 해야 함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182563" indent="-182563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동일 데이터로 </a:t>
            </a:r>
            <a:r>
              <a:rPr lang="en-US" altLang="ko-KR" sz="1000" dirty="0">
                <a:latin typeface="+mn-ea"/>
              </a:rPr>
              <a:t>GW</a:t>
            </a:r>
            <a:r>
              <a:rPr lang="ko-KR" altLang="en-US" sz="1000" dirty="0">
                <a:latin typeface="+mn-ea"/>
              </a:rPr>
              <a:t> 기안기를 </a:t>
            </a:r>
            <a:r>
              <a:rPr lang="en-US" altLang="ko-KR" sz="1000" dirty="0">
                <a:latin typeface="+mn-ea"/>
              </a:rPr>
              <a:t>N</a:t>
            </a:r>
            <a:r>
              <a:rPr lang="ko-KR" altLang="en-US" sz="1000" dirty="0">
                <a:latin typeface="+mn-ea"/>
              </a:rPr>
              <a:t>개 호출 시 </a:t>
            </a:r>
            <a:r>
              <a:rPr lang="en-US" altLang="ko-KR" sz="1000" dirty="0">
                <a:latin typeface="+mn-ea"/>
              </a:rPr>
              <a:t>ING</a:t>
            </a:r>
            <a:r>
              <a:rPr lang="ko-KR" altLang="en-US" sz="1000" dirty="0">
                <a:latin typeface="+mn-ea"/>
              </a:rPr>
              <a:t>로 변경된 후 </a:t>
            </a:r>
            <a:r>
              <a:rPr lang="ko-KR" altLang="en-US" sz="1000" dirty="0" err="1">
                <a:latin typeface="+mn-ea"/>
              </a:rPr>
              <a:t>상신하는</a:t>
            </a:r>
            <a:r>
              <a:rPr lang="ko-KR" altLang="en-US" sz="1000" dirty="0">
                <a:latin typeface="+mn-ea"/>
              </a:rPr>
              <a:t> 것은 </a:t>
            </a:r>
            <a:r>
              <a:rPr lang="ko-KR" altLang="en-US" sz="1000" dirty="0" err="1">
                <a:latin typeface="+mn-ea"/>
              </a:rPr>
              <a:t>상신되지</a:t>
            </a:r>
            <a:r>
              <a:rPr lang="ko-KR" altLang="en-US" sz="1000" dirty="0">
                <a:latin typeface="+mn-ea"/>
              </a:rPr>
              <a:t> 않도록 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 marL="182563" indent="-182563">
              <a:lnSpc>
                <a:spcPct val="150000"/>
              </a:lnSpc>
              <a:buFontTx/>
              <a:buChar char="-"/>
            </a:pPr>
            <a:r>
              <a:rPr lang="ko-KR" altLang="en-US" sz="1000" b="1" dirty="0">
                <a:latin typeface="+mn-ea"/>
              </a:rPr>
              <a:t>첨부파일 연동은 하지 않음</a:t>
            </a:r>
            <a:r>
              <a:rPr lang="en-US" altLang="ko-KR" sz="1000" b="1" dirty="0">
                <a:latin typeface="+mn-ea"/>
              </a:rPr>
              <a:t>.</a:t>
            </a:r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FF30E37F-E1BF-42FE-BEDD-DE5431DCAD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150" y="6369671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06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36B63A1-5960-453C-AF2A-20C54DA9207C}"/>
              </a:ext>
            </a:extLst>
          </p:cNvPr>
          <p:cNvSpPr txBox="1"/>
          <p:nvPr/>
        </p:nvSpPr>
        <p:spPr>
          <a:xfrm>
            <a:off x="1056829" y="350315"/>
            <a:ext cx="9563578" cy="477985"/>
          </a:xfrm>
          <a:prstGeom prst="rect">
            <a:avLst/>
          </a:prstGeom>
          <a:noFill/>
        </p:spPr>
        <p:txBody>
          <a:bodyPr wrap="square" lIns="107602" tIns="53801" rIns="107602" bIns="53801" rtlCol="0">
            <a:spAutoFit/>
          </a:bodyPr>
          <a:lstStyle/>
          <a:p>
            <a:pPr lvl="0"/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2. 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결재 연동 </a:t>
            </a:r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FLOW</a:t>
            </a:r>
            <a:endParaRPr lang="ko-KR" altLang="en-US" sz="2400" b="1" kern="1000" spc="-51" dirty="0">
              <a:ln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5040000" algn="tl">
                  <a:prstClr val="black">
                    <a:alpha val="70000"/>
                  </a:prst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1278EB-E67A-4B59-8674-42AE482E9544}"/>
              </a:ext>
            </a:extLst>
          </p:cNvPr>
          <p:cNvSpPr txBox="1"/>
          <p:nvPr/>
        </p:nvSpPr>
        <p:spPr>
          <a:xfrm>
            <a:off x="734552" y="1022799"/>
            <a:ext cx="5424049" cy="37388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+mn-ea"/>
              </a:rPr>
              <a:t>INTERFACE </a:t>
            </a:r>
            <a:r>
              <a:rPr lang="ko-KR" altLang="en-US" sz="1400" b="1" dirty="0">
                <a:latin typeface="+mn-ea"/>
              </a:rPr>
              <a:t>중계 테이블 방식의 </a:t>
            </a:r>
            <a:r>
              <a:rPr lang="en-US" altLang="ko-KR" sz="1400" b="1" dirty="0">
                <a:latin typeface="+mn-ea"/>
              </a:rPr>
              <a:t>ERP </a:t>
            </a:r>
            <a:r>
              <a:rPr lang="ko-KR" altLang="en-US" sz="1400" b="1" dirty="0">
                <a:latin typeface="+mn-ea"/>
              </a:rPr>
              <a:t>시스템과 </a:t>
            </a:r>
            <a:r>
              <a:rPr lang="en-US" altLang="ko-KR" sz="1400" b="1" dirty="0">
                <a:latin typeface="+mn-ea"/>
              </a:rPr>
              <a:t>GW</a:t>
            </a:r>
            <a:r>
              <a:rPr lang="ko-KR" altLang="en-US" sz="1400" b="1" dirty="0">
                <a:latin typeface="+mn-ea"/>
              </a:rPr>
              <a:t>시스템간 </a:t>
            </a:r>
            <a:r>
              <a:rPr lang="en-US" altLang="ko-KR" sz="1400" b="1" dirty="0">
                <a:latin typeface="+mn-ea"/>
              </a:rPr>
              <a:t>R&amp;R</a:t>
            </a:r>
            <a:endParaRPr lang="ko-KR" altLang="en-US" sz="1400" b="1" dirty="0"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35C64AC-6C7D-443D-8620-7AEC05F5E293}"/>
              </a:ext>
            </a:extLst>
          </p:cNvPr>
          <p:cNvGrpSpPr/>
          <p:nvPr/>
        </p:nvGrpSpPr>
        <p:grpSpPr>
          <a:xfrm>
            <a:off x="738188" y="1807318"/>
            <a:ext cx="9073008" cy="4213970"/>
            <a:chOff x="738188" y="1988840"/>
            <a:chExt cx="9073008" cy="4213970"/>
          </a:xfrm>
        </p:grpSpPr>
        <p:sp>
          <p:nvSpPr>
            <p:cNvPr id="5" name="모서리가 둥근 직사각형 5">
              <a:extLst>
                <a:ext uri="{FF2B5EF4-FFF2-40B4-BE49-F238E27FC236}">
                  <a16:creationId xmlns:a16="http://schemas.microsoft.com/office/drawing/2014/main" id="{6992F8B3-7D65-415A-ACC0-7AA5FE5B6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034" y="2003127"/>
              <a:ext cx="2659062" cy="4199683"/>
            </a:xfrm>
            <a:prstGeom prst="roundRect">
              <a:avLst>
                <a:gd name="adj" fmla="val 8676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6" name="직사각형 9">
              <a:extLst>
                <a:ext uri="{FF2B5EF4-FFF2-40B4-BE49-F238E27FC236}">
                  <a16:creationId xmlns:a16="http://schemas.microsoft.com/office/drawing/2014/main" id="{365072E4-8E44-4033-A2A7-204627B26E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188" y="1988840"/>
              <a:ext cx="1336676" cy="36036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600" dirty="0">
                  <a:solidFill>
                    <a:schemeClr val="bg1"/>
                  </a:solidFill>
                  <a:latin typeface="+mn-ea"/>
                  <a:ea typeface="+mn-ea"/>
                </a:rPr>
                <a:t>ERP</a:t>
              </a:r>
              <a:endParaRPr lang="ko-KR" altLang="en-US" sz="16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7" name="그룹 2">
              <a:extLst>
                <a:ext uri="{FF2B5EF4-FFF2-40B4-BE49-F238E27FC236}">
                  <a16:creationId xmlns:a16="http://schemas.microsoft.com/office/drawing/2014/main" id="{EA56BCD4-4675-4AEF-9201-EA8292DBBB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6827" y="1988840"/>
              <a:ext cx="2694369" cy="4213970"/>
              <a:chOff x="5270500" y="2255838"/>
              <a:chExt cx="2694369" cy="4213970"/>
            </a:xfrm>
          </p:grpSpPr>
          <p:sp>
            <p:nvSpPr>
              <p:cNvPr id="37" name="모서리가 둥근 직사각형 39">
                <a:extLst>
                  <a:ext uri="{FF2B5EF4-FFF2-40B4-BE49-F238E27FC236}">
                    <a16:creationId xmlns:a16="http://schemas.microsoft.com/office/drawing/2014/main" id="{0575897F-66C3-4BB2-8BB9-99F14976F2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0500" y="2270125"/>
                <a:ext cx="2686050" cy="4199683"/>
              </a:xfrm>
              <a:prstGeom prst="roundRect">
                <a:avLst>
                  <a:gd name="adj" fmla="val 8676"/>
                </a:avLst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38" name="직사각형 46">
                <a:extLst>
                  <a:ext uri="{FF2B5EF4-FFF2-40B4-BE49-F238E27FC236}">
                    <a16:creationId xmlns:a16="http://schemas.microsoft.com/office/drawing/2014/main" id="{813C8694-D9AE-4E5A-96AD-C7F1BE2FE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1569" y="2255838"/>
                <a:ext cx="1003300" cy="360362"/>
              </a:xfrm>
              <a:prstGeom prst="rect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r>
                  <a:rPr lang="ko-KR" altLang="en-US" sz="1600" dirty="0">
                    <a:solidFill>
                      <a:schemeClr val="bg1"/>
                    </a:solidFill>
                    <a:latin typeface="+mn-ea"/>
                    <a:ea typeface="+mn-ea"/>
                  </a:rPr>
                  <a:t>그룹웨어</a:t>
                </a:r>
              </a:p>
            </p:txBody>
          </p:sp>
        </p:grpSp>
        <p:sp>
          <p:nvSpPr>
            <p:cNvPr id="8" name="모서리가 둥근 직사각형 27">
              <a:extLst>
                <a:ext uri="{FF2B5EF4-FFF2-40B4-BE49-F238E27FC236}">
                  <a16:creationId xmlns:a16="http://schemas.microsoft.com/office/drawing/2014/main" id="{B536426B-3EE3-41D9-8C2F-577C921732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309" y="2786138"/>
              <a:ext cx="1800225" cy="360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데이터 입력 완료</a:t>
              </a:r>
            </a:p>
          </p:txBody>
        </p:sp>
        <p:sp>
          <p:nvSpPr>
            <p:cNvPr id="9" name="모서리가 둥근 직사각형 30">
              <a:extLst>
                <a:ext uri="{FF2B5EF4-FFF2-40B4-BE49-F238E27FC236}">
                  <a16:creationId xmlns:a16="http://schemas.microsoft.com/office/drawing/2014/main" id="{F7351E13-82ED-42B8-9A6A-9F82DB9346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7677" y="2636912"/>
              <a:ext cx="1800225" cy="360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SSO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 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-&gt;</a:t>
              </a:r>
              <a:r>
                <a:rPr lang="ko-KR" altLang="en-US" sz="1200" dirty="0" err="1">
                  <a:solidFill>
                    <a:schemeClr val="bg1"/>
                  </a:solidFill>
                  <a:latin typeface="+mn-ea"/>
                  <a:ea typeface="+mn-ea"/>
                </a:rPr>
                <a:t>기안창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 호출</a:t>
              </a:r>
            </a:p>
          </p:txBody>
        </p:sp>
        <p:sp>
          <p:nvSpPr>
            <p:cNvPr id="10" name="모서리가 둥근 직사각형 32">
              <a:extLst>
                <a:ext uri="{FF2B5EF4-FFF2-40B4-BE49-F238E27FC236}">
                  <a16:creationId xmlns:a16="http://schemas.microsoft.com/office/drawing/2014/main" id="{DA8AD5A8-D50C-4CC4-AE9F-00A378B69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7677" y="3518083"/>
              <a:ext cx="1800225" cy="720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제목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본문 데이터 생성</a:t>
              </a:r>
            </a:p>
          </p:txBody>
        </p:sp>
        <p:sp>
          <p:nvSpPr>
            <p:cNvPr id="11" name="모서리가 둥근 직사각형 28">
              <a:extLst>
                <a:ext uri="{FF2B5EF4-FFF2-40B4-BE49-F238E27FC236}">
                  <a16:creationId xmlns:a16="http://schemas.microsoft.com/office/drawing/2014/main" id="{A3DE4E16-7826-4899-980D-A1FF0DA57D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667" y="3989607"/>
              <a:ext cx="1800225" cy="360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결재요청</a:t>
              </a:r>
            </a:p>
          </p:txBody>
        </p:sp>
        <p:sp>
          <p:nvSpPr>
            <p:cNvPr id="12" name="모서리가 둥근 직사각형 76">
              <a:extLst>
                <a:ext uri="{FF2B5EF4-FFF2-40B4-BE49-F238E27FC236}">
                  <a16:creationId xmlns:a16="http://schemas.microsoft.com/office/drawing/2014/main" id="{D08E2F9E-90FD-402C-AD7A-88E6EA776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7677" y="4693499"/>
              <a:ext cx="1800225" cy="504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결재선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수신처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첨부 지정</a:t>
              </a:r>
            </a:p>
          </p:txBody>
        </p:sp>
        <p:sp>
          <p:nvSpPr>
            <p:cNvPr id="13" name="모서리가 둥근 직사각형 79">
              <a:extLst>
                <a:ext uri="{FF2B5EF4-FFF2-40B4-BE49-F238E27FC236}">
                  <a16:creationId xmlns:a16="http://schemas.microsoft.com/office/drawing/2014/main" id="{374D6422-71E0-483C-B631-7BB87B88B2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7677" y="5713137"/>
              <a:ext cx="1800225" cy="360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상신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,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 완료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반려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회수</a:t>
              </a:r>
            </a:p>
          </p:txBody>
        </p:sp>
        <p:sp>
          <p:nvSpPr>
            <p:cNvPr id="14" name="모서리가 둥근 직사각형 95">
              <a:extLst>
                <a:ext uri="{FF2B5EF4-FFF2-40B4-BE49-F238E27FC236}">
                  <a16:creationId xmlns:a16="http://schemas.microsoft.com/office/drawing/2014/main" id="{A4C6368A-52AF-4C24-985C-666239DE4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309" y="5445224"/>
              <a:ext cx="1800225" cy="360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DB 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데이터 잠금 해제</a:t>
              </a:r>
            </a:p>
          </p:txBody>
        </p:sp>
        <p:sp>
          <p:nvSpPr>
            <p:cNvPr id="15" name="순서도: 자기 디스크 14">
              <a:extLst>
                <a:ext uri="{FF2B5EF4-FFF2-40B4-BE49-F238E27FC236}">
                  <a16:creationId xmlns:a16="http://schemas.microsoft.com/office/drawing/2014/main" id="{B05EB467-B393-47B0-B98E-C92C8850685A}"/>
                </a:ext>
              </a:extLst>
            </p:cNvPr>
            <p:cNvSpPr/>
            <p:nvPr/>
          </p:nvSpPr>
          <p:spPr>
            <a:xfrm>
              <a:off x="4712980" y="4021235"/>
              <a:ext cx="1376217" cy="1316015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16" name="직사각형 9">
              <a:extLst>
                <a:ext uri="{FF2B5EF4-FFF2-40B4-BE49-F238E27FC236}">
                  <a16:creationId xmlns:a16="http://schemas.microsoft.com/office/drawing/2014/main" id="{46E9DED4-B50C-4BAB-8552-74EAB71DB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9438" y="4610074"/>
              <a:ext cx="1003300" cy="360362"/>
            </a:xfrm>
            <a:prstGeom prst="rect">
              <a:avLst/>
            </a:prstGeom>
            <a:solidFill>
              <a:srgbClr val="4F81BD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600" dirty="0" err="1">
                  <a:solidFill>
                    <a:schemeClr val="bg1"/>
                  </a:solidFill>
                  <a:latin typeface="+mn-ea"/>
                  <a:ea typeface="+mn-ea"/>
                </a:rPr>
                <a:t>InterFace</a:t>
              </a:r>
              <a:endParaRPr lang="en-US" altLang="ko-KR" sz="1600" dirty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algn="ctr" eaLnBrk="1" latinLnBrk="1" hangingPunct="1"/>
              <a:r>
                <a:rPr lang="en-US" altLang="ko-KR" sz="1600" dirty="0">
                  <a:solidFill>
                    <a:schemeClr val="bg1"/>
                  </a:solidFill>
                  <a:latin typeface="+mn-ea"/>
                  <a:ea typeface="+mn-ea"/>
                </a:rPr>
                <a:t>table</a:t>
              </a:r>
              <a:endParaRPr lang="ko-KR" altLang="en-US" sz="16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5D5EAD53-8AE0-4502-B7E6-BB2AE42599E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538" y="2693496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1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4E4DC6D4-601D-4663-B5BF-2F6D734BFFB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14538" y="3872162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2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E62CC43-EE3C-4C94-ABDF-90613408B201}"/>
                </a:ext>
              </a:extLst>
            </p:cNvPr>
            <p:cNvSpPr txBox="1"/>
            <p:nvPr/>
          </p:nvSpPr>
          <p:spPr>
            <a:xfrm>
              <a:off x="1470369" y="4403844"/>
              <a:ext cx="17304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+mn-ea"/>
                </a:rPr>
                <a:t>그룹웨어 </a:t>
              </a:r>
              <a:r>
                <a:rPr lang="ko-KR" altLang="en-US" sz="1000" dirty="0" err="1">
                  <a:latin typeface="+mn-ea"/>
                </a:rPr>
                <a:t>기안기</a:t>
              </a:r>
              <a:r>
                <a:rPr lang="ko-KR" altLang="en-US" sz="1000" dirty="0">
                  <a:latin typeface="+mn-ea"/>
                </a:rPr>
                <a:t> 창 호출 </a:t>
              </a:r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3B5CB11C-9306-4507-A2AE-A23A646C0A32}"/>
                </a:ext>
              </a:extLst>
            </p:cNvPr>
            <p:cNvCxnSpPr>
              <a:cxnSpLocks/>
              <a:stCxn id="9" idx="2"/>
              <a:endCxn id="10" idx="0"/>
            </p:cNvCxnSpPr>
            <p:nvPr/>
          </p:nvCxnSpPr>
          <p:spPr>
            <a:xfrm>
              <a:off x="8467790" y="2996912"/>
              <a:ext cx="0" cy="521171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타원 20">
              <a:extLst>
                <a:ext uri="{FF2B5EF4-FFF2-40B4-BE49-F238E27FC236}">
                  <a16:creationId xmlns:a16="http://schemas.microsoft.com/office/drawing/2014/main" id="{F18362D3-F1CD-46FD-A00F-A9533E721D0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3099" y="3140968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3</a:t>
              </a:r>
              <a:endParaRPr lang="ko-KR" altLang="en-US" sz="1000" b="1" dirty="0">
                <a:latin typeface="+mn-ea"/>
              </a:endParaRPr>
            </a:p>
          </p:txBody>
        </p:sp>
        <p:cxnSp>
          <p:nvCxnSpPr>
            <p:cNvPr id="22" name="연결선: 꺾임 21">
              <a:extLst>
                <a:ext uri="{FF2B5EF4-FFF2-40B4-BE49-F238E27FC236}">
                  <a16:creationId xmlns:a16="http://schemas.microsoft.com/office/drawing/2014/main" id="{23B8209E-A7EE-495C-8EB2-66E78A288CD4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 rot="10800000" flipV="1">
              <a:off x="5401089" y="3591303"/>
              <a:ext cx="2166588" cy="429931"/>
            </a:xfrm>
            <a:prstGeom prst="bentConnector2">
              <a:avLst/>
            </a:prstGeom>
            <a:ln w="25400">
              <a:solidFill>
                <a:srgbClr val="00B050"/>
              </a:solidFill>
              <a:prstDash val="sys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E88EA6D-8DC6-4AE9-A4C1-8C1477B952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483169" y="3362250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4</a:t>
              </a:r>
              <a:endParaRPr lang="ko-KR" altLang="en-US" sz="1000" b="1" dirty="0">
                <a:latin typeface="+mn-ea"/>
              </a:endParaRPr>
            </a:p>
          </p:txBody>
        </p:sp>
        <p:cxnSp>
          <p:nvCxnSpPr>
            <p:cNvPr id="24" name="연결선: 꺾임 23">
              <a:extLst>
                <a:ext uri="{FF2B5EF4-FFF2-40B4-BE49-F238E27FC236}">
                  <a16:creationId xmlns:a16="http://schemas.microsoft.com/office/drawing/2014/main" id="{2D0300C0-63C2-400B-B511-3C565FCE33A6}"/>
                </a:ext>
              </a:extLst>
            </p:cNvPr>
            <p:cNvCxnSpPr>
              <a:cxnSpLocks/>
            </p:cNvCxnSpPr>
            <p:nvPr/>
          </p:nvCxnSpPr>
          <p:spPr>
            <a:xfrm>
              <a:off x="5634732" y="4021234"/>
              <a:ext cx="1932945" cy="148373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prstDash val="sys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CC62D650-07F3-4478-ABFA-1D71D32B98F8}"/>
                </a:ext>
              </a:extLst>
            </p:cNvPr>
            <p:cNvCxnSpPr>
              <a:cxnSpLocks/>
              <a:stCxn id="10" idx="2"/>
              <a:endCxn id="12" idx="0"/>
            </p:cNvCxnSpPr>
            <p:nvPr/>
          </p:nvCxnSpPr>
          <p:spPr>
            <a:xfrm>
              <a:off x="8467790" y="4238083"/>
              <a:ext cx="0" cy="45541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856F2A2-BF56-4E6B-911E-61D9558AF2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3099" y="4365104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5</a:t>
              </a:r>
              <a:endParaRPr lang="ko-KR" altLang="en-US" sz="1000" b="1" dirty="0">
                <a:latin typeface="+mn-ea"/>
              </a:endParaRPr>
            </a:p>
          </p:txBody>
        </p: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1711AC25-FCAF-4042-BFCA-E41607D87BBD}"/>
                </a:ext>
              </a:extLst>
            </p:cNvPr>
            <p:cNvCxnSpPr>
              <a:cxnSpLocks/>
              <a:stCxn id="12" idx="2"/>
              <a:endCxn id="13" idx="0"/>
            </p:cNvCxnSpPr>
            <p:nvPr/>
          </p:nvCxnSpPr>
          <p:spPr>
            <a:xfrm>
              <a:off x="8467790" y="5197499"/>
              <a:ext cx="0" cy="5156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C7E7C8E-9C03-4AD1-80BA-CBBFC3AA73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553099" y="5373216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6</a:t>
              </a:r>
              <a:endParaRPr lang="ko-KR" altLang="en-US" sz="1000" b="1" dirty="0">
                <a:latin typeface="+mn-ea"/>
              </a:endParaRPr>
            </a:p>
          </p:txBody>
        </p:sp>
        <p:cxnSp>
          <p:nvCxnSpPr>
            <p:cNvPr id="29" name="연결선: 꺾임 28">
              <a:extLst>
                <a:ext uri="{FF2B5EF4-FFF2-40B4-BE49-F238E27FC236}">
                  <a16:creationId xmlns:a16="http://schemas.microsoft.com/office/drawing/2014/main" id="{201D6D4D-007D-4EDB-8A3C-F6418DB7158D}"/>
                </a:ext>
              </a:extLst>
            </p:cNvPr>
            <p:cNvCxnSpPr>
              <a:cxnSpLocks/>
              <a:stCxn id="13" idx="1"/>
              <a:endCxn id="15" idx="4"/>
            </p:cNvCxnSpPr>
            <p:nvPr/>
          </p:nvCxnSpPr>
          <p:spPr>
            <a:xfrm rot="10800000">
              <a:off x="6089197" y="4679243"/>
              <a:ext cx="1478480" cy="1213894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B050"/>
              </a:solidFill>
              <a:prstDash val="sys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AABB6274-4841-43A0-A961-561477F3CF2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732205" y="5245810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7</a:t>
              </a:r>
              <a:endParaRPr lang="ko-KR" altLang="en-US" sz="1000" b="1" dirty="0">
                <a:latin typeface="+mn-ea"/>
              </a:endParaRPr>
            </a:p>
          </p:txBody>
        </p: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57CB14FE-C9B7-4A29-8395-EEDA2F7F220E}"/>
                </a:ext>
              </a:extLst>
            </p:cNvPr>
            <p:cNvCxnSpPr>
              <a:cxnSpLocks/>
              <a:stCxn id="14" idx="3"/>
              <a:endCxn id="15" idx="3"/>
            </p:cNvCxnSpPr>
            <p:nvPr/>
          </p:nvCxnSpPr>
          <p:spPr>
            <a:xfrm flipV="1">
              <a:off x="2982534" y="5337250"/>
              <a:ext cx="2418555" cy="287974"/>
            </a:xfrm>
            <a:prstGeom prst="bentConnector2">
              <a:avLst/>
            </a:prstGeom>
            <a:ln w="25400">
              <a:solidFill>
                <a:srgbClr val="604A7B"/>
              </a:solidFill>
              <a:headEnd type="stealth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325BBDC0-72ED-487B-A6AC-EC9F3AD8EA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535885" y="5634345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8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EC405CD-0AED-45C2-B907-463E399FA585}"/>
                </a:ext>
              </a:extLst>
            </p:cNvPr>
            <p:cNvSpPr txBox="1"/>
            <p:nvPr/>
          </p:nvSpPr>
          <p:spPr>
            <a:xfrm>
              <a:off x="3767844" y="5636665"/>
              <a:ext cx="104387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000" dirty="0">
                  <a:latin typeface="+mn-ea"/>
                </a:rPr>
                <a:t>결재 상태 체크</a:t>
              </a:r>
            </a:p>
          </p:txBody>
        </p:sp>
        <p:cxnSp>
          <p:nvCxnSpPr>
            <p:cNvPr id="34" name="연결선: 꺾임 33">
              <a:extLst>
                <a:ext uri="{FF2B5EF4-FFF2-40B4-BE49-F238E27FC236}">
                  <a16:creationId xmlns:a16="http://schemas.microsoft.com/office/drawing/2014/main" id="{02D6C10B-0779-418D-A99E-9CF108F283D6}"/>
                </a:ext>
              </a:extLst>
            </p:cNvPr>
            <p:cNvCxnSpPr>
              <a:cxnSpLocks/>
              <a:stCxn id="8" idx="3"/>
              <a:endCxn id="15" idx="2"/>
            </p:cNvCxnSpPr>
            <p:nvPr/>
          </p:nvCxnSpPr>
          <p:spPr>
            <a:xfrm>
              <a:off x="2982534" y="2966138"/>
              <a:ext cx="1730446" cy="1713105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90AB743-0A32-48CC-AECD-F9235EF40B98}"/>
                </a:ext>
              </a:extLst>
            </p:cNvPr>
            <p:cNvSpPr txBox="1"/>
            <p:nvPr/>
          </p:nvSpPr>
          <p:spPr>
            <a:xfrm>
              <a:off x="5668467" y="3345423"/>
              <a:ext cx="163182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latin typeface="+mn-ea"/>
                </a:rPr>
                <a:t>연동키로 결재본문 호출</a:t>
              </a:r>
            </a:p>
          </p:txBody>
        </p:sp>
        <p:cxnSp>
          <p:nvCxnSpPr>
            <p:cNvPr id="36" name="연결선: 꺾임 35">
              <a:extLst>
                <a:ext uri="{FF2B5EF4-FFF2-40B4-BE49-F238E27FC236}">
                  <a16:creationId xmlns:a16="http://schemas.microsoft.com/office/drawing/2014/main" id="{06E54F61-A002-4174-A029-8D48298E0B1D}"/>
                </a:ext>
              </a:extLst>
            </p:cNvPr>
            <p:cNvCxnSpPr>
              <a:cxnSpLocks/>
              <a:stCxn id="11" idx="3"/>
              <a:endCxn id="9" idx="1"/>
            </p:cNvCxnSpPr>
            <p:nvPr/>
          </p:nvCxnSpPr>
          <p:spPr>
            <a:xfrm flipV="1">
              <a:off x="2997892" y="2816912"/>
              <a:ext cx="4569785" cy="1352695"/>
            </a:xfrm>
            <a:prstGeom prst="bentConnector3">
              <a:avLst>
                <a:gd name="adj1" fmla="val 29590"/>
              </a:avLst>
            </a:pr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9" name="그림 38">
            <a:extLst>
              <a:ext uri="{FF2B5EF4-FFF2-40B4-BE49-F238E27FC236}">
                <a16:creationId xmlns:a16="http://schemas.microsoft.com/office/drawing/2014/main" id="{8EF52635-9E4D-4F63-BFCF-BE45AF0FA2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150" y="6369671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5484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0A172F53-5EF9-4DE4-B3EE-FFC0DEE7E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422065"/>
              </p:ext>
            </p:extLst>
          </p:nvPr>
        </p:nvGraphicFramePr>
        <p:xfrm>
          <a:off x="544418" y="1329735"/>
          <a:ext cx="4946298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858">
                  <a:extLst>
                    <a:ext uri="{9D8B030D-6E8A-4147-A177-3AD203B41FA5}">
                      <a16:colId xmlns:a16="http://schemas.microsoft.com/office/drawing/2014/main" val="55129655"/>
                    </a:ext>
                  </a:extLst>
                </a:gridCol>
                <a:gridCol w="1980220">
                  <a:extLst>
                    <a:ext uri="{9D8B030D-6E8A-4147-A177-3AD203B41FA5}">
                      <a16:colId xmlns:a16="http://schemas.microsoft.com/office/drawing/2014/main" val="1456651852"/>
                    </a:ext>
                  </a:extLst>
                </a:gridCol>
                <a:gridCol w="1980220">
                  <a:extLst>
                    <a:ext uri="{9D8B030D-6E8A-4147-A177-3AD203B41FA5}">
                      <a16:colId xmlns:a16="http://schemas.microsoft.com/office/drawing/2014/main" val="1535654189"/>
                    </a:ext>
                  </a:extLst>
                </a:gridCol>
              </a:tblGrid>
              <a:tr h="2188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DB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oracle  12g)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652424799"/>
                  </a:ext>
                </a:extLst>
              </a:tr>
              <a:tr h="2188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IP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3048315761"/>
                  </a:ext>
                </a:extLst>
              </a:tr>
              <a:tr h="2188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Port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670408212"/>
                  </a:ext>
                </a:extLst>
              </a:tr>
              <a:tr h="2188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SID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20">
                      <a:fgClr>
                        <a:schemeClr val="bg1">
                          <a:lumMod val="75000"/>
                        </a:schemeClr>
                      </a:fgClr>
                      <a:bgClr>
                        <a:schemeClr val="bg1"/>
                      </a:bgClr>
                    </a:pattFill>
                  </a:tcPr>
                </a:tc>
                <a:extLst>
                  <a:ext uri="{0D108BD9-81ED-4DB2-BD59-A6C34878D82A}">
                    <a16:rowId xmlns:a16="http://schemas.microsoft.com/office/drawing/2014/main" val="2968822965"/>
                  </a:ext>
                </a:extLst>
              </a:tr>
              <a:tr h="2188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Select,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Update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권한만 필요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169513"/>
                  </a:ext>
                </a:extLst>
              </a:tr>
              <a:tr h="21886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PASSWORD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951391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2718426-DCDD-4ADD-8647-4D8D90F6B616}"/>
              </a:ext>
            </a:extLst>
          </p:cNvPr>
          <p:cNvSpPr txBox="1"/>
          <p:nvPr/>
        </p:nvSpPr>
        <p:spPr>
          <a:xfrm>
            <a:off x="349504" y="980728"/>
            <a:ext cx="18357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1) GW</a:t>
            </a:r>
            <a:r>
              <a:rPr lang="ko-KR" altLang="en-US" sz="1200" b="1" dirty="0"/>
              <a:t>에서 연결할 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8148A-BC04-4A2A-A3EE-DA6D233B2AE8}"/>
              </a:ext>
            </a:extLst>
          </p:cNvPr>
          <p:cNvSpPr txBox="1"/>
          <p:nvPr/>
        </p:nvSpPr>
        <p:spPr>
          <a:xfrm>
            <a:off x="349504" y="2935977"/>
            <a:ext cx="1295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/>
              <a:t>2) </a:t>
            </a:r>
            <a:r>
              <a:rPr lang="ko-KR" altLang="en-US" sz="1200" b="1" dirty="0"/>
              <a:t>테이블 정의 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0777544-CB53-44E5-9250-8E7E52CBEC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1445630"/>
              </p:ext>
            </p:extLst>
          </p:nvPr>
        </p:nvGraphicFramePr>
        <p:xfrm>
          <a:off x="544418" y="3286128"/>
          <a:ext cx="9604565" cy="3223260"/>
        </p:xfrm>
        <a:graphic>
          <a:graphicData uri="http://schemas.openxmlformats.org/drawingml/2006/table">
            <a:tbl>
              <a:tblPr/>
              <a:tblGrid>
                <a:gridCol w="968373">
                  <a:extLst>
                    <a:ext uri="{9D8B030D-6E8A-4147-A177-3AD203B41FA5}">
                      <a16:colId xmlns:a16="http://schemas.microsoft.com/office/drawing/2014/main" val="2852062190"/>
                    </a:ext>
                  </a:extLst>
                </a:gridCol>
                <a:gridCol w="1431154">
                  <a:extLst>
                    <a:ext uri="{9D8B030D-6E8A-4147-A177-3AD203B41FA5}">
                      <a16:colId xmlns:a16="http://schemas.microsoft.com/office/drawing/2014/main" val="2232524219"/>
                    </a:ext>
                  </a:extLst>
                </a:gridCol>
                <a:gridCol w="2186731">
                  <a:extLst>
                    <a:ext uri="{9D8B030D-6E8A-4147-A177-3AD203B41FA5}">
                      <a16:colId xmlns:a16="http://schemas.microsoft.com/office/drawing/2014/main" val="3733253197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610149271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66965088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89331104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3635539451"/>
                    </a:ext>
                  </a:extLst>
                </a:gridCol>
                <a:gridCol w="1417907">
                  <a:extLst>
                    <a:ext uri="{9D8B030D-6E8A-4147-A177-3AD203B41FA5}">
                      <a16:colId xmlns:a16="http://schemas.microsoft.com/office/drawing/2014/main" val="3363813694"/>
                    </a:ext>
                  </a:extLst>
                </a:gridCol>
              </a:tblGrid>
              <a:tr h="2194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TBL_CONNDATA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TBL_CONNDATA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30332"/>
                  </a:ext>
                </a:extLst>
              </a:tr>
              <a:tr h="2194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ERP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결재 연동 중계 테이블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93110"/>
                  </a:ext>
                </a:extLst>
              </a:tr>
              <a:tr h="2194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Primary Key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KEYID, FORMID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45461"/>
                  </a:ext>
                </a:extLst>
              </a:tr>
              <a:tr h="219476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Foreign Key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81162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Physical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Logical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Type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 구분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286831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ERP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시스템 고유 </a:t>
                      </a:r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VARCHAR2(50)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endParaRPr 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ERP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67088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양식 아이디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VARCHAR2(50)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r>
                        <a:rPr lang="ko-KR" altLang="en-US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PK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869039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아이디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VARCHAR2(50)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649958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DEPTCD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기안 작성자의 소속부서코드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VARCHAR2(50)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863656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VARCHAR2(255)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6355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50" b="1" i="0" u="none" strike="noStrike" dirty="0">
                          <a:solidFill>
                            <a:srgbClr val="C050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BODYHTML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050" b="1" i="0" u="none" strike="noStrike" dirty="0">
                          <a:solidFill>
                            <a:srgbClr val="C050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본문 </a:t>
                      </a:r>
                      <a:r>
                        <a:rPr lang="en-US" altLang="ko-KR" sz="1050" b="1" i="0" u="none" strike="noStrike" dirty="0">
                          <a:solidFill>
                            <a:srgbClr val="C0504D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HTML</a:t>
                      </a:r>
                      <a:endParaRPr lang="ko-KR" altLang="en-US" sz="1050" b="1" i="0" u="none" strike="noStrike" dirty="0">
                        <a:solidFill>
                          <a:srgbClr val="C0504D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050" b="1" i="0" u="none" strike="noStrike" dirty="0">
                          <a:solidFill>
                            <a:srgbClr val="C0504D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CLOB</a:t>
                      </a:r>
                      <a:endParaRPr lang="ko-KR" altLang="en-US" sz="1050" b="0" i="0" u="none" strike="noStrike" dirty="0">
                        <a:solidFill>
                          <a:srgbClr val="C0504D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801838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상태값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CHAR(3)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r>
                        <a:rPr lang="ko-KR" alt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  <a:r>
                        <a:rPr lang="en-US" altLang="ko-KR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GW</a:t>
                      </a:r>
                      <a:r>
                        <a:rPr lang="ko-KR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업데이트</a:t>
                      </a:r>
                      <a:endParaRPr lang="ko-KR" altLang="en-US" sz="900" b="1" i="0" u="none" strike="noStrike" dirty="0">
                        <a:solidFill>
                          <a:srgbClr val="C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5690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그룹웨어 고유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CHAR(20)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GW</a:t>
                      </a:r>
                      <a:endParaRPr lang="ko-KR" altLang="en-US" sz="9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308216"/>
                  </a:ext>
                </a:extLst>
              </a:tr>
              <a:tr h="2194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UPDATEDATE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연동일자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발생시 업데이트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ERP</a:t>
                      </a:r>
                      <a:r>
                        <a:rPr lang="en-US" altLang="ko-KR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GW</a:t>
                      </a:r>
                      <a:r>
                        <a:rPr lang="ko-KR" altLang="en-US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업데이트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467175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C3C6860-14A7-4D20-94D8-22FFCEDAA6CF}"/>
              </a:ext>
            </a:extLst>
          </p:cNvPr>
          <p:cNvSpPr txBox="1"/>
          <p:nvPr/>
        </p:nvSpPr>
        <p:spPr>
          <a:xfrm>
            <a:off x="1056829" y="350315"/>
            <a:ext cx="9563578" cy="477985"/>
          </a:xfrm>
          <a:prstGeom prst="rect">
            <a:avLst/>
          </a:prstGeom>
          <a:noFill/>
        </p:spPr>
        <p:txBody>
          <a:bodyPr wrap="square" lIns="107602" tIns="53801" rIns="107602" bIns="53801" rtlCol="0">
            <a:spAutoFit/>
          </a:bodyPr>
          <a:lstStyle/>
          <a:p>
            <a:pPr lvl="0"/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3. </a:t>
            </a:r>
            <a:r>
              <a:rPr lang="en-US" altLang="ko-KR" sz="2400" b="1" kern="1000" spc="-51" dirty="0" err="1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InterFace</a:t>
            </a:r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중계 테이블 정의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17178-203A-4CE2-A7B9-8FF84EF5B295}"/>
              </a:ext>
            </a:extLst>
          </p:cNvPr>
          <p:cNvSpPr txBox="1"/>
          <p:nvPr/>
        </p:nvSpPr>
        <p:spPr>
          <a:xfrm>
            <a:off x="5778748" y="1277303"/>
            <a:ext cx="4391539" cy="116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sz="1200" dirty="0" err="1"/>
              <a:t>InterFace</a:t>
            </a:r>
            <a:r>
              <a:rPr lang="en-US" altLang="ko-KR" sz="1200" dirty="0"/>
              <a:t> TABLE</a:t>
            </a:r>
            <a:r>
              <a:rPr lang="ko-KR" altLang="en-US" sz="1200" dirty="0"/>
              <a:t> 은 </a:t>
            </a:r>
            <a:r>
              <a:rPr lang="en-US" altLang="ko-KR" sz="1200" dirty="0"/>
              <a:t>ERP </a:t>
            </a:r>
            <a:r>
              <a:rPr lang="ko-KR" altLang="en-US" sz="1200" dirty="0"/>
              <a:t>시스템 </a:t>
            </a:r>
            <a:r>
              <a:rPr lang="en-US" altLang="ko-KR" sz="1200" dirty="0" err="1"/>
              <a:t>DataBase</a:t>
            </a:r>
            <a:r>
              <a:rPr lang="en-US" altLang="ko-KR" sz="1200" dirty="0"/>
              <a:t> </a:t>
            </a:r>
            <a:r>
              <a:rPr lang="ko-KR" altLang="en-US" sz="1200" dirty="0"/>
              <a:t>내에 위치하며 </a:t>
            </a:r>
            <a:endParaRPr lang="en-US" altLang="ko-KR" sz="1200" dirty="0"/>
          </a:p>
          <a:p>
            <a:pPr>
              <a:lnSpc>
                <a:spcPct val="150000"/>
              </a:lnSpc>
            </a:pPr>
            <a:r>
              <a:rPr lang="en-US" altLang="ko-KR" sz="1200" dirty="0"/>
              <a:t>   </a:t>
            </a:r>
            <a:r>
              <a:rPr lang="ko-KR" altLang="en-US" sz="1200" dirty="0"/>
              <a:t>그룹웨어개발팀에 연결정보를 제공해야 합니다</a:t>
            </a:r>
            <a:r>
              <a:rPr lang="en-US" altLang="ko-KR" sz="12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200" dirty="0"/>
          </a:p>
          <a:p>
            <a:pPr>
              <a:lnSpc>
                <a:spcPct val="150000"/>
              </a:lnSpc>
            </a:pPr>
            <a:endParaRPr lang="en-US" altLang="ko-KR" sz="12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3D6E73B-4C03-4F52-8B50-A18E752E7F91}"/>
              </a:ext>
            </a:extLst>
          </p:cNvPr>
          <p:cNvSpPr/>
          <p:nvPr/>
        </p:nvSpPr>
        <p:spPr>
          <a:xfrm rot="19852854">
            <a:off x="8886220" y="3242796"/>
            <a:ext cx="1447277" cy="337540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샘플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AF3AD92-9E20-42DF-8CD2-4AFAF05C1F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150" y="6369671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92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83A515-C31F-4851-8651-02EDDBA052A2}"/>
              </a:ext>
            </a:extLst>
          </p:cNvPr>
          <p:cNvSpPr txBox="1"/>
          <p:nvPr/>
        </p:nvSpPr>
        <p:spPr>
          <a:xfrm>
            <a:off x="349504" y="1063769"/>
            <a:ext cx="3413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TBL_CONNDATA</a:t>
            </a:r>
            <a:r>
              <a:rPr lang="en-US" altLang="ko-KR" sz="1200" b="1" dirty="0"/>
              <a:t>.</a:t>
            </a:r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BODYHTML </a:t>
            </a: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endParaRPr lang="ko-KR" altLang="en-US" sz="1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8C48AC-A5DF-4781-9C58-84056E68ECBB}"/>
              </a:ext>
            </a:extLst>
          </p:cNvPr>
          <p:cNvSpPr txBox="1"/>
          <p:nvPr/>
        </p:nvSpPr>
        <p:spPr>
          <a:xfrm>
            <a:off x="1056829" y="350315"/>
            <a:ext cx="9563578" cy="477985"/>
          </a:xfrm>
          <a:prstGeom prst="rect">
            <a:avLst/>
          </a:prstGeom>
          <a:noFill/>
        </p:spPr>
        <p:txBody>
          <a:bodyPr wrap="square" lIns="107602" tIns="53801" rIns="107602" bIns="53801" rtlCol="0">
            <a:spAutoFit/>
          </a:bodyPr>
          <a:lstStyle/>
          <a:p>
            <a:pPr lvl="0"/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4. BODYHTML DATA 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포맷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A35AD99-321A-414A-B7E1-9AD059447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677" y="1494535"/>
            <a:ext cx="4254730" cy="15288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6B5223-2B0E-4B04-BC85-B250FDC461D5}"/>
              </a:ext>
            </a:extLst>
          </p:cNvPr>
          <p:cNvSpPr txBox="1"/>
          <p:nvPr/>
        </p:nvSpPr>
        <p:spPr>
          <a:xfrm>
            <a:off x="378148" y="1477228"/>
            <a:ext cx="5256584" cy="48320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table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border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cellpadding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="3"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cellspacing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style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width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640px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border-collapse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collapse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 err="1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tbody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colspan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style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text-align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center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사번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123456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소속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ko-KR" alt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진료과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colspan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style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text-align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center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성명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ko-KR" alt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김아무개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입사일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2019.01.01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colspan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rowspan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style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text-align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center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구분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colspan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="3"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rowspan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정기 휴가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style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text-align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center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기간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&amp;nbsp;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2019.12.01 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부터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ko-KR" altLang="en-US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endParaRPr lang="ko-KR" altLang="en-US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&amp;nbsp;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2019.12.05 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까지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ko-KR" altLang="en-US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style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text-align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center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대체휴가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-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style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text-align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: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center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"&gt;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사유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colspan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="3"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rowspan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="1"&gt;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개인사유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colspan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="4"&gt;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위 본인은 상기와 같이 휴가원을 </a:t>
            </a:r>
            <a:r>
              <a:rPr lang="ko-KR" altLang="en-US" sz="700" dirty="0" err="1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제출하오니</a:t>
            </a:r>
            <a:r>
              <a:rPr lang="ko-KR" altLang="en-US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승인하여 주시기 바랍니다</a:t>
            </a:r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.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ko-KR" altLang="en-US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&amp;</a:t>
            </a:r>
            <a:r>
              <a:rPr lang="en-US" altLang="ko-KR" sz="700" dirty="0" err="1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nbsp</a:t>
            </a:r>
            <a:r>
              <a:rPr lang="en-US" altLang="ko-KR" sz="700" dirty="0">
                <a:solidFill>
                  <a:srgbClr val="FF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p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td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tr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 err="1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tbody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&lt;/</a:t>
            </a:r>
            <a:r>
              <a:rPr lang="en-US" altLang="ko-KR" sz="700" dirty="0">
                <a:solidFill>
                  <a:srgbClr val="800000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table</a:t>
            </a:r>
            <a:r>
              <a:rPr lang="en-US" altLang="ko-KR" sz="700" dirty="0">
                <a:solidFill>
                  <a:srgbClr val="0000FF"/>
                </a:solidFill>
                <a:highlight>
                  <a:srgbClr val="FFFFFF"/>
                </a:highlight>
                <a:latin typeface="돋움체" panose="020B0609000101010101" pitchFamily="49" charset="-127"/>
                <a:ea typeface="돋움체" panose="020B0609000101010101" pitchFamily="49" charset="-127"/>
              </a:rPr>
              <a:t>&gt;</a:t>
            </a:r>
            <a:endParaRPr lang="en-US" altLang="ko-KR" sz="700" dirty="0">
              <a:solidFill>
                <a:srgbClr val="000000"/>
              </a:solidFill>
              <a:highlight>
                <a:srgbClr val="FFFFFF"/>
              </a:highlight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6" name="화살표: 줄무늬가 있는 오른쪽 5">
            <a:extLst>
              <a:ext uri="{FF2B5EF4-FFF2-40B4-BE49-F238E27FC236}">
                <a16:creationId xmlns:a16="http://schemas.microsoft.com/office/drawing/2014/main" id="{ECC908B3-42E8-4EBB-8F3A-3E9D466492C0}"/>
              </a:ext>
            </a:extLst>
          </p:cNvPr>
          <p:cNvSpPr/>
          <p:nvPr/>
        </p:nvSpPr>
        <p:spPr>
          <a:xfrm>
            <a:off x="5778748" y="1998591"/>
            <a:ext cx="504056" cy="576064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12766B-9920-486B-B764-49224533981C}"/>
              </a:ext>
            </a:extLst>
          </p:cNvPr>
          <p:cNvSpPr txBox="1"/>
          <p:nvPr/>
        </p:nvSpPr>
        <p:spPr>
          <a:xfrm>
            <a:off x="3352490" y="5975703"/>
            <a:ext cx="2411558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ERP</a:t>
            </a:r>
            <a:r>
              <a:rPr lang="ko-KR" altLang="en-US" sz="1200" dirty="0"/>
              <a:t>시스템 </a:t>
            </a:r>
            <a:r>
              <a:rPr lang="en-US" altLang="ko-KR" sz="1200" dirty="0"/>
              <a:t>-&gt;</a:t>
            </a:r>
            <a:r>
              <a:rPr lang="ko-KR" altLang="en-US" sz="1200" dirty="0"/>
              <a:t> </a:t>
            </a:r>
            <a:r>
              <a:rPr lang="en-US" altLang="ko-KR" sz="1200" dirty="0"/>
              <a:t>HTML text Insert</a:t>
            </a:r>
            <a:r>
              <a:rPr lang="ko-KR" altLang="en-US" sz="1200" dirty="0"/>
              <a:t> </a:t>
            </a:r>
            <a:endParaRPr lang="en-US" altLang="ko-KR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3C7B-D253-419D-B0FB-1A089AEB4B63}"/>
              </a:ext>
            </a:extLst>
          </p:cNvPr>
          <p:cNvSpPr txBox="1"/>
          <p:nvPr/>
        </p:nvSpPr>
        <p:spPr>
          <a:xfrm>
            <a:off x="7499019" y="3023375"/>
            <a:ext cx="1988045" cy="3336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GW</a:t>
            </a:r>
            <a:r>
              <a:rPr lang="ko-KR" altLang="en-US" sz="1200" dirty="0"/>
              <a:t>시스템의 </a:t>
            </a:r>
            <a:r>
              <a:rPr lang="ko-KR" altLang="en-US" sz="1200" dirty="0" err="1"/>
              <a:t>기안기</a:t>
            </a:r>
            <a:r>
              <a:rPr lang="ko-KR" altLang="en-US" sz="1200" dirty="0"/>
              <a:t> 표기</a:t>
            </a:r>
            <a:endParaRPr lang="en-US" altLang="ko-KR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BCCDDF-04D9-411C-92A8-E963D4868BA7}"/>
              </a:ext>
            </a:extLst>
          </p:cNvPr>
          <p:cNvSpPr txBox="1"/>
          <p:nvPr/>
        </p:nvSpPr>
        <p:spPr>
          <a:xfrm>
            <a:off x="5842068" y="4885832"/>
            <a:ext cx="4098886" cy="755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000" b="1" dirty="0">
                <a:solidFill>
                  <a:srgbClr val="FF0000"/>
                </a:solidFill>
                <a:latin typeface="+mn-ea"/>
              </a:rPr>
              <a:t>※ </a:t>
            </a:r>
            <a:r>
              <a:rPr lang="ko-KR" altLang="en-US" sz="1000" b="1" dirty="0">
                <a:solidFill>
                  <a:srgbClr val="FF0000"/>
                </a:solidFill>
                <a:latin typeface="+mn-ea"/>
              </a:rPr>
              <a:t>제약조건</a:t>
            </a:r>
            <a:endParaRPr lang="en-US" altLang="ko-KR" sz="1000" b="1" dirty="0">
              <a:solidFill>
                <a:srgbClr val="FF0000"/>
              </a:solidFill>
              <a:latin typeface="+mn-ea"/>
            </a:endParaRPr>
          </a:p>
          <a:p>
            <a:pPr marL="182563" indent="-182563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본문 데이터에는 </a:t>
            </a:r>
            <a:r>
              <a:rPr lang="en-US" altLang="ko-KR" sz="1000" dirty="0">
                <a:latin typeface="+mn-ea"/>
              </a:rPr>
              <a:t>text type </a:t>
            </a:r>
            <a:r>
              <a:rPr lang="ko-KR" altLang="en-US" sz="1000" dirty="0">
                <a:latin typeface="+mn-ea"/>
              </a:rPr>
              <a:t>만 가능함</a:t>
            </a:r>
            <a:r>
              <a:rPr lang="en-US" altLang="ko-KR" sz="1000" dirty="0">
                <a:latin typeface="+mn-ea"/>
              </a:rPr>
              <a:t>.</a:t>
            </a:r>
          </a:p>
          <a:p>
            <a:pPr marL="182563" indent="-182563">
              <a:lnSpc>
                <a:spcPct val="150000"/>
              </a:lnSpc>
              <a:buFontTx/>
              <a:buChar char="-"/>
            </a:pPr>
            <a:r>
              <a:rPr lang="ko-KR" altLang="en-US" sz="1000" dirty="0">
                <a:latin typeface="+mn-ea"/>
              </a:rPr>
              <a:t>이미지파일 같은 파일은 불가함</a:t>
            </a:r>
            <a:r>
              <a:rPr lang="en-US" altLang="ko-KR" sz="1000" dirty="0">
                <a:latin typeface="+mn-ea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457E3C1-3CD3-48BF-B71E-7BB74E7AD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150" y="6369671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41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7CE6BF3F-6265-46E2-A74E-EB279038331F}"/>
              </a:ext>
            </a:extLst>
          </p:cNvPr>
          <p:cNvSpPr txBox="1"/>
          <p:nvPr/>
        </p:nvSpPr>
        <p:spPr>
          <a:xfrm>
            <a:off x="1056829" y="350315"/>
            <a:ext cx="9563578" cy="477985"/>
          </a:xfrm>
          <a:prstGeom prst="rect">
            <a:avLst/>
          </a:prstGeom>
          <a:noFill/>
        </p:spPr>
        <p:txBody>
          <a:bodyPr wrap="square" lIns="107602" tIns="53801" rIns="107602" bIns="53801" rtlCol="0">
            <a:spAutoFit/>
          </a:bodyPr>
          <a:lstStyle/>
          <a:p>
            <a:pPr lvl="0"/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5-1. 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그룹웨어 </a:t>
            </a:r>
            <a:r>
              <a:rPr lang="ko-KR" altLang="en-US" sz="2400" b="1" kern="1000" spc="-51" dirty="0" err="1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기안창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호출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20A5966-60D6-4DD4-9DB5-5D676B70755E}"/>
              </a:ext>
            </a:extLst>
          </p:cNvPr>
          <p:cNvGrpSpPr/>
          <p:nvPr/>
        </p:nvGrpSpPr>
        <p:grpSpPr>
          <a:xfrm>
            <a:off x="738188" y="3448801"/>
            <a:ext cx="9073008" cy="3106263"/>
            <a:chOff x="738188" y="3131049"/>
            <a:chExt cx="9073008" cy="3106263"/>
          </a:xfrm>
        </p:grpSpPr>
        <p:sp>
          <p:nvSpPr>
            <p:cNvPr id="27" name="모서리가 둥근 직사각형 5">
              <a:extLst>
                <a:ext uri="{FF2B5EF4-FFF2-40B4-BE49-F238E27FC236}">
                  <a16:creationId xmlns:a16="http://schemas.microsoft.com/office/drawing/2014/main" id="{F09BB608-AA76-4304-92A4-0E195A991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034" y="3145336"/>
              <a:ext cx="2659062" cy="2866033"/>
            </a:xfrm>
            <a:prstGeom prst="roundRect">
              <a:avLst>
                <a:gd name="adj" fmla="val 8676"/>
              </a:avLst>
            </a:prstGeom>
            <a:solidFill>
              <a:schemeClr val="bg1"/>
            </a:solidFill>
            <a:ln w="2857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28" name="직사각형 9">
              <a:extLst>
                <a:ext uri="{FF2B5EF4-FFF2-40B4-BE49-F238E27FC236}">
                  <a16:creationId xmlns:a16="http://schemas.microsoft.com/office/drawing/2014/main" id="{B7A2D1E1-2816-4EC2-BB2A-87D2A36E82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8188" y="3131049"/>
              <a:ext cx="1336676" cy="360362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600" dirty="0">
                  <a:solidFill>
                    <a:schemeClr val="bg1"/>
                  </a:solidFill>
                  <a:latin typeface="+mn-ea"/>
                  <a:ea typeface="+mn-ea"/>
                </a:rPr>
                <a:t>ERP</a:t>
              </a:r>
              <a:endParaRPr lang="ko-KR" altLang="en-US" sz="16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grpSp>
          <p:nvGrpSpPr>
            <p:cNvPr id="29" name="그룹 2">
              <a:extLst>
                <a:ext uri="{FF2B5EF4-FFF2-40B4-BE49-F238E27FC236}">
                  <a16:creationId xmlns:a16="http://schemas.microsoft.com/office/drawing/2014/main" id="{86BEE5BB-7125-41EE-AF8A-49B2FF40EC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6827" y="3131049"/>
              <a:ext cx="2694369" cy="2880320"/>
              <a:chOff x="5270500" y="2255838"/>
              <a:chExt cx="2694369" cy="2880320"/>
            </a:xfrm>
          </p:grpSpPr>
          <p:sp>
            <p:nvSpPr>
              <p:cNvPr id="44" name="모서리가 둥근 직사각형 39">
                <a:extLst>
                  <a:ext uri="{FF2B5EF4-FFF2-40B4-BE49-F238E27FC236}">
                    <a16:creationId xmlns:a16="http://schemas.microsoft.com/office/drawing/2014/main" id="{3D462B02-99B4-446E-8D98-82CF4FB5A7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70500" y="2270125"/>
                <a:ext cx="2686050" cy="2866033"/>
              </a:xfrm>
              <a:prstGeom prst="roundRect">
                <a:avLst>
                  <a:gd name="adj" fmla="val 8676"/>
                </a:avLst>
              </a:prstGeom>
              <a:solidFill>
                <a:schemeClr val="bg1"/>
              </a:solidFill>
              <a:ln w="2857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endParaRPr lang="ko-KR" altLang="en-US">
                  <a:latin typeface="+mn-ea"/>
                  <a:ea typeface="+mn-ea"/>
                </a:endParaRPr>
              </a:p>
            </p:txBody>
          </p:sp>
          <p:sp>
            <p:nvSpPr>
              <p:cNvPr id="45" name="직사각형 46">
                <a:extLst>
                  <a:ext uri="{FF2B5EF4-FFF2-40B4-BE49-F238E27FC236}">
                    <a16:creationId xmlns:a16="http://schemas.microsoft.com/office/drawing/2014/main" id="{C0FC0AAF-576A-4112-B895-CECA474CD5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961569" y="2255838"/>
                <a:ext cx="1003300" cy="360362"/>
              </a:xfrm>
              <a:prstGeom prst="rect">
                <a:avLst/>
              </a:prstGeom>
              <a:solidFill>
                <a:schemeClr val="tx1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latinLnBrk="1" hangingPunct="1"/>
                <a:r>
                  <a:rPr lang="ko-KR" altLang="en-US" sz="1600" dirty="0">
                    <a:solidFill>
                      <a:schemeClr val="bg1"/>
                    </a:solidFill>
                    <a:latin typeface="+mn-ea"/>
                    <a:ea typeface="+mn-ea"/>
                  </a:rPr>
                  <a:t>그룹웨어</a:t>
                </a:r>
              </a:p>
            </p:txBody>
          </p:sp>
        </p:grpSp>
        <p:sp>
          <p:nvSpPr>
            <p:cNvPr id="30" name="모서리가 둥근 직사각형 27">
              <a:extLst>
                <a:ext uri="{FF2B5EF4-FFF2-40B4-BE49-F238E27FC236}">
                  <a16:creationId xmlns:a16="http://schemas.microsoft.com/office/drawing/2014/main" id="{E748D566-8E3E-4DF0-963E-43A101005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309" y="3995177"/>
              <a:ext cx="1800225" cy="288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데이터 입력 완료</a:t>
              </a:r>
            </a:p>
          </p:txBody>
        </p:sp>
        <p:sp>
          <p:nvSpPr>
            <p:cNvPr id="31" name="모서리가 둥근 직사각형 30">
              <a:extLst>
                <a:ext uri="{FF2B5EF4-FFF2-40B4-BE49-F238E27FC236}">
                  <a16:creationId xmlns:a16="http://schemas.microsoft.com/office/drawing/2014/main" id="{85BC2308-0052-481A-8CD7-87A8E0541D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7677" y="3779121"/>
              <a:ext cx="1800225" cy="401534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SSO-&gt; </a:t>
              </a:r>
              <a:r>
                <a:rPr lang="ko-KR" altLang="en-US" sz="1200" dirty="0" err="1">
                  <a:solidFill>
                    <a:schemeClr val="bg1"/>
                  </a:solidFill>
                  <a:latin typeface="+mn-ea"/>
                  <a:ea typeface="+mn-ea"/>
                </a:rPr>
                <a:t>기안창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 호출</a:t>
              </a:r>
            </a:p>
          </p:txBody>
        </p:sp>
        <p:sp>
          <p:nvSpPr>
            <p:cNvPr id="32" name="모서리가 둥근 직사각형 32">
              <a:extLst>
                <a:ext uri="{FF2B5EF4-FFF2-40B4-BE49-F238E27FC236}">
                  <a16:creationId xmlns:a16="http://schemas.microsoft.com/office/drawing/2014/main" id="{F63D31E4-275A-47B4-94EB-77F0EB6BA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7677" y="4660293"/>
              <a:ext cx="1800225" cy="695777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제목</a:t>
              </a:r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, </a:t>
              </a:r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본문 데이터 생성</a:t>
              </a:r>
            </a:p>
          </p:txBody>
        </p:sp>
        <p:sp>
          <p:nvSpPr>
            <p:cNvPr id="33" name="모서리가 둥근 직사각형 28">
              <a:extLst>
                <a:ext uri="{FF2B5EF4-FFF2-40B4-BE49-F238E27FC236}">
                  <a16:creationId xmlns:a16="http://schemas.microsoft.com/office/drawing/2014/main" id="{59D1BEF4-7CD4-484A-BD11-F819683E6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667" y="4499201"/>
              <a:ext cx="1800225" cy="288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ko-KR" altLang="en-US" sz="1200" dirty="0">
                  <a:solidFill>
                    <a:schemeClr val="bg1"/>
                  </a:solidFill>
                  <a:latin typeface="+mn-ea"/>
                  <a:ea typeface="+mn-ea"/>
                </a:rPr>
                <a:t>결재요청</a:t>
              </a:r>
            </a:p>
          </p:txBody>
        </p:sp>
        <p:sp>
          <p:nvSpPr>
            <p:cNvPr id="34" name="모서리가 둥근 직사각형 95">
              <a:extLst>
                <a:ext uri="{FF2B5EF4-FFF2-40B4-BE49-F238E27FC236}">
                  <a16:creationId xmlns:a16="http://schemas.microsoft.com/office/drawing/2014/main" id="{6D46E9F7-0BEC-4164-BB80-11753664D8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2309" y="5435305"/>
              <a:ext cx="1800225" cy="288000"/>
            </a:xfrm>
            <a:prstGeom prst="roundRect">
              <a:avLst>
                <a:gd name="adj" fmla="val 16667"/>
              </a:avLst>
            </a:prstGeom>
            <a:solidFill>
              <a:srgbClr val="7E040B"/>
            </a:solidFill>
            <a:ln>
              <a:noFill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200" dirty="0">
                  <a:solidFill>
                    <a:schemeClr val="bg1"/>
                  </a:solidFill>
                  <a:latin typeface="+mn-ea"/>
                  <a:ea typeface="+mn-ea"/>
                </a:rPr>
                <a:t>…..</a:t>
              </a:r>
              <a:endParaRPr lang="ko-KR" altLang="en-US" sz="12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순서도: 자기 디스크 34">
              <a:extLst>
                <a:ext uri="{FF2B5EF4-FFF2-40B4-BE49-F238E27FC236}">
                  <a16:creationId xmlns:a16="http://schemas.microsoft.com/office/drawing/2014/main" id="{15C878E6-761C-44CD-8520-67D4D994EC98}"/>
                </a:ext>
              </a:extLst>
            </p:cNvPr>
            <p:cNvSpPr/>
            <p:nvPr/>
          </p:nvSpPr>
          <p:spPr>
            <a:xfrm>
              <a:off x="4377020" y="4921297"/>
              <a:ext cx="1376217" cy="1316015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36" name="직사각형 9">
              <a:extLst>
                <a:ext uri="{FF2B5EF4-FFF2-40B4-BE49-F238E27FC236}">
                  <a16:creationId xmlns:a16="http://schemas.microsoft.com/office/drawing/2014/main" id="{16722ACE-B75C-469D-8CB2-2719FB6F38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3478" y="5477753"/>
              <a:ext cx="1003300" cy="360362"/>
            </a:xfrm>
            <a:prstGeom prst="rect">
              <a:avLst/>
            </a:prstGeom>
            <a:solidFill>
              <a:srgbClr val="4F81BD"/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latinLnBrk="1" hangingPunct="1"/>
              <a:r>
                <a:rPr lang="en-US" altLang="ko-KR" sz="1600" dirty="0" err="1">
                  <a:solidFill>
                    <a:schemeClr val="bg1"/>
                  </a:solidFill>
                  <a:latin typeface="+mn-ea"/>
                  <a:ea typeface="+mn-ea"/>
                </a:rPr>
                <a:t>InterFace</a:t>
              </a:r>
              <a:endParaRPr lang="en-US" altLang="ko-KR" sz="1600" dirty="0">
                <a:solidFill>
                  <a:schemeClr val="bg1"/>
                </a:solidFill>
                <a:latin typeface="+mn-ea"/>
                <a:ea typeface="+mn-ea"/>
              </a:endParaRPr>
            </a:p>
            <a:p>
              <a:pPr algn="ctr" eaLnBrk="1" latinLnBrk="1" hangingPunct="1"/>
              <a:r>
                <a:rPr lang="en-US" altLang="ko-KR" sz="1600" dirty="0">
                  <a:solidFill>
                    <a:schemeClr val="bg1"/>
                  </a:solidFill>
                  <a:latin typeface="+mn-ea"/>
                  <a:ea typeface="+mn-ea"/>
                </a:rPr>
                <a:t>table</a:t>
              </a:r>
              <a:endParaRPr lang="ko-KR" altLang="en-US" sz="1600" dirty="0"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473CB050-EC75-4F5B-A265-0B67E0443A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09498" y="3923177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1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77B5575F-4748-4CE8-8BF5-F2AC3933E1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978660" y="3727888"/>
              <a:ext cx="216000" cy="216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1000" b="1" dirty="0">
                  <a:latin typeface="+mn-ea"/>
                </a:rPr>
                <a:t>2</a:t>
              </a:r>
              <a:endParaRPr lang="ko-KR" altLang="en-US" sz="1000" b="1" dirty="0">
                <a:latin typeface="+mn-ea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1B4393E-430E-4C81-91BC-69BF32CD45B5}"/>
                </a:ext>
              </a:extLst>
            </p:cNvPr>
            <p:cNvSpPr txBox="1"/>
            <p:nvPr/>
          </p:nvSpPr>
          <p:spPr>
            <a:xfrm>
              <a:off x="5158108" y="3686388"/>
              <a:ext cx="19165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rgbClr val="C00000"/>
                  </a:solidFill>
                  <a:latin typeface="+mn-ea"/>
                </a:rPr>
                <a:t>그룹웨어 </a:t>
              </a:r>
              <a:r>
                <a:rPr lang="ko-KR" altLang="en-US" sz="1200" b="1" dirty="0" err="1">
                  <a:solidFill>
                    <a:srgbClr val="C00000"/>
                  </a:solidFill>
                  <a:latin typeface="+mn-ea"/>
                </a:rPr>
                <a:t>기안기</a:t>
              </a:r>
              <a:r>
                <a:rPr lang="ko-KR" altLang="en-US" sz="1200" b="1" dirty="0">
                  <a:solidFill>
                    <a:srgbClr val="C00000"/>
                  </a:solidFill>
                  <a:latin typeface="+mn-ea"/>
                </a:rPr>
                <a:t> 창 호출 </a:t>
              </a:r>
            </a:p>
          </p:txBody>
        </p:sp>
        <p:cxnSp>
          <p:nvCxnSpPr>
            <p:cNvPr id="40" name="직선 화살표 연결선 39">
              <a:extLst>
                <a:ext uri="{FF2B5EF4-FFF2-40B4-BE49-F238E27FC236}">
                  <a16:creationId xmlns:a16="http://schemas.microsoft.com/office/drawing/2014/main" id="{A8927505-5624-4F78-A261-831DF9AC0755}"/>
                </a:ext>
              </a:extLst>
            </p:cNvPr>
            <p:cNvCxnSpPr>
              <a:cxnSpLocks/>
              <a:stCxn id="31" idx="2"/>
              <a:endCxn id="32" idx="0"/>
            </p:cNvCxnSpPr>
            <p:nvPr/>
          </p:nvCxnSpPr>
          <p:spPr>
            <a:xfrm>
              <a:off x="8467790" y="4180655"/>
              <a:ext cx="0" cy="4796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1E5B5B5A-0D06-4D2A-94A3-721248D79C0C}"/>
                </a:ext>
              </a:extLst>
            </p:cNvPr>
            <p:cNvCxnSpPr>
              <a:cxnSpLocks/>
              <a:stCxn id="32" idx="2"/>
            </p:cNvCxnSpPr>
            <p:nvPr/>
          </p:nvCxnSpPr>
          <p:spPr>
            <a:xfrm>
              <a:off x="8467790" y="5356070"/>
              <a:ext cx="0" cy="47963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연결선: 꺾임 41">
              <a:extLst>
                <a:ext uri="{FF2B5EF4-FFF2-40B4-BE49-F238E27FC236}">
                  <a16:creationId xmlns:a16="http://schemas.microsoft.com/office/drawing/2014/main" id="{AEC3C3FA-768D-4D3A-868A-5AB376BB14EC}"/>
                </a:ext>
              </a:extLst>
            </p:cNvPr>
            <p:cNvCxnSpPr>
              <a:cxnSpLocks/>
              <a:stCxn id="30" idx="3"/>
              <a:endCxn id="35" idx="2"/>
            </p:cNvCxnSpPr>
            <p:nvPr/>
          </p:nvCxnSpPr>
          <p:spPr>
            <a:xfrm>
              <a:off x="2982534" y="4139177"/>
              <a:ext cx="1394486" cy="1440128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accent4">
                  <a:lumMod val="75000"/>
                </a:schemeClr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연결선: 꺾임 42">
              <a:extLst>
                <a:ext uri="{FF2B5EF4-FFF2-40B4-BE49-F238E27FC236}">
                  <a16:creationId xmlns:a16="http://schemas.microsoft.com/office/drawing/2014/main" id="{61A2AF09-36F0-4BBA-B387-831385E28552}"/>
                </a:ext>
              </a:extLst>
            </p:cNvPr>
            <p:cNvCxnSpPr>
              <a:cxnSpLocks/>
              <a:stCxn id="33" idx="3"/>
              <a:endCxn id="31" idx="1"/>
            </p:cNvCxnSpPr>
            <p:nvPr/>
          </p:nvCxnSpPr>
          <p:spPr>
            <a:xfrm flipV="1">
              <a:off x="2997892" y="3979888"/>
              <a:ext cx="4569785" cy="663313"/>
            </a:xfrm>
            <a:prstGeom prst="bentConnector3">
              <a:avLst>
                <a:gd name="adj1" fmla="val 50000"/>
              </a:avLst>
            </a:prstGeom>
            <a:ln w="34925" cmpd="sng">
              <a:solidFill>
                <a:schemeClr val="accent4">
                  <a:lumMod val="75000"/>
                </a:schemeClr>
              </a:solidFill>
              <a:prstDash val="sysDash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AF8FF65B-2709-413C-A8F4-5B76383AED95}"/>
              </a:ext>
            </a:extLst>
          </p:cNvPr>
          <p:cNvSpPr txBox="1"/>
          <p:nvPr/>
        </p:nvSpPr>
        <p:spPr>
          <a:xfrm>
            <a:off x="349504" y="1063769"/>
            <a:ext cx="34130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ERP</a:t>
            </a:r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에서 </a:t>
            </a:r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GW </a:t>
            </a:r>
            <a:r>
              <a:rPr lang="ko-KR" altLang="en-US" sz="1200" b="0" i="0" u="none" strike="noStrike" dirty="0" err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기안기</a:t>
            </a: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호출 </a:t>
            </a:r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(②) </a:t>
            </a: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과정임</a:t>
            </a:r>
            <a:r>
              <a:rPr lang="en-US" altLang="ko-KR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sz="1200" b="0" i="0" u="none" strike="noStrike" dirty="0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b="1" dirty="0"/>
          </a:p>
        </p:txBody>
      </p:sp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97B81E8D-AD97-4322-BEC3-027D4D760B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269929"/>
              </p:ext>
            </p:extLst>
          </p:nvPr>
        </p:nvGraphicFramePr>
        <p:xfrm>
          <a:off x="680368" y="1413167"/>
          <a:ext cx="9349079" cy="173234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6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00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6175">
                <a:tc>
                  <a:txBody>
                    <a:bodyPr/>
                    <a:lstStyle/>
                    <a:p>
                      <a:pPr marL="520065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dirty="0">
                          <a:effectLst/>
                          <a:latin typeface="+mn-ea"/>
                          <a:ea typeface="+mn-ea"/>
                        </a:rPr>
                        <a:t>URL</a:t>
                      </a: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000" b="1" kern="100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71500" indent="-571500"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테스트  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https://devgw.dumc.or.kr/loginSSO.aspx</a:t>
                      </a:r>
                    </a:p>
                    <a:p>
                      <a:pPr marL="571500" marR="0" lvl="0" indent="-571500" algn="just" defTabSz="914400" rtl="0" eaLnBrk="1" fontAlgn="base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00" dirty="0" err="1">
                          <a:effectLst/>
                          <a:latin typeface="+mn-ea"/>
                          <a:ea typeface="+mn-ea"/>
                        </a:rPr>
                        <a:t>실운영</a:t>
                      </a: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1" kern="100" dirty="0">
                          <a:effectLst/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1" kern="100" dirty="0">
                          <a:effectLst/>
                          <a:latin typeface="+mn-ea"/>
                          <a:ea typeface="+mn-ea"/>
                        </a:rPr>
                        <a:t>https://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gw.dumc.or.kr/loginSSO.aspx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878">
                <a:tc>
                  <a:txBody>
                    <a:bodyPr/>
                    <a:lstStyle/>
                    <a:p>
                      <a:pPr marL="520065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dirty="0">
                          <a:effectLst/>
                          <a:latin typeface="+mn-ea"/>
                          <a:ea typeface="+mn-ea"/>
                        </a:rPr>
                        <a:t>URL</a:t>
                      </a:r>
                      <a:r>
                        <a:rPr lang="ko-KR" sz="1000" b="1" kern="100" dirty="0">
                          <a:effectLst/>
                          <a:latin typeface="+mn-ea"/>
                          <a:ea typeface="+mn-ea"/>
                        </a:rPr>
                        <a:t> 용도</a:t>
                      </a: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71500" indent="-571500" algn="just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</a:rPr>
                        <a:t>GW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</a:rPr>
                        <a:t>자동 로그인 및 기안창을 호출하는 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</a:rPr>
                        <a:t>URL 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</a:rPr>
                        <a:t>임 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050" b="1" kern="100" dirty="0">
                          <a:effectLst/>
                          <a:latin typeface="+mn-ea"/>
                          <a:ea typeface="+mn-ea"/>
                        </a:rPr>
                        <a:t>get </a:t>
                      </a:r>
                      <a:r>
                        <a:rPr lang="ko-KR" altLang="en-US" sz="1050" b="1" kern="100" dirty="0">
                          <a:effectLst/>
                          <a:latin typeface="+mn-ea"/>
                          <a:ea typeface="+mn-ea"/>
                        </a:rPr>
                        <a:t>방식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176">
                <a:tc>
                  <a:txBody>
                    <a:bodyPr/>
                    <a:lstStyle/>
                    <a:p>
                      <a:pPr marL="520065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역할 </a:t>
                      </a:r>
                      <a:r>
                        <a:rPr lang="ko-KR" sz="1000" b="1" kern="100" dirty="0">
                          <a:effectLst/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l" latinLnBrk="0">
                        <a:spcAft>
                          <a:spcPts val="0"/>
                        </a:spcAft>
                        <a:buFont typeface="Times New Roman" panose="02020603050405020304" pitchFamily="18" charset="0"/>
                        <a:buNone/>
                        <a:tabLst>
                          <a:tab pos="228600" algn="l"/>
                        </a:tabLst>
                      </a:pP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loginSSO.aspx 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는 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SSO 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처리 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-&gt; </a:t>
                      </a:r>
                      <a:r>
                        <a:rPr lang="en-US" altLang="ko-KR" sz="1000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connkey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값을 복호화 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-&gt; 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연동양식 호출한 후 </a:t>
                      </a:r>
                      <a:r>
                        <a:rPr lang="en-US" altLang="ko-KR" sz="1000" kern="100" dirty="0" err="1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InterFace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Table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에서 연동정보를 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select </a:t>
                      </a:r>
                      <a:r>
                        <a:rPr lang="ko-KR" altLang="en-US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함</a:t>
                      </a:r>
                      <a:r>
                        <a:rPr lang="en-US" altLang="ko-KR" sz="1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058">
                <a:tc rowSpan="2">
                  <a:txBody>
                    <a:bodyPr/>
                    <a:lstStyle/>
                    <a:p>
                      <a:pPr marL="520065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Parameter</a:t>
                      </a:r>
                      <a:endParaRPr lang="ko-KR" sz="1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0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endParaRPr lang="ko-KR" sz="1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0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sz="1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93090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kern="100" baseline="0" dirty="0" err="1">
                          <a:effectLst/>
                          <a:latin typeface="+mn-ea"/>
                          <a:ea typeface="+mn-ea"/>
                        </a:rPr>
                        <a:t>connkey</a:t>
                      </a:r>
                      <a:endParaRPr lang="en-US" altLang="ko-KR" sz="1000" b="0" kern="10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571500" indent="-57150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FORMID(</a:t>
                      </a:r>
                      <a:r>
                        <a:rPr lang="ko-KR" altLang="en-US" sz="1000" b="0" kern="10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양식아이디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), DEPARTMENT(</a:t>
                      </a:r>
                      <a:r>
                        <a:rPr lang="ko-KR" altLang="en-US" sz="1000" b="0" kern="10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부서아이디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), CN(</a:t>
                      </a:r>
                      <a:r>
                        <a:rPr lang="ko-KR" altLang="en-US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사용자아이디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), KEYID(</a:t>
                      </a:r>
                      <a:r>
                        <a:rPr lang="ko-KR" altLang="en-US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키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ID)</a:t>
                      </a:r>
                      <a:r>
                        <a:rPr lang="ko-KR" altLang="en-US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정보를 가지고 있는 값</a:t>
                      </a:r>
                      <a:endParaRPr lang="en-US" altLang="ko-KR" sz="1000" b="0" kern="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8" name="그림 47">
            <a:extLst>
              <a:ext uri="{FF2B5EF4-FFF2-40B4-BE49-F238E27FC236}">
                <a16:creationId xmlns:a16="http://schemas.microsoft.com/office/drawing/2014/main" id="{683981A2-9B11-458C-8A4A-074EF26B25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150" y="6369671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96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E6B3C6-9862-45DF-B824-D978A055A91F}"/>
              </a:ext>
            </a:extLst>
          </p:cNvPr>
          <p:cNvSpPr txBox="1"/>
          <p:nvPr/>
        </p:nvSpPr>
        <p:spPr>
          <a:xfrm>
            <a:off x="1056829" y="350315"/>
            <a:ext cx="9563578" cy="477985"/>
          </a:xfrm>
          <a:prstGeom prst="rect">
            <a:avLst/>
          </a:prstGeom>
          <a:noFill/>
        </p:spPr>
        <p:txBody>
          <a:bodyPr wrap="square" lIns="107602" tIns="53801" rIns="107602" bIns="53801" rtlCol="0">
            <a:spAutoFit/>
          </a:bodyPr>
          <a:lstStyle/>
          <a:p>
            <a:pPr lvl="0"/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5-2. 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그룹웨어 </a:t>
            </a:r>
            <a:r>
              <a:rPr lang="ko-KR" altLang="en-US" sz="2400" b="1" kern="1000" spc="-51" dirty="0" err="1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기안창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</a:t>
            </a:r>
            <a:r>
              <a:rPr lang="ko-KR" altLang="en-US" sz="2400" b="1" kern="1000" spc="-51" dirty="0" err="1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호출시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 샘플 </a:t>
            </a:r>
            <a:r>
              <a:rPr lang="en-US" altLang="ko-KR" sz="2400" b="1" kern="1000" spc="-51" dirty="0" err="1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url</a:t>
            </a:r>
            <a:endParaRPr lang="ko-KR" altLang="en-US" sz="2400" b="1" kern="1000" spc="-51" dirty="0">
              <a:ln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5040000" algn="tl">
                  <a:prstClr val="black">
                    <a:alpha val="70000"/>
                  </a:prst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A0875EC-7252-4D01-B7B2-FDBB7AAA9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47785"/>
              </p:ext>
            </p:extLst>
          </p:nvPr>
        </p:nvGraphicFramePr>
        <p:xfrm>
          <a:off x="672161" y="1413167"/>
          <a:ext cx="9349079" cy="1130291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67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800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6175">
                <a:tc>
                  <a:txBody>
                    <a:bodyPr/>
                    <a:lstStyle/>
                    <a:p>
                      <a:pPr marL="520065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1" kern="100" dirty="0">
                          <a:effectLst/>
                          <a:latin typeface="+mn-ea"/>
                          <a:ea typeface="+mn-ea"/>
                        </a:rPr>
                        <a:t>URL</a:t>
                      </a: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sz="1000" b="1" kern="100" dirty="0">
                          <a:effectLst/>
                          <a:latin typeface="+mn-ea"/>
                          <a:ea typeface="+mn-ea"/>
                        </a:rPr>
                        <a:t>명</a:t>
                      </a: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571500" indent="-571500" algn="just" fontAlgn="base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테스트  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https://devgw.sss.com/</a:t>
                      </a:r>
                      <a:r>
                        <a:rPr lang="en-US" altLang="ko-KR" sz="10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ezConn/ezApprGate.do</a:t>
                      </a:r>
                      <a:endParaRPr lang="ko-KR" sz="1000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058">
                <a:tc rowSpan="2">
                  <a:txBody>
                    <a:bodyPr/>
                    <a:lstStyle/>
                    <a:p>
                      <a:pPr marL="520065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sz="1000" b="1" kern="100" dirty="0">
                          <a:effectLst/>
                          <a:latin typeface="+mn-ea"/>
                          <a:ea typeface="+mn-ea"/>
                        </a:rPr>
                        <a:t>Parameter</a:t>
                      </a:r>
                      <a:endParaRPr lang="ko-KR" sz="1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0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이름</a:t>
                      </a:r>
                      <a:endParaRPr lang="ko-KR" sz="1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71500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ko-KR" altLang="en-US" sz="1000" b="1" kern="100" dirty="0">
                          <a:effectLst/>
                          <a:latin typeface="+mn-ea"/>
                          <a:ea typeface="+mn-ea"/>
                        </a:rPr>
                        <a:t>설명</a:t>
                      </a:r>
                      <a:endParaRPr lang="ko-KR" sz="1000" b="1" kern="10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05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593090" indent="-571500" algn="ctr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kern="100" baseline="0" dirty="0" err="1">
                          <a:effectLst/>
                          <a:latin typeface="+mn-ea"/>
                          <a:ea typeface="+mn-ea"/>
                        </a:rPr>
                        <a:t>connkey</a:t>
                      </a:r>
                      <a:endParaRPr lang="en-US" altLang="ko-KR" sz="1000" b="0" kern="100" baseline="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marL="571500" indent="-571500" algn="l" fontAlgn="base">
                        <a:lnSpc>
                          <a:spcPts val="1200"/>
                        </a:lnSpc>
                        <a:spcAft>
                          <a:spcPts val="0"/>
                        </a:spcAft>
                      </a:pP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FORMID(</a:t>
                      </a:r>
                      <a:r>
                        <a:rPr lang="ko-KR" altLang="en-US" sz="1000" b="0" kern="10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양식아이디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), DEPARTMENT(</a:t>
                      </a:r>
                      <a:r>
                        <a:rPr lang="ko-KR" altLang="en-US" sz="1000" b="0" kern="100" baseline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부서아이디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), CN(</a:t>
                      </a:r>
                      <a:r>
                        <a:rPr lang="ko-KR" altLang="en-US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사용자아이디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), KEYID(</a:t>
                      </a:r>
                      <a:r>
                        <a:rPr lang="ko-KR" altLang="en-US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키</a:t>
                      </a:r>
                      <a:r>
                        <a:rPr lang="en-US" altLang="ko-KR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ID)</a:t>
                      </a:r>
                      <a:r>
                        <a:rPr lang="ko-KR" altLang="en-US" sz="1000" b="0" kern="100" baseline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정보를 가지고 있는 값</a:t>
                      </a:r>
                      <a:endParaRPr lang="en-US" altLang="ko-KR" sz="1000" b="0" kern="100" baseline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E7F4573-3286-4E20-9EF4-CFD8C9483FB0}"/>
              </a:ext>
            </a:extLst>
          </p:cNvPr>
          <p:cNvSpPr txBox="1"/>
          <p:nvPr/>
        </p:nvSpPr>
        <p:spPr>
          <a:xfrm>
            <a:off x="810195" y="2708920"/>
            <a:ext cx="9219251" cy="2318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b="0" kern="100" baseline="0" dirty="0" err="1">
                <a:effectLst/>
                <a:latin typeface="+mn-ea"/>
                <a:ea typeface="+mn-ea"/>
              </a:rPr>
              <a:t>connkey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형식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  <a:ea typeface="+mj-ea"/>
              </a:rPr>
              <a:t> - ‘</a:t>
            </a:r>
            <a:r>
              <a:rPr lang="ko-KR" altLang="en-US" sz="1100" dirty="0" err="1">
                <a:latin typeface="+mj-ea"/>
                <a:ea typeface="+mj-ea"/>
              </a:rPr>
              <a:t>양식아이디</a:t>
            </a:r>
            <a:r>
              <a:rPr lang="en-US" altLang="ko-KR" sz="1100" dirty="0">
                <a:latin typeface="+mj-ea"/>
                <a:ea typeface="+mj-ea"/>
              </a:rPr>
              <a:t>:</a:t>
            </a:r>
            <a:r>
              <a:rPr lang="ko-KR" altLang="en-US" sz="1100" dirty="0" err="1">
                <a:latin typeface="+mj-ea"/>
                <a:ea typeface="+mj-ea"/>
              </a:rPr>
              <a:t>부서아이디</a:t>
            </a:r>
            <a:r>
              <a:rPr lang="en-US" altLang="ko-KR" sz="1100" dirty="0">
                <a:latin typeface="+mj-ea"/>
                <a:ea typeface="+mj-ea"/>
              </a:rPr>
              <a:t>:</a:t>
            </a:r>
            <a:r>
              <a:rPr lang="ko-KR" altLang="en-US" sz="1100" dirty="0">
                <a:latin typeface="+mj-ea"/>
                <a:ea typeface="+mj-ea"/>
              </a:rPr>
              <a:t>사용자아이디</a:t>
            </a:r>
            <a:r>
              <a:rPr lang="en-US" altLang="ko-KR" sz="1100" dirty="0">
                <a:latin typeface="+mj-ea"/>
                <a:ea typeface="+mj-ea"/>
              </a:rPr>
              <a:t>:</a:t>
            </a:r>
            <a:r>
              <a:rPr lang="ko-KR" altLang="en-US" sz="1100" dirty="0" err="1">
                <a:latin typeface="+mj-ea"/>
                <a:ea typeface="+mj-ea"/>
              </a:rPr>
              <a:t>키아이디</a:t>
            </a:r>
            <a:r>
              <a:rPr lang="en-US" altLang="ko-KR" sz="1100" dirty="0">
                <a:latin typeface="+mj-ea"/>
                <a:ea typeface="+mj-ea"/>
              </a:rPr>
              <a:t>’ </a:t>
            </a:r>
            <a:r>
              <a:rPr lang="ko-KR" altLang="en-US" sz="1100" dirty="0">
                <a:latin typeface="+mj-ea"/>
                <a:ea typeface="+mj-ea"/>
              </a:rPr>
              <a:t>형식의 값을 암호화</a:t>
            </a:r>
            <a:endParaRPr lang="en-US" altLang="ko-KR" sz="11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endParaRPr lang="en-US" altLang="ko-KR" sz="4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100" dirty="0">
                <a:latin typeface="+mj-ea"/>
                <a:ea typeface="+mj-ea"/>
              </a:rPr>
              <a:t> ex) 2019000116:mslimdept:mslim:003      </a:t>
            </a:r>
            <a:r>
              <a:rPr lang="en-US" altLang="ko-KR" sz="1200" b="1" dirty="0">
                <a:latin typeface="+mj-ea"/>
                <a:ea typeface="+mj-ea"/>
              </a:rPr>
              <a:t>━</a:t>
            </a:r>
            <a:r>
              <a:rPr lang="ko-KR" altLang="en-US" sz="1100" dirty="0">
                <a:latin typeface="+mj-ea"/>
                <a:ea typeface="+mj-ea"/>
              </a:rPr>
              <a:t>암호화</a:t>
            </a:r>
            <a:r>
              <a:rPr lang="en-US" altLang="ko-KR" sz="1100" dirty="0">
                <a:latin typeface="+mj-ea"/>
                <a:ea typeface="+mj-ea"/>
                <a:sym typeface="Wingdings" panose="05000000000000000000" pitchFamily="2" charset="2"/>
              </a:rPr>
              <a:t></a:t>
            </a:r>
            <a:r>
              <a:rPr lang="en-US" altLang="ko-KR" sz="1100" dirty="0">
                <a:latin typeface="+mj-ea"/>
                <a:ea typeface="+mj-ea"/>
              </a:rPr>
              <a:t>           Pv2UmJLkqPXJg32tnPbVq2NbH7Qm/M52JswqrxTMYSo=</a:t>
            </a:r>
          </a:p>
          <a:p>
            <a:pPr>
              <a:lnSpc>
                <a:spcPct val="150000"/>
              </a:lnSpc>
            </a:pPr>
            <a:endParaRPr lang="en-US" altLang="ko-KR" sz="1100" dirty="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b="1" kern="100" dirty="0" err="1">
                <a:solidFill>
                  <a:srgbClr val="C00000"/>
                </a:solidFill>
                <a:latin typeface="+mn-ea"/>
              </a:rPr>
              <a:t>Connkey</a:t>
            </a:r>
            <a:r>
              <a:rPr lang="en-US" altLang="ko-KR" sz="1200" b="1" kern="100" dirty="0">
                <a:solidFill>
                  <a:srgbClr val="C00000"/>
                </a:solidFill>
                <a:latin typeface="+mn-ea"/>
              </a:rPr>
              <a:t> AES-256 </a:t>
            </a:r>
            <a:r>
              <a:rPr lang="ko-KR" altLang="en-US" sz="1200" b="1" kern="100" dirty="0">
                <a:solidFill>
                  <a:srgbClr val="C00000"/>
                </a:solidFill>
                <a:latin typeface="+mn-ea"/>
              </a:rPr>
              <a:t>암호화 또는 단순 </a:t>
            </a:r>
            <a:r>
              <a:rPr lang="en-US" altLang="ko-KR" sz="1200" b="1" kern="100" dirty="0">
                <a:solidFill>
                  <a:srgbClr val="C00000"/>
                </a:solidFill>
                <a:latin typeface="+mn-ea"/>
              </a:rPr>
              <a:t>Base64</a:t>
            </a:r>
            <a:r>
              <a:rPr lang="ko-KR" altLang="en-US" sz="1200" b="1" kern="100" dirty="0">
                <a:solidFill>
                  <a:srgbClr val="C00000"/>
                </a:solidFill>
                <a:latin typeface="+mn-ea"/>
              </a:rPr>
              <a:t> 인코딩 방식으로 </a:t>
            </a:r>
            <a:endParaRPr lang="en-US" altLang="ko-KR" sz="1100" dirty="0">
              <a:latin typeface="+mj-ea"/>
              <a:ea typeface="+mj-ea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호출 샘플</a:t>
            </a:r>
            <a:endParaRPr lang="en-US" altLang="ko-KR" sz="12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+mj-ea"/>
                <a:ea typeface="+mj-ea"/>
              </a:rPr>
              <a:t>   </a:t>
            </a:r>
            <a:r>
              <a:rPr lang="en-US" altLang="ko-KR" sz="1200" b="1" dirty="0">
                <a:latin typeface="+mj-ea"/>
                <a:ea typeface="+mj-ea"/>
              </a:rPr>
              <a:t> </a:t>
            </a:r>
            <a:r>
              <a:rPr lang="ko-KR" altLang="en-US" sz="1200" b="1" dirty="0">
                <a:latin typeface="+mn-ea"/>
              </a:rPr>
              <a:t>테스트  </a:t>
            </a:r>
            <a:r>
              <a:rPr lang="en-US" altLang="ko-KR" sz="1200" b="1" dirty="0">
                <a:latin typeface="+mn-ea"/>
              </a:rPr>
              <a:t>: </a:t>
            </a:r>
            <a:r>
              <a:rPr lang="ko-KR" altLang="en-US" sz="1200" b="1" dirty="0">
                <a:latin typeface="+mn-ea"/>
              </a:rPr>
              <a:t> </a:t>
            </a:r>
            <a:r>
              <a:rPr lang="en-US" altLang="ko-KR" sz="1200" b="1" dirty="0">
                <a:latin typeface="+mn-ea"/>
              </a:rPr>
              <a:t>https://devgw.sss.com/</a:t>
            </a:r>
            <a:r>
              <a:rPr lang="en-US" altLang="ko-KR" sz="1200" dirty="0"/>
              <a:t>ezConn/ezApprGate.do</a:t>
            </a:r>
            <a:r>
              <a:rPr lang="en-US" altLang="ko-KR" sz="1200" b="1" dirty="0">
                <a:latin typeface="+mn-ea"/>
                <a:ea typeface="+mn-ea"/>
              </a:rPr>
              <a:t>?</a:t>
            </a:r>
            <a:r>
              <a:rPr lang="en-US" altLang="ko-KR" sz="1200" b="1" dirty="0">
                <a:latin typeface="+mn-ea"/>
              </a:rPr>
              <a:t>connkey=</a:t>
            </a:r>
            <a:r>
              <a:rPr lang="en-US" altLang="ko-KR" sz="1200" b="1" dirty="0">
                <a:latin typeface="+mj-ea"/>
                <a:ea typeface="+mj-ea"/>
              </a:rPr>
              <a:t>Pv2UmJLkqPXJg32tnPbVq2NbH7Qm/M52JswqrxTMYSo=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FC5E616-8CDD-498A-8B88-A65F7F197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150" y="6369671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955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208E79-BCAF-42BC-8F7D-8D7682EB1591}"/>
              </a:ext>
            </a:extLst>
          </p:cNvPr>
          <p:cNvSpPr txBox="1"/>
          <p:nvPr/>
        </p:nvSpPr>
        <p:spPr>
          <a:xfrm>
            <a:off x="1056829" y="350315"/>
            <a:ext cx="9563578" cy="477985"/>
          </a:xfrm>
          <a:prstGeom prst="rect">
            <a:avLst/>
          </a:prstGeom>
          <a:noFill/>
        </p:spPr>
        <p:txBody>
          <a:bodyPr wrap="square" lIns="107602" tIns="53801" rIns="107602" bIns="53801" rtlCol="0">
            <a:spAutoFit/>
          </a:bodyPr>
          <a:lstStyle/>
          <a:p>
            <a:pPr lvl="0"/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6. 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연동 히스토리 </a:t>
            </a:r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(</a:t>
            </a:r>
            <a:r>
              <a:rPr lang="ko-KR" altLang="en-US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그룹웨어 시스템 용</a:t>
            </a:r>
            <a:r>
              <a:rPr lang="en-US" altLang="ko-KR" sz="2400" b="1" kern="1000" spc="-51" dirty="0">
                <a:ln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040000" algn="tl">
                    <a:prstClr val="black">
                      <a:alpha val="70000"/>
                    </a:prst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cs typeface="Arial" pitchFamily="34" charset="0"/>
              </a:rPr>
              <a:t>)</a:t>
            </a:r>
            <a:endParaRPr lang="ko-KR" altLang="en-US" sz="2400" b="1" kern="1000" spc="-51" dirty="0">
              <a:ln>
                <a:noFill/>
                <a:prstDash val="solid"/>
              </a:ln>
              <a:solidFill>
                <a:schemeClr val="bg1"/>
              </a:solidFill>
              <a:effectLst>
                <a:outerShdw blurRad="50800" dist="38100" dir="5040000" algn="tl">
                  <a:prstClr val="black">
                    <a:alpha val="70000"/>
                  </a:prst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  <a:cs typeface="Arial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6685C-07DE-43F3-85DF-AD0CF8F86895}"/>
              </a:ext>
            </a:extLst>
          </p:cNvPr>
          <p:cNvSpPr txBox="1"/>
          <p:nvPr/>
        </p:nvSpPr>
        <p:spPr>
          <a:xfrm>
            <a:off x="577028" y="1107600"/>
            <a:ext cx="6561412" cy="11646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 dirty="0" err="1">
                <a:latin typeface="맑은 고딕" panose="020B0503020000020004" pitchFamily="50" charset="-127"/>
              </a:rPr>
              <a:t>기안상신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중간결재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최종결재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반려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회수 등 </a:t>
            </a:r>
            <a:r>
              <a:rPr lang="ko-KR" altLang="en-US" sz="1200" b="1" u="sng" dirty="0">
                <a:latin typeface="맑은 고딕" panose="020B0503020000020004" pitchFamily="50" charset="-127"/>
              </a:rPr>
              <a:t>모든 연동 시점</a:t>
            </a:r>
            <a:r>
              <a:rPr lang="ko-KR" altLang="en-US" sz="1200" dirty="0">
                <a:latin typeface="맑은 고딕" panose="020B0503020000020004" pitchFamily="50" charset="-127"/>
              </a:rPr>
              <a:t>에 데이터를 남길 것</a:t>
            </a:r>
            <a:endParaRPr lang="en-US" altLang="ko-KR" sz="1200" dirty="0">
              <a:latin typeface="맑은 고딕" panose="020B0503020000020004" pitchFamily="50" charset="-127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ko-KR" altLang="en-US" sz="1200" dirty="0" err="1">
                <a:latin typeface="맑은 고딕" panose="020B0503020000020004" pitchFamily="50" charset="-127"/>
              </a:rPr>
              <a:t>스케즐러</a:t>
            </a:r>
            <a:r>
              <a:rPr lang="ko-KR" altLang="en-US" sz="1200" dirty="0">
                <a:latin typeface="맑은 고딕" panose="020B0503020000020004" pitchFamily="50" charset="-127"/>
              </a:rPr>
              <a:t> 실행일자 기준으로 </a:t>
            </a:r>
            <a:r>
              <a:rPr lang="en-US" altLang="ko-KR" sz="1200" dirty="0">
                <a:latin typeface="맑은 고딕" panose="020B0503020000020004" pitchFamily="50" charset="-127"/>
              </a:rPr>
              <a:t>90</a:t>
            </a:r>
            <a:r>
              <a:rPr lang="ko-KR" altLang="en-US" sz="1200" dirty="0">
                <a:latin typeface="맑은 고딕" panose="020B0503020000020004" pitchFamily="50" charset="-127"/>
              </a:rPr>
              <a:t>일 이후 데이터는 </a:t>
            </a:r>
            <a:r>
              <a:rPr lang="en-US" altLang="ko-KR" sz="1200" dirty="0">
                <a:latin typeface="맑은 고딕" panose="020B0503020000020004" pitchFamily="50" charset="-127"/>
              </a:rPr>
              <a:t>DELETE </a:t>
            </a:r>
            <a:r>
              <a:rPr lang="ko-KR" altLang="en-US" sz="1200" dirty="0">
                <a:latin typeface="맑은 고딕" panose="020B0503020000020004" pitchFamily="50" charset="-127"/>
              </a:rPr>
              <a:t>함</a:t>
            </a:r>
            <a:r>
              <a:rPr lang="en-US" altLang="ko-KR" sz="1200" dirty="0">
                <a:latin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</a:rPr>
              <a:t>GW</a:t>
            </a:r>
            <a:r>
              <a:rPr lang="ko-KR" altLang="en-US" sz="1200" dirty="0">
                <a:latin typeface="맑은 고딕" panose="020B0503020000020004" pitchFamily="50" charset="-127"/>
              </a:rPr>
              <a:t>에서 </a:t>
            </a:r>
            <a:r>
              <a:rPr lang="ko-KR" altLang="en-US" sz="1200" dirty="0" err="1">
                <a:latin typeface="맑은 고딕" panose="020B0503020000020004" pitchFamily="50" charset="-127"/>
              </a:rPr>
              <a:t>기안상신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중간결재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최종결재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>
                <a:latin typeface="맑은 고딕" panose="020B0503020000020004" pitchFamily="50" charset="-127"/>
              </a:rPr>
              <a:t>반려</a:t>
            </a:r>
            <a:r>
              <a:rPr lang="en-US" altLang="ko-KR" sz="1200" dirty="0">
                <a:latin typeface="맑은 고딕" panose="020B0503020000020004" pitchFamily="50" charset="-127"/>
              </a:rPr>
              <a:t>, </a:t>
            </a:r>
            <a:r>
              <a:rPr lang="ko-KR" altLang="en-US" sz="1200" dirty="0" err="1">
                <a:latin typeface="맑은 고딕" panose="020B0503020000020004" pitchFamily="50" charset="-127"/>
              </a:rPr>
              <a:t>회수등의</a:t>
            </a:r>
            <a:r>
              <a:rPr lang="ko-KR" altLang="en-US" sz="1200" dirty="0">
                <a:latin typeface="맑은 고딕" panose="020B0503020000020004" pitchFamily="50" charset="-127"/>
              </a:rPr>
              <a:t> 오류 발생시 히스토리 조회 용도임</a:t>
            </a:r>
            <a:r>
              <a:rPr lang="en-US" altLang="ko-KR" sz="1200" dirty="0">
                <a:latin typeface="맑은 고딕" panose="020B0503020000020004" pitchFamily="50" charset="-127"/>
              </a:rPr>
              <a:t>.</a:t>
            </a: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맑은 고딕" panose="020B0503020000020004" pitchFamily="50" charset="-127"/>
              </a:rPr>
              <a:t>ERP</a:t>
            </a:r>
            <a:r>
              <a:rPr lang="ko-KR" altLang="en-US" sz="1200" dirty="0">
                <a:latin typeface="맑은 고딕" panose="020B0503020000020004" pitchFamily="50" charset="-127"/>
              </a:rPr>
              <a:t>시스템도 </a:t>
            </a:r>
            <a:r>
              <a:rPr lang="en-US" altLang="ko-KR" sz="1200" dirty="0">
                <a:latin typeface="맑은 고딕" panose="020B0503020000020004" pitchFamily="50" charset="-127"/>
              </a:rPr>
              <a:t>GW </a:t>
            </a:r>
            <a:r>
              <a:rPr lang="ko-KR" altLang="en-US" sz="1200" dirty="0" err="1">
                <a:latin typeface="맑은 고딕" panose="020B0503020000020004" pitchFamily="50" charset="-127"/>
              </a:rPr>
              <a:t>호출시</a:t>
            </a:r>
            <a:r>
              <a:rPr lang="ko-KR" altLang="en-US" sz="1200" dirty="0">
                <a:latin typeface="맑은 고딕" panose="020B0503020000020004" pitchFamily="50" charset="-127"/>
              </a:rPr>
              <a:t> 로그 관리하는 것 추천함</a:t>
            </a:r>
            <a:r>
              <a:rPr lang="en-US" altLang="ko-KR" sz="1200" dirty="0">
                <a:latin typeface="맑은 고딕" panose="020B0503020000020004" pitchFamily="50" charset="-127"/>
              </a:rPr>
              <a:t>.</a:t>
            </a:r>
            <a:endParaRPr lang="ko-KR" altLang="en-US" sz="1200" dirty="0">
              <a:latin typeface="맑은 고딕" panose="020B0503020000020004" pitchFamily="50" charset="-127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F772D61-EAA6-484C-A029-07DE2B5A4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4157069"/>
              </p:ext>
            </p:extLst>
          </p:nvPr>
        </p:nvGraphicFramePr>
        <p:xfrm>
          <a:off x="667228" y="2641112"/>
          <a:ext cx="9358944" cy="3524192"/>
        </p:xfrm>
        <a:graphic>
          <a:graphicData uri="http://schemas.openxmlformats.org/drawingml/2006/table">
            <a:tbl>
              <a:tblPr/>
              <a:tblGrid>
                <a:gridCol w="1151080">
                  <a:extLst>
                    <a:ext uri="{9D8B030D-6E8A-4147-A177-3AD203B41FA5}">
                      <a16:colId xmlns:a16="http://schemas.microsoft.com/office/drawing/2014/main" val="2852062190"/>
                    </a:ext>
                  </a:extLst>
                </a:gridCol>
                <a:gridCol w="1187083">
                  <a:extLst>
                    <a:ext uri="{9D8B030D-6E8A-4147-A177-3AD203B41FA5}">
                      <a16:colId xmlns:a16="http://schemas.microsoft.com/office/drawing/2014/main" val="2232524219"/>
                    </a:ext>
                  </a:extLst>
                </a:gridCol>
                <a:gridCol w="2269301">
                  <a:extLst>
                    <a:ext uri="{9D8B030D-6E8A-4147-A177-3AD203B41FA5}">
                      <a16:colId xmlns:a16="http://schemas.microsoft.com/office/drawing/2014/main" val="3733253197"/>
                    </a:ext>
                  </a:extLst>
                </a:gridCol>
                <a:gridCol w="1352740">
                  <a:extLst>
                    <a:ext uri="{9D8B030D-6E8A-4147-A177-3AD203B41FA5}">
                      <a16:colId xmlns:a16="http://schemas.microsoft.com/office/drawing/2014/main" val="840656823"/>
                    </a:ext>
                  </a:extLst>
                </a:gridCol>
                <a:gridCol w="849685">
                  <a:extLst>
                    <a:ext uri="{9D8B030D-6E8A-4147-A177-3AD203B41FA5}">
                      <a16:colId xmlns:a16="http://schemas.microsoft.com/office/drawing/2014/main" val="3209516205"/>
                    </a:ext>
                  </a:extLst>
                </a:gridCol>
                <a:gridCol w="849685">
                  <a:extLst>
                    <a:ext uri="{9D8B030D-6E8A-4147-A177-3AD203B41FA5}">
                      <a16:colId xmlns:a16="http://schemas.microsoft.com/office/drawing/2014/main" val="3893311044"/>
                    </a:ext>
                  </a:extLst>
                </a:gridCol>
                <a:gridCol w="849685">
                  <a:extLst>
                    <a:ext uri="{9D8B030D-6E8A-4147-A177-3AD203B41FA5}">
                      <a16:colId xmlns:a16="http://schemas.microsoft.com/office/drawing/2014/main" val="3635539451"/>
                    </a:ext>
                  </a:extLst>
                </a:gridCol>
                <a:gridCol w="849685">
                  <a:extLst>
                    <a:ext uri="{9D8B030D-6E8A-4147-A177-3AD203B41FA5}">
                      <a16:colId xmlns:a16="http://schemas.microsoft.com/office/drawing/2014/main" val="3363813694"/>
                    </a:ext>
                  </a:extLst>
                </a:gridCol>
              </a:tblGrid>
              <a:tr h="25172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TBL_CONNHISTORY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gridSpan="4">
                  <a:txBody>
                    <a:bodyPr/>
                    <a:lstStyle/>
                    <a:p>
                      <a:pPr latinLnBrk="1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TBL_CONNHISTORY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030332"/>
                  </a:ext>
                </a:extLst>
              </a:tr>
              <a:tr h="25172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Description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연동 히스토리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2793110"/>
                  </a:ext>
                </a:extLst>
              </a:tr>
              <a:tr h="25172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Primary Key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IDX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245461"/>
                  </a:ext>
                </a:extLst>
              </a:tr>
              <a:tr h="251728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Foreign Key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81162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Physical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Logical Name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Type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Null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Default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286831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IDX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증가 값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NUMBER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PK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067088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 고유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VARCHAR(50)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6869039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FORMID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결재 양식 아이디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VARCHAR(50)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649958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연동시점시 결재자 아이디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VARCHAR(50)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6355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USERNM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연동시점시 결재자 이름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NVARCHAR(255)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801838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TITLE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제목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NVARCHAR2(255)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5690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STATUS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상태값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CHAR(3)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NOT</a:t>
                      </a:r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4308216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DOCID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그룹웨어 고유 </a:t>
                      </a:r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</a:t>
                      </a: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900" b="0" i="0" u="none" strike="noStrike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CHAR(20)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6123469"/>
                  </a:ext>
                </a:extLst>
              </a:tr>
              <a:tr h="2517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UPDATEDATE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연동일시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DATETIME</a:t>
                      </a:r>
                      <a:endParaRPr lang="en-US" altLang="ko-KR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SYSDATE</a:t>
                      </a:r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4249809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CC86EFD2-4B3C-415F-9D76-1D1122664D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1150" y="6369671"/>
            <a:ext cx="1248697" cy="27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224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1194</Words>
  <Application>Microsoft Office PowerPoint</Application>
  <PresentationFormat>와이드스크린</PresentationFormat>
  <Paragraphs>303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돋움체</vt:lpstr>
      <vt:lpstr>맑은 고딕</vt:lpstr>
      <vt:lpstr>Arial</vt:lpstr>
      <vt:lpstr>Times New Roman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NC433</dc:creator>
  <cp:lastModifiedBy>NC433</cp:lastModifiedBy>
  <cp:revision>3</cp:revision>
  <dcterms:created xsi:type="dcterms:W3CDTF">2020-08-13T06:18:47Z</dcterms:created>
  <dcterms:modified xsi:type="dcterms:W3CDTF">2020-08-13T06:29:00Z</dcterms:modified>
</cp:coreProperties>
</file>