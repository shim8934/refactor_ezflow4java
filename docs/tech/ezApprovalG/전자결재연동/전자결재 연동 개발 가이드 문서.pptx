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61" r:id="rId4"/>
    <p:sldId id="274" r:id="rId5"/>
    <p:sldId id="262" r:id="rId6"/>
    <p:sldId id="263" r:id="rId7"/>
    <p:sldId id="258" r:id="rId8"/>
    <p:sldId id="259" r:id="rId9"/>
    <p:sldId id="265" r:id="rId10"/>
    <p:sldId id="260" r:id="rId11"/>
    <p:sldId id="266" r:id="rId12"/>
    <p:sldId id="267" r:id="rId13"/>
    <p:sldId id="264" r:id="rId14"/>
    <p:sldId id="268" r:id="rId15"/>
    <p:sldId id="269" r:id="rId16"/>
    <p:sldId id="270" r:id="rId17"/>
    <p:sldId id="279" r:id="rId18"/>
    <p:sldId id="271" r:id="rId19"/>
    <p:sldId id="284" r:id="rId20"/>
    <p:sldId id="278" r:id="rId21"/>
    <p:sldId id="280" r:id="rId22"/>
    <p:sldId id="281" r:id="rId23"/>
    <p:sldId id="282" r:id="rId24"/>
    <p:sldId id="283" r:id="rId25"/>
    <p:sldId id="272" r:id="rId26"/>
    <p:sldId id="273" r:id="rId27"/>
    <p:sldId id="275" r:id="rId28"/>
    <p:sldId id="276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366AEB7-76E7-4273-8CCF-81A5589D0A53}">
          <p14:sldIdLst>
            <p14:sldId id="256"/>
          </p14:sldIdLst>
        </p14:section>
        <p14:section name="연동 양식" id="{BC7AF8F2-4BEB-44B2-978C-D997ADC4B355}">
          <p14:sldIdLst>
            <p14:sldId id="277"/>
          </p14:sldIdLst>
        </p14:section>
        <p14:section name="연동 XML" id="{04E9AD47-4BE4-4D36-9A47-E1BF64BEFDE4}">
          <p14:sldIdLst>
            <p14:sldId id="261"/>
            <p14:sldId id="274"/>
            <p14:sldId id="262"/>
            <p14:sldId id="263"/>
          </p14:sldIdLst>
        </p14:section>
        <p14:section name="연동 방식" id="{B0A10874-764B-42C7-A805-B5D061B4ABF7}">
          <p14:sldIdLst>
            <p14:sldId id="258"/>
            <p14:sldId id="259"/>
            <p14:sldId id="265"/>
          </p14:sldIdLst>
        </p14:section>
        <p14:section name="연동 데이터" id="{87CFA401-7876-4B59-B144-53383756A06E}">
          <p14:sldIdLst>
            <p14:sldId id="260"/>
            <p14:sldId id="266"/>
            <p14:sldId id="267"/>
            <p14:sldId id="264"/>
            <p14:sldId id="268"/>
          </p14:sldIdLst>
        </p14:section>
        <p14:section name="연동 쿼리" id="{D8BD05F4-7AD7-4552-8163-BC3952EC0F97}">
          <p14:sldIdLst>
            <p14:sldId id="269"/>
            <p14:sldId id="270"/>
            <p14:sldId id="279"/>
            <p14:sldId id="271"/>
          </p14:sldIdLst>
        </p14:section>
        <p14:section name="XSLT 연동" id="{0EB87AF9-E8E7-4C2B-8285-EE5570DBDCAB}">
          <p14:sldIdLst>
            <p14:sldId id="284"/>
          </p14:sldIdLst>
        </p14:section>
        <p14:section name="전자결재 창 연동" id="{1B72027D-D788-4C25-8788-0F5D053766C1}">
          <p14:sldIdLst>
            <p14:sldId id="278"/>
            <p14:sldId id="280"/>
            <p14:sldId id="281"/>
            <p14:sldId id="282"/>
            <p14:sldId id="283"/>
          </p14:sldIdLst>
        </p14:section>
        <p14:section name="연동 소스" id="{54F57E79-DC0E-4E9F-BAFC-F046EB31B4F0}">
          <p14:sldIdLst>
            <p14:sldId id="272"/>
            <p14:sldId id="273"/>
          </p14:sldIdLst>
        </p14:section>
        <p14:section name="workflow" id="{944E57F8-CACA-4B9E-9429-6B0B0CDB9140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51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1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679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961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96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72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34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06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01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63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90729-2BA8-420C-8988-44846A72BE72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2B400-B35E-43D9-B33C-0143E39361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21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slide" Target="slide3.xml"/><Relationship Id="rId7" Type="http://schemas.openxmlformats.org/officeDocument/2006/relationships/slide" Target="slide2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557213" y="123532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목차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7213" y="1779534"/>
            <a:ext cx="36337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hlinkClick r:id="rId2" action="ppaction://hlinksldjump"/>
              </a:rPr>
              <a:t>연동 양식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hlinkClick r:id="rId3" action="ppaction://hlinksldjump"/>
              </a:rPr>
              <a:t>연동 </a:t>
            </a:r>
            <a:r>
              <a:rPr lang="en-US" altLang="ko-KR" sz="1400" dirty="0" smtClean="0">
                <a:hlinkClick r:id="rId3" action="ppaction://hlinksldjump"/>
              </a:rPr>
              <a:t>XML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hlinkClick r:id="rId4" action="ppaction://hlinksldjump"/>
              </a:rPr>
              <a:t>연동 방식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hlinkClick r:id="rId5" action="ppaction://hlinksldjump"/>
              </a:rPr>
              <a:t>연동 데이터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hlinkClick r:id="rId6" action="ppaction://hlinksldjump"/>
              </a:rPr>
              <a:t>연동 쿼리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hlinkClick r:id="rId7" action="ppaction://hlinksldjump"/>
              </a:rPr>
              <a:t>연동 소스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hlinkClick r:id="rId8" action="ppaction://hlinksldjump"/>
              </a:rPr>
              <a:t>workflow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/>
          </a:p>
        </p:txBody>
      </p:sp>
      <p:sp>
        <p:nvSpPr>
          <p:cNvPr id="32" name="TextBox 31"/>
          <p:cNvSpPr txBox="1"/>
          <p:nvPr/>
        </p:nvSpPr>
        <p:spPr>
          <a:xfrm>
            <a:off x="557213" y="47332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 양식 가이드</a:t>
            </a:r>
            <a:endParaRPr lang="en-US" altLang="ko-KR" sz="2000" b="1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364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57213" y="473320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>
                <a:latin typeface="+mj-lt"/>
              </a:rPr>
              <a:t> </a:t>
            </a:r>
            <a:r>
              <a:rPr lang="ko-KR" altLang="en-US" sz="2000" b="1" dirty="0" smtClean="0">
                <a:latin typeface="+mj-lt"/>
              </a:rPr>
              <a:t>양식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213" y="1017534"/>
            <a:ext cx="113432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연동 양식은 </a:t>
            </a:r>
            <a:r>
              <a:rPr lang="en-US" altLang="ko-KR" sz="1400" dirty="0" smtClean="0"/>
              <a:t>[</a:t>
            </a:r>
            <a:r>
              <a:rPr lang="ko-KR" altLang="en-US" sz="1400" dirty="0" smtClean="0"/>
              <a:t>연동양식여부</a:t>
            </a:r>
            <a:r>
              <a:rPr lang="en-US" altLang="ko-KR" sz="1400" dirty="0" smtClean="0"/>
              <a:t>]</a:t>
            </a:r>
            <a:r>
              <a:rPr lang="ko-KR" altLang="en-US" sz="1400" dirty="0" smtClean="0"/>
              <a:t>가 체크되어 있고 연동 정보에 연동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이 작성되어 있는 양식을 의미한다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연동 양식은 회수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반송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회송 시 </a:t>
            </a:r>
            <a:r>
              <a:rPr lang="ko-KR" altLang="en-US" sz="1400" dirty="0" err="1" smtClean="0"/>
              <a:t>재기안이</a:t>
            </a:r>
            <a:r>
              <a:rPr lang="ko-KR" altLang="en-US" sz="1400" dirty="0" smtClean="0"/>
              <a:t> 불가능하다</a:t>
            </a:r>
            <a:r>
              <a:rPr lang="en-US" altLang="ko-KR" sz="1400" dirty="0" smtClean="0"/>
              <a:t>.</a:t>
            </a:r>
            <a:br>
              <a:rPr lang="en-US" altLang="ko-KR" sz="1400" dirty="0" smtClean="0"/>
            </a:br>
            <a:r>
              <a:rPr lang="en-US" altLang="ko-KR" sz="1400" dirty="0" smtClean="0"/>
              <a:t>(</a:t>
            </a:r>
            <a:r>
              <a:rPr lang="ko-KR" altLang="en-US" sz="1400" dirty="0" smtClean="0"/>
              <a:t>표준 스펙이며 사이트 </a:t>
            </a:r>
            <a:r>
              <a:rPr lang="ko-KR" altLang="en-US" sz="1400" dirty="0" err="1" smtClean="0"/>
              <a:t>커스터마이징으로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연동양식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재기안이</a:t>
            </a:r>
            <a:r>
              <a:rPr lang="ko-KR" altLang="en-US" sz="1400" dirty="0" smtClean="0"/>
              <a:t> 개발 된 곳도 있음</a:t>
            </a:r>
            <a:r>
              <a:rPr lang="en-US" altLang="ko-KR" sz="14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전자결재 연동은 꼭 그룹웨어</a:t>
            </a:r>
            <a:r>
              <a:rPr lang="en-US" altLang="ko-KR" sz="1400" dirty="0" smtClean="0"/>
              <a:t>-</a:t>
            </a:r>
            <a:r>
              <a:rPr lang="ko-KR" altLang="en-US" sz="1400" dirty="0" smtClean="0"/>
              <a:t>외부시스템과의 연동만 말하는 것이 아니다</a:t>
            </a:r>
            <a:r>
              <a:rPr lang="en-US" altLang="ko-KR" sz="1400" dirty="0" smtClean="0"/>
              <a:t>. </a:t>
            </a:r>
            <a:br>
              <a:rPr lang="en-US" altLang="ko-KR" sz="1400" dirty="0" smtClean="0"/>
            </a:br>
            <a:r>
              <a:rPr lang="ko-KR" altLang="en-US" sz="1400" dirty="0" smtClean="0"/>
              <a:t>결재 시 그룹웨어 내의 다른 모듈이 동시에 변경되어야 한다면 그때도 연동 양식을 이용하여 개발할 수 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57225" y="3200400"/>
            <a:ext cx="1304925" cy="1352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전자결재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3914775" y="3200400"/>
            <a:ext cx="1304925" cy="1352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연동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컨트롤러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7381875" y="3200400"/>
            <a:ext cx="2590800" cy="1352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외부 시스템 연동</a:t>
            </a:r>
            <a:endParaRPr lang="en-US" altLang="ko-KR" dirty="0"/>
          </a:p>
          <a:p>
            <a:pPr algn="ctr"/>
            <a:r>
              <a:rPr lang="ko-KR" altLang="en-US" dirty="0" smtClean="0"/>
              <a:t>혹은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그룹웨어 타 모듈 연동</a:t>
            </a:r>
            <a:endParaRPr lang="ko-KR" altLang="en-US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1962150" y="3733800"/>
            <a:ext cx="1952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1962150" y="4010025"/>
            <a:ext cx="1952625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53018" y="3313212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키데이터</a:t>
            </a:r>
            <a:r>
              <a:rPr lang="en-US" altLang="ko-KR" sz="1400" dirty="0" smtClean="0"/>
              <a:t>(XML)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2163250" y="4127599"/>
            <a:ext cx="15504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리턴데이터</a:t>
            </a:r>
            <a:r>
              <a:rPr lang="en-US" altLang="ko-KR" sz="1400" dirty="0" smtClean="0"/>
              <a:t>(XML)</a:t>
            </a:r>
            <a:endParaRPr lang="ko-KR" altLang="en-US" sz="1400" dirty="0"/>
          </a:p>
        </p:txBody>
      </p:sp>
      <p:cxnSp>
        <p:nvCxnSpPr>
          <p:cNvPr id="23" name="직선 화살표 연결선 22"/>
          <p:cNvCxnSpPr>
            <a:stCxn id="13" idx="3"/>
            <a:endCxn id="14" idx="1"/>
          </p:cNvCxnSpPr>
          <p:nvPr/>
        </p:nvCxnSpPr>
        <p:spPr>
          <a:xfrm>
            <a:off x="5219700" y="3876675"/>
            <a:ext cx="216217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31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 smtClean="0">
                <a:latin typeface="+mj-lt"/>
              </a:rPr>
              <a:t>XML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213" y="1017534"/>
            <a:ext cx="113432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연동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이란 어떤 양식이 어느 시점에 어디와 어떻게 연동을 할 것인지 설정해주는 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을 의미한다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연동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은 관리자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전자결재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양식</a:t>
            </a:r>
            <a:r>
              <a:rPr lang="en-US" altLang="ko-KR" sz="1400" dirty="0" smtClean="0"/>
              <a:t>&gt;</a:t>
            </a:r>
            <a:r>
              <a:rPr lang="ko-KR" altLang="en-US" sz="1400" dirty="0" err="1" smtClean="0"/>
              <a:t>연동정보</a:t>
            </a:r>
            <a:r>
              <a:rPr lang="ko-KR" altLang="en-US" sz="1400" dirty="0" smtClean="0"/>
              <a:t> 탭에서 작성할 수 있다</a:t>
            </a:r>
            <a:r>
              <a:rPr lang="en-US" altLang="ko-KR" sz="1400" dirty="0" smtClean="0"/>
              <a:t>.</a:t>
            </a:r>
          </a:p>
          <a:p>
            <a:pPr lvl="1"/>
            <a:r>
              <a:rPr lang="en-US" altLang="ko-KR" sz="1400" dirty="0" smtClean="0"/>
              <a:t>(</a:t>
            </a:r>
            <a:r>
              <a:rPr lang="ko-KR" altLang="en-US" sz="1400" dirty="0" smtClean="0"/>
              <a:t>오른쪽 </a:t>
            </a:r>
            <a:r>
              <a:rPr lang="en-US" altLang="ko-KR" sz="1400" dirty="0" smtClean="0"/>
              <a:t>[</a:t>
            </a:r>
            <a:r>
              <a:rPr lang="ko-KR" altLang="en-US" sz="1400" dirty="0" smtClean="0"/>
              <a:t>추가</a:t>
            </a:r>
            <a:r>
              <a:rPr lang="en-US" altLang="ko-KR" sz="1400" dirty="0" smtClean="0"/>
              <a:t>] </a:t>
            </a:r>
            <a:r>
              <a:rPr lang="ko-KR" altLang="en-US" sz="1400" dirty="0" smtClean="0"/>
              <a:t>버튼을 클릭하거나</a:t>
            </a:r>
            <a:r>
              <a:rPr lang="en-US" altLang="ko-KR" sz="1400" dirty="0" smtClean="0"/>
              <a:t>, XML</a:t>
            </a:r>
            <a:r>
              <a:rPr lang="ko-KR" altLang="en-US" sz="1400" dirty="0" smtClean="0"/>
              <a:t>을 직접 작성하여 추가할 수 있다</a:t>
            </a:r>
            <a:r>
              <a:rPr lang="en-US" altLang="ko-KR" sz="1400" dirty="0" smtClean="0"/>
              <a:t>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연동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은 </a:t>
            </a:r>
            <a:r>
              <a:rPr lang="ko-KR" altLang="en-US" sz="1400" dirty="0" err="1" smtClean="0"/>
              <a:t>기안기</a:t>
            </a:r>
            <a:r>
              <a:rPr lang="ko-KR" altLang="en-US" sz="1400" dirty="0" smtClean="0"/>
              <a:t> 종류별로 양식 안에 저장되는 위치가 다르다</a:t>
            </a:r>
            <a:r>
              <a:rPr lang="en-US" altLang="ko-KR" sz="1400" dirty="0" smtClean="0"/>
              <a:t>.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ko-KR" altLang="en-US" sz="1400" dirty="0" err="1" smtClean="0"/>
              <a:t>웹기안기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&lt;xml id=“conn”&gt; </a:t>
            </a:r>
            <a:r>
              <a:rPr lang="ko-KR" altLang="en-US" sz="1400" dirty="0" smtClean="0"/>
              <a:t>태그 밑에 저장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ko-KR" altLang="en-US" sz="1400" dirty="0" err="1" smtClean="0"/>
              <a:t>한글기안기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한글웹기안기 </a:t>
            </a:r>
            <a:r>
              <a:rPr lang="en-US" altLang="ko-KR" sz="1400" dirty="0" smtClean="0"/>
              <a:t>: </a:t>
            </a:r>
            <a:r>
              <a:rPr lang="ko-KR" altLang="en-US" sz="1400" dirty="0" err="1" smtClean="0"/>
              <a:t>문서정보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&gt; </a:t>
            </a:r>
            <a:r>
              <a:rPr lang="ko-KR" altLang="en-US" sz="1400" dirty="0" smtClean="0"/>
              <a:t>문서요약 탭에서 키워드에 저장</a:t>
            </a:r>
            <a:endParaRPr lang="en-US" altLang="ko-KR" sz="1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85825" y="33051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180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 smtClean="0">
                <a:latin typeface="+mj-lt"/>
              </a:rPr>
              <a:t>XML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213" y="1017534"/>
            <a:ext cx="11343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연동</a:t>
            </a:r>
            <a:r>
              <a:rPr lang="en-US" altLang="ko-KR" sz="1400" dirty="0" smtClean="0"/>
              <a:t>XML </a:t>
            </a:r>
            <a:r>
              <a:rPr lang="ko-KR" altLang="en-US" sz="1400" dirty="0" smtClean="0"/>
              <a:t>형태는 다음과 같다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051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435820"/>
            <a:ext cx="4648849" cy="2238687"/>
          </a:xfrm>
          <a:prstGeom prst="rect">
            <a:avLst/>
          </a:prstGeom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359751"/>
              </p:ext>
            </p:extLst>
          </p:nvPr>
        </p:nvGraphicFramePr>
        <p:xfrm>
          <a:off x="5026580" y="1919448"/>
          <a:ext cx="68738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1434">
                  <a:extLst>
                    <a:ext uri="{9D8B030D-6E8A-4147-A177-3AD203B41FA5}">
                      <a16:colId xmlns:a16="http://schemas.microsoft.com/office/drawing/2014/main" val="3521544276"/>
                    </a:ext>
                  </a:extLst>
                </a:gridCol>
                <a:gridCol w="3431149">
                  <a:extLst>
                    <a:ext uri="{9D8B030D-6E8A-4147-A177-3AD203B41FA5}">
                      <a16:colId xmlns:a16="http://schemas.microsoft.com/office/drawing/2014/main" val="965681394"/>
                    </a:ext>
                  </a:extLst>
                </a:gridCol>
                <a:gridCol w="2291292">
                  <a:extLst>
                    <a:ext uri="{9D8B030D-6E8A-4147-A177-3AD203B41FA5}">
                      <a16:colId xmlns:a16="http://schemas.microsoft.com/office/drawing/2014/main" val="454327452"/>
                    </a:ext>
                  </a:extLst>
                </a:gridCol>
              </a:tblGrid>
              <a:tr h="1834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속성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의미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값 예시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02974"/>
                  </a:ext>
                </a:extLst>
              </a:tr>
              <a:tr h="18347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&lt;conn&gt;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25410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processidx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연동 시점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INIT,</a:t>
                      </a:r>
                      <a:r>
                        <a:rPr lang="en-US" altLang="ko-KR" sz="1200" baseline="0" dirty="0" smtClean="0"/>
                        <a:t> DRAFTSAVE_BEFORE, BANSONG_BEFORE, DOCNUM_BEFORE etc.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048724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processtime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연동 문서 상태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DRAFT, SUSIN etc.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313852"/>
                  </a:ext>
                </a:extLst>
              </a:tr>
              <a:tr h="24803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&lt;</a:t>
                      </a:r>
                      <a:r>
                        <a:rPr lang="en-US" altLang="ko-KR" sz="1200" dirty="0" err="1" smtClean="0"/>
                        <a:t>connstring</a:t>
                      </a:r>
                      <a:r>
                        <a:rPr lang="en-US" altLang="ko-KR" sz="1200" dirty="0" smtClean="0"/>
                        <a:t>&gt;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801149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flag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qtype</a:t>
                      </a:r>
                      <a:r>
                        <a:rPr lang="ko-KR" altLang="en-US" sz="1200" dirty="0" smtClean="0"/>
                        <a:t>에 맞춰 짝으로 지정</a:t>
                      </a:r>
                      <a:endParaRPr lang="en-US" altLang="ko-KR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CS,</a:t>
                      </a:r>
                      <a:r>
                        <a:rPr lang="en-US" altLang="ko-KR" sz="1200" baseline="0" dirty="0" smtClean="0"/>
                        <a:t> UI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518405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#text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옵션값</a:t>
                      </a:r>
                      <a:endParaRPr lang="en-US" altLang="ko-KR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500;800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512953"/>
                  </a:ext>
                </a:extLst>
              </a:tr>
              <a:tr h="24803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&lt;query&gt;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381974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qtype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 dirty="0" smtClean="0"/>
                        <a:t>연동 방식</a:t>
                      </a:r>
                      <a:endParaRPr lang="en-US" altLang="ko-KR" sz="1200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NA, UA, UA_EX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155191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#text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 dirty="0" smtClean="0"/>
                        <a:t>연동 </a:t>
                      </a:r>
                      <a:r>
                        <a:rPr lang="en-US" altLang="ko-KR" sz="1200" baseline="0" dirty="0" smtClean="0"/>
                        <a:t>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/ezApprovalG/conn/sample.do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684335"/>
                  </a:ext>
                </a:extLst>
              </a:tr>
              <a:tr h="24803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&lt;</a:t>
                      </a:r>
                      <a:r>
                        <a:rPr lang="en-US" altLang="ko-KR" sz="1200" dirty="0" err="1" smtClean="0"/>
                        <a:t>servicequery</a:t>
                      </a:r>
                      <a:r>
                        <a:rPr lang="en-US" altLang="ko-KR" sz="1200" dirty="0" smtClean="0"/>
                        <a:t>&gt;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603193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#text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 dirty="0" smtClean="0"/>
                        <a:t>연동 서비스 </a:t>
                      </a:r>
                      <a:r>
                        <a:rPr lang="ko-KR" altLang="en-US" sz="1200" baseline="0" dirty="0" err="1" smtClean="0"/>
                        <a:t>메소드</a:t>
                      </a:r>
                      <a:endParaRPr lang="en-US" altLang="ko-KR" sz="1200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sample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361248"/>
                  </a:ext>
                </a:extLst>
              </a:tr>
              <a:tr h="24803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&lt;keys&gt;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786587"/>
                  </a:ext>
                </a:extLst>
              </a:tr>
              <a:tr h="24803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&lt;key&gt;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127652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kind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연동 키</a:t>
                      </a:r>
                      <a:r>
                        <a:rPr lang="ko-KR" altLang="en-US" sz="1200" baseline="0" dirty="0" smtClean="0"/>
                        <a:t> 종류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single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702149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#text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연동시</a:t>
                      </a:r>
                      <a:r>
                        <a:rPr lang="ko-KR" altLang="en-US" sz="1200" dirty="0" smtClean="0"/>
                        <a:t> </a:t>
                      </a:r>
                      <a:r>
                        <a:rPr lang="ko-KR" altLang="en-US" sz="1200" dirty="0" err="1" smtClean="0"/>
                        <a:t>키데이터로</a:t>
                      </a:r>
                      <a:r>
                        <a:rPr lang="ko-KR" altLang="en-US" sz="1200" dirty="0" smtClean="0"/>
                        <a:t> 넘길 데이터 필드의 아이디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data1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008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49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2124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 smtClean="0">
                <a:latin typeface="+mj-lt"/>
              </a:rPr>
              <a:t>XML - conn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214" y="1017534"/>
            <a:ext cx="11006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conn </a:t>
            </a:r>
            <a:r>
              <a:rPr lang="ko-KR" altLang="en-US" sz="1400" dirty="0" smtClean="0"/>
              <a:t>노드의 </a:t>
            </a:r>
            <a:r>
              <a:rPr lang="en-US" altLang="ko-KR" sz="1400" dirty="0" err="1" smtClean="0"/>
              <a:t>processidx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processtime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속성값에 의해 연동이 실행된다</a:t>
            </a:r>
            <a:r>
              <a:rPr lang="en-US" altLang="ko-KR" sz="14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ExcuteInfo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processidx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processtime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함수를 개발자도구에서 직접 실행하여 연동을 테스트해볼 수 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051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7213" y="1910086"/>
            <a:ext cx="2918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 smtClean="0">
                <a:latin typeface="+mj-lt"/>
              </a:rPr>
              <a:t>XML - </a:t>
            </a:r>
            <a:r>
              <a:rPr lang="en-US" altLang="ko-KR" sz="2000" b="1" dirty="0" err="1" smtClean="0">
                <a:latin typeface="+mj-lt"/>
              </a:rPr>
              <a:t>connstring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214" y="2454300"/>
            <a:ext cx="110061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connstring</a:t>
            </a:r>
            <a:r>
              <a:rPr lang="ko-KR" altLang="en-US" sz="1400" dirty="0" smtClean="0"/>
              <a:t>노드의 </a:t>
            </a:r>
            <a:r>
              <a:rPr lang="en-US" altLang="ko-KR" sz="1400" dirty="0" smtClean="0"/>
              <a:t>flag</a:t>
            </a:r>
            <a:r>
              <a:rPr lang="ko-KR" altLang="en-US" sz="1400" dirty="0" smtClean="0"/>
              <a:t>속성은 </a:t>
            </a:r>
            <a:r>
              <a:rPr lang="en-US" altLang="ko-KR" sz="1400" dirty="0" smtClean="0"/>
              <a:t>query</a:t>
            </a:r>
            <a:r>
              <a:rPr lang="ko-KR" altLang="en-US" sz="1400" dirty="0" smtClean="0"/>
              <a:t>노드의 </a:t>
            </a:r>
            <a:r>
              <a:rPr lang="en-US" altLang="ko-KR" sz="1400" dirty="0" err="1" smtClean="0"/>
              <a:t>qtype</a:t>
            </a:r>
            <a:r>
              <a:rPr lang="ko-KR" altLang="en-US" sz="1400" dirty="0" smtClean="0"/>
              <a:t>속성과 짝을 이룬다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flag</a:t>
            </a:r>
            <a:r>
              <a:rPr lang="ko-KR" altLang="en-US" sz="1400" dirty="0" smtClean="0"/>
              <a:t>속성이 </a:t>
            </a:r>
            <a:r>
              <a:rPr lang="en-US" altLang="ko-KR" sz="1400" dirty="0" smtClean="0"/>
              <a:t>CS</a:t>
            </a:r>
            <a:r>
              <a:rPr lang="ko-KR" altLang="en-US" sz="1400" dirty="0" err="1" smtClean="0"/>
              <a:t>일때는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신경쓰지</a:t>
            </a:r>
            <a:r>
              <a:rPr lang="ko-KR" altLang="en-US" sz="1400" dirty="0" smtClean="0"/>
              <a:t> 않아도 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flag</a:t>
            </a:r>
            <a:r>
              <a:rPr lang="ko-KR" altLang="en-US" sz="1400" dirty="0" smtClean="0"/>
              <a:t>속성이 </a:t>
            </a:r>
            <a:r>
              <a:rPr lang="en-US" altLang="ko-KR" sz="1400" dirty="0" smtClean="0"/>
              <a:t>UI</a:t>
            </a:r>
            <a:r>
              <a:rPr lang="ko-KR" altLang="en-US" sz="1400" dirty="0" err="1" smtClean="0"/>
              <a:t>일때는</a:t>
            </a:r>
            <a:r>
              <a:rPr lang="ko-KR" altLang="en-US" sz="1400" dirty="0" smtClean="0"/>
              <a:t> 노드텍스트에 </a:t>
            </a:r>
            <a:r>
              <a:rPr lang="ko-KR" altLang="en-US" sz="1400" dirty="0" err="1" smtClean="0"/>
              <a:t>팝업창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사이즈값이</a:t>
            </a:r>
            <a:r>
              <a:rPr lang="ko-KR" altLang="en-US" sz="1400" dirty="0" smtClean="0"/>
              <a:t> 들어간다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형태는 </a:t>
            </a:r>
            <a:r>
              <a:rPr lang="en-US" altLang="ko-KR" sz="1400" dirty="0" err="1" smtClean="0"/>
              <a:t>width;height</a:t>
            </a:r>
            <a:r>
              <a:rPr lang="ko-KR" altLang="en-US" sz="1400" dirty="0" smtClean="0"/>
              <a:t>로 각 부분은 숫자만 허용한다</a:t>
            </a:r>
            <a:r>
              <a:rPr lang="en-US" altLang="ko-KR" sz="1400" dirty="0" smtClean="0"/>
              <a:t>. (ex. 500;800)</a:t>
            </a:r>
            <a:br>
              <a:rPr lang="en-US" altLang="ko-KR" sz="1400" dirty="0" smtClean="0"/>
            </a:br>
            <a:r>
              <a:rPr lang="ko-KR" altLang="en-US" sz="1400" dirty="0" smtClean="0"/>
              <a:t>속성값을 적지 않으면 기본사이즈로 지정된다 </a:t>
            </a:r>
            <a:r>
              <a:rPr lang="en-US" altLang="ko-KR" sz="1400" dirty="0" smtClean="0"/>
              <a:t>(800;800)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&lt;</a:t>
            </a:r>
            <a:r>
              <a:rPr lang="en-US" altLang="ko-KR" sz="1400" dirty="0" err="1" smtClean="0"/>
              <a:t>connstring</a:t>
            </a:r>
            <a:r>
              <a:rPr lang="en-US" altLang="ko-KR" sz="1400" dirty="0" smtClean="0"/>
              <a:t> flag=“CS”/&gt; - &lt;query </a:t>
            </a:r>
            <a:r>
              <a:rPr lang="en-US" altLang="ko-KR" sz="1400" dirty="0" err="1" smtClean="0"/>
              <a:t>qtype</a:t>
            </a:r>
            <a:r>
              <a:rPr lang="en-US" altLang="ko-KR" sz="1400" dirty="0" smtClean="0"/>
              <a:t>=“NA”/&gt;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&lt;</a:t>
            </a:r>
            <a:r>
              <a:rPr lang="en-US" altLang="ko-KR" sz="1400" dirty="0" err="1" smtClean="0"/>
              <a:t>connstring</a:t>
            </a:r>
            <a:r>
              <a:rPr lang="en-US" altLang="ko-KR" sz="1400" dirty="0" smtClean="0"/>
              <a:t> flag=“UI/&gt; - &lt;query </a:t>
            </a:r>
            <a:r>
              <a:rPr lang="en-US" altLang="ko-KR" sz="1400" dirty="0" err="1" smtClean="0"/>
              <a:t>qtype</a:t>
            </a:r>
            <a:r>
              <a:rPr lang="en-US" altLang="ko-KR" sz="1400" dirty="0" smtClean="0"/>
              <a:t>=“UA”/&gt;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&lt;</a:t>
            </a:r>
            <a:r>
              <a:rPr lang="en-US" altLang="ko-KR" sz="1400" dirty="0" err="1" smtClean="0"/>
              <a:t>connstring</a:t>
            </a:r>
            <a:r>
              <a:rPr lang="en-US" altLang="ko-KR" sz="1400" dirty="0" smtClean="0"/>
              <a:t> flag=“UI/&gt; - &lt;query </a:t>
            </a:r>
            <a:r>
              <a:rPr lang="en-US" altLang="ko-KR" sz="1400" dirty="0" err="1" smtClean="0"/>
              <a:t>qtype</a:t>
            </a:r>
            <a:r>
              <a:rPr lang="en-US" altLang="ko-KR" sz="1400" dirty="0" smtClean="0"/>
              <a:t>=“UA_EX”/&gt;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213" y="4424686"/>
            <a:ext cx="2261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 smtClean="0">
                <a:latin typeface="+mj-lt"/>
              </a:rPr>
              <a:t>XML - query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7214" y="4968900"/>
            <a:ext cx="11006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query</a:t>
            </a:r>
            <a:r>
              <a:rPr lang="ko-KR" altLang="en-US" sz="1400" dirty="0" smtClean="0"/>
              <a:t>노드의 </a:t>
            </a:r>
            <a:r>
              <a:rPr lang="en-US" altLang="ko-KR" sz="1400" dirty="0" err="1" smtClean="0"/>
              <a:t>qtype</a:t>
            </a:r>
            <a:r>
              <a:rPr lang="ko-KR" altLang="en-US" sz="1400" dirty="0" smtClean="0"/>
              <a:t>속성은 </a:t>
            </a:r>
            <a:r>
              <a:rPr lang="en-US" altLang="ko-KR" sz="1400" dirty="0" err="1" smtClean="0"/>
              <a:t>connstring</a:t>
            </a:r>
            <a:r>
              <a:rPr lang="ko-KR" altLang="en-US" sz="1400" dirty="0" smtClean="0"/>
              <a:t>노드의 </a:t>
            </a:r>
            <a:r>
              <a:rPr lang="en-US" altLang="ko-KR" sz="1400" dirty="0" smtClean="0"/>
              <a:t>flag</a:t>
            </a:r>
            <a:r>
              <a:rPr lang="ko-KR" altLang="en-US" sz="1400" dirty="0" smtClean="0"/>
              <a:t>속성과 짝을 이룬다</a:t>
            </a:r>
            <a:r>
              <a:rPr lang="en-US" altLang="ko-KR" sz="14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지정된 연동 시점에 노드텍스트에 적힌 </a:t>
            </a:r>
            <a:r>
              <a:rPr lang="en-US" altLang="ko-KR" sz="1400" dirty="0" err="1" smtClean="0"/>
              <a:t>url</a:t>
            </a:r>
            <a:r>
              <a:rPr lang="ko-KR" altLang="en-US" sz="1400" dirty="0" smtClean="0"/>
              <a:t>을 실행하며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qtype</a:t>
            </a:r>
            <a:r>
              <a:rPr lang="ko-KR" altLang="en-US" sz="1400" dirty="0" smtClean="0"/>
              <a:t>에 따라 컨트롤러만 호출할지 </a:t>
            </a:r>
            <a:r>
              <a:rPr lang="ko-KR" altLang="en-US" sz="1400" dirty="0" err="1" smtClean="0"/>
              <a:t>팝업창을</a:t>
            </a:r>
            <a:r>
              <a:rPr lang="ko-KR" altLang="en-US" sz="1400" dirty="0" smtClean="0"/>
              <a:t> 오픈할지 </a:t>
            </a:r>
            <a:r>
              <a:rPr lang="ko-KR" altLang="en-US" sz="1400" dirty="0" err="1" smtClean="0"/>
              <a:t>연동방식이</a:t>
            </a:r>
            <a:r>
              <a:rPr lang="ko-KR" altLang="en-US" sz="1400" dirty="0" smtClean="0"/>
              <a:t> 달라진다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자세한 내용은 </a:t>
            </a:r>
            <a:r>
              <a:rPr lang="en-US" altLang="ko-KR" sz="1400" dirty="0" smtClean="0"/>
              <a:t>“</a:t>
            </a:r>
            <a:r>
              <a:rPr lang="ko-KR" altLang="en-US" sz="1400" dirty="0" err="1" smtClean="0"/>
              <a:t>연동방식</a:t>
            </a:r>
            <a:r>
              <a:rPr lang="en-US" altLang="ko-KR" sz="1400" dirty="0" smtClean="0"/>
              <a:t>”</a:t>
            </a:r>
            <a:r>
              <a:rPr lang="ko-KR" altLang="en-US" sz="1400" dirty="0" smtClean="0"/>
              <a:t>을 참고한다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984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2397370"/>
            <a:ext cx="2065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 smtClean="0">
                <a:latin typeface="+mj-lt"/>
              </a:rPr>
              <a:t>XML - keys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214" y="2941584"/>
            <a:ext cx="11006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연동 시 컨트롤러 혹은 </a:t>
            </a:r>
            <a:r>
              <a:rPr lang="ko-KR" altLang="en-US" sz="1400" dirty="0" err="1" smtClean="0"/>
              <a:t>팝업창에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파라미터로</a:t>
            </a:r>
            <a:r>
              <a:rPr lang="ko-KR" altLang="en-US" sz="1400" dirty="0" smtClean="0"/>
              <a:t> 넘겨줄 데이터를 정의한다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넘겨줄 데이터가 없다면 </a:t>
            </a:r>
            <a:r>
              <a:rPr lang="en-US" altLang="ko-KR" sz="1400" dirty="0" smtClean="0"/>
              <a:t>keys</a:t>
            </a:r>
            <a:r>
              <a:rPr lang="ko-KR" altLang="en-US" sz="1400" dirty="0" smtClean="0"/>
              <a:t>하위 노드는 비워둔다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13" y="3834136"/>
            <a:ext cx="1947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 smtClean="0">
                <a:latin typeface="+mj-lt"/>
              </a:rPr>
              <a:t>XML - key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214" y="4378350"/>
            <a:ext cx="11006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key</a:t>
            </a:r>
            <a:r>
              <a:rPr lang="ko-KR" altLang="en-US" sz="1400" dirty="0" smtClean="0"/>
              <a:t>노드의 </a:t>
            </a:r>
            <a:r>
              <a:rPr lang="en-US" altLang="ko-KR" sz="1400" dirty="0" smtClean="0"/>
              <a:t>kind</a:t>
            </a:r>
            <a:r>
              <a:rPr lang="ko-KR" altLang="en-US" sz="1400" dirty="0" smtClean="0"/>
              <a:t>속성은 키를 </a:t>
            </a:r>
            <a:r>
              <a:rPr lang="ko-KR" altLang="en-US" sz="1400" dirty="0" err="1" smtClean="0"/>
              <a:t>어떤식으로</a:t>
            </a:r>
            <a:r>
              <a:rPr lang="ko-KR" altLang="en-US" sz="1400" dirty="0" smtClean="0"/>
              <a:t> 가져올지에 대한 설정이다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현재는 </a:t>
            </a:r>
            <a:r>
              <a:rPr lang="en-US" altLang="ko-KR" sz="1400" dirty="0" smtClean="0"/>
              <a:t>single</a:t>
            </a:r>
            <a:r>
              <a:rPr lang="ko-KR" altLang="en-US" sz="1400" dirty="0" smtClean="0"/>
              <a:t>밖에 쓰지 않는다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kind</a:t>
            </a:r>
            <a:r>
              <a:rPr lang="ko-KR" altLang="en-US" sz="1400" dirty="0" smtClean="0"/>
              <a:t>속성이 </a:t>
            </a:r>
            <a:r>
              <a:rPr lang="en-US" altLang="ko-KR" sz="1400" dirty="0" smtClean="0"/>
              <a:t>single</a:t>
            </a:r>
            <a:r>
              <a:rPr lang="ko-KR" altLang="en-US" sz="1400" dirty="0" smtClean="0"/>
              <a:t>이면 노드텍스트에 적힌 필드의 값을 가져와서 </a:t>
            </a:r>
            <a:r>
              <a:rPr lang="ko-KR" altLang="en-US" sz="1400" dirty="0" err="1" smtClean="0"/>
              <a:t>키데이터를</a:t>
            </a:r>
            <a:r>
              <a:rPr lang="ko-KR" altLang="en-US" sz="1400" dirty="0" smtClean="0"/>
              <a:t> 만든다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자세한 내용은 </a:t>
            </a:r>
            <a:r>
              <a:rPr lang="en-US" altLang="ko-KR" sz="1400" dirty="0" smtClean="0"/>
              <a:t>“</a:t>
            </a:r>
            <a:r>
              <a:rPr lang="ko-KR" altLang="en-US" sz="1400" dirty="0" err="1" smtClean="0"/>
              <a:t>연동데이터</a:t>
            </a:r>
            <a:r>
              <a:rPr lang="en-US" altLang="ko-KR" sz="1400" dirty="0" smtClean="0"/>
              <a:t>”</a:t>
            </a:r>
            <a:r>
              <a:rPr lang="ko-KR" altLang="en-US" sz="1400" dirty="0" smtClean="0"/>
              <a:t>를 참고한다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13" y="473320"/>
            <a:ext cx="308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</a:t>
            </a:r>
            <a:r>
              <a:rPr lang="en-US" altLang="ko-KR" sz="2000" b="1" dirty="0" smtClean="0">
                <a:latin typeface="+mj-lt"/>
              </a:rPr>
              <a:t>XML - </a:t>
            </a:r>
            <a:r>
              <a:rPr lang="en-US" altLang="ko-KR" sz="2000" b="1" dirty="0" err="1" smtClean="0">
                <a:latin typeface="+mj-lt"/>
              </a:rPr>
              <a:t>servicequery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7214" y="1017534"/>
            <a:ext cx="110061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모바일결재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일괄결재를</a:t>
            </a:r>
            <a:r>
              <a:rPr lang="ko-KR" altLang="en-US" sz="1400" dirty="0" smtClean="0"/>
              <a:t> 위한 </a:t>
            </a:r>
            <a:r>
              <a:rPr lang="ko-KR" altLang="en-US" sz="1400" dirty="0" err="1" smtClean="0"/>
              <a:t>백단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연동서비스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메소드</a:t>
            </a:r>
            <a:r>
              <a:rPr lang="ko-KR" altLang="en-US" sz="1400" dirty="0" smtClean="0"/>
              <a:t> 이름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노드텍스트와 이름이 같은 </a:t>
            </a:r>
            <a:r>
              <a:rPr lang="ko-KR" altLang="en-US" sz="1400" dirty="0" err="1" smtClean="0"/>
              <a:t>메소드를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EzApprovalGConnService</a:t>
            </a:r>
            <a:r>
              <a:rPr lang="ko-KR" altLang="en-US" sz="1400" dirty="0" smtClean="0"/>
              <a:t>에서 찾은 후 실행시키기 때문에 반드시 </a:t>
            </a:r>
            <a:r>
              <a:rPr lang="en-US" altLang="ko-KR" sz="1400" dirty="0" err="1" smtClean="0"/>
              <a:t>EzApprovalGConnService</a:t>
            </a:r>
            <a:r>
              <a:rPr lang="ko-KR" altLang="en-US" sz="1400" dirty="0" smtClean="0"/>
              <a:t>에 정의하고 구현해야한다</a:t>
            </a:r>
            <a:r>
              <a:rPr lang="en-US" altLang="ko-KR" sz="14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해당 서비스는 반드시 </a:t>
            </a:r>
            <a:r>
              <a:rPr lang="en-US" altLang="ko-KR" sz="1400" dirty="0" smtClean="0"/>
              <a:t>Document </a:t>
            </a:r>
            <a:r>
              <a:rPr lang="ko-KR" altLang="en-US" sz="1400" dirty="0" smtClean="0"/>
              <a:t>타입의 </a:t>
            </a:r>
            <a:r>
              <a:rPr lang="ko-KR" altLang="en-US" sz="1400" dirty="0" err="1" smtClean="0"/>
              <a:t>키데이터와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LoginVO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타입의 </a:t>
            </a:r>
            <a:r>
              <a:rPr lang="ko-KR" altLang="en-US" sz="1400" dirty="0" err="1" smtClean="0"/>
              <a:t>유저정보를</a:t>
            </a:r>
            <a:r>
              <a:rPr lang="ko-KR" altLang="en-US" sz="1400" dirty="0" smtClean="0"/>
              <a:t> 인자로 받아야한다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03258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4358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latin typeface="+mj-lt"/>
              </a:rPr>
              <a:t>연동방식</a:t>
            </a:r>
            <a:r>
              <a:rPr lang="ko-KR" altLang="en-US" sz="2000" b="1" dirty="0">
                <a:latin typeface="+mj-lt"/>
              </a:rPr>
              <a:t> </a:t>
            </a:r>
            <a:r>
              <a:rPr lang="en-US" altLang="ko-KR" sz="2000" b="1" dirty="0" smtClean="0">
                <a:latin typeface="+mj-lt"/>
              </a:rPr>
              <a:t>: NA</a:t>
            </a:r>
            <a:r>
              <a:rPr lang="ko-KR" altLang="en-US" sz="2000" b="1" dirty="0" smtClean="0">
                <a:latin typeface="+mj-lt"/>
              </a:rPr>
              <a:t>연동 </a:t>
            </a:r>
            <a:r>
              <a:rPr lang="en-US" altLang="ko-KR" sz="2000" b="1" dirty="0" smtClean="0">
                <a:latin typeface="+mj-lt"/>
              </a:rPr>
              <a:t>(UI</a:t>
            </a:r>
            <a:r>
              <a:rPr lang="ko-KR" altLang="en-US" sz="2000" b="1" dirty="0" smtClean="0">
                <a:latin typeface="+mj-lt"/>
              </a:rPr>
              <a:t>가 없는 연동</a:t>
            </a:r>
            <a:r>
              <a:rPr lang="en-US" altLang="ko-KR" sz="2000" b="1" dirty="0" smtClean="0">
                <a:latin typeface="+mj-lt"/>
              </a:rPr>
              <a:t>)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213" y="1227084"/>
            <a:ext cx="50401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사용하는 경우</a:t>
            </a:r>
            <a:r>
              <a:rPr lang="en-US" altLang="ko-KR" sz="1400" dirty="0" smtClean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문서 본문에 연동 데이터를 뿌려줄 때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문서 본문에 사용자가 입력한 데이터를 이용해 연동할 때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서버단에서</a:t>
            </a:r>
            <a:r>
              <a:rPr lang="ko-KR" altLang="en-US" sz="1400" dirty="0" smtClean="0"/>
              <a:t> 처리하면 되는 </a:t>
            </a:r>
            <a:r>
              <a:rPr lang="ko-KR" altLang="en-US" sz="1400" dirty="0" err="1" smtClean="0"/>
              <a:t>연동로직일</a:t>
            </a:r>
            <a:r>
              <a:rPr lang="ko-KR" altLang="en-US" sz="1400" dirty="0" smtClean="0"/>
              <a:t> 때</a:t>
            </a:r>
            <a:endParaRPr lang="en-US" altLang="ko-KR" sz="1400" dirty="0" smtClean="0"/>
          </a:p>
        </p:txBody>
      </p:sp>
      <p:grpSp>
        <p:nvGrpSpPr>
          <p:cNvPr id="22" name="그룹 21"/>
          <p:cNvGrpSpPr/>
          <p:nvPr/>
        </p:nvGrpSpPr>
        <p:grpSpPr>
          <a:xfrm>
            <a:off x="557213" y="2311003"/>
            <a:ext cx="10837628" cy="4147061"/>
            <a:chOff x="557213" y="1930003"/>
            <a:chExt cx="10837628" cy="414706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213" y="2745230"/>
              <a:ext cx="5400000" cy="1311036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213" y="4609975"/>
              <a:ext cx="5400000" cy="1339314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7009" y="2237780"/>
              <a:ext cx="4177832" cy="3839284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7217009" y="4762500"/>
              <a:ext cx="4177832" cy="4191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/>
            <p:cNvCxnSpPr>
              <a:stCxn id="8" idx="2"/>
              <a:endCxn id="10" idx="0"/>
            </p:cNvCxnSpPr>
            <p:nvPr/>
          </p:nvCxnSpPr>
          <p:spPr>
            <a:xfrm>
              <a:off x="3257213" y="4056266"/>
              <a:ext cx="0" cy="5537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>
              <a:stCxn id="10" idx="3"/>
              <a:endCxn id="12" idx="1"/>
            </p:cNvCxnSpPr>
            <p:nvPr/>
          </p:nvCxnSpPr>
          <p:spPr>
            <a:xfrm flipV="1">
              <a:off x="5957213" y="4972050"/>
              <a:ext cx="1259796" cy="3075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557213" y="2437453"/>
              <a:ext cx="11047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1. </a:t>
              </a:r>
              <a:r>
                <a:rPr lang="ko-KR" altLang="en-US" sz="1400" dirty="0" smtClean="0">
                  <a:solidFill>
                    <a:srgbClr val="FF0000"/>
                  </a:solidFill>
                </a:rPr>
                <a:t>연동</a:t>
              </a:r>
              <a:r>
                <a:rPr lang="en-US" altLang="ko-KR" sz="1400" dirty="0" smtClean="0">
                  <a:solidFill>
                    <a:srgbClr val="FF0000"/>
                  </a:solidFill>
                </a:rPr>
                <a:t>XML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7213" y="4302198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2. </a:t>
              </a:r>
              <a:r>
                <a:rPr lang="ko-KR" altLang="en-US" sz="1400" dirty="0" err="1" smtClean="0">
                  <a:solidFill>
                    <a:srgbClr val="FF0000"/>
                  </a:solidFill>
                </a:rPr>
                <a:t>연동리턴</a:t>
              </a:r>
              <a:r>
                <a:rPr lang="en-US" altLang="ko-KR" sz="1400" dirty="0" smtClean="0">
                  <a:solidFill>
                    <a:srgbClr val="FF0000"/>
                  </a:solidFill>
                </a:rPr>
                <a:t>XML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17009" y="1930003"/>
              <a:ext cx="7457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3. </a:t>
              </a:r>
              <a:r>
                <a:rPr lang="ko-KR" altLang="en-US" sz="1400" dirty="0" smtClean="0">
                  <a:solidFill>
                    <a:srgbClr val="FF0000"/>
                  </a:solidFill>
                </a:rPr>
                <a:t>결과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7213" y="2129676"/>
              <a:ext cx="36663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/>
                <a:t>예시</a:t>
              </a:r>
              <a:r>
                <a:rPr lang="en-US" altLang="ko-KR" sz="1400" dirty="0" smtClean="0"/>
                <a:t>) </a:t>
              </a:r>
              <a:r>
                <a:rPr lang="ko-KR" altLang="en-US" sz="1400" dirty="0" smtClean="0"/>
                <a:t>문서 본문에 연동 데이터를 뿌려줄 때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48499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6329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/>
              <a:t>연동방식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en-US" altLang="ko-KR" sz="2000" b="1" dirty="0" smtClean="0">
                <a:latin typeface="+mj-lt"/>
              </a:rPr>
              <a:t>UA</a:t>
            </a:r>
            <a:r>
              <a:rPr lang="ko-KR" altLang="en-US" sz="2000" b="1" dirty="0" smtClean="0">
                <a:latin typeface="+mj-lt"/>
              </a:rPr>
              <a:t>연동 </a:t>
            </a:r>
            <a:r>
              <a:rPr lang="en-US" altLang="ko-KR" sz="2000" b="1" dirty="0" smtClean="0">
                <a:latin typeface="+mj-lt"/>
              </a:rPr>
              <a:t>(UI</a:t>
            </a:r>
            <a:r>
              <a:rPr lang="ko-KR" altLang="en-US" sz="2000" b="1" dirty="0" smtClean="0">
                <a:latin typeface="+mj-lt"/>
              </a:rPr>
              <a:t>가 있는 연동</a:t>
            </a:r>
            <a:r>
              <a:rPr lang="en-US" altLang="ko-KR" sz="2000" b="1" dirty="0" smtClean="0">
                <a:latin typeface="+mj-lt"/>
              </a:rPr>
              <a:t>, window popup)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213" y="1227084"/>
            <a:ext cx="53319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사용하는 경우</a:t>
            </a:r>
            <a:r>
              <a:rPr lang="en-US" altLang="ko-KR" sz="1400" dirty="0" smtClean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팝업으로 사용자가 입력한 데이터를 이용해 연동할 때</a:t>
            </a:r>
            <a:endParaRPr lang="en-US" altLang="ko-KR" sz="1400" dirty="0" smtClean="0"/>
          </a:p>
          <a:p>
            <a:r>
              <a:rPr lang="ko-KR" altLang="en-US" sz="1400" dirty="0" smtClean="0"/>
              <a:t>연동 팝업 </a:t>
            </a:r>
            <a:r>
              <a:rPr lang="en-US" altLang="ko-KR" sz="1400" dirty="0" smtClean="0"/>
              <a:t>JSP</a:t>
            </a:r>
            <a:r>
              <a:rPr lang="ko-KR" altLang="en-US" sz="1400" dirty="0" smtClean="0"/>
              <a:t>는 직접 </a:t>
            </a:r>
            <a:r>
              <a:rPr lang="ko-KR" altLang="en-US" sz="1400" dirty="0" err="1" smtClean="0"/>
              <a:t>만들어야함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connWithUI_sample.jsp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참고</a:t>
            </a:r>
            <a:r>
              <a:rPr lang="en-US" altLang="ko-KR" sz="1400" dirty="0" smtClean="0"/>
              <a:t>)</a:t>
            </a:r>
            <a:endParaRPr lang="en-US" altLang="ko-KR" sz="1400" dirty="0" smtClean="0"/>
          </a:p>
        </p:txBody>
      </p:sp>
      <p:grpSp>
        <p:nvGrpSpPr>
          <p:cNvPr id="36" name="그룹 35"/>
          <p:cNvGrpSpPr/>
          <p:nvPr/>
        </p:nvGrpSpPr>
        <p:grpSpPr>
          <a:xfrm>
            <a:off x="557213" y="2050378"/>
            <a:ext cx="11053624" cy="4547761"/>
            <a:chOff x="557213" y="1945603"/>
            <a:chExt cx="11053624" cy="454776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8753" y="2561158"/>
              <a:ext cx="4062084" cy="3605254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2079" y="2561158"/>
              <a:ext cx="2348508" cy="3932206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557213" y="2253381"/>
              <a:ext cx="11047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1. </a:t>
              </a:r>
              <a:r>
                <a:rPr lang="ko-KR" altLang="en-US" sz="1400" dirty="0" smtClean="0">
                  <a:solidFill>
                    <a:srgbClr val="FF0000"/>
                  </a:solidFill>
                </a:rPr>
                <a:t>연동</a:t>
              </a:r>
              <a:r>
                <a:rPr lang="en-US" altLang="ko-KR" sz="1400" dirty="0" smtClean="0">
                  <a:solidFill>
                    <a:srgbClr val="FF0000"/>
                  </a:solidFill>
                </a:rPr>
                <a:t>XML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12079" y="2253380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2. </a:t>
              </a:r>
              <a:r>
                <a:rPr lang="ko-KR" altLang="en-US" sz="1400" dirty="0" err="1" smtClean="0">
                  <a:solidFill>
                    <a:srgbClr val="FF0000"/>
                  </a:solidFill>
                </a:rPr>
                <a:t>연동리턴</a:t>
              </a:r>
              <a:r>
                <a:rPr lang="en-US" altLang="ko-KR" sz="1400" dirty="0" smtClean="0">
                  <a:solidFill>
                    <a:srgbClr val="FF0000"/>
                  </a:solidFill>
                </a:rPr>
                <a:t>XML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48753" y="2253380"/>
              <a:ext cx="7457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3. </a:t>
              </a:r>
              <a:r>
                <a:rPr lang="ko-KR" altLang="en-US" sz="1400" dirty="0" smtClean="0">
                  <a:solidFill>
                    <a:srgbClr val="FF0000"/>
                  </a:solidFill>
                </a:rPr>
                <a:t>결과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7667625" y="4924425"/>
              <a:ext cx="3857625" cy="3905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4876800" y="5314950"/>
              <a:ext cx="1781175" cy="5715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화살표 연결선 27"/>
            <p:cNvCxnSpPr>
              <a:stCxn id="33" idx="2"/>
              <a:endCxn id="20" idx="1"/>
            </p:cNvCxnSpPr>
            <p:nvPr/>
          </p:nvCxnSpPr>
          <p:spPr>
            <a:xfrm>
              <a:off x="2496860" y="4095750"/>
              <a:ext cx="2315219" cy="431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>
              <a:stCxn id="26" idx="3"/>
              <a:endCxn id="25" idx="1"/>
            </p:cNvCxnSpPr>
            <p:nvPr/>
          </p:nvCxnSpPr>
          <p:spPr>
            <a:xfrm flipV="1">
              <a:off x="6657975" y="5119688"/>
              <a:ext cx="1009650" cy="4810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557213" y="1945603"/>
              <a:ext cx="5982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/>
                <a:t>예시</a:t>
              </a:r>
              <a:r>
                <a:rPr lang="en-US" altLang="ko-KR" sz="1400" dirty="0" smtClean="0"/>
                <a:t>)</a:t>
              </a:r>
              <a:endParaRPr lang="ko-KR" altLang="en-US" sz="1400" dirty="0"/>
            </a:p>
          </p:txBody>
        </p:sp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213" y="2561157"/>
              <a:ext cx="3879293" cy="1534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1157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6582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/>
              <a:t>연동방식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en-US" altLang="ko-KR" sz="2000" b="1" dirty="0" smtClean="0">
                <a:latin typeface="+mj-lt"/>
              </a:rPr>
              <a:t>UA_EX</a:t>
            </a:r>
            <a:r>
              <a:rPr lang="ko-KR" altLang="en-US" sz="2000" b="1" dirty="0" smtClean="0">
                <a:latin typeface="+mj-lt"/>
              </a:rPr>
              <a:t>연동 </a:t>
            </a:r>
            <a:r>
              <a:rPr lang="en-US" altLang="ko-KR" sz="2000" b="1" dirty="0" smtClean="0">
                <a:latin typeface="+mj-lt"/>
              </a:rPr>
              <a:t>(UI</a:t>
            </a:r>
            <a:r>
              <a:rPr lang="ko-KR" altLang="en-US" sz="2000" b="1" dirty="0" smtClean="0">
                <a:latin typeface="+mj-lt"/>
              </a:rPr>
              <a:t>가 있는 연동</a:t>
            </a:r>
            <a:r>
              <a:rPr lang="en-US" altLang="ko-KR" sz="2000" b="1" dirty="0" smtClean="0">
                <a:latin typeface="+mj-lt"/>
              </a:rPr>
              <a:t>, iframe popup)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213" y="1227084"/>
            <a:ext cx="53319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사용하는 경우</a:t>
            </a:r>
            <a:r>
              <a:rPr lang="en-US" altLang="ko-KR" sz="1400" dirty="0" smtClean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팝업으로 사용자가 입력한 데이터를 이용해 연동할 때</a:t>
            </a:r>
            <a:endParaRPr lang="en-US" altLang="ko-KR" sz="1400" dirty="0" smtClean="0"/>
          </a:p>
          <a:p>
            <a:r>
              <a:rPr lang="ko-KR" altLang="en-US" sz="1400" dirty="0" smtClean="0"/>
              <a:t>연동 팝업 </a:t>
            </a:r>
            <a:r>
              <a:rPr lang="en-US" altLang="ko-KR" sz="1400" dirty="0" smtClean="0"/>
              <a:t>JSP</a:t>
            </a:r>
            <a:r>
              <a:rPr lang="ko-KR" altLang="en-US" sz="1400" dirty="0" smtClean="0"/>
              <a:t>는 </a:t>
            </a:r>
            <a:r>
              <a:rPr lang="ko-KR" altLang="en-US" sz="1400" dirty="0"/>
              <a:t>직접 </a:t>
            </a:r>
            <a:r>
              <a:rPr lang="ko-KR" altLang="en-US" sz="1400" dirty="0" err="1"/>
              <a:t>만들어야함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connWithUI_sample.jsp</a:t>
            </a:r>
            <a:r>
              <a:rPr lang="en-US" altLang="ko-KR" sz="1400" dirty="0"/>
              <a:t> </a:t>
            </a:r>
            <a:r>
              <a:rPr lang="ko-KR" altLang="en-US" sz="1400" dirty="0"/>
              <a:t>참고</a:t>
            </a:r>
            <a:r>
              <a:rPr lang="en-US" altLang="ko-KR" sz="1400" dirty="0" smtClean="0"/>
              <a:t>)</a:t>
            </a:r>
            <a:endParaRPr lang="en-US" altLang="ko-KR" sz="1400" dirty="0"/>
          </a:p>
        </p:txBody>
      </p:sp>
      <p:grpSp>
        <p:nvGrpSpPr>
          <p:cNvPr id="6" name="그룹 5"/>
          <p:cNvGrpSpPr/>
          <p:nvPr/>
        </p:nvGrpSpPr>
        <p:grpSpPr>
          <a:xfrm>
            <a:off x="557213" y="2059904"/>
            <a:ext cx="11634787" cy="4788571"/>
            <a:chOff x="557213" y="1850354"/>
            <a:chExt cx="11634787" cy="478857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7196" y="2465908"/>
              <a:ext cx="4316484" cy="3219538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213" y="2465908"/>
              <a:ext cx="4320000" cy="1645381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03144" y="3201431"/>
              <a:ext cx="3788856" cy="3437494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57213" y="2158131"/>
              <a:ext cx="11047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1. </a:t>
              </a:r>
              <a:r>
                <a:rPr lang="ko-KR" altLang="en-US" sz="1400" dirty="0" smtClean="0">
                  <a:solidFill>
                    <a:srgbClr val="FF0000"/>
                  </a:solidFill>
                </a:rPr>
                <a:t>연동</a:t>
              </a:r>
              <a:r>
                <a:rPr lang="en-US" altLang="ko-KR" sz="1400" dirty="0" smtClean="0">
                  <a:solidFill>
                    <a:srgbClr val="FF0000"/>
                  </a:solidFill>
                </a:rPr>
                <a:t>XML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17196" y="2158131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2. </a:t>
              </a:r>
              <a:r>
                <a:rPr lang="ko-KR" altLang="en-US" sz="1400" dirty="0" err="1" smtClean="0">
                  <a:solidFill>
                    <a:srgbClr val="FF0000"/>
                  </a:solidFill>
                </a:rPr>
                <a:t>연동리턴</a:t>
              </a:r>
              <a:r>
                <a:rPr lang="en-US" altLang="ko-KR" sz="1400" dirty="0" smtClean="0">
                  <a:solidFill>
                    <a:srgbClr val="FF0000"/>
                  </a:solidFill>
                </a:rPr>
                <a:t>XML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433680" y="2893654"/>
              <a:ext cx="7457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</a:rPr>
                <a:t>3. </a:t>
              </a:r>
              <a:r>
                <a:rPr lang="ko-KR" altLang="en-US" sz="1400" dirty="0" smtClean="0">
                  <a:solidFill>
                    <a:srgbClr val="FF0000"/>
                  </a:solidFill>
                </a:rPr>
                <a:t>결과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7213" y="1850354"/>
              <a:ext cx="5982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/>
                <a:t>예시</a:t>
              </a:r>
              <a:r>
                <a:rPr lang="en-US" altLang="ko-KR" sz="1400" dirty="0" smtClean="0"/>
                <a:t>)</a:t>
              </a:r>
              <a:endParaRPr lang="ko-KR" altLang="en-US" sz="1400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552483" y="4111289"/>
              <a:ext cx="1286592" cy="5083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453271" y="5466371"/>
              <a:ext cx="3672054" cy="41055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/>
            <p:cNvCxnSpPr>
              <a:stCxn id="8" idx="3"/>
              <a:endCxn id="7" idx="1"/>
            </p:cNvCxnSpPr>
            <p:nvPr/>
          </p:nvCxnSpPr>
          <p:spPr>
            <a:xfrm>
              <a:off x="4877213" y="3288599"/>
              <a:ext cx="239983" cy="7870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/>
            <p:cNvCxnSpPr>
              <a:stCxn id="14" idx="2"/>
              <a:endCxn id="15" idx="1"/>
            </p:cNvCxnSpPr>
            <p:nvPr/>
          </p:nvCxnSpPr>
          <p:spPr>
            <a:xfrm>
              <a:off x="7195779" y="4619625"/>
              <a:ext cx="1257492" cy="105202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869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연동데이터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213" y="1227084"/>
            <a:ext cx="101713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연동 데이터는 </a:t>
            </a:r>
            <a:r>
              <a:rPr lang="ko-KR" altLang="en-US" sz="1400" dirty="0" err="1" smtClean="0"/>
              <a:t>키데이터와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리턴데이터</a:t>
            </a:r>
            <a:r>
              <a:rPr lang="ko-KR" altLang="en-US" sz="1400" dirty="0" smtClean="0"/>
              <a:t> 두가지 종류가 있다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키데이터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연동 </a:t>
            </a:r>
            <a:r>
              <a:rPr lang="en-US" altLang="ko-KR" sz="1400" dirty="0" smtClean="0"/>
              <a:t>URL </a:t>
            </a:r>
            <a:r>
              <a:rPr lang="ko-KR" altLang="en-US" sz="1400" dirty="0" smtClean="0"/>
              <a:t>호출 시 넘겨주는 데이터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리턴데이터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연동 완료 후 </a:t>
            </a:r>
            <a:r>
              <a:rPr lang="ko-KR" altLang="en-US" sz="1400" dirty="0" err="1" smtClean="0"/>
              <a:t>연동결과를</a:t>
            </a:r>
            <a:r>
              <a:rPr lang="ko-KR" altLang="en-US" sz="1400" dirty="0" smtClean="0"/>
              <a:t> 알려주고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문서 본문에 보여주거나 혹은 문서 속성으로 저장할 내용을 가진 데이터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386890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2739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연동데이터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 </a:t>
            </a:r>
            <a:r>
              <a:rPr lang="ko-KR" altLang="en-US" sz="2000" b="1" dirty="0" err="1" smtClean="0"/>
              <a:t>키데이터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213" y="1227084"/>
            <a:ext cx="83677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키데이터는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문자열로 넘겨준다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smtClean="0"/>
              <a:t>만약 오른쪽과 같이 </a:t>
            </a:r>
            <a:r>
              <a:rPr lang="en-US" altLang="ko-KR" sz="1400" dirty="0" smtClean="0"/>
              <a:t>&lt;key&gt;</a:t>
            </a:r>
            <a:r>
              <a:rPr lang="ko-KR" altLang="en-US" sz="1400" dirty="0" smtClean="0"/>
              <a:t>노드를 연동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에 만들었다고 했을 때 다음과 같이 진행된다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연동 시점에 </a:t>
            </a:r>
            <a:r>
              <a:rPr lang="en-US" altLang="ko-KR" sz="1400" dirty="0" smtClean="0"/>
              <a:t>data1, data2, data3</a:t>
            </a:r>
            <a:r>
              <a:rPr lang="ko-KR" altLang="en-US" sz="1400" dirty="0" smtClean="0"/>
              <a:t>이라는 </a:t>
            </a:r>
            <a:r>
              <a:rPr lang="en-US" altLang="ko-KR" sz="1400" dirty="0" smtClean="0"/>
              <a:t>*</a:t>
            </a:r>
            <a:r>
              <a:rPr lang="ko-KR" altLang="en-US" sz="1400" dirty="0" smtClean="0"/>
              <a:t>필드가 본문에 있는지 검사한다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필드가 있다면 필드의 텍스트 값을 가져와 노드를 만든다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필드가 없다면 </a:t>
            </a:r>
            <a:r>
              <a:rPr lang="en-US" altLang="ko-KR" sz="1400" dirty="0" smtClean="0"/>
              <a:t>*</a:t>
            </a:r>
            <a:r>
              <a:rPr lang="ko-KR" altLang="en-US" sz="1400" dirty="0" smtClean="0"/>
              <a:t>문서 속성에 </a:t>
            </a:r>
            <a:r>
              <a:rPr lang="en-US" altLang="ko-KR" sz="1400" dirty="0" smtClean="0"/>
              <a:t>data1, data2, data3</a:t>
            </a:r>
            <a:r>
              <a:rPr lang="ko-KR" altLang="en-US" sz="1400" dirty="0" smtClean="0"/>
              <a:t>이라는 속성이 있는지 검사한다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속성이 있다면 속성 값을 가져와 노드를 만든다</a:t>
            </a:r>
            <a:r>
              <a:rPr lang="en-US" altLang="ko-KR" sz="1400" dirty="0" smtClean="0"/>
              <a:t>. 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연동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에 지정한 </a:t>
            </a:r>
            <a:r>
              <a:rPr lang="en-US" altLang="ko-KR" sz="1400" dirty="0" smtClean="0"/>
              <a:t>key</a:t>
            </a:r>
            <a:r>
              <a:rPr lang="ko-KR" altLang="en-US" sz="1400" dirty="0" smtClean="0"/>
              <a:t>데이터를 모두 찾으면 기본 </a:t>
            </a:r>
            <a:r>
              <a:rPr lang="ko-KR" altLang="en-US" sz="1400" dirty="0" err="1" smtClean="0"/>
              <a:t>키데이터와</a:t>
            </a:r>
            <a:r>
              <a:rPr lang="ko-KR" altLang="en-US" sz="1400" dirty="0" smtClean="0"/>
              <a:t> 합쳐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최종적인 </a:t>
            </a:r>
            <a:r>
              <a:rPr lang="ko-KR" altLang="en-US" sz="1400" dirty="0" err="1" smtClean="0"/>
              <a:t>키데이터를</a:t>
            </a:r>
            <a:r>
              <a:rPr lang="ko-KR" altLang="en-US" sz="1400" dirty="0" smtClean="0"/>
              <a:t> 만든다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972641" y="2766751"/>
            <a:ext cx="10562463" cy="3743847"/>
            <a:chOff x="972641" y="2766751"/>
            <a:chExt cx="10562463" cy="3743847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2641" y="4042951"/>
              <a:ext cx="4648849" cy="2238687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0045" y="2766751"/>
              <a:ext cx="4725059" cy="3743847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1724025" y="5162294"/>
              <a:ext cx="2952750" cy="6574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143750" y="2981069"/>
              <a:ext cx="2552368" cy="6574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7138988" y="3676650"/>
              <a:ext cx="4396116" cy="2604988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10702" y="5973861"/>
              <a:ext cx="13244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>
                  <a:solidFill>
                    <a:srgbClr val="00B050"/>
                  </a:solidFill>
                </a:rPr>
                <a:t>기본 </a:t>
              </a:r>
              <a:r>
                <a:rPr lang="ko-KR" altLang="en-US" sz="1400" dirty="0" err="1" smtClean="0">
                  <a:solidFill>
                    <a:srgbClr val="00B050"/>
                  </a:solidFill>
                </a:rPr>
                <a:t>키데이터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64138" y="3340298"/>
              <a:ext cx="16834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>
                  <a:solidFill>
                    <a:srgbClr val="FF0000"/>
                  </a:solidFill>
                </a:rPr>
                <a:t>연동</a:t>
              </a:r>
              <a:r>
                <a:rPr lang="en-US" altLang="ko-KR" sz="1400" dirty="0" smtClean="0">
                  <a:solidFill>
                    <a:srgbClr val="FF0000"/>
                  </a:solidFill>
                </a:rPr>
                <a:t>XML </a:t>
              </a:r>
              <a:r>
                <a:rPr lang="ko-KR" altLang="en-US" sz="1400" dirty="0" err="1" smtClean="0">
                  <a:solidFill>
                    <a:srgbClr val="FF0000"/>
                  </a:solidFill>
                </a:rPr>
                <a:t>키데이터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직선 화살표 연결선 11"/>
            <p:cNvCxnSpPr>
              <a:stCxn id="6" idx="3"/>
              <a:endCxn id="8" idx="1"/>
            </p:cNvCxnSpPr>
            <p:nvPr/>
          </p:nvCxnSpPr>
          <p:spPr>
            <a:xfrm flipV="1">
              <a:off x="4676775" y="3309810"/>
              <a:ext cx="2466975" cy="21812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8353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7213" y="473320"/>
            <a:ext cx="2739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연동데이터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 </a:t>
            </a:r>
            <a:r>
              <a:rPr lang="ko-KR" altLang="en-US" sz="2000" b="1" dirty="0" err="1" smtClean="0"/>
              <a:t>키데이터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213" y="1036584"/>
            <a:ext cx="10958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필드란</a:t>
            </a:r>
            <a:r>
              <a:rPr lang="en-US" altLang="ko-KR" sz="1400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유의미한 양식의 영역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웹기안기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mht</a:t>
            </a:r>
            <a:r>
              <a:rPr lang="en-US" altLang="ko-KR" sz="1400" dirty="0" smtClean="0"/>
              <a:t>) </a:t>
            </a:r>
            <a:br>
              <a:rPr lang="en-US" altLang="ko-KR" sz="1400" dirty="0" smtClean="0"/>
            </a:br>
            <a:r>
              <a:rPr lang="ko-KR" altLang="en-US" sz="1400" dirty="0" smtClean="0"/>
              <a:t>특정한 태그에 </a:t>
            </a:r>
            <a:r>
              <a:rPr lang="en-US" altLang="ko-KR" sz="1400" dirty="0" smtClean="0"/>
              <a:t>class=“FIELD” </a:t>
            </a:r>
            <a:r>
              <a:rPr lang="ko-KR" altLang="en-US" sz="1400" dirty="0" smtClean="0"/>
              <a:t>이고 </a:t>
            </a:r>
            <a:r>
              <a:rPr lang="en-US" altLang="ko-KR" sz="1400" dirty="0" smtClean="0"/>
              <a:t>id=“{</a:t>
            </a:r>
            <a:r>
              <a:rPr lang="ko-KR" altLang="en-US" sz="1400" dirty="0" err="1" smtClean="0"/>
              <a:t>필드이름</a:t>
            </a:r>
            <a:r>
              <a:rPr lang="en-US" altLang="ko-KR" sz="1400" dirty="0" smtClean="0"/>
              <a:t>}”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속성을 추가하면 해당 태그는 지정한 필드 이름을 가진 필드가 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한글기안기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한글웹기안기 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hwp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whwp</a:t>
            </a:r>
            <a:r>
              <a:rPr lang="en-US" altLang="ko-KR" sz="1400" dirty="0" smtClean="0"/>
              <a:t>)</a:t>
            </a:r>
            <a:br>
              <a:rPr lang="en-US" altLang="ko-KR" sz="1400" dirty="0" smtClean="0"/>
            </a:br>
            <a:r>
              <a:rPr lang="ko-KR" altLang="en-US" sz="1400" dirty="0" smtClean="0"/>
              <a:t>특정한 셀 영역의 표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셀 속성</a:t>
            </a:r>
            <a:r>
              <a:rPr lang="en-US" altLang="ko-KR" sz="1400" dirty="0" smtClean="0"/>
              <a:t> &gt; </a:t>
            </a:r>
            <a:r>
              <a:rPr lang="ko-KR" altLang="en-US" sz="1400" dirty="0" smtClean="0"/>
              <a:t>셀 </a:t>
            </a:r>
            <a:r>
              <a:rPr lang="ko-KR" altLang="en-US" sz="1400" dirty="0"/>
              <a:t>탭</a:t>
            </a:r>
            <a:r>
              <a:rPr lang="ko-KR" altLang="en-US" sz="1400" dirty="0" smtClean="0"/>
              <a:t>으로 들어가서 필드 이름을 추가하면 해당 셀은 지정한 필드 이름을 가진 필드가 된다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206" y="2708558"/>
            <a:ext cx="4572638" cy="97168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2708558"/>
            <a:ext cx="3305636" cy="5239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7213" y="2404552"/>
            <a:ext cx="1052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rgbClr val="FF0000"/>
                </a:solidFill>
              </a:rPr>
              <a:t>mht</a:t>
            </a:r>
            <a:r>
              <a:rPr lang="en-US" altLang="ko-KR" sz="1400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</a:rPr>
              <a:t>필드</a:t>
            </a:r>
            <a:endParaRPr lang="en-US" altLang="ko-KR" sz="1400" dirty="0" smtClean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81205" y="2396996"/>
            <a:ext cx="3715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rgbClr val="FF0000"/>
                </a:solidFill>
              </a:rPr>
              <a:t>hwp</a:t>
            </a:r>
            <a:r>
              <a:rPr lang="en-US" altLang="ko-KR" sz="1400" dirty="0" smtClean="0">
                <a:solidFill>
                  <a:srgbClr val="FF0000"/>
                </a:solidFill>
              </a:rPr>
              <a:t>, 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whwp</a:t>
            </a:r>
            <a:r>
              <a:rPr lang="en-US" altLang="ko-KR" sz="1400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</a:rPr>
              <a:t>필드</a:t>
            </a:r>
            <a:endParaRPr lang="en-US" altLang="ko-KR" sz="1400" dirty="0" smtClean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7213" y="3461169"/>
            <a:ext cx="10958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문서 속성이란</a:t>
            </a:r>
            <a:r>
              <a:rPr lang="en-US" altLang="ko-KR" sz="1400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본문에 담을 수 없는 데이터를 저장할 때 사용하는 부분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웹기안기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mht</a:t>
            </a:r>
            <a:r>
              <a:rPr lang="en-US" altLang="ko-KR" sz="1400" dirty="0" smtClean="0"/>
              <a:t>) </a:t>
            </a:r>
            <a:br>
              <a:rPr lang="en-US" altLang="ko-KR" sz="1400" dirty="0" smtClean="0"/>
            </a:br>
            <a:r>
              <a:rPr lang="en-US" altLang="ko-KR" sz="1400" dirty="0" smtClean="0"/>
              <a:t>body </a:t>
            </a:r>
            <a:r>
              <a:rPr lang="ko-KR" altLang="en-US" sz="1400" dirty="0" smtClean="0"/>
              <a:t>필드에 </a:t>
            </a:r>
            <a:r>
              <a:rPr lang="en-US" altLang="ko-KR" sz="1400" dirty="0" smtClean="0"/>
              <a:t>{</a:t>
            </a:r>
            <a:r>
              <a:rPr lang="ko-KR" altLang="en-US" sz="1400" dirty="0" err="1" smtClean="0"/>
              <a:t>속성이름</a:t>
            </a:r>
            <a:r>
              <a:rPr lang="en-US" altLang="ko-KR" sz="1400" dirty="0" smtClean="0"/>
              <a:t>}=“{</a:t>
            </a:r>
            <a:r>
              <a:rPr lang="ko-KR" altLang="en-US" sz="1400" dirty="0" smtClean="0"/>
              <a:t>속성값</a:t>
            </a:r>
            <a:r>
              <a:rPr lang="en-US" altLang="ko-KR" sz="1400" dirty="0" smtClean="0"/>
              <a:t>}”</a:t>
            </a:r>
            <a:r>
              <a:rPr lang="ko-KR" altLang="en-US" sz="1400" dirty="0" smtClean="0"/>
              <a:t>으로 데이터를 저장한다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한글기안기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한글웹기안기 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hwp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whwp</a:t>
            </a:r>
            <a:r>
              <a:rPr lang="en-US" altLang="ko-KR" sz="1400" dirty="0" smtClean="0"/>
              <a:t>)</a:t>
            </a:r>
            <a:br>
              <a:rPr lang="en-US" altLang="ko-KR" sz="1400" dirty="0" smtClean="0"/>
            </a:br>
            <a:r>
              <a:rPr lang="ko-KR" altLang="en-US" sz="1400" dirty="0" err="1" smtClean="0"/>
              <a:t>문서정보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&gt; </a:t>
            </a:r>
            <a:r>
              <a:rPr lang="ko-KR" altLang="en-US" sz="1400" dirty="0" smtClean="0"/>
              <a:t>문서요약 탭에서 키워드에 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형태로 데이터를 저장한다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775" y="5579652"/>
            <a:ext cx="3858163" cy="66684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38775" y="5271875"/>
            <a:ext cx="3715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rgbClr val="FF0000"/>
                </a:solidFill>
              </a:rPr>
              <a:t>hwp</a:t>
            </a:r>
            <a:r>
              <a:rPr lang="en-US" altLang="ko-KR" sz="1400" dirty="0" smtClean="0">
                <a:solidFill>
                  <a:srgbClr val="FF0000"/>
                </a:solidFill>
              </a:rPr>
              <a:t>, 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whwp</a:t>
            </a:r>
            <a:r>
              <a:rPr lang="en-US" altLang="ko-KR" sz="1400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</a:rPr>
              <a:t>문서 속성</a:t>
            </a:r>
            <a:endParaRPr lang="en-US" altLang="ko-KR" sz="1400" dirty="0" smtClean="0">
              <a:solidFill>
                <a:srgbClr val="FF0000"/>
              </a:solidFill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8" y="5180805"/>
            <a:ext cx="4486901" cy="14098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2437" y="4873028"/>
            <a:ext cx="148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rgbClr val="FF0000"/>
                </a:solidFill>
              </a:rPr>
              <a:t>mht</a:t>
            </a:r>
            <a:r>
              <a:rPr lang="en-US" altLang="ko-KR" sz="1400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</a:rPr>
              <a:t>문서 속성</a:t>
            </a:r>
            <a:endParaRPr lang="en-US" altLang="ko-KR" sz="1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990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29963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연동데이터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 </a:t>
            </a:r>
            <a:r>
              <a:rPr lang="ko-KR" altLang="en-US" sz="2000" b="1" dirty="0" err="1" smtClean="0"/>
              <a:t>리턴데이터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7213" y="1227084"/>
            <a:ext cx="83677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리턴데이터는 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문자열로 넘겨준다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리턴데이터</a:t>
            </a:r>
            <a:r>
              <a:rPr lang="ko-KR" altLang="en-US" sz="1400" dirty="0" smtClean="0"/>
              <a:t> 루트 노드는 </a:t>
            </a:r>
            <a:r>
              <a:rPr lang="en-US" altLang="ko-KR" sz="1400" dirty="0" smtClean="0"/>
              <a:t>RESULT</a:t>
            </a:r>
            <a:r>
              <a:rPr lang="ko-KR" altLang="en-US" sz="1400" dirty="0" smtClean="0"/>
              <a:t>속성으로 연동 결과를 나타낸다</a:t>
            </a:r>
            <a:r>
              <a:rPr lang="en-US" altLang="ko-KR" sz="1400" dirty="0" smtClean="0"/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13" y="2205102"/>
            <a:ext cx="8367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>
                <a:solidFill>
                  <a:srgbClr val="FF0000"/>
                </a:solidFill>
              </a:rPr>
              <a:t>연동성공</a:t>
            </a:r>
            <a:endParaRPr lang="en-US" altLang="ko-KR" sz="1400" dirty="0" smtClean="0">
              <a:solidFill>
                <a:srgbClr val="FF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2512879"/>
            <a:ext cx="4058216" cy="18290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5429" y="2512879"/>
            <a:ext cx="69764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/>
              <a:t>연동에 성공 후 문서 본문에 저장할 데이터가 없다면 결과 값만 넘긴다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연동에 성공 후 문서 본문에 저장할 데이터가 있다면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PARAMETER </a:t>
            </a:r>
            <a:r>
              <a:rPr lang="ko-KR" altLang="en-US" sz="1400" dirty="0" smtClean="0"/>
              <a:t>노드 하위로 저장할 데이터들을 넣어준다</a:t>
            </a:r>
            <a:r>
              <a:rPr lang="en-US" altLang="ko-KR" sz="1400" dirty="0" smtClean="0"/>
              <a:t>. </a:t>
            </a:r>
            <a:br>
              <a:rPr lang="en-US" altLang="ko-KR" sz="1400" dirty="0" smtClean="0"/>
            </a:br>
            <a:r>
              <a:rPr lang="ko-KR" altLang="en-US" sz="1400" dirty="0" smtClean="0"/>
              <a:t>왼쪽 이미지대로 하면 연동 성공 후 </a:t>
            </a:r>
            <a:r>
              <a:rPr lang="en-US" altLang="ko-KR" sz="1400" dirty="0" smtClean="0"/>
              <a:t>retdata1 </a:t>
            </a:r>
            <a:r>
              <a:rPr lang="ko-KR" altLang="en-US" sz="1400" dirty="0" smtClean="0"/>
              <a:t>필드에 </a:t>
            </a:r>
            <a:r>
              <a:rPr lang="en-US" altLang="ko-KR" sz="1400" dirty="0" smtClean="0"/>
              <a:t>“</a:t>
            </a:r>
            <a:r>
              <a:rPr lang="ko-KR" altLang="en-US" sz="1400" dirty="0" smtClean="0"/>
              <a:t>데이터입니다</a:t>
            </a:r>
            <a:r>
              <a:rPr lang="en-US" altLang="ko-KR" sz="1400" dirty="0" smtClean="0"/>
              <a:t>”</a:t>
            </a:r>
            <a:r>
              <a:rPr lang="ko-KR" altLang="en-US" sz="1400" dirty="0" smtClean="0"/>
              <a:t>라는 값을 매핑한다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4687526"/>
            <a:ext cx="4210638" cy="1790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213" y="4379749"/>
            <a:ext cx="8367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>
                <a:solidFill>
                  <a:srgbClr val="FF0000"/>
                </a:solidFill>
              </a:rPr>
              <a:t>연동실패</a:t>
            </a:r>
            <a:endParaRPr lang="en-US" altLang="ko-KR" sz="1400" dirty="0" smtClean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67851" y="4692833"/>
            <a:ext cx="68240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/>
              <a:t>연동에 실패 후 기본 연동 실패 메시지를 띄우고 싶다면 결과 값만 넘긴다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연동에 실패 후 데이터로 인해 실패했다는 메시지를 띄우고 싶다면 </a:t>
            </a:r>
            <a:r>
              <a:rPr lang="en-US" altLang="ko-KR" sz="1400" dirty="0" smtClean="0"/>
              <a:t>STAGE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속성을 </a:t>
            </a:r>
            <a:r>
              <a:rPr lang="en-US" altLang="ko-KR" sz="1400" dirty="0" smtClean="0"/>
              <a:t>socket </a:t>
            </a:r>
            <a:r>
              <a:rPr lang="ko-KR" altLang="en-US" sz="1400" dirty="0" smtClean="0"/>
              <a:t>혹은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db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로 추가한다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연동에 실패 후 원인까지 메시지로 띄우고 싶다면 노드텍스트에 메시지를 적는다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947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29963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연동데이터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 </a:t>
            </a:r>
            <a:r>
              <a:rPr lang="ko-KR" altLang="en-US" sz="2000" b="1" dirty="0" err="1" smtClean="0"/>
              <a:t>리턴데이터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7213" y="1227084"/>
            <a:ext cx="8367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연동 성공 후 본문에 저장할 데이터를 넘기는 방식이 몇가지 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2" y="3431780"/>
            <a:ext cx="87582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위와 같이 리턴데이터를 보낸다고 했을 때</a:t>
            </a:r>
            <a:r>
              <a:rPr lang="en-US" altLang="ko-KR" sz="1400" dirty="0" smtClean="0"/>
              <a:t>,</a:t>
            </a:r>
          </a:p>
          <a:p>
            <a:pPr marL="342900" indent="-342900">
              <a:buAutoNum type="arabicPeriod"/>
            </a:pPr>
            <a:r>
              <a:rPr lang="en-US" altLang="ko-KR" sz="1400" dirty="0" smtClean="0"/>
              <a:t>retdata1 </a:t>
            </a:r>
            <a:r>
              <a:rPr lang="ko-KR" altLang="en-US" sz="1400" dirty="0" smtClean="0"/>
              <a:t>필드 혹은 문서 속성에 </a:t>
            </a:r>
            <a:r>
              <a:rPr lang="en-US" altLang="ko-KR" sz="1400" dirty="0" smtClean="0"/>
              <a:t>&lt;RETDATA1&gt; </a:t>
            </a:r>
            <a:r>
              <a:rPr lang="ko-KR" altLang="en-US" sz="1400" dirty="0" err="1" smtClean="0"/>
              <a:t>노드텍스트</a:t>
            </a:r>
            <a:r>
              <a:rPr lang="ko-KR" altLang="en-US" sz="1400" dirty="0" smtClean="0"/>
              <a:t> 값을 </a:t>
            </a:r>
            <a:r>
              <a:rPr lang="en-US" altLang="ko-KR" sz="1400" dirty="0" smtClean="0"/>
              <a:t>TEXT </a:t>
            </a:r>
            <a:r>
              <a:rPr lang="ko-KR" altLang="en-US" sz="1400" dirty="0" smtClean="0"/>
              <a:t>형식으로 넣는다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 smtClean="0"/>
              <a:t>HTML </a:t>
            </a:r>
            <a:r>
              <a:rPr lang="ko-KR" altLang="en-US" sz="1400" dirty="0" smtClean="0"/>
              <a:t>속성이 </a:t>
            </a:r>
            <a:r>
              <a:rPr lang="en-US" altLang="ko-KR" sz="1400" dirty="0" smtClean="0"/>
              <a:t>Y</a:t>
            </a:r>
            <a:r>
              <a:rPr lang="ko-KR" altLang="en-US" sz="1400" dirty="0" smtClean="0"/>
              <a:t>라면</a:t>
            </a:r>
            <a:r>
              <a:rPr lang="en-US" altLang="ko-KR" sz="1400" dirty="0" smtClean="0"/>
              <a:t>, retdata2 </a:t>
            </a:r>
            <a:r>
              <a:rPr lang="ko-KR" altLang="en-US" sz="1400" dirty="0" smtClean="0"/>
              <a:t>필드 혹은 문서 속성에 </a:t>
            </a:r>
            <a:r>
              <a:rPr lang="en-US" altLang="ko-KR" sz="1400" dirty="0" smtClean="0"/>
              <a:t>&lt;RETDATA2&gt; </a:t>
            </a:r>
            <a:r>
              <a:rPr lang="ko-KR" altLang="en-US" sz="1400" dirty="0" err="1" smtClean="0"/>
              <a:t>노드텍스트</a:t>
            </a:r>
            <a:r>
              <a:rPr lang="ko-KR" altLang="en-US" sz="1400" dirty="0" smtClean="0"/>
              <a:t> 값을 </a:t>
            </a:r>
            <a:r>
              <a:rPr lang="en-US" altLang="ko-KR" sz="1400" dirty="0" smtClean="0"/>
              <a:t>HTML </a:t>
            </a:r>
            <a:r>
              <a:rPr lang="ko-KR" altLang="en-US" sz="1400" dirty="0" smtClean="0"/>
              <a:t>형식으로 넣는다</a:t>
            </a:r>
            <a:r>
              <a:rPr lang="en-US" altLang="ko-KR" sz="1400" dirty="0" smtClean="0"/>
              <a:t>.</a:t>
            </a:r>
            <a:br>
              <a:rPr lang="en-US" altLang="ko-KR" sz="1400" dirty="0" smtClean="0"/>
            </a:br>
            <a:r>
              <a:rPr lang="ko-KR" altLang="en-US" sz="1400" dirty="0" smtClean="0"/>
              <a:t>노드텍스트에 </a:t>
            </a:r>
            <a:r>
              <a:rPr lang="ko-KR" altLang="en-US" sz="1400" dirty="0" err="1" smtClean="0"/>
              <a:t>꺽쇠</a:t>
            </a:r>
            <a:r>
              <a:rPr lang="ko-KR" altLang="en-US" sz="1400" dirty="0" smtClean="0"/>
              <a:t> 문자가 있다면 </a:t>
            </a:r>
            <a:r>
              <a:rPr lang="en-US" altLang="ko-KR" sz="1400" dirty="0" smtClean="0"/>
              <a:t>xml</a:t>
            </a:r>
            <a:r>
              <a:rPr lang="ko-KR" altLang="en-US" sz="1400" dirty="0"/>
              <a:t> </a:t>
            </a:r>
            <a:r>
              <a:rPr lang="ko-KR" altLang="en-US" sz="1400" dirty="0" err="1" smtClean="0"/>
              <a:t>파싱할</a:t>
            </a:r>
            <a:r>
              <a:rPr lang="ko-KR" altLang="en-US" sz="1400" dirty="0" smtClean="0"/>
              <a:t> 때 오류가 생기기때문에 반드시 </a:t>
            </a:r>
            <a:r>
              <a:rPr lang="en-US" altLang="ko-KR" sz="1400" dirty="0" smtClean="0"/>
              <a:t>CDATA</a:t>
            </a:r>
            <a:r>
              <a:rPr lang="ko-KR" altLang="en-US" sz="1400" dirty="0" smtClean="0"/>
              <a:t>로 감싸준다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 smtClean="0"/>
              <a:t>name </a:t>
            </a:r>
            <a:r>
              <a:rPr lang="ko-KR" altLang="en-US" sz="1400" dirty="0" smtClean="0"/>
              <a:t>속성이 있다면 필드 이름을 찾을 때</a:t>
            </a:r>
            <a:r>
              <a:rPr lang="en-US" altLang="ko-KR" sz="1400" dirty="0" smtClean="0"/>
              <a:t>, name </a:t>
            </a:r>
            <a:r>
              <a:rPr lang="ko-KR" altLang="en-US" sz="1400" dirty="0" smtClean="0"/>
              <a:t>속성값이 노드이름보다 우선시된다</a:t>
            </a:r>
            <a:r>
              <a:rPr lang="en-US" altLang="ko-KR" sz="1400" dirty="0" smtClean="0"/>
              <a:t>.</a:t>
            </a:r>
            <a:br>
              <a:rPr lang="en-US" altLang="ko-KR" sz="1400" dirty="0" smtClean="0"/>
            </a:br>
            <a:r>
              <a:rPr lang="ko-KR" altLang="en-US" sz="1400" dirty="0" smtClean="0"/>
              <a:t>즉</a:t>
            </a:r>
            <a:r>
              <a:rPr lang="en-US" altLang="ko-KR" sz="1400" dirty="0" smtClean="0"/>
              <a:t>, retdata3 </a:t>
            </a:r>
            <a:r>
              <a:rPr lang="ko-KR" altLang="en-US" sz="1400" dirty="0" smtClean="0"/>
              <a:t>필드 혹은 문서 속성에 </a:t>
            </a:r>
            <a:r>
              <a:rPr lang="en-US" altLang="ko-KR" sz="1400" dirty="0" smtClean="0"/>
              <a:t>&lt;DATA name=“retdata3”&gt; </a:t>
            </a:r>
            <a:r>
              <a:rPr lang="ko-KR" altLang="en-US" sz="1400" dirty="0" err="1" smtClean="0"/>
              <a:t>노드텍스트</a:t>
            </a:r>
            <a:r>
              <a:rPr lang="ko-KR" altLang="en-US" sz="1400" dirty="0" smtClean="0"/>
              <a:t> 값을 </a:t>
            </a:r>
            <a:r>
              <a:rPr lang="en-US" altLang="ko-KR" sz="1400" dirty="0" smtClean="0"/>
              <a:t>TEXT </a:t>
            </a:r>
            <a:r>
              <a:rPr lang="ko-KR" altLang="en-US" sz="1400" dirty="0" smtClean="0"/>
              <a:t>형식으로 넣는다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더 </a:t>
            </a:r>
            <a:r>
              <a:rPr lang="ko-KR" altLang="en-US" sz="1400" dirty="0" err="1" smtClean="0"/>
              <a:t>추가하고싶은</a:t>
            </a:r>
            <a:r>
              <a:rPr lang="ko-KR" altLang="en-US" sz="1400" dirty="0" smtClean="0"/>
              <a:t> 필드 표현방식이 있다면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연동 </a:t>
            </a:r>
            <a:r>
              <a:rPr lang="en-US" altLang="ko-KR" sz="1400" dirty="0" err="1" smtClean="0"/>
              <a:t>js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파일의 </a:t>
            </a:r>
            <a:r>
              <a:rPr lang="en-US" altLang="ko-KR" sz="1400" dirty="0" err="1" smtClean="0"/>
              <a:t>setData</a:t>
            </a:r>
            <a:r>
              <a:rPr lang="en-US" altLang="ko-KR" sz="1400" dirty="0" smtClean="0"/>
              <a:t>() </a:t>
            </a:r>
            <a:r>
              <a:rPr lang="ko-KR" altLang="en-US" sz="1400" dirty="0" smtClean="0"/>
              <a:t>에다가 소스를 </a:t>
            </a:r>
            <a:r>
              <a:rPr lang="ko-KR" altLang="en-US" sz="1400" dirty="0" err="1" smtClean="0"/>
              <a:t>추가하면된다</a:t>
            </a:r>
            <a:r>
              <a:rPr lang="en-US" altLang="ko-KR" sz="1400" dirty="0" smtClean="0"/>
              <a:t>.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ko-KR" altLang="en-US" sz="1400" dirty="0" smtClean="0"/>
              <a:t>자세한 내용은 연동</a:t>
            </a:r>
            <a:r>
              <a:rPr lang="en-US" altLang="ko-KR" sz="1400" dirty="0" smtClean="0"/>
              <a:t>JS</a:t>
            </a:r>
            <a:r>
              <a:rPr lang="ko-KR" altLang="en-US" sz="1400" dirty="0" smtClean="0"/>
              <a:t>를 참고한다</a:t>
            </a:r>
            <a:r>
              <a:rPr lang="en-US" altLang="ko-KR" sz="1400" dirty="0" smtClean="0"/>
              <a:t>. 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888515"/>
            <a:ext cx="7230484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6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연동쿼리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213" y="1227084"/>
            <a:ext cx="105557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연동 쿼리는 프론트에서 호출하는 </a:t>
            </a:r>
            <a:r>
              <a:rPr lang="en-US" altLang="ko-KR" sz="1400" dirty="0" smtClean="0"/>
              <a:t>URL</a:t>
            </a:r>
            <a:r>
              <a:rPr lang="ko-KR" altLang="en-US" sz="1400" dirty="0" smtClean="0"/>
              <a:t>과 백에서 호출하는 </a:t>
            </a:r>
            <a:r>
              <a:rPr lang="ko-KR" altLang="en-US" sz="1400" dirty="0" err="1" smtClean="0"/>
              <a:t>메소드가</a:t>
            </a:r>
            <a:r>
              <a:rPr lang="ko-KR" altLang="en-US" sz="1400" dirty="0" smtClean="0"/>
              <a:t> 모두 존재해야한다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r>
              <a:rPr lang="ko-KR" altLang="en-US" sz="1400" dirty="0" smtClean="0"/>
              <a:t>하지만 </a:t>
            </a:r>
            <a:r>
              <a:rPr lang="en-US" altLang="ko-KR" sz="1400" dirty="0" smtClean="0"/>
              <a:t>INIT</a:t>
            </a:r>
            <a:r>
              <a:rPr lang="ko-KR" altLang="en-US" sz="1400" dirty="0" smtClean="0"/>
              <a:t>연동같은 모바일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일괄결재에서 모두 사용할 일이 없는 </a:t>
            </a:r>
            <a:r>
              <a:rPr lang="ko-KR" altLang="en-US" sz="1400" dirty="0" err="1" smtClean="0"/>
              <a:t>기안시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접수시</a:t>
            </a:r>
            <a:r>
              <a:rPr lang="ko-KR" altLang="en-US" sz="1400" dirty="0" smtClean="0"/>
              <a:t> 연동에 대해서는 </a:t>
            </a:r>
            <a:r>
              <a:rPr lang="en-US" altLang="ko-KR" sz="1400" dirty="0" err="1" smtClean="0"/>
              <a:t>servicequery</a:t>
            </a:r>
            <a:r>
              <a:rPr lang="ko-KR" altLang="en-US" sz="1400" dirty="0" smtClean="0"/>
              <a:t>를 </a:t>
            </a:r>
            <a:r>
              <a:rPr lang="ko-KR" altLang="en-US" sz="1400" dirty="0" err="1" smtClean="0"/>
              <a:t>생략해도된다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 smtClean="0"/>
              <a:t>또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같은 연동 시점에 실행되는 </a:t>
            </a:r>
            <a:r>
              <a:rPr lang="en-US" altLang="ko-KR" sz="1400" dirty="0" smtClean="0"/>
              <a:t>URL </a:t>
            </a:r>
            <a:r>
              <a:rPr lang="ko-KR" altLang="en-US" sz="1400" dirty="0" smtClean="0"/>
              <a:t>호출을 통한 </a:t>
            </a:r>
            <a:r>
              <a:rPr lang="ko-KR" altLang="en-US" sz="1400" dirty="0" err="1" smtClean="0"/>
              <a:t>로직과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메소드</a:t>
            </a:r>
            <a:r>
              <a:rPr lang="ko-KR" altLang="en-US" sz="1400" dirty="0" smtClean="0"/>
              <a:t> 호출을 통한 </a:t>
            </a:r>
            <a:r>
              <a:rPr lang="ko-KR" altLang="en-US" sz="1400" dirty="0" err="1" smtClean="0"/>
              <a:t>로직은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같아야한다</a:t>
            </a:r>
            <a:r>
              <a:rPr lang="en-US" altLang="ko-KR" sz="14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0902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4643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연동쿼리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</a:t>
            </a:r>
            <a:r>
              <a:rPr lang="ko-KR" altLang="en-US" sz="2000" b="1" dirty="0"/>
              <a:t> </a:t>
            </a:r>
            <a:r>
              <a:rPr lang="en-US" altLang="ko-KR" sz="2000" b="1" dirty="0" smtClean="0"/>
              <a:t>URL </a:t>
            </a:r>
            <a:r>
              <a:rPr lang="ko-KR" altLang="en-US" sz="2000" b="1" dirty="0" smtClean="0"/>
              <a:t>호출 </a:t>
            </a:r>
            <a:r>
              <a:rPr lang="en-US" altLang="ko-KR" sz="2000" b="1" dirty="0" smtClean="0"/>
              <a:t>(UA, UA_EX</a:t>
            </a:r>
            <a:r>
              <a:rPr lang="ko-KR" altLang="en-US" sz="2000" b="1" dirty="0" smtClean="0"/>
              <a:t>연동</a:t>
            </a:r>
            <a:r>
              <a:rPr lang="en-US" altLang="ko-KR" sz="2000" b="1" dirty="0" smtClean="0"/>
              <a:t>)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212" y="2039012"/>
            <a:ext cx="6987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 smtClean="0"/>
              <a:t>UA, UA_EX </a:t>
            </a:r>
            <a:r>
              <a:rPr lang="ko-KR" altLang="en-US" sz="1400" dirty="0" smtClean="0"/>
              <a:t>연동은 </a:t>
            </a:r>
            <a:r>
              <a:rPr lang="ko-KR" altLang="en-US" sz="1400" dirty="0" err="1" smtClean="0"/>
              <a:t>팝업창을</a:t>
            </a:r>
            <a:r>
              <a:rPr lang="ko-KR" altLang="en-US" sz="1400" dirty="0" smtClean="0"/>
              <a:t> 오픈하는 연동이기 때문에 </a:t>
            </a:r>
            <a:r>
              <a:rPr lang="en-US" altLang="ko-KR" sz="1400" dirty="0" smtClean="0"/>
              <a:t>GET </a:t>
            </a:r>
            <a:r>
              <a:rPr lang="ko-KR" altLang="en-US" sz="1400" dirty="0" smtClean="0"/>
              <a:t>방식으로 호출한다</a:t>
            </a:r>
            <a:r>
              <a:rPr lang="en-US" altLang="ko-KR" sz="1400" dirty="0" smtClean="0"/>
              <a:t>. </a:t>
            </a:r>
          </a:p>
          <a:p>
            <a:pPr marL="342900" indent="-342900">
              <a:buAutoNum type="arabicPeriod"/>
            </a:pPr>
            <a:r>
              <a:rPr lang="ko-KR" altLang="en-US" sz="1400" dirty="0" err="1" smtClean="0"/>
              <a:t>리턴하는</a:t>
            </a:r>
            <a:r>
              <a:rPr lang="ko-KR" altLang="en-US" sz="1400" dirty="0" smtClean="0"/>
              <a:t> 경로의 </a:t>
            </a:r>
            <a:r>
              <a:rPr lang="en-US" altLang="ko-KR" sz="1400" dirty="0" smtClean="0"/>
              <a:t>JSP</a:t>
            </a:r>
            <a:r>
              <a:rPr lang="ko-KR" altLang="en-US" sz="1400" dirty="0" smtClean="0"/>
              <a:t>파일은 직접 구현해야한다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881812" y="1543048"/>
            <a:ext cx="2452687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227084"/>
            <a:ext cx="10555173" cy="733527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567350" y="1227084"/>
            <a:ext cx="2457851" cy="209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9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3719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연동쿼리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</a:t>
            </a:r>
            <a:r>
              <a:rPr lang="ko-KR" altLang="en-US" sz="2000" b="1" dirty="0"/>
              <a:t> </a:t>
            </a:r>
            <a:r>
              <a:rPr lang="en-US" altLang="ko-KR" sz="2000" b="1" dirty="0" smtClean="0"/>
              <a:t>URL </a:t>
            </a:r>
            <a:r>
              <a:rPr lang="ko-KR" altLang="en-US" sz="2000" b="1" dirty="0" smtClean="0"/>
              <a:t>호출 </a:t>
            </a:r>
            <a:r>
              <a:rPr lang="en-US" altLang="ko-KR" sz="2000" b="1" dirty="0" smtClean="0"/>
              <a:t>(NA</a:t>
            </a:r>
            <a:r>
              <a:rPr lang="ko-KR" altLang="en-US" sz="2000" b="1" dirty="0" smtClean="0"/>
              <a:t>연동</a:t>
            </a:r>
            <a:r>
              <a:rPr lang="en-US" altLang="ko-KR" sz="2000" b="1" dirty="0" smtClean="0"/>
              <a:t>)</a:t>
            </a:r>
            <a:endParaRPr lang="ko-KR" altLang="en-US" sz="2000" b="1" dirty="0"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227084"/>
            <a:ext cx="10631384" cy="3924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213" y="5243976"/>
            <a:ext cx="103570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/>
              <a:t>연동</a:t>
            </a:r>
            <a:r>
              <a:rPr lang="en-US" altLang="ko-KR" sz="1400" dirty="0" smtClean="0"/>
              <a:t>XML query </a:t>
            </a:r>
            <a:r>
              <a:rPr lang="ko-KR" altLang="en-US" sz="1400" dirty="0" smtClean="0"/>
              <a:t>노드의 </a:t>
            </a:r>
            <a:r>
              <a:rPr lang="en-US" altLang="ko-KR" sz="1400" dirty="0" smtClean="0"/>
              <a:t>URL </a:t>
            </a:r>
            <a:r>
              <a:rPr lang="ko-KR" altLang="en-US" sz="1400" dirty="0" smtClean="0"/>
              <a:t>컨트롤러는 위와 같이 구현한다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연동 </a:t>
            </a:r>
            <a:r>
              <a:rPr lang="en-US" altLang="ko-KR" sz="1400" dirty="0" smtClean="0"/>
              <a:t>URL </a:t>
            </a:r>
            <a:r>
              <a:rPr lang="ko-KR" altLang="en-US" sz="1400" dirty="0" smtClean="0"/>
              <a:t>호출은 무조건 </a:t>
            </a:r>
            <a:r>
              <a:rPr lang="en-US" altLang="ko-KR" sz="1400" dirty="0" smtClean="0"/>
              <a:t>POST</a:t>
            </a:r>
            <a:r>
              <a:rPr lang="ko-KR" altLang="en-US" sz="1400" dirty="0" smtClean="0"/>
              <a:t>타입으로 한다</a:t>
            </a:r>
            <a:r>
              <a:rPr lang="en-US" altLang="ko-KR" sz="1400" dirty="0" smtClean="0"/>
              <a:t>. 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연동 데이터를 </a:t>
            </a:r>
            <a:r>
              <a:rPr lang="ko-KR" altLang="en-US" sz="1400" dirty="0" err="1" smtClean="0"/>
              <a:t>리턴할</a:t>
            </a:r>
            <a:r>
              <a:rPr lang="ko-KR" altLang="en-US" sz="1400" dirty="0" smtClean="0"/>
              <a:t> 때 </a:t>
            </a:r>
            <a:r>
              <a:rPr lang="ko-KR" altLang="en-US" sz="1400" dirty="0" err="1" smtClean="0"/>
              <a:t>문자셋이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utf-8</a:t>
            </a:r>
            <a:r>
              <a:rPr lang="ko-KR" altLang="en-US" sz="1400" dirty="0" smtClean="0"/>
              <a:t>로 되어있지 않으면 한글이 깨진다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적당한 방법으로 </a:t>
            </a:r>
            <a:r>
              <a:rPr lang="en-US" altLang="ko-KR" sz="1400" dirty="0" smtClean="0"/>
              <a:t>charset</a:t>
            </a:r>
            <a:r>
              <a:rPr lang="ko-KR" altLang="en-US" sz="1400" dirty="0" smtClean="0"/>
              <a:t>을 지정하여 </a:t>
            </a:r>
            <a:r>
              <a:rPr lang="ko-KR" altLang="en-US" sz="1400" dirty="0" err="1" smtClean="0"/>
              <a:t>리턴한다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 err="1" smtClean="0"/>
              <a:t>keydata</a:t>
            </a:r>
            <a:r>
              <a:rPr lang="ko-KR" altLang="en-US" sz="1400" dirty="0" smtClean="0"/>
              <a:t>는 항상 </a:t>
            </a:r>
            <a:r>
              <a:rPr lang="en-US" altLang="ko-KR" sz="1400" dirty="0" smtClean="0"/>
              <a:t>XML </a:t>
            </a:r>
            <a:r>
              <a:rPr lang="ko-KR" altLang="en-US" sz="1400" dirty="0" smtClean="0"/>
              <a:t>문자열 형태로 받을 수 있다</a:t>
            </a:r>
            <a:r>
              <a:rPr lang="en-US" altLang="ko-KR" sz="1400" dirty="0" smtClean="0"/>
              <a:t>. </a:t>
            </a:r>
            <a:r>
              <a:rPr lang="en-US" altLang="ko-KR" sz="1400" dirty="0" err="1" smtClean="0"/>
              <a:t>commonUtil</a:t>
            </a:r>
            <a:r>
              <a:rPr lang="ko-KR" altLang="en-US" sz="1400" dirty="0" smtClean="0"/>
              <a:t>의 </a:t>
            </a:r>
            <a:r>
              <a:rPr lang="ko-KR" altLang="en-US" sz="1400" dirty="0" err="1" smtClean="0"/>
              <a:t>메소드를</a:t>
            </a:r>
            <a:r>
              <a:rPr lang="ko-KR" altLang="en-US" sz="1400" dirty="0" smtClean="0"/>
              <a:t> 사용해 </a:t>
            </a:r>
            <a:r>
              <a:rPr lang="en-US" altLang="ko-KR" sz="1400" dirty="0" smtClean="0"/>
              <a:t>Document </a:t>
            </a:r>
            <a:r>
              <a:rPr lang="ko-KR" altLang="en-US" sz="1400" dirty="0" smtClean="0"/>
              <a:t>타입으로 변환 후 사용한다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881812" y="1543048"/>
            <a:ext cx="2452687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348287" y="1203278"/>
            <a:ext cx="3252787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629650" y="1203278"/>
            <a:ext cx="2558948" cy="179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262062" y="2733673"/>
            <a:ext cx="5824538" cy="209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83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4001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/>
              <a:t>연동쿼리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: </a:t>
            </a:r>
            <a:r>
              <a:rPr lang="ko-KR" altLang="en-US" sz="2000" b="1" dirty="0" err="1" smtClean="0"/>
              <a:t>메소드</a:t>
            </a:r>
            <a:r>
              <a:rPr lang="ko-KR" altLang="en-US" sz="2000" b="1" dirty="0" smtClean="0"/>
              <a:t> 호출 </a:t>
            </a:r>
            <a:r>
              <a:rPr lang="en-US" altLang="ko-KR" sz="2000" b="1" dirty="0" smtClean="0"/>
              <a:t>(NA</a:t>
            </a:r>
            <a:r>
              <a:rPr lang="ko-KR" altLang="en-US" sz="2000" b="1" dirty="0" smtClean="0"/>
              <a:t>연동</a:t>
            </a:r>
            <a:r>
              <a:rPr lang="en-US" altLang="ko-KR" sz="2000" b="1" dirty="0" smtClean="0"/>
              <a:t>)</a:t>
            </a:r>
            <a:endParaRPr lang="ko-KR" altLang="en-US" sz="2000" b="1" dirty="0">
              <a:latin typeface="+mj-lt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227084"/>
            <a:ext cx="5325218" cy="7525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213" y="3905848"/>
            <a:ext cx="9270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smtClean="0"/>
              <a:t>연동</a:t>
            </a:r>
            <a:r>
              <a:rPr lang="en-US" altLang="ko-KR" sz="1400" dirty="0" smtClean="0"/>
              <a:t>XML </a:t>
            </a:r>
            <a:r>
              <a:rPr lang="en-US" altLang="ko-KR" sz="1400" dirty="0" err="1" smtClean="0"/>
              <a:t>servicequery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노드의 서비스 </a:t>
            </a:r>
            <a:r>
              <a:rPr lang="ko-KR" altLang="en-US" sz="1400" dirty="0" err="1" smtClean="0"/>
              <a:t>메소드는</a:t>
            </a:r>
            <a:r>
              <a:rPr lang="ko-KR" altLang="en-US" sz="1400" dirty="0" smtClean="0"/>
              <a:t> 위와 같이 구현한다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연동 서비스 </a:t>
            </a:r>
            <a:r>
              <a:rPr lang="ko-KR" altLang="en-US" sz="1400" dirty="0" err="1" smtClean="0"/>
              <a:t>메소드는</a:t>
            </a:r>
            <a:r>
              <a:rPr lang="ko-KR" altLang="en-US" sz="1400" dirty="0" smtClean="0"/>
              <a:t> 반드시 </a:t>
            </a:r>
            <a:r>
              <a:rPr lang="en-US" altLang="ko-KR" sz="1400" dirty="0" smtClean="0"/>
              <a:t>Document </a:t>
            </a:r>
            <a:r>
              <a:rPr lang="ko-KR" altLang="en-US" sz="1400" dirty="0" smtClean="0"/>
              <a:t>타입의 </a:t>
            </a:r>
            <a:r>
              <a:rPr lang="ko-KR" altLang="en-US" sz="1400" dirty="0" err="1" smtClean="0"/>
              <a:t>키데이터와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LoginVO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타입의 </a:t>
            </a:r>
            <a:r>
              <a:rPr lang="ko-KR" altLang="en-US" sz="1400" dirty="0" err="1" smtClean="0"/>
              <a:t>유저정보를</a:t>
            </a:r>
            <a:r>
              <a:rPr lang="ko-KR" altLang="en-US" sz="1400" dirty="0" smtClean="0"/>
              <a:t> 인자로 받아야한다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2036814"/>
            <a:ext cx="10687048" cy="181188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609850" y="1400175"/>
            <a:ext cx="3067050" cy="19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797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227084"/>
            <a:ext cx="10564699" cy="35152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213" y="473320"/>
            <a:ext cx="13642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latin typeface="+mj-lt"/>
              </a:rPr>
              <a:t>XSLT </a:t>
            </a:r>
            <a:r>
              <a:rPr lang="ko-KR" altLang="en-US" sz="2000" b="1" dirty="0" smtClean="0">
                <a:latin typeface="+mj-lt"/>
              </a:rPr>
              <a:t>연동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213" y="4742300"/>
            <a:ext cx="745287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XSLT</a:t>
            </a:r>
            <a:r>
              <a:rPr lang="ko-KR" altLang="en-US" sz="1400" dirty="0" smtClean="0"/>
              <a:t>란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XSL</a:t>
            </a:r>
            <a:r>
              <a:rPr lang="ko-KR" altLang="en-US" sz="1400" dirty="0" smtClean="0"/>
              <a:t>언어를 이용해 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을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형식으로 변환하는 것이다</a:t>
            </a:r>
            <a:r>
              <a:rPr lang="en-US" altLang="ko-KR" sz="1400" dirty="0" smtClean="0"/>
              <a:t>. </a:t>
            </a:r>
          </a:p>
          <a:p>
            <a:r>
              <a:rPr lang="ko-KR" altLang="en-US" sz="1400" dirty="0" smtClean="0"/>
              <a:t>양식 작성 시 </a:t>
            </a:r>
            <a:r>
              <a:rPr lang="en-US" altLang="ko-KR" sz="1400" dirty="0" smtClean="0"/>
              <a:t>XSLT </a:t>
            </a:r>
            <a:r>
              <a:rPr lang="ko-KR" altLang="en-US" sz="1400" dirty="0" smtClean="0"/>
              <a:t>탭에서 변환 결과를 테스트하여 볼 수 있다</a:t>
            </a:r>
            <a:r>
              <a:rPr lang="en-US" altLang="ko-KR" sz="1400" dirty="0" smtClean="0"/>
              <a:t>. </a:t>
            </a:r>
          </a:p>
          <a:p>
            <a:endParaRPr lang="en-US" altLang="ko-KR" sz="1400" dirty="0" smtClean="0"/>
          </a:p>
          <a:p>
            <a:pPr marL="342900" indent="-342900">
              <a:buAutoNum type="arabicPeriod"/>
            </a:pPr>
            <a:r>
              <a:rPr lang="ko-KR" altLang="en-US" sz="1400" dirty="0" smtClean="0"/>
              <a:t>양식에 </a:t>
            </a:r>
            <a:r>
              <a:rPr lang="en-US" altLang="ko-KR" sz="1400" dirty="0" smtClean="0"/>
              <a:t>XSLT</a:t>
            </a:r>
            <a:r>
              <a:rPr lang="ko-KR" altLang="en-US" sz="1400" dirty="0" smtClean="0"/>
              <a:t>를 저장하면 </a:t>
            </a:r>
            <a:r>
              <a:rPr lang="en-US" altLang="ko-KR" sz="1400" dirty="0" err="1" smtClean="0"/>
              <a:t>tbl_forminfo</a:t>
            </a:r>
            <a:r>
              <a:rPr lang="ko-KR" altLang="en-US" sz="1400" dirty="0" smtClean="0"/>
              <a:t>테이블 </a:t>
            </a:r>
            <a:r>
              <a:rPr lang="en-US" altLang="ko-KR" sz="1400" dirty="0" err="1" smtClean="0"/>
              <a:t>formxslt</a:t>
            </a:r>
            <a:r>
              <a:rPr lang="ko-KR" altLang="en-US" sz="1400" dirty="0" smtClean="0"/>
              <a:t>컬럼에 </a:t>
            </a:r>
            <a:r>
              <a:rPr lang="en-US" altLang="ko-KR" sz="1400" dirty="0" smtClean="0"/>
              <a:t>XSL </a:t>
            </a:r>
            <a:r>
              <a:rPr lang="ko-KR" altLang="en-US" sz="1400" dirty="0" smtClean="0"/>
              <a:t>내용이 저장된다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 smtClean="0"/>
              <a:t>XML</a:t>
            </a:r>
            <a:r>
              <a:rPr lang="ko-KR" altLang="en-US" sz="1400" dirty="0" smtClean="0"/>
              <a:t>형식의 연동데이터를 변환한다</a:t>
            </a:r>
            <a:r>
              <a:rPr lang="en-US" altLang="ko-KR" sz="1400" dirty="0" smtClean="0"/>
              <a:t>. (</a:t>
            </a:r>
            <a:r>
              <a:rPr lang="en-US" altLang="ko-KR" sz="1400" dirty="0"/>
              <a:t>CommonUtil.java </a:t>
            </a:r>
            <a:r>
              <a:rPr lang="en-US" altLang="ko-KR" sz="1400" dirty="0" err="1" smtClean="0"/>
              <a:t>convertXsltToHtml</a:t>
            </a:r>
            <a:r>
              <a:rPr lang="ko-KR" altLang="en-US" sz="1400" dirty="0" err="1" smtClean="0"/>
              <a:t>메소드</a:t>
            </a:r>
            <a:r>
              <a:rPr lang="ko-KR" altLang="en-US" sz="1400" dirty="0" smtClean="0"/>
              <a:t> 사용</a:t>
            </a:r>
            <a:r>
              <a:rPr lang="en-US" altLang="ko-KR" sz="1400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400" dirty="0" smtClean="0"/>
              <a:t>변환된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을 </a:t>
            </a:r>
            <a:r>
              <a:rPr lang="ko-KR" altLang="en-US" sz="1400" dirty="0" err="1" smtClean="0"/>
              <a:t>리턴데이터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HTML=Y</a:t>
            </a:r>
            <a:r>
              <a:rPr lang="ko-KR" altLang="en-US" sz="1400" dirty="0" smtClean="0"/>
              <a:t>로 하여 전달한다</a:t>
            </a:r>
            <a:r>
              <a:rPr lang="en-US" altLang="ko-KR" sz="1400" dirty="0" smtClean="0"/>
              <a:t>.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2162120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2919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 </a:t>
            </a:r>
            <a:r>
              <a:rPr lang="en-US" altLang="ko-KR" sz="2000" b="1" dirty="0" smtClean="0">
                <a:latin typeface="+mj-lt"/>
              </a:rPr>
              <a:t>: </a:t>
            </a:r>
            <a:r>
              <a:rPr lang="ko-KR" altLang="en-US" sz="2000" b="1" dirty="0" smtClean="0">
                <a:latin typeface="+mj-lt"/>
              </a:rPr>
              <a:t>전자결재 창 오픈</a:t>
            </a:r>
            <a:endParaRPr lang="ko-KR" altLang="en-US" sz="2000" b="1" dirty="0"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4347751"/>
            <a:ext cx="11062243" cy="3121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9613" y="1379484"/>
            <a:ext cx="110334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외부에서 그룹웨어 </a:t>
            </a:r>
            <a:r>
              <a:rPr lang="ko-KR" altLang="en-US" sz="1400" dirty="0" err="1" smtClean="0"/>
              <a:t>기안창</a:t>
            </a:r>
            <a:r>
              <a:rPr lang="ko-KR" altLang="en-US" sz="1400" dirty="0" smtClean="0"/>
              <a:t> 혹은 </a:t>
            </a:r>
            <a:r>
              <a:rPr lang="ko-KR" altLang="en-US" sz="1400" dirty="0" err="1" smtClean="0"/>
              <a:t>결재창을</a:t>
            </a:r>
            <a:r>
              <a:rPr lang="ko-KR" altLang="en-US" sz="1400" dirty="0" smtClean="0"/>
              <a:t> 오픈한다</a:t>
            </a:r>
            <a:r>
              <a:rPr lang="en-US" altLang="ko-KR" sz="14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구현방법</a:t>
            </a:r>
            <a:endParaRPr lang="en-US" altLang="ko-KR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 smtClean="0"/>
              <a:t>인터셉터를</a:t>
            </a:r>
            <a:r>
              <a:rPr lang="ko-KR" altLang="en-US" sz="1400" dirty="0" smtClean="0"/>
              <a:t> 타지 않는 </a:t>
            </a:r>
            <a:r>
              <a:rPr lang="en-US" altLang="ko-KR" sz="1400" dirty="0" smtClean="0"/>
              <a:t>/</a:t>
            </a:r>
            <a:r>
              <a:rPr lang="en-US" altLang="ko-KR" sz="1400" dirty="0" err="1" smtClean="0"/>
              <a:t>ezConn</a:t>
            </a:r>
            <a:r>
              <a:rPr lang="en-US" altLang="ko-KR" sz="1400" dirty="0" smtClean="0"/>
              <a:t>/~</a:t>
            </a:r>
            <a:r>
              <a:rPr lang="ko-KR" altLang="en-US" sz="1400" dirty="0" smtClean="0"/>
              <a:t>을 </a:t>
            </a:r>
            <a:r>
              <a:rPr lang="en-US" altLang="ko-KR" sz="1400" dirty="0" err="1" smtClean="0"/>
              <a:t>url</a:t>
            </a:r>
            <a:r>
              <a:rPr lang="ko-KR" altLang="en-US" sz="1400" dirty="0" smtClean="0"/>
              <a:t>로 하는 컨트롤러 생성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connKey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연동키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와 </a:t>
            </a:r>
            <a:r>
              <a:rPr lang="en-US" altLang="ko-KR" sz="1400" dirty="0" err="1" smtClean="0"/>
              <a:t>connFormCode</a:t>
            </a:r>
            <a:r>
              <a:rPr lang="ko-KR" altLang="en-US" sz="1400" dirty="0" smtClean="0"/>
              <a:t>를 </a:t>
            </a:r>
            <a:r>
              <a:rPr lang="ko-KR" altLang="en-US" sz="1400" dirty="0" err="1" smtClean="0"/>
              <a:t>파라미터로</a:t>
            </a:r>
            <a:r>
              <a:rPr lang="ko-KR" altLang="en-US" sz="1400" dirty="0" smtClean="0"/>
              <a:t> 받는다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 smtClean="0"/>
              <a:t>connKey</a:t>
            </a:r>
            <a:r>
              <a:rPr lang="ko-KR" altLang="en-US" sz="1400" dirty="0" smtClean="0"/>
              <a:t>로 </a:t>
            </a:r>
            <a:r>
              <a:rPr lang="en-US" altLang="ko-KR" sz="1400" dirty="0" err="1" smtClean="0"/>
              <a:t>docID</a:t>
            </a:r>
            <a:r>
              <a:rPr lang="ko-KR" altLang="en-US" sz="1400" dirty="0" smtClean="0"/>
              <a:t>를 얻는다</a:t>
            </a:r>
            <a:r>
              <a:rPr lang="en-US" altLang="ko-KR" sz="1400" dirty="0" smtClean="0"/>
              <a:t>. (</a:t>
            </a:r>
            <a:r>
              <a:rPr lang="ko-KR" altLang="en-US" sz="1400" dirty="0" smtClean="0"/>
              <a:t>보통 연동</a:t>
            </a:r>
            <a:r>
              <a:rPr lang="en-US" altLang="ko-KR" sz="1400" dirty="0" smtClean="0"/>
              <a:t>DB</a:t>
            </a:r>
            <a:r>
              <a:rPr lang="ko-KR" altLang="en-US" sz="1400" dirty="0" smtClean="0"/>
              <a:t>에 저장되어있음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저장되어있는 곳이 없다면 </a:t>
            </a:r>
            <a:r>
              <a:rPr lang="ko-KR" altLang="en-US" sz="1400" dirty="0" err="1" smtClean="0"/>
              <a:t>연동키</a:t>
            </a:r>
            <a:r>
              <a:rPr lang="en-US" altLang="ko-KR" sz="1400" dirty="0" smtClean="0"/>
              <a:t>-</a:t>
            </a:r>
            <a:r>
              <a:rPr lang="ko-KR" altLang="en-US" sz="1400" dirty="0" err="1" smtClean="0"/>
              <a:t>문서아이디</a:t>
            </a:r>
            <a:r>
              <a:rPr lang="ko-KR" altLang="en-US" sz="1400" dirty="0" smtClean="0"/>
              <a:t> 정보가 있는 테이블 생성 필요</a:t>
            </a:r>
            <a:r>
              <a:rPr lang="en-US" altLang="ko-KR" sz="1400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smtClean="0"/>
              <a:t>해당 문서가 상신 되지 않은 문서인지 진행 문서인지 완료 문서인지 체크한다</a:t>
            </a:r>
            <a:r>
              <a:rPr lang="en-US" altLang="ko-KR" sz="1400" dirty="0" smtClean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smtClean="0"/>
              <a:t>체크한 값에 따른 </a:t>
            </a:r>
            <a:r>
              <a:rPr lang="en-US" altLang="ko-KR" sz="1400" dirty="0" smtClean="0"/>
              <a:t>URL</a:t>
            </a:r>
            <a:r>
              <a:rPr lang="ko-KR" altLang="en-US" sz="1400" dirty="0" smtClean="0"/>
              <a:t>을 생성한다</a:t>
            </a:r>
            <a:r>
              <a:rPr lang="en-US" altLang="ko-KR" sz="14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기안창을</a:t>
            </a:r>
            <a:r>
              <a:rPr lang="ko-KR" altLang="en-US" sz="1400" dirty="0" smtClean="0"/>
              <a:t> 호출하는 경우 일반적으로 </a:t>
            </a:r>
            <a:r>
              <a:rPr lang="en-US" altLang="ko-KR" sz="1400" dirty="0" smtClean="0"/>
              <a:t>INIT</a:t>
            </a:r>
            <a:r>
              <a:rPr lang="ko-KR" altLang="en-US" sz="1400" dirty="0" smtClean="0"/>
              <a:t>시점 연동을 실행하면서 </a:t>
            </a:r>
            <a:r>
              <a:rPr lang="en-US" altLang="ko-KR" sz="1400" dirty="0" err="1" smtClean="0"/>
              <a:t>connKey</a:t>
            </a:r>
            <a:r>
              <a:rPr lang="ko-KR" altLang="en-US" sz="1400" dirty="0" smtClean="0"/>
              <a:t>로 데이터를 불러온다</a:t>
            </a:r>
            <a:r>
              <a:rPr lang="en-US" altLang="ko-KR" sz="1400" dirty="0" smtClean="0"/>
              <a:t>. </a:t>
            </a:r>
            <a:br>
              <a:rPr lang="en-US" altLang="ko-KR" sz="1400" dirty="0" smtClean="0"/>
            </a:br>
            <a:r>
              <a:rPr lang="ko-KR" altLang="en-US" sz="1400" dirty="0" smtClean="0"/>
              <a:t>그렇기 때문에 </a:t>
            </a:r>
            <a:r>
              <a:rPr lang="ko-KR" altLang="en-US" sz="1400" dirty="0" err="1" smtClean="0"/>
              <a:t>기안창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호출시에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URL</a:t>
            </a:r>
            <a:r>
              <a:rPr lang="ko-KR" altLang="en-US" sz="1400" dirty="0" smtClean="0"/>
              <a:t>에 </a:t>
            </a:r>
            <a:r>
              <a:rPr lang="en-US" altLang="ko-KR" sz="1400" dirty="0" err="1" smtClean="0"/>
              <a:t>connKey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파라미터를</a:t>
            </a:r>
            <a:r>
              <a:rPr lang="ko-KR" altLang="en-US" sz="1400" dirty="0" smtClean="0"/>
              <a:t> 추가하여야 한다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smtClean="0"/>
              <a:t>유저 인증을 하고 생성한 </a:t>
            </a:r>
            <a:r>
              <a:rPr lang="en-US" altLang="ko-KR" sz="1400" dirty="0" smtClean="0"/>
              <a:t>URL</a:t>
            </a:r>
            <a:r>
              <a:rPr lang="ko-KR" altLang="en-US" sz="1400" dirty="0" smtClean="0"/>
              <a:t>로 리다이렉트한다</a:t>
            </a:r>
            <a:r>
              <a:rPr lang="en-US" altLang="ko-KR" sz="14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유저 정보를 받아오는 방법은 사이트마다 모두 상이하기 때문에 각 사이트 결재 연동 </a:t>
            </a:r>
            <a:r>
              <a:rPr lang="ko-KR" altLang="en-US" sz="1400" dirty="0" err="1" smtClean="0"/>
              <a:t>기획안을</a:t>
            </a:r>
            <a:r>
              <a:rPr lang="ko-KR" altLang="en-US" sz="1400" dirty="0" smtClean="0"/>
              <a:t> 참고하여 구현한다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031" y="4659900"/>
            <a:ext cx="11033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connKey</a:t>
            </a:r>
            <a:r>
              <a:rPr lang="en-US" altLang="ko-KR" sz="1400" dirty="0" smtClean="0"/>
              <a:t> : </a:t>
            </a:r>
            <a:r>
              <a:rPr lang="ko-KR" altLang="en-US" sz="1400" dirty="0" smtClean="0"/>
              <a:t>연동 정보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문서 정보를 얻기 위해 필요함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connFormCode</a:t>
            </a:r>
            <a:r>
              <a:rPr lang="en-US" altLang="ko-KR" sz="1400" dirty="0" smtClean="0"/>
              <a:t> : </a:t>
            </a:r>
            <a:r>
              <a:rPr lang="ko-KR" altLang="en-US" sz="1400" dirty="0" smtClean="0"/>
              <a:t>양식 정보를 얻기 위해 필요함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기안 시 양식 정보가 있어야 </a:t>
            </a:r>
            <a:r>
              <a:rPr lang="en-US" altLang="ko-KR" sz="1400" dirty="0" smtClean="0"/>
              <a:t>URL </a:t>
            </a:r>
            <a:r>
              <a:rPr lang="ko-KR" altLang="en-US" sz="1400" dirty="0" smtClean="0"/>
              <a:t>생성 가능</a:t>
            </a:r>
            <a:r>
              <a:rPr lang="en-US" altLang="ko-KR" sz="1400" dirty="0" smtClean="0"/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319849" y="4469400"/>
            <a:ext cx="1037967" cy="19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875373" y="4469400"/>
            <a:ext cx="1400432" cy="19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489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2919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 </a:t>
            </a:r>
            <a:r>
              <a:rPr lang="en-US" altLang="ko-KR" sz="2000" b="1" dirty="0" smtClean="0">
                <a:latin typeface="+mj-lt"/>
              </a:rPr>
              <a:t>: </a:t>
            </a:r>
            <a:r>
              <a:rPr lang="ko-KR" altLang="en-US" sz="2000" b="1" dirty="0" smtClean="0">
                <a:latin typeface="+mj-lt"/>
              </a:rPr>
              <a:t>전자결재 창 오픈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613" y="1379484"/>
            <a:ext cx="11033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기안창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URL </a:t>
            </a:r>
            <a:r>
              <a:rPr lang="ko-KR" altLang="en-US" sz="1400" dirty="0" smtClean="0"/>
              <a:t>예시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한글웹기안기</a:t>
            </a:r>
            <a:r>
              <a:rPr lang="en-US" altLang="ko-KR" sz="1400" dirty="0" smtClean="0"/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1687261"/>
            <a:ext cx="8221222" cy="2762636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62681" y="3748216"/>
            <a:ext cx="3550508" cy="345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09612" y="4449897"/>
            <a:ext cx="110334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기안창에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connKey</a:t>
            </a:r>
            <a:r>
              <a:rPr lang="ko-KR" altLang="en-US" sz="1400" dirty="0" smtClean="0"/>
              <a:t>와 </a:t>
            </a:r>
            <a:r>
              <a:rPr lang="en-US" altLang="ko-KR" sz="1400" dirty="0" err="1" smtClean="0"/>
              <a:t>connFormCode</a:t>
            </a:r>
            <a:r>
              <a:rPr lang="ko-KR" altLang="en-US" sz="1400" dirty="0" smtClean="0"/>
              <a:t>를 넘겨 </a:t>
            </a:r>
            <a:r>
              <a:rPr lang="ko-KR" altLang="en-US" sz="1400" dirty="0" err="1" smtClean="0"/>
              <a:t>연동키를</a:t>
            </a:r>
            <a:r>
              <a:rPr lang="ko-KR" altLang="en-US" sz="1400" dirty="0" smtClean="0"/>
              <a:t> 문서에 저장할 수 있도록 한다</a:t>
            </a:r>
            <a:r>
              <a:rPr lang="en-US" altLang="ko-KR" sz="1400" dirty="0" smtClean="0"/>
              <a:t>. </a:t>
            </a:r>
            <a:br>
              <a:rPr lang="en-US" altLang="ko-KR" sz="1400" dirty="0" smtClean="0"/>
            </a:b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키데이터</a:t>
            </a:r>
            <a:r>
              <a:rPr lang="ko-KR" altLang="en-US" sz="1400" dirty="0" smtClean="0"/>
              <a:t> 기본값으로 받아올 수 있음</a:t>
            </a:r>
            <a:r>
              <a:rPr lang="en-US" altLang="ko-KR" sz="14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예시는 빠른 구현을 위해 </a:t>
            </a:r>
            <a:r>
              <a:rPr lang="ko-KR" altLang="en-US" sz="1400" dirty="0" err="1" smtClean="0"/>
              <a:t>하드코딩</a:t>
            </a:r>
            <a:r>
              <a:rPr lang="ko-KR" altLang="en-US" sz="1400" dirty="0" smtClean="0"/>
              <a:t> 한 것으로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실제 구현할 때는 실제 데이터를 사용해야한다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URL </a:t>
            </a:r>
            <a:r>
              <a:rPr lang="ko-KR" altLang="en-US" sz="1400" dirty="0" err="1" smtClean="0"/>
              <a:t>파라미터는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기안기</a:t>
            </a:r>
            <a:r>
              <a:rPr lang="ko-KR" altLang="en-US" sz="1400" dirty="0" smtClean="0"/>
              <a:t> 종류와 사이트에 따라 </a:t>
            </a:r>
            <a:r>
              <a:rPr lang="ko-KR" altLang="en-US" sz="1400" dirty="0" err="1" smtClean="0"/>
              <a:t>커스터마이징</a:t>
            </a:r>
            <a:r>
              <a:rPr lang="ko-KR" altLang="en-US" sz="1400" dirty="0" smtClean="0"/>
              <a:t> 혹은 </a:t>
            </a:r>
            <a:r>
              <a:rPr lang="ko-KR" altLang="en-US" sz="1400" dirty="0" err="1" smtClean="0"/>
              <a:t>표준개발에</a:t>
            </a:r>
            <a:r>
              <a:rPr lang="ko-KR" altLang="en-US" sz="1400" dirty="0" smtClean="0"/>
              <a:t> 의해 이미지와 달라질 수 있다</a:t>
            </a:r>
            <a:r>
              <a:rPr lang="en-US" altLang="ko-KR" sz="1400" dirty="0" smtClean="0"/>
              <a:t>. </a:t>
            </a:r>
            <a:br>
              <a:rPr lang="en-US" altLang="ko-KR" sz="1400" dirty="0" smtClean="0"/>
            </a:br>
            <a:r>
              <a:rPr lang="ko-KR" altLang="en-US" sz="1400" dirty="0" smtClean="0"/>
              <a:t>실제 </a:t>
            </a:r>
            <a:r>
              <a:rPr lang="en-US" altLang="ko-KR" sz="1400" dirty="0" smtClean="0"/>
              <a:t>URL</a:t>
            </a:r>
            <a:r>
              <a:rPr lang="ko-KR" altLang="en-US" sz="1400" dirty="0" smtClean="0"/>
              <a:t>이 어떻게 열리는지 확인하여 구현한다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82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2919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 </a:t>
            </a:r>
            <a:r>
              <a:rPr lang="en-US" altLang="ko-KR" sz="2000" b="1" dirty="0" smtClean="0">
                <a:latin typeface="+mj-lt"/>
              </a:rPr>
              <a:t>: </a:t>
            </a:r>
            <a:r>
              <a:rPr lang="ko-KR" altLang="en-US" sz="2000" b="1" dirty="0" smtClean="0">
                <a:latin typeface="+mj-lt"/>
              </a:rPr>
              <a:t>전자결재 창 오픈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613" y="1379484"/>
            <a:ext cx="11033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결재 </a:t>
            </a:r>
            <a:r>
              <a:rPr lang="ko-KR" altLang="en-US" sz="1400" dirty="0" err="1" smtClean="0"/>
              <a:t>진행창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URL </a:t>
            </a:r>
            <a:r>
              <a:rPr lang="ko-KR" altLang="en-US" sz="1400" dirty="0" smtClean="0"/>
              <a:t>예시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한글웹기안기</a:t>
            </a:r>
            <a:r>
              <a:rPr lang="en-US" altLang="ko-KR" sz="1400" dirty="0" smtClean="0"/>
              <a:t>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687261"/>
            <a:ext cx="10155067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87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2919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 </a:t>
            </a:r>
            <a:r>
              <a:rPr lang="en-US" altLang="ko-KR" sz="2000" b="1" dirty="0" smtClean="0">
                <a:latin typeface="+mj-lt"/>
              </a:rPr>
              <a:t>: </a:t>
            </a:r>
            <a:r>
              <a:rPr lang="ko-KR" altLang="en-US" sz="2000" b="1" dirty="0" smtClean="0">
                <a:latin typeface="+mj-lt"/>
              </a:rPr>
              <a:t>전자결재 창 오픈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613" y="1379484"/>
            <a:ext cx="11033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결재 </a:t>
            </a:r>
            <a:r>
              <a:rPr lang="ko-KR" altLang="en-US" sz="1400" dirty="0" err="1" smtClean="0"/>
              <a:t>완료창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URL </a:t>
            </a:r>
            <a:r>
              <a:rPr lang="ko-KR" altLang="en-US" sz="1400" dirty="0" smtClean="0"/>
              <a:t>예시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한글웹기안기</a:t>
            </a:r>
            <a:r>
              <a:rPr lang="en-US" altLang="ko-KR" sz="1400" dirty="0" smtClean="0"/>
              <a:t>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1687261"/>
            <a:ext cx="9764488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26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2919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+mj-lt"/>
              </a:rPr>
              <a:t>연동 </a:t>
            </a:r>
            <a:r>
              <a:rPr lang="en-US" altLang="ko-KR" sz="2000" b="1" dirty="0" smtClean="0">
                <a:latin typeface="+mj-lt"/>
              </a:rPr>
              <a:t>: </a:t>
            </a:r>
            <a:r>
              <a:rPr lang="ko-KR" altLang="en-US" sz="2000" b="1" dirty="0" smtClean="0">
                <a:latin typeface="+mj-lt"/>
              </a:rPr>
              <a:t>전자결재 창 오픈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613" y="1379484"/>
            <a:ext cx="11033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리다이렉트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URL</a:t>
            </a:r>
            <a:r>
              <a:rPr lang="ko-KR" altLang="en-US" sz="1400" dirty="0" smtClean="0"/>
              <a:t>이 </a:t>
            </a:r>
            <a:r>
              <a:rPr lang="ko-KR" altLang="en-US" sz="1400" dirty="0" err="1" smtClean="0"/>
              <a:t>인터셉터를</a:t>
            </a:r>
            <a:r>
              <a:rPr lang="ko-KR" altLang="en-US" sz="1400" dirty="0" smtClean="0"/>
              <a:t> 거치게 되면서 보안상의 문제로 이전 </a:t>
            </a:r>
            <a:r>
              <a:rPr lang="en-US" altLang="ko-KR" sz="1400" dirty="0" smtClean="0"/>
              <a:t>origin</a:t>
            </a:r>
            <a:r>
              <a:rPr lang="ko-KR" altLang="en-US" sz="1400" dirty="0" smtClean="0"/>
              <a:t>과 현재 </a:t>
            </a:r>
            <a:r>
              <a:rPr lang="en-US" altLang="ko-KR" sz="1400" dirty="0" smtClean="0"/>
              <a:t>origin</a:t>
            </a:r>
            <a:r>
              <a:rPr lang="ko-KR" altLang="en-US" sz="1400" dirty="0" smtClean="0"/>
              <a:t>을 비교하는 부분이 있기 때문에 </a:t>
            </a:r>
            <a:endParaRPr lang="en-US" altLang="ko-KR" sz="1400" dirty="0" smtClean="0"/>
          </a:p>
          <a:p>
            <a:r>
              <a:rPr lang="ko-KR" altLang="en-US" sz="1400" dirty="0" smtClean="0"/>
              <a:t>현재의 </a:t>
            </a:r>
            <a:r>
              <a:rPr lang="en-US" altLang="ko-KR" sz="1400" dirty="0" smtClean="0"/>
              <a:t>URL</a:t>
            </a:r>
            <a:r>
              <a:rPr lang="ko-KR" altLang="en-US" sz="1400" dirty="0" smtClean="0"/>
              <a:t>과 </a:t>
            </a:r>
            <a:r>
              <a:rPr lang="ko-KR" altLang="en-US" sz="1400" dirty="0" err="1" smtClean="0"/>
              <a:t>리다이렉트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URL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origin</a:t>
            </a:r>
            <a:r>
              <a:rPr lang="ko-KR" altLang="en-US" sz="1400" dirty="0" smtClean="0"/>
              <a:t>을 맞춰주는 작업이 필요</a:t>
            </a:r>
            <a:endParaRPr lang="en-US" altLang="ko-KR" sz="1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2408758"/>
            <a:ext cx="3048425" cy="41915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035" y="2408758"/>
            <a:ext cx="5048955" cy="261021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392195" y="2618337"/>
            <a:ext cx="1837037" cy="2095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823255" y="4113504"/>
            <a:ext cx="2261286" cy="2288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>
            <a:stCxn id="8" idx="2"/>
            <a:endCxn id="9" idx="1"/>
          </p:cNvCxnSpPr>
          <p:nvPr/>
        </p:nvCxnSpPr>
        <p:spPr>
          <a:xfrm>
            <a:off x="2310714" y="2827916"/>
            <a:ext cx="2512541" cy="14000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888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3360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/>
              <a:t>연동 소스 </a:t>
            </a:r>
            <a:r>
              <a:rPr lang="en-US" altLang="ko-KR" sz="2000" b="1" dirty="0" smtClean="0"/>
              <a:t>: </a:t>
            </a:r>
            <a:r>
              <a:rPr lang="ko-KR" altLang="en-US" sz="2000" b="1" dirty="0" smtClean="0"/>
              <a:t>클래스</a:t>
            </a:r>
            <a:r>
              <a:rPr lang="en-US" altLang="ko-KR" sz="2000" b="1" dirty="0" smtClean="0"/>
              <a:t>, </a:t>
            </a:r>
            <a:r>
              <a:rPr lang="en-US" altLang="ko-KR" sz="2000" b="1" dirty="0" err="1" smtClean="0"/>
              <a:t>sqlmap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213" y="1227084"/>
            <a:ext cx="9675084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전자결재 연동 시 </a:t>
            </a:r>
            <a:r>
              <a:rPr lang="en-US" altLang="ko-KR" sz="1400" dirty="0" err="1" smtClean="0"/>
              <a:t>ezApprovalGConn</a:t>
            </a:r>
            <a:r>
              <a:rPr lang="en-US" altLang="ko-KR" sz="1400" dirty="0" smtClean="0"/>
              <a:t>~</a:t>
            </a:r>
            <a:r>
              <a:rPr lang="ko-KR" altLang="en-US" sz="1400" dirty="0" smtClean="0"/>
              <a:t>으로 시작하는 이름의 클래스를 사용하도록 한다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err="1" smtClean="0"/>
              <a:t>ezApprovalGConnController</a:t>
            </a:r>
            <a:endParaRPr lang="en-US" altLang="ko-KR" sz="1400" dirty="0" smtClean="0"/>
          </a:p>
          <a:p>
            <a:r>
              <a:rPr lang="en-US" altLang="ko-KR" sz="1400" dirty="0" err="1" smtClean="0"/>
              <a:t>ezApprovalGConnService</a:t>
            </a:r>
            <a:endParaRPr lang="en-US" altLang="ko-KR" sz="1400" dirty="0" smtClean="0"/>
          </a:p>
          <a:p>
            <a:r>
              <a:rPr lang="en-US" altLang="ko-KR" sz="1400" dirty="0" err="1" smtClean="0"/>
              <a:t>ezApprovalGConnServiceImpl</a:t>
            </a:r>
            <a:endParaRPr lang="en-US" altLang="ko-KR" sz="1400" dirty="0" smtClean="0"/>
          </a:p>
          <a:p>
            <a:r>
              <a:rPr lang="en-US" altLang="ko-KR" sz="1400" dirty="0" err="1" smtClean="0"/>
              <a:t>ezApprovalGConnDAO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전자결재 연동 시 </a:t>
            </a:r>
            <a:r>
              <a:rPr lang="en-US" altLang="ko-KR" sz="1400" dirty="0" err="1" smtClean="0"/>
              <a:t>ezApprovalGConn</a:t>
            </a:r>
            <a:r>
              <a:rPr lang="en-US" altLang="ko-KR" sz="1400" dirty="0" smtClean="0"/>
              <a:t>~</a:t>
            </a:r>
            <a:r>
              <a:rPr lang="ko-KR" altLang="en-US" sz="1400" dirty="0" smtClean="0"/>
              <a:t>으로 시작하는 이름의 </a:t>
            </a:r>
            <a:r>
              <a:rPr lang="en-US" altLang="ko-KR" sz="1400" dirty="0" err="1" smtClean="0"/>
              <a:t>sqlmap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파일을 사용하도록 한다</a:t>
            </a:r>
            <a:endParaRPr lang="en-US" altLang="ko-KR" sz="1400" dirty="0" smtClean="0"/>
          </a:p>
          <a:p>
            <a:r>
              <a:rPr lang="en-US" altLang="ko-KR" sz="1400" dirty="0" err="1" smtClean="0"/>
              <a:t>ezApprovalGConn_SQL_Mysql</a:t>
            </a:r>
            <a:endParaRPr lang="en-US" altLang="ko-KR" sz="1400" dirty="0" smtClean="0"/>
          </a:p>
          <a:p>
            <a:r>
              <a:rPr lang="en-US" altLang="ko-KR" sz="1400" dirty="0" err="1" smtClean="0"/>
              <a:t>ezApprovalGConn_SQL_Oracle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전자결재 연동 시 필요한 </a:t>
            </a:r>
            <a:r>
              <a:rPr lang="en-US" altLang="ko-KR" sz="1400" dirty="0" smtClean="0"/>
              <a:t>DB </a:t>
            </a:r>
            <a:r>
              <a:rPr lang="ko-KR" altLang="en-US" sz="1400" dirty="0" smtClean="0"/>
              <a:t>테이블이 있다면 테이블 이름은 </a:t>
            </a:r>
            <a:r>
              <a:rPr lang="en-US" altLang="ko-KR" sz="1400" dirty="0" err="1" smtClean="0"/>
              <a:t>tbl_apprconn</a:t>
            </a:r>
            <a:r>
              <a:rPr lang="en-US" altLang="ko-KR" sz="1400" dirty="0" smtClean="0"/>
              <a:t>_~</a:t>
            </a:r>
            <a:r>
              <a:rPr lang="ko-KR" altLang="en-US" sz="1400" dirty="0" smtClean="0"/>
              <a:t>으로 시작하는 이름으로 생성하도록 한다</a:t>
            </a:r>
            <a:endParaRPr lang="en-US" altLang="ko-KR" sz="1400" dirty="0"/>
          </a:p>
          <a:p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1691063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1803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/>
              <a:t>연동 소스 </a:t>
            </a:r>
            <a:r>
              <a:rPr lang="en-US" altLang="ko-KR" sz="2000" b="1" dirty="0" smtClean="0"/>
              <a:t>: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JS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213" y="1227084"/>
            <a:ext cx="5614037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연동 스크립트파일은 각 </a:t>
            </a:r>
            <a:r>
              <a:rPr lang="ko-KR" altLang="en-US" sz="1400" dirty="0" err="1" smtClean="0"/>
              <a:t>기안기마다</a:t>
            </a:r>
            <a:r>
              <a:rPr lang="ko-KR" altLang="en-US" sz="1400" dirty="0" smtClean="0"/>
              <a:t> 각각 존재한다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웹기안기</a:t>
            </a:r>
            <a:r>
              <a:rPr lang="en-US" altLang="ko-KR" sz="1400" dirty="0" smtClean="0"/>
              <a:t> : conn_Cross.js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한글기안기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conn_HWP.js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한글웹기안기 </a:t>
            </a:r>
            <a:r>
              <a:rPr lang="en-US" altLang="ko-KR" sz="1400" dirty="0" smtClean="0"/>
              <a:t>: conn_WHWP.js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ko-KR" altLang="en-US" sz="1400" dirty="0" smtClean="0"/>
              <a:t>연동 시 사용하는 함수 설명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GetDocumentElement</a:t>
            </a:r>
            <a:r>
              <a:rPr lang="en-US" altLang="ko-KR" sz="1400" dirty="0" smtClean="0"/>
              <a:t>() : </a:t>
            </a:r>
            <a:r>
              <a:rPr lang="ko-KR" altLang="en-US" sz="1400" dirty="0" smtClean="0"/>
              <a:t>양식에 저장된 연동</a:t>
            </a:r>
            <a:r>
              <a:rPr lang="en-US" altLang="ko-KR" sz="1400" dirty="0" smtClean="0"/>
              <a:t>XML</a:t>
            </a:r>
            <a:r>
              <a:rPr lang="ko-KR" altLang="en-US" sz="1400" dirty="0"/>
              <a:t>을</a:t>
            </a:r>
            <a:r>
              <a:rPr lang="ko-KR" altLang="en-US" sz="1400" dirty="0" smtClean="0"/>
              <a:t> 불러온다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SetDocumentElement</a:t>
            </a:r>
            <a:r>
              <a:rPr lang="en-US" altLang="ko-KR" sz="1400" dirty="0" smtClean="0"/>
              <a:t>() : </a:t>
            </a:r>
            <a:r>
              <a:rPr lang="ko-KR" altLang="en-US" sz="1400" dirty="0" smtClean="0"/>
              <a:t>문서에 연동 </a:t>
            </a:r>
            <a:r>
              <a:rPr lang="ko-KR" altLang="en-US" sz="1400" dirty="0" err="1" smtClean="0"/>
              <a:t>키데이터</a:t>
            </a:r>
            <a:r>
              <a:rPr lang="ko-KR" altLang="en-US" sz="1400" dirty="0" smtClean="0"/>
              <a:t> 정보를 저장한다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ConnExist</a:t>
            </a:r>
            <a:r>
              <a:rPr lang="en-US" altLang="ko-KR" sz="1400" dirty="0" smtClean="0"/>
              <a:t>() : </a:t>
            </a:r>
            <a:r>
              <a:rPr lang="ko-KR" altLang="en-US" sz="1400" dirty="0" smtClean="0"/>
              <a:t>해당 양식에 특정 연동</a:t>
            </a:r>
            <a:r>
              <a:rPr lang="en-US" altLang="ko-KR" sz="1400" dirty="0" smtClean="0"/>
              <a:t>XML</a:t>
            </a:r>
            <a:r>
              <a:rPr lang="ko-KR" altLang="en-US" sz="1400" dirty="0" smtClean="0"/>
              <a:t>이 있는지 체크한다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ExcuteInfo</a:t>
            </a:r>
            <a:r>
              <a:rPr lang="en-US" altLang="ko-KR" sz="1400" dirty="0" smtClean="0"/>
              <a:t>() : </a:t>
            </a:r>
            <a:r>
              <a:rPr lang="ko-KR" altLang="en-US" sz="1400" dirty="0" smtClean="0"/>
              <a:t>연동을 실행한다</a:t>
            </a:r>
            <a:r>
              <a:rPr lang="en-US" altLang="ko-KR" sz="14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callNoneUIJSP</a:t>
            </a:r>
            <a:r>
              <a:rPr lang="en-US" altLang="ko-KR" sz="1400" dirty="0" smtClean="0"/>
              <a:t>() : NA </a:t>
            </a:r>
            <a:r>
              <a:rPr lang="ko-KR" altLang="en-US" sz="1400" dirty="0" smtClean="0"/>
              <a:t>연동을 실행한다</a:t>
            </a:r>
            <a:r>
              <a:rPr lang="en-US" altLang="ko-KR" sz="14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callPopupUIJSP</a:t>
            </a:r>
            <a:r>
              <a:rPr lang="en-US" altLang="ko-KR" sz="1400" dirty="0" smtClean="0"/>
              <a:t>() : UA </a:t>
            </a:r>
            <a:r>
              <a:rPr lang="ko-KR" altLang="en-US" sz="1400" dirty="0" smtClean="0"/>
              <a:t>연동을 실행한다</a:t>
            </a:r>
            <a:r>
              <a:rPr lang="en-US" altLang="ko-KR" sz="14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callDivPopupUIJSP</a:t>
            </a:r>
            <a:r>
              <a:rPr lang="en-US" altLang="ko-KR" sz="1400" dirty="0" smtClean="0"/>
              <a:t>() : UA_EX </a:t>
            </a:r>
            <a:r>
              <a:rPr lang="ko-KR" altLang="en-US" sz="1400" dirty="0" smtClean="0"/>
              <a:t>연동을 실행한다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setData</a:t>
            </a:r>
            <a:r>
              <a:rPr lang="en-US" altLang="ko-KR" sz="1400" dirty="0" smtClean="0"/>
              <a:t>() : </a:t>
            </a:r>
            <a:r>
              <a:rPr lang="ko-KR" altLang="en-US" sz="1400" dirty="0" smtClean="0"/>
              <a:t>리턴데이터를 받아 매핑한다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setConnDefaultKey</a:t>
            </a:r>
            <a:r>
              <a:rPr lang="en-US" altLang="ko-KR" sz="1400" dirty="0" smtClean="0"/>
              <a:t>() : </a:t>
            </a:r>
            <a:r>
              <a:rPr lang="ko-KR" altLang="en-US" sz="1400" dirty="0" err="1" smtClean="0"/>
              <a:t>기본키를</a:t>
            </a:r>
            <a:r>
              <a:rPr lang="ko-KR" altLang="en-US" sz="1400" dirty="0" smtClean="0"/>
              <a:t> 세팅한다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connVal</a:t>
            </a:r>
            <a:r>
              <a:rPr lang="en-US" altLang="ko-KR" sz="1400" dirty="0" smtClean="0"/>
              <a:t> : </a:t>
            </a:r>
            <a:r>
              <a:rPr lang="ko-KR" altLang="en-US" sz="1400" dirty="0" smtClean="0"/>
              <a:t>연동 기본값 변수</a:t>
            </a:r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372296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3472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WORKFLOW : VALIDATION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213" y="1227084"/>
            <a:ext cx="3768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기안 시점에 필드의 유효성 검사를 실행한다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805489"/>
            <a:ext cx="4115374" cy="1095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7763" y="1814861"/>
            <a:ext cx="566424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FIELD : </a:t>
            </a:r>
            <a:r>
              <a:rPr lang="ko-KR" altLang="en-US" sz="1400" dirty="0" err="1" smtClean="0"/>
              <a:t>필드이름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CLASS : </a:t>
            </a:r>
            <a:r>
              <a:rPr lang="ko-KR" altLang="en-US" sz="1400" dirty="0" err="1" smtClean="0"/>
              <a:t>검사타입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NUM : </a:t>
            </a:r>
            <a:r>
              <a:rPr lang="ko-KR" altLang="en-US" sz="1400" dirty="0" smtClean="0"/>
              <a:t>필드 값이 숫자로만 이루어져야 함</a:t>
            </a:r>
            <a:endParaRPr lang="en-US" altLang="ko-KR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NOTNULL : </a:t>
            </a:r>
            <a:r>
              <a:rPr lang="ko-KR" altLang="en-US" sz="1400" dirty="0" smtClean="0"/>
              <a:t>필드 값이 비어있지 않아야 함</a:t>
            </a:r>
            <a:endParaRPr lang="en-US" altLang="ko-KR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NULL : </a:t>
            </a:r>
            <a:r>
              <a:rPr lang="ko-KR" altLang="en-US" sz="1400" dirty="0" smtClean="0"/>
              <a:t>필드 값이 비어 있어야 함</a:t>
            </a:r>
            <a:endParaRPr lang="en-US" altLang="ko-KR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추가해서 사용하고 싶으면 연동</a:t>
            </a:r>
            <a:r>
              <a:rPr lang="en-US" altLang="ko-KR" sz="1400" dirty="0" smtClean="0"/>
              <a:t>JS</a:t>
            </a:r>
            <a:r>
              <a:rPr lang="ko-KR" altLang="en-US" sz="1400" dirty="0" smtClean="0"/>
              <a:t> 파일에 </a:t>
            </a:r>
            <a:r>
              <a:rPr lang="en-US" altLang="ko-KR" sz="1400" dirty="0" err="1" smtClean="0"/>
              <a:t>checkValid</a:t>
            </a:r>
            <a:r>
              <a:rPr lang="en-US" altLang="ko-KR" sz="1400" dirty="0" smtClean="0"/>
              <a:t>() </a:t>
            </a:r>
            <a:r>
              <a:rPr lang="ko-KR" altLang="en-US" sz="1400" dirty="0" smtClean="0"/>
              <a:t>수정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DESC : </a:t>
            </a:r>
            <a:r>
              <a:rPr lang="ko-KR" altLang="en-US" sz="1400" dirty="0" smtClean="0"/>
              <a:t>유효성 검사 실패 시 에러 </a:t>
            </a:r>
            <a:r>
              <a:rPr lang="ko-KR" altLang="en-US" sz="1400" dirty="0" err="1" smtClean="0"/>
              <a:t>메세지</a:t>
            </a:r>
            <a:endParaRPr lang="en-US" altLang="ko-KR" sz="14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57213" y="2901017"/>
            <a:ext cx="3685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위와 같이 진행한다면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dirty="0" smtClean="0"/>
              <a:t>data1 </a:t>
            </a:r>
            <a:r>
              <a:rPr lang="ko-KR" altLang="en-US" sz="1400" dirty="0" smtClean="0"/>
              <a:t>필드에 값이 모두 숫자인지 검사한다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957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7213" y="473320"/>
            <a:ext cx="3002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WORKFLOW : APRLINE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213" y="1227084"/>
            <a:ext cx="3948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기안 시점에 </a:t>
            </a:r>
            <a:r>
              <a:rPr lang="ko-KR" altLang="en-US" sz="1400" dirty="0" err="1" smtClean="0"/>
              <a:t>결재선의</a:t>
            </a:r>
            <a:r>
              <a:rPr lang="ko-KR" altLang="en-US" sz="1400" dirty="0" smtClean="0"/>
              <a:t> 유효성 검사를 실행한다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7763" y="1814861"/>
            <a:ext cx="577754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APRTYPE : </a:t>
            </a:r>
            <a:r>
              <a:rPr lang="ko-KR" altLang="en-US" sz="1400" dirty="0" smtClean="0"/>
              <a:t>검사할 결재 타입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CLASS : </a:t>
            </a:r>
            <a:r>
              <a:rPr lang="ko-KR" altLang="en-US" sz="1400" dirty="0" smtClean="0"/>
              <a:t>검사할 결재선 정보</a:t>
            </a:r>
            <a:endParaRPr lang="en-US" altLang="ko-KR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JOBTITLE : </a:t>
            </a:r>
            <a:r>
              <a:rPr lang="ko-KR" altLang="en-US" sz="1400" dirty="0" smtClean="0"/>
              <a:t>직급으로 검사</a:t>
            </a:r>
            <a:endParaRPr lang="en-US" altLang="ko-KR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USERID : </a:t>
            </a:r>
            <a:r>
              <a:rPr lang="ko-KR" altLang="en-US" sz="1400" dirty="0" smtClean="0"/>
              <a:t>유저아이디로 검사</a:t>
            </a:r>
            <a:endParaRPr lang="en-US" altLang="ko-KR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추가해서 사용하고 싶으면 연동</a:t>
            </a:r>
            <a:r>
              <a:rPr lang="en-US" altLang="ko-KR" sz="1400" dirty="0" smtClean="0"/>
              <a:t>JS</a:t>
            </a:r>
            <a:r>
              <a:rPr lang="ko-KR" altLang="en-US" sz="1400" dirty="0" smtClean="0"/>
              <a:t> 파일에 </a:t>
            </a:r>
            <a:r>
              <a:rPr lang="en-US" altLang="ko-KR" sz="1400" dirty="0" err="1" smtClean="0"/>
              <a:t>chkAprLine</a:t>
            </a:r>
            <a:r>
              <a:rPr lang="en-US" altLang="ko-KR" sz="1400" dirty="0" smtClean="0"/>
              <a:t>() </a:t>
            </a:r>
            <a:r>
              <a:rPr lang="ko-KR" altLang="en-US" sz="1400" dirty="0" smtClean="0"/>
              <a:t>수정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VALUE : </a:t>
            </a:r>
            <a:r>
              <a:rPr lang="ko-KR" altLang="en-US" sz="1400" dirty="0" smtClean="0"/>
              <a:t>검사할 값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DESC : </a:t>
            </a:r>
            <a:r>
              <a:rPr lang="ko-KR" altLang="en-US" sz="1400" dirty="0" smtClean="0"/>
              <a:t>유효성 검사 실패 시 에러 </a:t>
            </a:r>
            <a:r>
              <a:rPr lang="ko-KR" altLang="en-US" sz="1400" dirty="0" err="1" smtClean="0"/>
              <a:t>메세지</a:t>
            </a:r>
            <a:endParaRPr lang="en-US" altLang="ko-KR" sz="14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48" y="1820210"/>
            <a:ext cx="4353533" cy="13527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213" y="3172949"/>
            <a:ext cx="375936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위와 같이 진행한다면</a:t>
            </a:r>
            <a:r>
              <a:rPr lang="en-US" altLang="ko-KR" sz="1400" dirty="0" smtClean="0"/>
              <a:t>,</a:t>
            </a:r>
          </a:p>
          <a:p>
            <a:r>
              <a:rPr lang="ko-KR" altLang="en-US" sz="1400" dirty="0" err="1" smtClean="0"/>
              <a:t>결재선에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007(</a:t>
            </a:r>
            <a:r>
              <a:rPr lang="ko-KR" altLang="en-US" sz="1400" dirty="0" smtClean="0"/>
              <a:t>참조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타입으로 지정되고 </a:t>
            </a:r>
            <a:endParaRPr lang="en-US" altLang="ko-KR" sz="1400" dirty="0" smtClean="0"/>
          </a:p>
          <a:p>
            <a:r>
              <a:rPr lang="ko-KR" altLang="en-US" sz="1400" dirty="0" smtClean="0"/>
              <a:t>아이디가 </a:t>
            </a:r>
            <a:r>
              <a:rPr lang="en-US" altLang="ko-KR" sz="1400" dirty="0" smtClean="0"/>
              <a:t>boh1-2</a:t>
            </a:r>
            <a:r>
              <a:rPr lang="ko-KR" altLang="en-US" sz="1400" dirty="0" smtClean="0"/>
              <a:t>인 유저가 있는지 검사한다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21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1599</Words>
  <Application>Microsoft Office PowerPoint</Application>
  <PresentationFormat>와이드스크린</PresentationFormat>
  <Paragraphs>262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보혜</dc:creator>
  <cp:lastModifiedBy>김 보혜</cp:lastModifiedBy>
  <cp:revision>71</cp:revision>
  <dcterms:created xsi:type="dcterms:W3CDTF">2021-02-08T01:30:44Z</dcterms:created>
  <dcterms:modified xsi:type="dcterms:W3CDTF">2021-02-15T07:38:50Z</dcterms:modified>
</cp:coreProperties>
</file>