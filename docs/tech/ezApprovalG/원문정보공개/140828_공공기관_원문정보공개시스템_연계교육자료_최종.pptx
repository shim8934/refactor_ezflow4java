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8" r:id="rId1"/>
    <p:sldMasterId id="2147483701" r:id="rId2"/>
    <p:sldMasterId id="2147483709" r:id="rId3"/>
  </p:sldMasterIdLst>
  <p:notesMasterIdLst>
    <p:notesMasterId r:id="rId24"/>
  </p:notesMasterIdLst>
  <p:handoutMasterIdLst>
    <p:handoutMasterId r:id="rId25"/>
  </p:handoutMasterIdLst>
  <p:sldIdLst>
    <p:sldId id="1371" r:id="rId4"/>
    <p:sldId id="1066" r:id="rId5"/>
    <p:sldId id="1372" r:id="rId6"/>
    <p:sldId id="1353" r:id="rId7"/>
    <p:sldId id="1358" r:id="rId8"/>
    <p:sldId id="1359" r:id="rId9"/>
    <p:sldId id="1362" r:id="rId10"/>
    <p:sldId id="1363" r:id="rId11"/>
    <p:sldId id="1364" r:id="rId12"/>
    <p:sldId id="1366" r:id="rId13"/>
    <p:sldId id="1367" r:id="rId14"/>
    <p:sldId id="1368" r:id="rId15"/>
    <p:sldId id="1351" r:id="rId16"/>
    <p:sldId id="1335" r:id="rId17"/>
    <p:sldId id="1339" r:id="rId18"/>
    <p:sldId id="1345" r:id="rId19"/>
    <p:sldId id="1347" r:id="rId20"/>
    <p:sldId id="1348" r:id="rId21"/>
    <p:sldId id="1338" r:id="rId22"/>
    <p:sldId id="1080" r:id="rId23"/>
  </p:sldIdLst>
  <p:sldSz cx="10909300" cy="7777163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1pPr>
    <a:lvl2pPr marL="509501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2pPr>
    <a:lvl3pPr marL="1019001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3pPr>
    <a:lvl4pPr marL="1528503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4pPr>
    <a:lvl5pPr marL="2038004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5pPr>
    <a:lvl6pPr marL="2547505" algn="l" defTabSz="1019001" rtl="0" eaLnBrk="1" latinLnBrk="1" hangingPunct="1"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6pPr>
    <a:lvl7pPr marL="3057007" algn="l" defTabSz="1019001" rtl="0" eaLnBrk="1" latinLnBrk="1" hangingPunct="1"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7pPr>
    <a:lvl8pPr marL="3566507" algn="l" defTabSz="1019001" rtl="0" eaLnBrk="1" latinLnBrk="1" hangingPunct="1"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8pPr>
    <a:lvl9pPr marL="4076007" algn="l" defTabSz="1019001" rtl="0" eaLnBrk="1" latinLnBrk="1" hangingPunct="1">
      <a:defRPr kumimoji="1" kern="1200">
        <a:solidFill>
          <a:schemeClr val="tx1"/>
        </a:solidFill>
        <a:latin typeface="굴림" charset="-127"/>
        <a:ea typeface="나눔명조"/>
        <a:cs typeface="나눔명조"/>
      </a:defRPr>
    </a:lvl9pPr>
  </p:defaultTextStyle>
  <p:extLst>
    <p:ext uri="{EFAFB233-063F-42B5-8137-9DF3F51BA10A}">
      <p15:sldGuideLst xmlns:p15="http://schemas.microsoft.com/office/powerpoint/2012/main">
        <p15:guide id="1" orient="horz" pos="598">
          <p15:clr>
            <a:srgbClr val="A4A3A4"/>
          </p15:clr>
        </p15:guide>
        <p15:guide id="2" orient="horz" pos="3175">
          <p15:clr>
            <a:srgbClr val="A4A3A4"/>
          </p15:clr>
        </p15:guide>
        <p15:guide id="3" orient="horz" pos="431">
          <p15:clr>
            <a:srgbClr val="A4A3A4"/>
          </p15:clr>
        </p15:guide>
        <p15:guide id="4" orient="horz" pos="1111">
          <p15:clr>
            <a:srgbClr val="A4A3A4"/>
          </p15:clr>
        </p15:guide>
        <p15:guide id="5" orient="horz" pos="4610">
          <p15:clr>
            <a:srgbClr val="A4A3A4"/>
          </p15:clr>
        </p15:guide>
        <p15:guide id="6" orient="horz" pos="1043">
          <p15:clr>
            <a:srgbClr val="A4A3A4"/>
          </p15:clr>
        </p15:guide>
        <p15:guide id="7" pos="193">
          <p15:clr>
            <a:srgbClr val="A4A3A4"/>
          </p15:clr>
        </p15:guide>
        <p15:guide id="8" pos="6679">
          <p15:clr>
            <a:srgbClr val="A4A3A4"/>
          </p15:clr>
        </p15:guide>
        <p15:guide id="9" pos="5684">
          <p15:clr>
            <a:srgbClr val="A4A3A4"/>
          </p15:clr>
        </p15:guide>
        <p15:guide id="10" pos="2786">
          <p15:clr>
            <a:srgbClr val="A4A3A4"/>
          </p15:clr>
        </p15:guide>
        <p15:guide id="11" pos="828">
          <p15:clr>
            <a:srgbClr val="A4A3A4"/>
          </p15:clr>
        </p15:guide>
        <p15:guide id="12" pos="6588">
          <p15:clr>
            <a:srgbClr val="A4A3A4"/>
          </p15:clr>
        </p15:guide>
        <p15:guide id="13" pos="3436">
          <p15:clr>
            <a:srgbClr val="A4A3A4"/>
          </p15:clr>
        </p15:guide>
        <p15:guide id="14" pos="60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3108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강동윤" initials="" lastIdx="1" clrIdx="0"/>
  <p:cmAuthor id="1" name="Windows 사용자" initials="W사" lastIdx="1" clrIdx="1">
    <p:extLst>
      <p:ext uri="{19B8F6BF-5375-455C-9EA6-DF929625EA0E}">
        <p15:presenceInfo xmlns:p15="http://schemas.microsoft.com/office/powerpoint/2012/main" userId="Windows 사용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BEEF4"/>
    <a:srgbClr val="31859C"/>
    <a:srgbClr val="D9D9D9"/>
    <a:srgbClr val="CCFFCC"/>
    <a:srgbClr val="ECF1F8"/>
    <a:srgbClr val="B9CDE5"/>
    <a:srgbClr val="2F70BF"/>
    <a:srgbClr val="76A1D0"/>
    <a:srgbClr val="01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09" autoAdjust="0"/>
    <p:restoredTop sz="99890" autoAdjust="0"/>
  </p:normalViewPr>
  <p:slideViewPr>
    <p:cSldViewPr snapToObjects="1">
      <p:cViewPr varScale="1">
        <p:scale>
          <a:sx n="102" d="100"/>
          <a:sy n="102" d="100"/>
        </p:scale>
        <p:origin x="1890" y="108"/>
      </p:cViewPr>
      <p:guideLst>
        <p:guide orient="horz" pos="598"/>
        <p:guide orient="horz" pos="3175"/>
        <p:guide orient="horz" pos="431"/>
        <p:guide orient="horz" pos="1111"/>
        <p:guide orient="horz" pos="4610"/>
        <p:guide orient="horz" pos="1043"/>
        <p:guide pos="193"/>
        <p:guide pos="6679"/>
        <p:guide pos="5684"/>
        <p:guide pos="2786"/>
        <p:guide pos="828"/>
        <p:guide pos="6588"/>
        <p:guide pos="3436"/>
        <p:guide pos="6021"/>
      </p:guideLst>
    </p:cSldViewPr>
  </p:slideViewPr>
  <p:outlineViewPr>
    <p:cViewPr>
      <p:scale>
        <a:sx n="25" d="100"/>
        <a:sy n="25" d="100"/>
      </p:scale>
      <p:origin x="0" y="12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Objects="1">
      <p:cViewPr varScale="1">
        <p:scale>
          <a:sx n="82" d="100"/>
          <a:sy n="82" d="100"/>
        </p:scale>
        <p:origin x="-3864" y="-84"/>
      </p:cViewPr>
      <p:guideLst>
        <p:guide orient="horz" pos="3127"/>
        <p:guide pos="2142"/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2" y="1"/>
            <a:ext cx="2919565" cy="49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622" tIns="45311" rIns="90622" bIns="45311" numCol="1" anchor="t" anchorCtr="0" compatLnSpc="1">
            <a:prstTxWarp prst="textNoShape">
              <a:avLst/>
            </a:prstTxWarp>
          </a:bodyPr>
          <a:lstStyle>
            <a:lvl1pPr defTabSz="905827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 bwMode="auto">
          <a:xfrm>
            <a:off x="3814627" y="1"/>
            <a:ext cx="2919565" cy="49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622" tIns="45311" rIns="90622" bIns="45311" numCol="1" anchor="t" anchorCtr="0" compatLnSpc="1">
            <a:prstTxWarp prst="textNoShape">
              <a:avLst/>
            </a:prstTxWarp>
          </a:bodyPr>
          <a:lstStyle>
            <a:lvl1pPr algn="r" defTabSz="905827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B24B63B1-AF06-49BC-A65F-C6747A8810C6}" type="datetimeFigureOut">
              <a:rPr lang="ko-KR" altLang="en-US"/>
              <a:pPr>
                <a:defRPr/>
              </a:pPr>
              <a:t>2019-11-08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 bwMode="auto">
          <a:xfrm>
            <a:off x="2" y="9370947"/>
            <a:ext cx="2919565" cy="49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622" tIns="45311" rIns="90622" bIns="45311" numCol="1" anchor="b" anchorCtr="0" compatLnSpc="1">
            <a:prstTxWarp prst="textNoShape">
              <a:avLst/>
            </a:prstTxWarp>
          </a:bodyPr>
          <a:lstStyle>
            <a:lvl1pPr defTabSz="905827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 bwMode="auto">
          <a:xfrm>
            <a:off x="3814627" y="9370947"/>
            <a:ext cx="2919565" cy="49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622" tIns="45311" rIns="90622" bIns="45311" numCol="1" anchor="b" anchorCtr="0" compatLnSpc="1">
            <a:prstTxWarp prst="textNoShape">
              <a:avLst/>
            </a:prstTxWarp>
          </a:bodyPr>
          <a:lstStyle>
            <a:lvl1pPr algn="r" defTabSz="905827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B0D8F761-52AC-41EA-BEC6-9B751698033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63189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23813"/>
            <a:ext cx="4722813" cy="3368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41" tIns="45370" rIns="90741" bIns="4537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9995" y="3432097"/>
            <a:ext cx="6595778" cy="643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622" tIns="45311" rIns="90622" bIns="4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9260468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509501" algn="l" rtl="0" eaLnBrk="0" fontAlgn="base" latinLnBrk="1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1019001" algn="l" rtl="0" eaLnBrk="0" fontAlgn="base" latinLnBrk="1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528503" algn="l" rtl="0" eaLnBrk="0" fontAlgn="base" latinLnBrk="1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2038004" algn="l" rtl="0" eaLnBrk="0" fontAlgn="base" latinLnBrk="1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547505" algn="l" defTabSz="101900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7007" algn="l" defTabSz="101900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6507" algn="l" defTabSz="101900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6007" algn="l" defTabSz="1019001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4700" y="739775"/>
            <a:ext cx="51863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lIns="90622" tIns="45311" rIns="90622" bIns="45311"/>
          <a:lstStyle/>
          <a:p>
            <a:pPr>
              <a:defRPr/>
            </a:pPr>
            <a:fld id="{C518CA7C-26CF-42EF-A4D9-5AA890F055F3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1309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4700" y="739775"/>
            <a:ext cx="51863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lIns="90622" tIns="45311" rIns="90622" bIns="45311"/>
          <a:lstStyle/>
          <a:p>
            <a:pPr>
              <a:defRPr/>
            </a:pPr>
            <a:fld id="{C518CA7C-26CF-42EF-A4D9-5AA890F055F3}" type="slidenum">
              <a:rPr lang="ko-KR" altLang="en-US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73882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8232" y="144165"/>
            <a:ext cx="6313939" cy="472229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>
              <a:defRPr lang="ko-KR" altLang="en-US" sz="24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246832" y="674700"/>
            <a:ext cx="7776864" cy="0"/>
          </a:xfrm>
          <a:prstGeom prst="line">
            <a:avLst/>
          </a:prstGeom>
          <a:ln>
            <a:gradFill flip="none" rotWithShape="1">
              <a:gsLst>
                <a:gs pos="57000">
                  <a:schemeClr val="bg1">
                    <a:lumMod val="65000"/>
                  </a:schemeClr>
                </a:gs>
                <a:gs pos="0">
                  <a:schemeClr val="bg1">
                    <a:lumMod val="65000"/>
                  </a:schemeClr>
                </a:gs>
                <a:gs pos="34000">
                  <a:schemeClr val="bg1">
                    <a:lumMod val="65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632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643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222870" y="225698"/>
            <a:ext cx="10463560" cy="7056784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6350" h="6350"/>
            <a:bevelB w="0" h="0"/>
            <a:extrusionClr>
              <a:schemeClr val="bg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900" tIns="50951" rIns="101900" bIns="50951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 userDrawn="1"/>
        </p:nvSpPr>
        <p:spPr bwMode="auto">
          <a:xfrm>
            <a:off x="6883410" y="0"/>
            <a:ext cx="4025890" cy="7481581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919" tIns="50960" rIns="101919" bIns="50960" anchor="ctr"/>
          <a:lstStyle/>
          <a:p>
            <a:pPr algn="ctr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161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지_콘텐츠 위주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>
          <a:xfrm>
            <a:off x="385990" y="155313"/>
            <a:ext cx="6020276" cy="418833"/>
          </a:xfrm>
          <a:prstGeom prst="rect">
            <a:avLst/>
          </a:prstGeom>
        </p:spPr>
        <p:txBody>
          <a:bodyPr lIns="101900" tIns="50951" rIns="101900" bIns="50951" anchor="b"/>
          <a:lstStyle>
            <a:lvl1pPr algn="l">
              <a:defRPr lang="ko-KR" altLang="en-US" sz="2000" b="0" kern="1200" spc="-167" baseline="0" noProof="0" dirty="0" smtClean="0">
                <a:solidFill>
                  <a:srgbClr val="4D4D4D"/>
                </a:solidFill>
                <a:latin typeface="다음_SemiBold" pitchFamily="2" charset="-127"/>
                <a:ea typeface="다음_SemiBold" pitchFamily="2" charset="-127"/>
                <a:cs typeface="+mj-cs"/>
              </a:defRPr>
            </a:lvl1pPr>
          </a:lstStyle>
          <a:p>
            <a:pPr lvl="0"/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835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184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첫화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32234" y="6624885"/>
            <a:ext cx="1433594" cy="639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9379" y="336651"/>
            <a:ext cx="2736066" cy="8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49289" y="1788592"/>
            <a:ext cx="6789737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8695010" y="678687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38100"/>
            </a:sp3d>
          </a:bodyPr>
          <a:lstStyle/>
          <a:p>
            <a:pPr algn="l"/>
            <a:r>
              <a:rPr lang="ko-KR" altLang="en-US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Rix고딕 EB" pitchFamily="18" charset="-127"/>
                <a:ea typeface="Rix고딕 EB" pitchFamily="18" charset="-127"/>
                <a:cs typeface="+mn-cs"/>
              </a:rPr>
              <a:t>컨소시엄</a:t>
            </a:r>
            <a:endParaRPr lang="ko-KR" altLang="en-US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63500">
                  <a:schemeClr val="bg1">
                    <a:alpha val="40000"/>
                  </a:schemeClr>
                </a:glow>
              </a:effectLst>
              <a:latin typeface="Rix고딕 EB" pitchFamily="18" charset="-127"/>
              <a:ea typeface="Rix고딕 EB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78035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8232" y="193724"/>
            <a:ext cx="6313939" cy="523541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485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9401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6951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207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947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469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842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898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8232" y="470206"/>
            <a:ext cx="6313939" cy="523541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pic>
        <p:nvPicPr>
          <p:cNvPr id="4" name="Picture 4" descr="E:\10 문서\30 Working\신문고\80. PT\배경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0909300" cy="5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57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79"/>
          <a:stretch/>
        </p:blipFill>
        <p:spPr bwMode="auto">
          <a:xfrm>
            <a:off x="0" y="432197"/>
            <a:ext cx="10909299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F:\김나영\[20120419] 야긴스텍 행안부 2012년 대한민국 정부포털 이용활성화 1차사업 제안서\PSD\PT\완료\img\먹물똑똑_30%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7466822">
            <a:off x="-490021" y="-765821"/>
            <a:ext cx="1476620" cy="1553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3299" y="11113"/>
            <a:ext cx="1058863" cy="4210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ko-KR" altLang="en-US" sz="1800" b="0" kern="1200" cap="none" spc="0" noProof="0" dirty="0" smtClean="0">
                <a:ln>
                  <a:noFill/>
                </a:ln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  <a:lvl2pPr>
              <a:defRPr kumimoji="0" lang="ko-KR" altLang="en-US" sz="1800" b="0" kern="1200" cap="none" spc="0" noProof="0" dirty="0" smtClean="0">
                <a:ln>
                  <a:noFill/>
                </a:ln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2pPr>
            <a:lvl3pPr>
              <a:defRPr kumimoji="0" lang="ko-KR" altLang="en-US" sz="1800" b="0" kern="1200" cap="none" spc="0" noProof="0" dirty="0" smtClean="0">
                <a:ln>
                  <a:noFill/>
                </a:ln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3pPr>
            <a:lvl4pPr>
              <a:defRPr kumimoji="0" lang="ko-KR" altLang="en-US" sz="1800" b="0" kern="1200" cap="none" spc="0" noProof="0" dirty="0" smtClean="0">
                <a:ln>
                  <a:noFill/>
                </a:ln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4pPr>
            <a:lvl5pPr>
              <a:defRPr kumimoji="0" lang="ko-KR" altLang="en-US" sz="1800" b="0" kern="1200" cap="none" spc="0" noProof="0" dirty="0">
                <a:ln>
                  <a:noFill/>
                </a:ln>
                <a:solidFill>
                  <a:schemeClr val="bg1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1"/>
          </p:nvPr>
        </p:nvSpPr>
        <p:spPr>
          <a:xfrm>
            <a:off x="321469" y="462268"/>
            <a:ext cx="1221581" cy="483038"/>
          </a:xfrm>
          <a:prstGeom prst="rect">
            <a:avLst/>
          </a:prstGeom>
        </p:spPr>
        <p:txBody>
          <a:bodyPr anchor="ctr"/>
          <a:lstStyle>
            <a:lvl1pPr marL="0" indent="0" algn="ctr" defTabSz="1019011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000" kern="1200" spc="-100" dirty="0" err="1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1614214" y="489866"/>
            <a:ext cx="9817100" cy="518395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>
              <a:defRPr kumimoji="0" lang="ko-KR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rgbClr val="424142"/>
                </a:solidFill>
                <a:effectLst/>
                <a:uLnTx/>
                <a:uFillTx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marL="0" marR="0" lvl="0" indent="0" algn="l" defTabSz="1018907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845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465330" y="2179203"/>
            <a:ext cx="3079012" cy="4836663"/>
          </a:xfrm>
          <a:prstGeom prst="roundRect">
            <a:avLst>
              <a:gd name="adj" fmla="val 5992"/>
            </a:avLst>
          </a:prstGeom>
          <a:gradFill>
            <a:gsLst>
              <a:gs pos="0">
                <a:sysClr val="window" lastClr="FFFFFF"/>
              </a:gs>
              <a:gs pos="97917">
                <a:sysClr val="window" lastClr="FFFFFF">
                  <a:alpha val="75000"/>
                </a:sysClr>
              </a:gs>
            </a:gsLst>
            <a:lin ang="5400000" scaled="0"/>
          </a:gra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innerShdw blurRad="139700" dist="254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M"/>
              <a:ea typeface="Rix고딕 M"/>
            </a:endParaRPr>
          </a:p>
        </p:txBody>
      </p:sp>
      <p:sp>
        <p:nvSpPr>
          <p:cNvPr id="9" name="모서리가 둥근 직사각형 8"/>
          <p:cNvSpPr/>
          <p:nvPr userDrawn="1"/>
        </p:nvSpPr>
        <p:spPr>
          <a:xfrm>
            <a:off x="3328317" y="1656333"/>
            <a:ext cx="7111083" cy="5616576"/>
          </a:xfrm>
          <a:prstGeom prst="roundRect">
            <a:avLst>
              <a:gd name="adj" fmla="val 2498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114300" sx="101000" sy="101000" algn="ctr" rotWithShape="0">
              <a:prstClr val="black">
                <a:alpha val="36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043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ix모던고딕 B" pitchFamily="18" charset="-127"/>
              <a:ea typeface="Rix모던고딕 B" pitchFamily="18" charset="-127"/>
              <a:cs typeface="+mn-cs"/>
            </a:endParaRPr>
          </a:p>
        </p:txBody>
      </p:sp>
      <p:pic>
        <p:nvPicPr>
          <p:cNvPr id="10" name="Picture 56" descr="C:\Users\kim\Desktop\Untitled-1.png"/>
          <p:cNvPicPr preferRelativeResize="0">
            <a:picLocks noChangeArrowheads="1"/>
          </p:cNvPicPr>
          <p:nvPr userDrawn="1"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 rot="5400000" flipH="1">
            <a:off x="715430" y="4417846"/>
            <a:ext cx="4833217" cy="392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그룹 10"/>
          <p:cNvGrpSpPr/>
          <p:nvPr userDrawn="1"/>
        </p:nvGrpSpPr>
        <p:grpSpPr>
          <a:xfrm>
            <a:off x="244674" y="2169172"/>
            <a:ext cx="2808312" cy="775151"/>
            <a:chOff x="282774" y="2009626"/>
            <a:chExt cx="2808312" cy="775151"/>
          </a:xfrm>
        </p:grpSpPr>
        <p:sp>
          <p:nvSpPr>
            <p:cNvPr id="12" name="자유형 11"/>
            <p:cNvSpPr/>
            <p:nvPr/>
          </p:nvSpPr>
          <p:spPr>
            <a:xfrm>
              <a:off x="379523" y="2584698"/>
              <a:ext cx="125541" cy="200079"/>
            </a:xfrm>
            <a:custGeom>
              <a:avLst/>
              <a:gdLst>
                <a:gd name="connsiteX0" fmla="*/ 0 w 114300"/>
                <a:gd name="connsiteY0" fmla="*/ 15875 h 187325"/>
                <a:gd name="connsiteX1" fmla="*/ 114300 w 114300"/>
                <a:gd name="connsiteY1" fmla="*/ 187325 h 187325"/>
                <a:gd name="connsiteX2" fmla="*/ 114300 w 114300"/>
                <a:gd name="connsiteY2" fmla="*/ 0 h 187325"/>
                <a:gd name="connsiteX3" fmla="*/ 0 w 114300"/>
                <a:gd name="connsiteY3" fmla="*/ 15875 h 187325"/>
                <a:gd name="connsiteX0" fmla="*/ 0 w 114300"/>
                <a:gd name="connsiteY0" fmla="*/ 332 h 171782"/>
                <a:gd name="connsiteX1" fmla="*/ 114300 w 114300"/>
                <a:gd name="connsiteY1" fmla="*/ 171782 h 171782"/>
                <a:gd name="connsiteX2" fmla="*/ 114300 w 114300"/>
                <a:gd name="connsiteY2" fmla="*/ 0 h 171782"/>
                <a:gd name="connsiteX3" fmla="*/ 0 w 114300"/>
                <a:gd name="connsiteY3" fmla="*/ 332 h 1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171782">
                  <a:moveTo>
                    <a:pt x="0" y="332"/>
                  </a:moveTo>
                  <a:lnTo>
                    <a:pt x="114300" y="171782"/>
                  </a:lnTo>
                  <a:lnTo>
                    <a:pt x="114300" y="0"/>
                  </a:lnTo>
                  <a:lnTo>
                    <a:pt x="0" y="332"/>
                  </a:lnTo>
                  <a:close/>
                </a:path>
              </a:pathLst>
            </a:custGeom>
            <a:gradFill>
              <a:gsLst>
                <a:gs pos="0">
                  <a:sysClr val="window" lastClr="FFFFFF">
                    <a:lumMod val="50000"/>
                  </a:sysClr>
                </a:gs>
                <a:gs pos="100000">
                  <a:sysClr val="windowText" lastClr="000000"/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33872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67745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1617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13549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669362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203235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737107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27098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6774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endParaRPr>
            </a:p>
          </p:txBody>
        </p:sp>
        <p:pic>
          <p:nvPicPr>
            <p:cNvPr id="13" name="Picture 2" descr="C:\Users\KSH\Desktop\그림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774" y="2009626"/>
              <a:ext cx="2808312" cy="714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직사각형 13"/>
            <p:cNvSpPr/>
            <p:nvPr/>
          </p:nvSpPr>
          <p:spPr>
            <a:xfrm>
              <a:off x="1008360" y="2227315"/>
              <a:ext cx="1025922" cy="30777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 extrusionH="57150">
                <a:bevelT w="0" h="38100" prst="artDeco"/>
                <a:contourClr>
                  <a:schemeClr val="bg1"/>
                </a:contourClr>
              </a:sp3d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핵심</a:t>
              </a:r>
              <a:r>
                <a:rPr kumimoji="0" lang="ko-KR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 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Issue</a:t>
              </a:r>
            </a:p>
          </p:txBody>
        </p:sp>
      </p:grpSp>
      <p:grpSp>
        <p:nvGrpSpPr>
          <p:cNvPr id="30" name="그룹 29"/>
          <p:cNvGrpSpPr/>
          <p:nvPr userDrawn="1"/>
        </p:nvGrpSpPr>
        <p:grpSpPr>
          <a:xfrm>
            <a:off x="3436330" y="1754443"/>
            <a:ext cx="6901211" cy="673504"/>
            <a:chOff x="10092190" y="1254281"/>
            <a:chExt cx="6382090" cy="673504"/>
          </a:xfrm>
        </p:grpSpPr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5" cstate="screen">
              <a:lum brigh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13649" y="1610950"/>
              <a:ext cx="1860631" cy="316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2" name="직사각형 31"/>
            <p:cNvSpPr/>
            <p:nvPr/>
          </p:nvSpPr>
          <p:spPr>
            <a:xfrm>
              <a:off x="10092190" y="1254281"/>
              <a:ext cx="6357825" cy="368215"/>
            </a:xfrm>
            <a:prstGeom prst="rect">
              <a:avLst/>
            </a:prstGeom>
            <a:solidFill>
              <a:srgbClr val="0066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449222" defTabSz="1018530" latinLnBrk="0"/>
              <a:endParaRPr lang="ko-KR" altLang="en-US" sz="1600" spc="-100" dirty="0">
                <a:solidFill>
                  <a:prstClr val="white"/>
                </a:solidFill>
                <a:latin typeface="Rix모던고딕 EB"/>
                <a:ea typeface="Rix모던고딕 EB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09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465330" y="2179203"/>
            <a:ext cx="3079012" cy="4836663"/>
          </a:xfrm>
          <a:prstGeom prst="roundRect">
            <a:avLst>
              <a:gd name="adj" fmla="val 5992"/>
            </a:avLst>
          </a:prstGeom>
          <a:gradFill>
            <a:gsLst>
              <a:gs pos="0">
                <a:sysClr val="window" lastClr="FFFFFF"/>
              </a:gs>
              <a:gs pos="97917">
                <a:sysClr val="window" lastClr="FFFFFF">
                  <a:alpha val="75000"/>
                </a:sysClr>
              </a:gs>
            </a:gsLst>
            <a:lin ang="5400000" scaled="0"/>
          </a:gra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innerShdw blurRad="139700" dist="254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M"/>
              <a:ea typeface="Rix고딕 M"/>
            </a:endParaRPr>
          </a:p>
        </p:txBody>
      </p:sp>
      <p:sp>
        <p:nvSpPr>
          <p:cNvPr id="9" name="모서리가 둥근 직사각형 8"/>
          <p:cNvSpPr/>
          <p:nvPr userDrawn="1"/>
        </p:nvSpPr>
        <p:spPr>
          <a:xfrm>
            <a:off x="3328317" y="1656333"/>
            <a:ext cx="7111083" cy="5616576"/>
          </a:xfrm>
          <a:prstGeom prst="roundRect">
            <a:avLst>
              <a:gd name="adj" fmla="val 2498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114300" sx="101000" sy="101000" algn="ctr" rotWithShape="0">
              <a:prstClr val="black">
                <a:alpha val="36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043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ix모던고딕 B" pitchFamily="18" charset="-127"/>
              <a:ea typeface="Rix모던고딕 B" pitchFamily="18" charset="-127"/>
              <a:cs typeface="+mn-cs"/>
            </a:endParaRPr>
          </a:p>
        </p:txBody>
      </p:sp>
      <p:pic>
        <p:nvPicPr>
          <p:cNvPr id="10" name="Picture 56" descr="C:\Users\kim\Desktop\Untitled-1.png"/>
          <p:cNvPicPr preferRelativeResize="0">
            <a:picLocks noChangeArrowheads="1"/>
          </p:cNvPicPr>
          <p:nvPr userDrawn="1"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 rot="5400000" flipH="1">
            <a:off x="715430" y="4417846"/>
            <a:ext cx="4833217" cy="392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그룹 10"/>
          <p:cNvGrpSpPr/>
          <p:nvPr userDrawn="1"/>
        </p:nvGrpSpPr>
        <p:grpSpPr>
          <a:xfrm>
            <a:off x="244674" y="2169172"/>
            <a:ext cx="2808312" cy="775151"/>
            <a:chOff x="282774" y="2009626"/>
            <a:chExt cx="2808312" cy="775151"/>
          </a:xfrm>
        </p:grpSpPr>
        <p:sp>
          <p:nvSpPr>
            <p:cNvPr id="12" name="자유형 11"/>
            <p:cNvSpPr/>
            <p:nvPr/>
          </p:nvSpPr>
          <p:spPr>
            <a:xfrm>
              <a:off x="379523" y="2584698"/>
              <a:ext cx="125541" cy="200079"/>
            </a:xfrm>
            <a:custGeom>
              <a:avLst/>
              <a:gdLst>
                <a:gd name="connsiteX0" fmla="*/ 0 w 114300"/>
                <a:gd name="connsiteY0" fmla="*/ 15875 h 187325"/>
                <a:gd name="connsiteX1" fmla="*/ 114300 w 114300"/>
                <a:gd name="connsiteY1" fmla="*/ 187325 h 187325"/>
                <a:gd name="connsiteX2" fmla="*/ 114300 w 114300"/>
                <a:gd name="connsiteY2" fmla="*/ 0 h 187325"/>
                <a:gd name="connsiteX3" fmla="*/ 0 w 114300"/>
                <a:gd name="connsiteY3" fmla="*/ 15875 h 187325"/>
                <a:gd name="connsiteX0" fmla="*/ 0 w 114300"/>
                <a:gd name="connsiteY0" fmla="*/ 332 h 171782"/>
                <a:gd name="connsiteX1" fmla="*/ 114300 w 114300"/>
                <a:gd name="connsiteY1" fmla="*/ 171782 h 171782"/>
                <a:gd name="connsiteX2" fmla="*/ 114300 w 114300"/>
                <a:gd name="connsiteY2" fmla="*/ 0 h 171782"/>
                <a:gd name="connsiteX3" fmla="*/ 0 w 114300"/>
                <a:gd name="connsiteY3" fmla="*/ 332 h 1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171782">
                  <a:moveTo>
                    <a:pt x="0" y="332"/>
                  </a:moveTo>
                  <a:lnTo>
                    <a:pt x="114300" y="171782"/>
                  </a:lnTo>
                  <a:lnTo>
                    <a:pt x="114300" y="0"/>
                  </a:lnTo>
                  <a:lnTo>
                    <a:pt x="0" y="332"/>
                  </a:lnTo>
                  <a:close/>
                </a:path>
              </a:pathLst>
            </a:custGeom>
            <a:gradFill>
              <a:gsLst>
                <a:gs pos="0">
                  <a:sysClr val="window" lastClr="FFFFFF">
                    <a:lumMod val="50000"/>
                  </a:sysClr>
                </a:gs>
                <a:gs pos="100000">
                  <a:sysClr val="windowText" lastClr="000000"/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33872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67745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1617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13549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669362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203235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737107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27098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6774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endParaRPr>
            </a:p>
          </p:txBody>
        </p:sp>
        <p:pic>
          <p:nvPicPr>
            <p:cNvPr id="13" name="Picture 2" descr="C:\Users\KSH\Desktop\그림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774" y="2009626"/>
              <a:ext cx="2808312" cy="714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직사각형 13"/>
            <p:cNvSpPr/>
            <p:nvPr/>
          </p:nvSpPr>
          <p:spPr>
            <a:xfrm>
              <a:off x="1008360" y="2227315"/>
              <a:ext cx="1008289" cy="30777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 extrusionH="57150">
                <a:bevelT w="0" h="38100" prst="artDeco"/>
                <a:contourClr>
                  <a:schemeClr val="bg1"/>
                </a:contourClr>
              </a:sp3d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핵심</a:t>
              </a:r>
              <a:r>
                <a:rPr kumimoji="0" lang="ko-KR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 </a:t>
              </a:r>
              <a:r>
                <a:rPr kumimoji="0" lang="ko-KR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내용</a:t>
              </a:r>
              <a:endPara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뫼비우스 Bold" pitchFamily="2" charset="-127"/>
                <a:ea typeface="뫼비우스 Bold" pitchFamily="2" charset="-127"/>
              </a:endParaRPr>
            </a:p>
          </p:txBody>
        </p:sp>
      </p:grpSp>
      <p:grpSp>
        <p:nvGrpSpPr>
          <p:cNvPr id="3" name="그룹 29"/>
          <p:cNvGrpSpPr/>
          <p:nvPr userDrawn="1"/>
        </p:nvGrpSpPr>
        <p:grpSpPr>
          <a:xfrm>
            <a:off x="3436330" y="1754443"/>
            <a:ext cx="6901211" cy="673504"/>
            <a:chOff x="10092190" y="1254281"/>
            <a:chExt cx="6382090" cy="673504"/>
          </a:xfrm>
        </p:grpSpPr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5" cstate="screen">
              <a:lum brigh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13649" y="1610950"/>
              <a:ext cx="1860631" cy="316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2" name="직사각형 31"/>
            <p:cNvSpPr/>
            <p:nvPr/>
          </p:nvSpPr>
          <p:spPr>
            <a:xfrm>
              <a:off x="10092190" y="1254281"/>
              <a:ext cx="6357825" cy="368215"/>
            </a:xfrm>
            <a:prstGeom prst="rect">
              <a:avLst/>
            </a:prstGeom>
            <a:solidFill>
              <a:srgbClr val="0066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449222" defTabSz="1018530" latinLnBrk="0"/>
              <a:endParaRPr lang="ko-KR" altLang="en-US" sz="1600" spc="-100" dirty="0">
                <a:solidFill>
                  <a:prstClr val="white"/>
                </a:solidFill>
                <a:latin typeface="Rix모던고딕 EB"/>
                <a:ea typeface="Rix모던고딕 EB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09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465330" y="2179203"/>
            <a:ext cx="3079012" cy="4836663"/>
          </a:xfrm>
          <a:prstGeom prst="roundRect">
            <a:avLst>
              <a:gd name="adj" fmla="val 5992"/>
            </a:avLst>
          </a:prstGeom>
          <a:gradFill>
            <a:gsLst>
              <a:gs pos="0">
                <a:sysClr val="window" lastClr="FFFFFF"/>
              </a:gs>
              <a:gs pos="97917">
                <a:sysClr val="window" lastClr="FFFFFF">
                  <a:alpha val="75000"/>
                </a:sysClr>
              </a:gs>
            </a:gsLst>
            <a:lin ang="5400000" scaled="0"/>
          </a:gra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innerShdw blurRad="139700" dist="254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x고딕 M"/>
              <a:ea typeface="Rix고딕 M"/>
            </a:endParaRPr>
          </a:p>
        </p:txBody>
      </p:sp>
      <p:sp>
        <p:nvSpPr>
          <p:cNvPr id="9" name="모서리가 둥근 직사각형 8"/>
          <p:cNvSpPr/>
          <p:nvPr userDrawn="1"/>
        </p:nvSpPr>
        <p:spPr>
          <a:xfrm>
            <a:off x="3328317" y="1656333"/>
            <a:ext cx="7111083" cy="5616576"/>
          </a:xfrm>
          <a:prstGeom prst="roundRect">
            <a:avLst>
              <a:gd name="adj" fmla="val 2498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114300" sx="101000" sy="101000" algn="ctr" rotWithShape="0">
              <a:prstClr val="black">
                <a:alpha val="36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043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Rix모던고딕 B" pitchFamily="18" charset="-127"/>
              <a:ea typeface="Rix모던고딕 B" pitchFamily="18" charset="-127"/>
              <a:cs typeface="+mn-cs"/>
            </a:endParaRPr>
          </a:p>
        </p:txBody>
      </p:sp>
      <p:pic>
        <p:nvPicPr>
          <p:cNvPr id="10" name="Picture 56" descr="C:\Users\kim\Desktop\Untitled-1.png"/>
          <p:cNvPicPr preferRelativeResize="0">
            <a:picLocks noChangeArrowheads="1"/>
          </p:cNvPicPr>
          <p:nvPr userDrawn="1"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 rot="5400000" flipH="1">
            <a:off x="715430" y="4417846"/>
            <a:ext cx="4833217" cy="392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그룹 10"/>
          <p:cNvGrpSpPr/>
          <p:nvPr userDrawn="1"/>
        </p:nvGrpSpPr>
        <p:grpSpPr>
          <a:xfrm>
            <a:off x="244674" y="2169172"/>
            <a:ext cx="2808312" cy="775151"/>
            <a:chOff x="282774" y="2009626"/>
            <a:chExt cx="2808312" cy="775151"/>
          </a:xfrm>
        </p:grpSpPr>
        <p:sp>
          <p:nvSpPr>
            <p:cNvPr id="12" name="자유형 11"/>
            <p:cNvSpPr/>
            <p:nvPr/>
          </p:nvSpPr>
          <p:spPr>
            <a:xfrm>
              <a:off x="379523" y="2584698"/>
              <a:ext cx="125541" cy="200079"/>
            </a:xfrm>
            <a:custGeom>
              <a:avLst/>
              <a:gdLst>
                <a:gd name="connsiteX0" fmla="*/ 0 w 114300"/>
                <a:gd name="connsiteY0" fmla="*/ 15875 h 187325"/>
                <a:gd name="connsiteX1" fmla="*/ 114300 w 114300"/>
                <a:gd name="connsiteY1" fmla="*/ 187325 h 187325"/>
                <a:gd name="connsiteX2" fmla="*/ 114300 w 114300"/>
                <a:gd name="connsiteY2" fmla="*/ 0 h 187325"/>
                <a:gd name="connsiteX3" fmla="*/ 0 w 114300"/>
                <a:gd name="connsiteY3" fmla="*/ 15875 h 187325"/>
                <a:gd name="connsiteX0" fmla="*/ 0 w 114300"/>
                <a:gd name="connsiteY0" fmla="*/ 332 h 171782"/>
                <a:gd name="connsiteX1" fmla="*/ 114300 w 114300"/>
                <a:gd name="connsiteY1" fmla="*/ 171782 h 171782"/>
                <a:gd name="connsiteX2" fmla="*/ 114300 w 114300"/>
                <a:gd name="connsiteY2" fmla="*/ 0 h 171782"/>
                <a:gd name="connsiteX3" fmla="*/ 0 w 114300"/>
                <a:gd name="connsiteY3" fmla="*/ 332 h 1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171782">
                  <a:moveTo>
                    <a:pt x="0" y="332"/>
                  </a:moveTo>
                  <a:lnTo>
                    <a:pt x="114300" y="171782"/>
                  </a:lnTo>
                  <a:lnTo>
                    <a:pt x="114300" y="0"/>
                  </a:lnTo>
                  <a:lnTo>
                    <a:pt x="0" y="332"/>
                  </a:lnTo>
                  <a:close/>
                </a:path>
              </a:pathLst>
            </a:custGeom>
            <a:gradFill>
              <a:gsLst>
                <a:gs pos="0">
                  <a:sysClr val="window" lastClr="FFFFFF">
                    <a:lumMod val="50000"/>
                  </a:sysClr>
                </a:gs>
                <a:gs pos="100000">
                  <a:sysClr val="windowText" lastClr="000000"/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33872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67745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1617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13549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669362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203235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737107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270980" algn="l" defTabSz="1067745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6774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endParaRPr>
            </a:p>
          </p:txBody>
        </p:sp>
        <p:pic>
          <p:nvPicPr>
            <p:cNvPr id="13" name="Picture 2" descr="C:\Users\KSH\Desktop\그림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774" y="2009626"/>
              <a:ext cx="2808312" cy="714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직사각형 13"/>
            <p:cNvSpPr/>
            <p:nvPr/>
          </p:nvSpPr>
          <p:spPr>
            <a:xfrm>
              <a:off x="1008360" y="2227315"/>
              <a:ext cx="1025922" cy="30777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 extrusionH="57150">
                <a:bevelT w="0" h="38100" prst="artDeco"/>
                <a:contourClr>
                  <a:schemeClr val="bg1"/>
                </a:contourClr>
              </a:sp3d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핵심</a:t>
              </a:r>
              <a:r>
                <a:rPr kumimoji="0" lang="ko-KR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 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뫼비우스 Bold" pitchFamily="2" charset="-127"/>
                  <a:ea typeface="뫼비우스 Bold" pitchFamily="2" charset="-127"/>
                </a:rPr>
                <a:t>Issue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420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0015" y="414063"/>
            <a:ext cx="9409271" cy="15032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0015" y="2070310"/>
            <a:ext cx="9409271" cy="4934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50014" y="7208278"/>
            <a:ext cx="2454593" cy="414062"/>
          </a:xfrm>
          <a:prstGeom prst="rect">
            <a:avLst/>
          </a:prstGeom>
        </p:spPr>
        <p:txBody>
          <a:bodyPr/>
          <a:lstStyle/>
          <a:p>
            <a:fld id="{73B9529C-D441-4252-B1CE-18B0AC1D8555}" type="datetimeFigureOut">
              <a:rPr lang="ko-KR" altLang="en-US" smtClean="0"/>
              <a:pPr/>
              <a:t>2019-11-08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613706" y="7208278"/>
            <a:ext cx="3681889" cy="414062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704693" y="7208278"/>
            <a:ext cx="2454593" cy="414062"/>
          </a:xfrm>
          <a:prstGeom prst="rect">
            <a:avLst/>
          </a:prstGeom>
        </p:spPr>
        <p:txBody>
          <a:bodyPr/>
          <a:lstStyle/>
          <a:p>
            <a:fld id="{855DF6DF-1F77-40EB-8FE3-139BD0EA56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597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496321"/>
            <a:ext cx="10909300" cy="280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0371322" y="7555660"/>
            <a:ext cx="269747" cy="138499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 extrusionH="6350" contourW="2540">
              <a:bevelT w="0" h="0"/>
              <a:bevelB w="0" h="0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85000"/>
                </a:schemeClr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2026" lvl="0" indent="-382026" algn="ctr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</a:pPr>
            <a:fld id="{88B3AE5A-10BA-4173-8E7E-D8F2BB88D393}" type="slidenum">
              <a:rPr lang="en-US" altLang="ko-KR" sz="900" b="0" kern="0" spc="-89" baseline="0" smtClean="0">
                <a:solidFill>
                  <a:srgbClr val="C0C0C0"/>
                </a:solidFill>
                <a:latin typeface="Rix모던고딕 M" pitchFamily="18" charset="-127"/>
                <a:ea typeface="Rix모던고딕 M" pitchFamily="18" charset="-127"/>
                <a:cs typeface="Arial" pitchFamily="34" charset="0"/>
              </a:rPr>
              <a:pPr marL="382026" lvl="0" indent="-382026" algn="ctr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None/>
              </a:pPr>
              <a:t>‹#›</a:t>
            </a:fld>
            <a:endParaRPr lang="ko-KR" altLang="ko-KR" sz="900" b="0" kern="0" spc="-89" baseline="0" dirty="0" smtClean="0">
              <a:solidFill>
                <a:srgbClr val="C0C0C0"/>
              </a:solidFill>
              <a:latin typeface="Rix모던고딕 M" pitchFamily="18" charset="-127"/>
              <a:ea typeface="Rix모던고딕 M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34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723" r:id="rId3"/>
    <p:sldLayoutId id="2147483672" r:id="rId4"/>
    <p:sldLayoutId id="2147483819" r:id="rId5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5pPr>
      <a:lvl6pPr marL="509501" algn="l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6pPr>
      <a:lvl7pPr marL="1019001" algn="l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7pPr>
      <a:lvl8pPr marL="1528503" algn="l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8pPr>
      <a:lvl9pPr marL="2038004" algn="l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9pPr>
    </p:titleStyle>
    <p:bodyStyle>
      <a:lvl1pPr marL="382126" indent="-382126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</a:defRPr>
      </a:lvl1pPr>
      <a:lvl2pPr marL="827938" indent="-31843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3100">
          <a:solidFill>
            <a:schemeClr val="tx1"/>
          </a:solidFill>
          <a:latin typeface="굴림" charset="-127"/>
          <a:ea typeface="굴림" charset="-127"/>
        </a:defRPr>
      </a:lvl2pPr>
      <a:lvl3pPr marL="1273754" indent="-25475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700">
          <a:solidFill>
            <a:schemeClr val="tx1"/>
          </a:solidFill>
          <a:latin typeface="굴림" charset="-127"/>
          <a:ea typeface="굴림" charset="-127"/>
        </a:defRPr>
      </a:lvl3pPr>
      <a:lvl4pPr marL="1783253" indent="-25475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굴림" charset="-127"/>
          <a:ea typeface="굴림" charset="-127"/>
        </a:defRPr>
      </a:lvl4pPr>
      <a:lvl5pPr marL="2292754" indent="-25475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5pPr>
      <a:lvl6pPr marL="2802256" indent="-254751" algn="l" rtl="0" fontAlgn="base" latinLnBrk="1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6pPr>
      <a:lvl7pPr marL="3311756" indent="-254751" algn="l" rtl="0" fontAlgn="base" latinLnBrk="1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7pPr>
      <a:lvl8pPr marL="3821257" indent="-254751" algn="l" rtl="0" fontAlgn="base" latinLnBrk="1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8pPr>
      <a:lvl9pPr marL="4330759" indent="-254751" algn="l" rtl="0" fontAlgn="base" latinLnBrk="1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501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9001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503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8004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505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7007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6507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6007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18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04" r:id="rId2"/>
    <p:sldLayoutId id="2147483705" r:id="rId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5pPr>
      <a:lvl6pPr marL="509501" algn="l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6pPr>
      <a:lvl7pPr marL="1019001" algn="l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7pPr>
      <a:lvl8pPr marL="1528503" algn="l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8pPr>
      <a:lvl9pPr marL="2038004" algn="l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Century Gothic" pitchFamily="34" charset="0"/>
          <a:ea typeface="돋움" pitchFamily="50" charset="-127"/>
        </a:defRPr>
      </a:lvl9pPr>
    </p:titleStyle>
    <p:bodyStyle>
      <a:lvl1pPr marL="382126" indent="-382126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600">
          <a:solidFill>
            <a:schemeClr val="tx1"/>
          </a:solidFill>
          <a:latin typeface="+mn-lt"/>
          <a:ea typeface="+mn-ea"/>
          <a:cs typeface="+mn-cs"/>
        </a:defRPr>
      </a:lvl1pPr>
      <a:lvl2pPr marL="827938" indent="-31843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3100">
          <a:solidFill>
            <a:schemeClr val="tx1"/>
          </a:solidFill>
          <a:latin typeface="굴림" charset="-127"/>
          <a:ea typeface="굴림" charset="-127"/>
        </a:defRPr>
      </a:lvl2pPr>
      <a:lvl3pPr marL="1273754" indent="-25475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700">
          <a:solidFill>
            <a:schemeClr val="tx1"/>
          </a:solidFill>
          <a:latin typeface="굴림" charset="-127"/>
          <a:ea typeface="굴림" charset="-127"/>
        </a:defRPr>
      </a:lvl3pPr>
      <a:lvl4pPr marL="1783253" indent="-25475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굴림" charset="-127"/>
          <a:ea typeface="굴림" charset="-127"/>
        </a:defRPr>
      </a:lvl4pPr>
      <a:lvl5pPr marL="2292754" indent="-25475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5pPr>
      <a:lvl6pPr marL="2802256" indent="-254751" algn="l" rtl="0" fontAlgn="base" latinLnBrk="1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6pPr>
      <a:lvl7pPr marL="3311756" indent="-254751" algn="l" rtl="0" fontAlgn="base" latinLnBrk="1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7pPr>
      <a:lvl8pPr marL="3821257" indent="-254751" algn="l" rtl="0" fontAlgn="base" latinLnBrk="1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8pPr>
      <a:lvl9pPr marL="4330759" indent="-254751" algn="l" rtl="0" fontAlgn="base" latinLnBrk="1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501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9001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503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8004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505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7007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6507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6007" algn="l" defTabSz="1019001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496321"/>
            <a:ext cx="10909300" cy="280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3"/>
          <p:cNvSpPr>
            <a:spLocks noChangeArrowheads="1"/>
          </p:cNvSpPr>
          <p:nvPr userDrawn="1"/>
        </p:nvSpPr>
        <p:spPr bwMode="auto">
          <a:xfrm>
            <a:off x="10371322" y="7555660"/>
            <a:ext cx="269747" cy="138499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 extrusionH="6350" contourW="2540">
              <a:bevelT w="0" h="0"/>
              <a:bevelB w="0" h="0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85000"/>
                </a:schemeClr>
              </a:contourClr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2026" lvl="0" indent="-382026" algn="ctr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</a:pPr>
            <a:fld id="{88B3AE5A-10BA-4173-8E7E-D8F2BB88D393}" type="slidenum">
              <a:rPr lang="en-US" altLang="ko-KR" sz="900" b="0" kern="0" spc="-89" baseline="0" smtClean="0">
                <a:solidFill>
                  <a:srgbClr val="C0C0C0"/>
                </a:solidFill>
                <a:latin typeface="Rix모던고딕 M" pitchFamily="18" charset="-127"/>
                <a:ea typeface="Rix모던고딕 M" pitchFamily="18" charset="-127"/>
                <a:cs typeface="Arial" pitchFamily="34" charset="0"/>
              </a:rPr>
              <a:pPr marL="382026" lvl="0" indent="-382026" algn="ctr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None/>
              </a:pPr>
              <a:t>‹#›</a:t>
            </a:fld>
            <a:endParaRPr lang="ko-KR" altLang="ko-KR" sz="900" b="0" kern="0" spc="-89" baseline="0" dirty="0" smtClean="0">
              <a:solidFill>
                <a:srgbClr val="C0C0C0"/>
              </a:solidFill>
              <a:latin typeface="Rix모던고딕 M" pitchFamily="18" charset="-127"/>
              <a:ea typeface="Rix모던고딕 M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16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7" r:id="rId7"/>
    <p:sldLayoutId id="2147483722" r:id="rId8"/>
    <p:sldLayoutId id="2147483724" r:id="rId9"/>
    <p:sldLayoutId id="2147483816" r:id="rId10"/>
    <p:sldLayoutId id="2147483733" r:id="rId11"/>
    <p:sldLayoutId id="2147483818" r:id="rId12"/>
  </p:sldLayoutIdLst>
  <p:timing>
    <p:tnLst>
      <p:par>
        <p:cTn id="1" dur="indefinite" restart="never" nodeType="tmRoot"/>
      </p:par>
    </p:tnLst>
  </p:timing>
  <p:txStyles>
    <p:titleStyle>
      <a:lvl1pPr algn="ctr" defTabSz="1018907" rtl="0" eaLnBrk="1" latinLnBrk="1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90" indent="-382090" algn="l" defTabSz="1018907" rtl="0" eaLnBrk="1" latinLnBrk="1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861" indent="-318410" algn="l" defTabSz="1018907" rtl="0" eaLnBrk="1" latinLnBrk="1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637" indent="-254727" algn="l" defTabSz="1018907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3088" indent="-254727" algn="l" defTabSz="1018907" rtl="0" eaLnBrk="1" latinLnBrk="1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543" indent="-254727" algn="l" defTabSz="1018907" rtl="0" eaLnBrk="1" latinLnBrk="1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997" indent="-254727" algn="l" defTabSz="1018907" rtl="0" eaLnBrk="1" latinLnBrk="1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450" indent="-254727" algn="l" defTabSz="1018907" rtl="0" eaLnBrk="1" latinLnBrk="1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905" indent="-254727" algn="l" defTabSz="1018907" rtl="0" eaLnBrk="1" latinLnBrk="1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359" indent="-254727" algn="l" defTabSz="1018907" rtl="0" eaLnBrk="1" latinLnBrk="1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54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907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362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815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270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725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6177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631" algn="l" defTabSz="10189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png"/><Relationship Id="rId5" Type="http://schemas.openxmlformats.org/officeDocument/2006/relationships/image" Target="../media/image28.emf"/><Relationship Id="rId4" Type="http://schemas.openxmlformats.org/officeDocument/2006/relationships/image" Target="../media/image27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E:\10 문서\30 Working\신문고\80. PT\배경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909300" cy="777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94710" y="2984201"/>
            <a:ext cx="849667" cy="87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4678" y="5215035"/>
            <a:ext cx="566444" cy="58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D:\00 Working\[1212_02]국민권익위원회_2013년도 국민신문고 전문상담 및 시스템운영 위탁용역\40 발표자료\나뭇잎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90530" y="50605"/>
            <a:ext cx="2209272" cy="228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E:\10 문서\30 Working\신문고\80. PT\박스4개.PNG"/>
          <p:cNvPicPr>
            <a:picLocks noChangeAspect="1" noChangeArrowheads="1"/>
          </p:cNvPicPr>
          <p:nvPr/>
        </p:nvPicPr>
        <p:blipFill>
          <a:blip r:embed="rId6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7397" y="5543781"/>
            <a:ext cx="2944028" cy="201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558106" y="1328950"/>
            <a:ext cx="9793088" cy="2823850"/>
          </a:xfrm>
          <a:prstGeom prst="rect">
            <a:avLst/>
          </a:prstGeom>
          <a:noFill/>
          <a:effectLst>
            <a:glow rad="228600">
              <a:schemeClr val="tx1">
                <a:alpha val="40000"/>
              </a:schemeClr>
            </a:glow>
          </a:effectLst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342900" indent="-342900">
              <a:lnSpc>
                <a:spcPct val="150000"/>
              </a:lnSpc>
              <a:spcAft>
                <a:spcPts val="1000"/>
              </a:spcAft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pPr marL="0" indent="0" algn="ctr">
              <a:lnSpc>
                <a:spcPct val="100000"/>
              </a:lnSpc>
              <a:spcAft>
                <a:spcPts val="1500"/>
              </a:spcAft>
              <a:buFontTx/>
              <a:buNone/>
            </a:pPr>
            <a:endParaRPr lang="en-US" altLang="ko-KR" sz="4400" b="1" dirty="0" smtClean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lnSpc>
                <a:spcPct val="100000"/>
              </a:lnSpc>
              <a:spcAft>
                <a:spcPts val="1500"/>
              </a:spcAft>
              <a:buFontTx/>
              <a:buNone/>
            </a:pPr>
            <a:r>
              <a:rPr lang="ko-KR" altLang="en-US" sz="4400" b="1" dirty="0" smtClean="0">
                <a:ln w="0"/>
                <a:solidFill>
                  <a:schemeClr val="tx1"/>
                </a:solidFill>
                <a:effectLst>
                  <a:outerShdw blurRad="38100" dist="38100" sx="1000" sy="1000" algn="tl">
                    <a:srgbClr val="000000"/>
                  </a:outerShdw>
                  <a:reflection blurRad="6350" stA="53000" endA="300" endPos="35500" dir="5400000" sy="-90000" algn="bl" rotWithShape="0"/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 원문정보공개  설명</a:t>
            </a:r>
            <a:endParaRPr lang="en-US" altLang="ko-KR" sz="4400" b="1" dirty="0" smtClean="0">
              <a:ln w="0"/>
              <a:solidFill>
                <a:schemeClr val="tx1"/>
              </a:solidFill>
              <a:effectLst>
                <a:outerShdw blurRad="38100" dist="38100" sx="1000" sy="1000" algn="tl">
                  <a:srgbClr val="000000"/>
                </a:outerShdw>
                <a:reflection blurRad="6350" stA="53000" endA="300" endPos="35500" dir="5400000" sy="-90000" algn="bl" rotWithShape="0"/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lnSpc>
                <a:spcPct val="100000"/>
              </a:lnSpc>
              <a:spcAft>
                <a:spcPts val="1500"/>
              </a:spcAft>
              <a:buFontTx/>
              <a:buNone/>
            </a:pPr>
            <a:endParaRPr lang="en-US" altLang="ko-KR" sz="3200" b="1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lnSpc>
                <a:spcPct val="100000"/>
              </a:lnSpc>
              <a:spcAft>
                <a:spcPts val="1500"/>
              </a:spcAft>
              <a:buFontTx/>
              <a:buNone/>
            </a:pPr>
            <a:endParaRPr lang="en-US" altLang="ko-KR" sz="2600" b="1" dirty="0" smtClean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81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G:\★ [20120419] 야긴스텍 행안부 2012년 대한민국 정부포털 이용활성화 1차사업 제안서\PSD\PT\템플릿\야긴스텍 행안부 제안설명회 간지-1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" y="0"/>
            <a:ext cx="10905803" cy="777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제목 2"/>
          <p:cNvSpPr txBox="1">
            <a:spLocks/>
          </p:cNvSpPr>
          <p:nvPr/>
        </p:nvSpPr>
        <p:spPr>
          <a:xfrm>
            <a:off x="6923276" y="4436179"/>
            <a:ext cx="4680519" cy="488638"/>
          </a:xfrm>
          <a:prstGeom prst="rect">
            <a:avLst/>
          </a:prstGeom>
        </p:spPr>
        <p:txBody>
          <a:bodyPr lIns="101910" tIns="50955" rIns="101910" bIns="50955" anchor="ctr">
            <a:scene3d>
              <a:camera prst="orthographicFront"/>
              <a:lightRig rig="threePt" dir="t"/>
            </a:scene3d>
            <a:sp3d>
              <a:bevelT w="1270" h="38100"/>
            </a:sp3d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9pPr>
          </a:lstStyle>
          <a:p>
            <a:r>
              <a:rPr lang="ko-KR" altLang="en-US" sz="25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25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354750" y="4958567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제목 2"/>
          <p:cNvSpPr txBox="1">
            <a:spLocks/>
          </p:cNvSpPr>
          <p:nvPr/>
        </p:nvSpPr>
        <p:spPr>
          <a:xfrm>
            <a:off x="6874490" y="4823299"/>
            <a:ext cx="3764736" cy="2017610"/>
          </a:xfrm>
          <a:prstGeom prst="rect">
            <a:avLst/>
          </a:prstGeom>
        </p:spPr>
        <p:txBody>
          <a:bodyPr lIns="101910" tIns="50955" rIns="101910" bIns="50955" anchor="t">
            <a:scene3d>
              <a:camera prst="orthographicFront"/>
              <a:lightRig rig="threePt" dir="t"/>
            </a:scene3d>
            <a:sp3d>
              <a:bevelT w="1270" h="38100"/>
            </a:sp3d>
          </a:bodyPr>
          <a:lstStyle>
            <a:defPPr>
              <a:defRPr lang="ko-KR"/>
            </a:defPPr>
            <a:lvl1pPr eaLnBrk="0" hangingPunct="0">
              <a:lnSpc>
                <a:spcPct val="130000"/>
              </a:lnSpc>
              <a:spcAft>
                <a:spcPts val="0"/>
              </a:spcAft>
              <a:defRPr sz="1400" b="0" spc="-60">
                <a:solidFill>
                  <a:schemeClr val="bg1"/>
                </a:solidFill>
                <a:latin typeface="Rix모던고딕 M" pitchFamily="18" charset="-127"/>
                <a:ea typeface="Rix모던고딕 M" pitchFamily="18" charset="-127"/>
                <a:cs typeface="+mj-cs"/>
              </a:defRPr>
            </a:lvl1pPr>
            <a:lvl2pPr eaLnBrk="0" hangingPunct="0"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2pPr>
            <a:lvl3pPr eaLnBrk="0" hangingPunct="0"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3pPr>
            <a:lvl4pPr eaLnBrk="0" hangingPunct="0"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4pPr>
            <a:lvl5pPr eaLnBrk="0" hangingPunct="0"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9pPr>
          </a:lstStyle>
          <a:p>
            <a:pPr fontAlgn="auto">
              <a:lnSpc>
                <a:spcPct val="150000"/>
              </a:lnSpc>
            </a:pPr>
            <a:r>
              <a:rPr lang="ko-KR" altLang="en-US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원문정보공개 </a:t>
            </a:r>
            <a:r>
              <a:rPr lang="ko-KR" altLang="en-US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 개요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정보목록 </a:t>
            </a:r>
            <a:r>
              <a:rPr lang="ko-KR" altLang="en-US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 및 </a:t>
            </a:r>
            <a:r>
              <a:rPr lang="ko-KR" altLang="en-US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원문 연계</a:t>
            </a:r>
          </a:p>
          <a:p>
            <a:pPr fontAlgn="auto">
              <a:lnSpc>
                <a:spcPct val="150000"/>
              </a:lnSpc>
            </a:pPr>
            <a:r>
              <a:rPr lang="ko-KR" altLang="en-US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개인정보 보호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FFFFFF"/>
                </a:solidFill>
                <a:latin typeface="+mj-ea"/>
              </a:rPr>
              <a:t>원문 진위 </a:t>
            </a:r>
            <a:r>
              <a:rPr lang="ko-KR" altLang="en-US" b="1" dirty="0" smtClean="0">
                <a:solidFill>
                  <a:srgbClr val="FFFFFF"/>
                </a:solidFill>
                <a:latin typeface="+mj-ea"/>
              </a:rPr>
              <a:t>확인</a:t>
            </a:r>
            <a:endParaRPr lang="en-US" altLang="ko-KR" b="1" dirty="0" smtClean="0">
              <a:solidFill>
                <a:srgbClr val="FFFFFF"/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rgbClr val="FFFFFF"/>
                </a:solidFill>
                <a:latin typeface="+mj-ea"/>
              </a:rPr>
              <a:t>원문정보공개 </a:t>
            </a:r>
            <a:r>
              <a:rPr lang="ko-KR" altLang="en-US" b="1" dirty="0">
                <a:solidFill>
                  <a:srgbClr val="FFFFFF"/>
                </a:solidFill>
                <a:latin typeface="+mj-ea"/>
              </a:rPr>
              <a:t>시스템 시연</a:t>
            </a:r>
          </a:p>
          <a:p>
            <a:pPr>
              <a:lnSpc>
                <a:spcPts val="2300"/>
              </a:lnSpc>
            </a:pPr>
            <a:endParaRPr lang="en-US" altLang="ko-KR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354750" y="5280059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54750" y="5599990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354750" y="5931007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354750" y="6249646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477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/>
          <p:cNvSpPr/>
          <p:nvPr/>
        </p:nvSpPr>
        <p:spPr>
          <a:xfrm>
            <a:off x="414090" y="1296293"/>
            <a:ext cx="10023611" cy="5976664"/>
          </a:xfrm>
          <a:prstGeom prst="roundRect">
            <a:avLst>
              <a:gd name="adj" fmla="val 2096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171445" y="3926119"/>
            <a:ext cx="215698" cy="707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lIns="106774" tIns="53387" rIns="106774" bIns="53387" anchor="ctr">
            <a:spAutoFit/>
          </a:bodyPr>
          <a:lstStyle/>
          <a:p>
            <a:pPr>
              <a:defRPr/>
            </a:pPr>
            <a:endParaRPr lang="en-US" altLang="ko-KR" sz="2100" dirty="0" smtClean="0">
              <a:latin typeface="+mn-ea"/>
              <a:ea typeface="+mn-ea"/>
            </a:endParaRPr>
          </a:p>
          <a:p>
            <a:pPr eaLnBrk="0" latinLnBrk="0" hangingPunct="0">
              <a:defRPr/>
            </a:pPr>
            <a:endParaRPr lang="en-US" altLang="ko-KR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13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1.1 </a:t>
            </a:r>
            <a:r>
              <a:rPr lang="ko-KR" altLang="en-US" sz="2700" b="1" dirty="0" err="1" smtClean="0">
                <a:solidFill>
                  <a:srgbClr val="424142"/>
                </a:solidFill>
                <a:latin typeface="맑은 고딕" panose="020B0503020000020004" pitchFamily="50" charset="-127"/>
              </a:rPr>
              <a:t>원문정보</a:t>
            </a:r>
            <a:r>
              <a:rPr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 공개</a:t>
            </a:r>
            <a:endParaRPr lang="ko-KR" altLang="en-US" sz="2700" b="1" dirty="0">
              <a:solidFill>
                <a:srgbClr val="42414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 개요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234" y="1312780"/>
            <a:ext cx="7488832" cy="597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5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/>
          <p:cNvSpPr/>
          <p:nvPr/>
        </p:nvSpPr>
        <p:spPr>
          <a:xfrm>
            <a:off x="414090" y="1296293"/>
            <a:ext cx="10023611" cy="5976664"/>
          </a:xfrm>
          <a:prstGeom prst="roundRect">
            <a:avLst>
              <a:gd name="adj" fmla="val 2096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171445" y="1433129"/>
            <a:ext cx="9014517" cy="569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lIns="106774" tIns="53387" rIns="106774" bIns="53387" anchor="ctr">
            <a:spAutoFit/>
          </a:bodyPr>
          <a:lstStyle/>
          <a:p>
            <a:pPr>
              <a:defRPr/>
            </a:pPr>
            <a:endParaRPr lang="en-US" altLang="ko-KR" sz="2100" dirty="0" smtClean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2100" dirty="0" smtClean="0">
                <a:latin typeface="+mn-ea"/>
                <a:ea typeface="+mn-ea"/>
              </a:rPr>
              <a:t>대상기관 </a:t>
            </a:r>
            <a:r>
              <a:rPr lang="en-US" altLang="ko-KR" sz="2100" dirty="0">
                <a:latin typeface="+mn-ea"/>
                <a:ea typeface="+mn-ea"/>
              </a:rPr>
              <a:t>: </a:t>
            </a:r>
            <a:r>
              <a:rPr lang="en-US" altLang="ko-KR" sz="2100" dirty="0" smtClean="0">
                <a:latin typeface="+mn-ea"/>
                <a:ea typeface="+mn-ea"/>
              </a:rPr>
              <a:t>117</a:t>
            </a:r>
            <a:r>
              <a:rPr lang="ko-KR" altLang="en-US" sz="2100" dirty="0" smtClean="0">
                <a:latin typeface="+mn-ea"/>
                <a:ea typeface="+mn-ea"/>
              </a:rPr>
              <a:t>개 공공기관</a:t>
            </a:r>
            <a:r>
              <a:rPr lang="en-US" altLang="ko-KR" sz="2100" dirty="0" smtClean="0">
                <a:latin typeface="+mn-ea"/>
                <a:ea typeface="+mn-ea"/>
              </a:rPr>
              <a:t>(</a:t>
            </a:r>
            <a:r>
              <a:rPr lang="ko-KR" altLang="en-US" sz="2100" dirty="0" smtClean="0">
                <a:latin typeface="+mn-ea"/>
                <a:ea typeface="+mn-ea"/>
              </a:rPr>
              <a:t>정보공개법 </a:t>
            </a:r>
            <a:r>
              <a:rPr lang="en-US" altLang="ko-KR" sz="2100" dirty="0" smtClean="0">
                <a:latin typeface="+mn-ea"/>
                <a:ea typeface="+mn-ea"/>
              </a:rPr>
              <a:t>8</a:t>
            </a:r>
            <a:r>
              <a:rPr lang="ko-KR" altLang="en-US" sz="2100" dirty="0" smtClean="0">
                <a:latin typeface="+mn-ea"/>
                <a:ea typeface="+mn-ea"/>
              </a:rPr>
              <a:t>조의</a:t>
            </a:r>
            <a:r>
              <a:rPr lang="en-US" altLang="ko-KR" sz="2100" dirty="0" smtClean="0">
                <a:latin typeface="+mn-ea"/>
                <a:ea typeface="+mn-ea"/>
              </a:rPr>
              <a:t>2, </a:t>
            </a:r>
            <a:r>
              <a:rPr lang="ko-KR" altLang="en-US" sz="2100" dirty="0" smtClean="0">
                <a:latin typeface="+mn-ea"/>
                <a:ea typeface="+mn-ea"/>
              </a:rPr>
              <a:t>영 </a:t>
            </a:r>
            <a:r>
              <a:rPr lang="en-US" altLang="ko-KR" sz="2100" dirty="0" smtClean="0">
                <a:latin typeface="+mn-ea"/>
                <a:ea typeface="+mn-ea"/>
              </a:rPr>
              <a:t>5</a:t>
            </a:r>
            <a:r>
              <a:rPr lang="ko-KR" altLang="en-US" sz="2100" dirty="0" smtClean="0">
                <a:latin typeface="+mn-ea"/>
                <a:ea typeface="+mn-ea"/>
              </a:rPr>
              <a:t>조의</a:t>
            </a:r>
            <a:r>
              <a:rPr lang="en-US" altLang="ko-KR" sz="2100" dirty="0" smtClean="0">
                <a:latin typeface="+mn-ea"/>
                <a:ea typeface="+mn-ea"/>
              </a:rPr>
              <a:t>2)</a:t>
            </a:r>
            <a:endParaRPr lang="en-US" altLang="ko-KR" sz="2100" dirty="0">
              <a:latin typeface="+mn-ea"/>
              <a:ea typeface="+mn-ea"/>
            </a:endParaRPr>
          </a:p>
          <a:p>
            <a:pPr eaLnBrk="0" latinLnBrk="0" hangingPunct="0">
              <a:defRPr/>
            </a:pPr>
            <a:r>
              <a:rPr lang="en-US" altLang="ko-KR" sz="2100" dirty="0">
                <a:latin typeface="+mn-ea"/>
                <a:ea typeface="+mn-ea"/>
              </a:rPr>
              <a:t>  </a:t>
            </a:r>
          </a:p>
          <a:p>
            <a:pPr eaLnBrk="0" latinLnBrk="0" hangingPunct="0">
              <a:defRPr/>
            </a:pPr>
            <a:r>
              <a:rPr lang="ko-KR" altLang="en-US" sz="2100" dirty="0" smtClean="0">
                <a:latin typeface="+mn-ea"/>
                <a:ea typeface="+mn-ea"/>
              </a:rPr>
              <a:t>대상정보 </a:t>
            </a:r>
            <a:r>
              <a:rPr lang="en-US" altLang="ko-KR" sz="2100" dirty="0">
                <a:latin typeface="+mn-ea"/>
                <a:ea typeface="+mn-ea"/>
              </a:rPr>
              <a:t>: </a:t>
            </a:r>
            <a:r>
              <a:rPr lang="ko-KR" altLang="en-US" sz="2100" dirty="0" smtClean="0">
                <a:latin typeface="+mn-ea"/>
                <a:ea typeface="+mn-ea"/>
              </a:rPr>
              <a:t>전자결재문서</a:t>
            </a:r>
            <a:r>
              <a:rPr lang="en-US" altLang="ko-KR" sz="2100" dirty="0" smtClean="0">
                <a:latin typeface="+mn-ea"/>
                <a:ea typeface="+mn-ea"/>
              </a:rPr>
              <a:t>(</a:t>
            </a:r>
            <a:r>
              <a:rPr lang="ko-KR" altLang="en-US" sz="2100" dirty="0" err="1" smtClean="0">
                <a:latin typeface="+mn-ea"/>
                <a:ea typeface="+mn-ea"/>
              </a:rPr>
              <a:t>기안문</a:t>
            </a:r>
            <a:r>
              <a:rPr lang="en-US" altLang="ko-KR" sz="2100" dirty="0" smtClean="0">
                <a:latin typeface="+mn-ea"/>
                <a:ea typeface="+mn-ea"/>
              </a:rPr>
              <a:t>, </a:t>
            </a:r>
            <a:r>
              <a:rPr lang="ko-KR" altLang="en-US" sz="2100" dirty="0" smtClean="0">
                <a:latin typeface="+mn-ea"/>
                <a:ea typeface="+mn-ea"/>
              </a:rPr>
              <a:t>간이서식 등</a:t>
            </a:r>
            <a:r>
              <a:rPr lang="en-US" altLang="ko-KR" sz="2100" dirty="0" smtClean="0">
                <a:latin typeface="+mn-ea"/>
                <a:ea typeface="+mn-ea"/>
              </a:rPr>
              <a:t>), </a:t>
            </a:r>
            <a:r>
              <a:rPr lang="ko-KR" altLang="en-US" sz="2100" dirty="0" smtClean="0">
                <a:latin typeface="+mn-ea"/>
                <a:ea typeface="+mn-ea"/>
              </a:rPr>
              <a:t>등록문서</a:t>
            </a:r>
            <a:r>
              <a:rPr lang="en-US" altLang="ko-KR" sz="2100" dirty="0" smtClean="0">
                <a:latin typeface="+mn-ea"/>
                <a:ea typeface="+mn-ea"/>
              </a:rPr>
              <a:t>(</a:t>
            </a:r>
            <a:r>
              <a:rPr lang="ko-KR" altLang="en-US" sz="2100" dirty="0" smtClean="0">
                <a:latin typeface="+mn-ea"/>
                <a:ea typeface="+mn-ea"/>
              </a:rPr>
              <a:t>수기결재 등</a:t>
            </a:r>
            <a:r>
              <a:rPr lang="en-US" altLang="ko-KR" sz="2100" dirty="0" smtClean="0">
                <a:latin typeface="+mn-ea"/>
                <a:ea typeface="+mn-ea"/>
              </a:rPr>
              <a:t>)</a:t>
            </a:r>
            <a:br>
              <a:rPr lang="en-US" altLang="ko-KR" sz="2100" dirty="0" smtClean="0">
                <a:latin typeface="+mn-ea"/>
                <a:ea typeface="+mn-ea"/>
              </a:rPr>
            </a:br>
            <a:r>
              <a:rPr lang="en-US" altLang="ko-KR" sz="2100" dirty="0" smtClean="0">
                <a:latin typeface="+mn-ea"/>
                <a:ea typeface="+mn-ea"/>
              </a:rPr>
              <a:t>              </a:t>
            </a:r>
            <a:r>
              <a:rPr lang="en-US" altLang="ko-KR" dirty="0" smtClean="0">
                <a:solidFill>
                  <a:srgbClr val="0000CC"/>
                </a:solidFill>
                <a:latin typeface="+mn-ea"/>
                <a:ea typeface="+mn-ea"/>
              </a:rPr>
              <a:t>* </a:t>
            </a:r>
            <a:r>
              <a:rPr lang="ko-KR" altLang="en-US" dirty="0" smtClean="0">
                <a:solidFill>
                  <a:srgbClr val="0000CC"/>
                </a:solidFill>
                <a:latin typeface="+mn-ea"/>
                <a:ea typeface="+mn-ea"/>
              </a:rPr>
              <a:t>접수문서 제외</a:t>
            </a:r>
            <a:endParaRPr lang="ko-KR" altLang="en-US" dirty="0">
              <a:solidFill>
                <a:srgbClr val="0000CC"/>
              </a:solidFill>
              <a:latin typeface="+mn-ea"/>
              <a:ea typeface="+mn-ea"/>
            </a:endParaRPr>
          </a:p>
          <a:p>
            <a:pPr eaLnBrk="0" latinLnBrk="0" hangingPunct="0">
              <a:defRPr/>
            </a:pPr>
            <a:r>
              <a:rPr lang="ko-KR" altLang="en-US" sz="2100" dirty="0">
                <a:latin typeface="+mn-ea"/>
                <a:ea typeface="+mn-ea"/>
              </a:rPr>
              <a:t>  </a:t>
            </a:r>
          </a:p>
          <a:p>
            <a:pPr eaLnBrk="0" latinLnBrk="0" hangingPunct="0">
              <a:defRPr/>
            </a:pPr>
            <a:r>
              <a:rPr lang="ko-KR" altLang="en-US" sz="2100" dirty="0" smtClean="0">
                <a:latin typeface="+mn-ea"/>
                <a:ea typeface="+mn-ea"/>
              </a:rPr>
              <a:t>적용시기 </a:t>
            </a:r>
            <a:r>
              <a:rPr lang="en-US" altLang="ko-KR" sz="2100" dirty="0" smtClean="0">
                <a:latin typeface="+mn-ea"/>
                <a:ea typeface="+mn-ea"/>
              </a:rPr>
              <a:t>: </a:t>
            </a:r>
            <a:r>
              <a:rPr lang="ko-KR" altLang="en-US" sz="2100" dirty="0" smtClean="0">
                <a:latin typeface="+mn-ea"/>
                <a:ea typeface="+mn-ea"/>
              </a:rPr>
              <a:t>원문공개 시행 이후 생산문서 </a:t>
            </a:r>
            <a:r>
              <a:rPr lang="en-US" altLang="ko-KR" sz="2100" dirty="0" smtClean="0">
                <a:latin typeface="+mn-ea"/>
                <a:ea typeface="+mn-ea"/>
              </a:rPr>
              <a:t>(</a:t>
            </a:r>
            <a:r>
              <a:rPr lang="ko-KR" altLang="en-US" sz="2100" dirty="0" smtClean="0">
                <a:latin typeface="+mn-ea"/>
                <a:ea typeface="+mn-ea"/>
              </a:rPr>
              <a:t>예시 </a:t>
            </a:r>
            <a:r>
              <a:rPr lang="en-US" altLang="ko-KR" sz="2100" dirty="0" smtClean="0">
                <a:latin typeface="+mn-ea"/>
                <a:ea typeface="+mn-ea"/>
              </a:rPr>
              <a:t>: 2016.3.1 </a:t>
            </a:r>
            <a:r>
              <a:rPr lang="ko-KR" altLang="en-US" sz="2100" dirty="0" smtClean="0">
                <a:latin typeface="+mn-ea"/>
                <a:ea typeface="+mn-ea"/>
              </a:rPr>
              <a:t>시행 이후 문서</a:t>
            </a:r>
            <a:r>
              <a:rPr lang="en-US" altLang="ko-KR" sz="2100" dirty="0" smtClean="0">
                <a:latin typeface="+mn-ea"/>
                <a:ea typeface="+mn-ea"/>
              </a:rPr>
              <a:t>)</a:t>
            </a:r>
          </a:p>
          <a:p>
            <a:pPr eaLnBrk="0" latinLnBrk="0" hangingPunct="0">
              <a:defRPr/>
            </a:pPr>
            <a:endParaRPr lang="en-US" altLang="ko-KR" sz="2100" dirty="0" smtClean="0">
              <a:latin typeface="+mn-ea"/>
              <a:ea typeface="+mn-ea"/>
            </a:endParaRPr>
          </a:p>
          <a:p>
            <a:pPr eaLnBrk="0" latinLnBrk="0" hangingPunct="0">
              <a:defRPr/>
            </a:pPr>
            <a:r>
              <a:rPr lang="ko-KR" altLang="en-US" sz="2100" dirty="0" smtClean="0">
                <a:latin typeface="+mn-ea"/>
                <a:ea typeface="+mn-ea"/>
              </a:rPr>
              <a:t>서비스 내용</a:t>
            </a:r>
            <a:endParaRPr lang="en-US" altLang="ko-KR" sz="2100" dirty="0" smtClean="0">
              <a:latin typeface="+mn-ea"/>
              <a:ea typeface="+mn-ea"/>
            </a:endParaRPr>
          </a:p>
          <a:p>
            <a:pPr eaLnBrk="0" latinLnBrk="0" hangingPunct="0">
              <a:defRPr/>
            </a:pPr>
            <a:r>
              <a:rPr lang="en-US" altLang="ko-KR" sz="2100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- </a:t>
            </a:r>
            <a:r>
              <a:rPr lang="ko-KR" altLang="en-US" dirty="0" smtClean="0">
                <a:latin typeface="+mn-ea"/>
                <a:ea typeface="+mn-ea"/>
              </a:rPr>
              <a:t>정보목록 검색서비스</a:t>
            </a:r>
            <a:r>
              <a:rPr lang="en-US" altLang="ko-KR" dirty="0" smtClean="0">
                <a:latin typeface="+mn-ea"/>
                <a:ea typeface="+mn-ea"/>
              </a:rPr>
              <a:t>(1</a:t>
            </a:r>
            <a:r>
              <a:rPr lang="ko-KR" altLang="en-US" dirty="0" err="1" smtClean="0">
                <a:latin typeface="+mn-ea"/>
                <a:ea typeface="+mn-ea"/>
              </a:rPr>
              <a:t>일단위</a:t>
            </a:r>
            <a:r>
              <a:rPr lang="en-US" altLang="ko-KR" dirty="0" smtClean="0">
                <a:latin typeface="+mn-ea"/>
                <a:ea typeface="+mn-ea"/>
              </a:rPr>
              <a:t>)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: </a:t>
            </a:r>
            <a:r>
              <a:rPr lang="ko-KR" altLang="en-US" dirty="0" smtClean="0">
                <a:latin typeface="+mn-ea"/>
                <a:ea typeface="+mn-ea"/>
              </a:rPr>
              <a:t>공개</a:t>
            </a:r>
            <a:r>
              <a:rPr lang="en-US" altLang="ko-KR" dirty="0" smtClean="0">
                <a:latin typeface="+mn-ea"/>
                <a:ea typeface="+mn-ea"/>
              </a:rPr>
              <a:t>/</a:t>
            </a:r>
            <a:r>
              <a:rPr lang="ko-KR" altLang="en-US" dirty="0" smtClean="0">
                <a:latin typeface="+mn-ea"/>
                <a:ea typeface="+mn-ea"/>
              </a:rPr>
              <a:t>비공개</a:t>
            </a:r>
            <a:r>
              <a:rPr lang="en-US" altLang="ko-KR" dirty="0" smtClean="0">
                <a:latin typeface="+mn-ea"/>
                <a:ea typeface="+mn-ea"/>
              </a:rPr>
              <a:t>/</a:t>
            </a:r>
            <a:r>
              <a:rPr lang="ko-KR" altLang="en-US" dirty="0" smtClean="0">
                <a:latin typeface="+mn-ea"/>
                <a:ea typeface="+mn-ea"/>
              </a:rPr>
              <a:t>부분공개 문서</a:t>
            </a:r>
            <a:endParaRPr lang="en-US" altLang="ko-KR" dirty="0" smtClean="0">
              <a:latin typeface="+mn-ea"/>
              <a:ea typeface="+mn-ea"/>
            </a:endParaRPr>
          </a:p>
          <a:p>
            <a:pPr eaLnBrk="0" latinLnBrk="0" hangingPunct="0">
              <a:defRPr/>
            </a:pPr>
            <a:r>
              <a:rPr lang="en-US" altLang="ko-KR" dirty="0" smtClean="0">
                <a:latin typeface="+mn-ea"/>
                <a:ea typeface="+mn-ea"/>
              </a:rPr>
              <a:t> - </a:t>
            </a:r>
            <a:r>
              <a:rPr lang="ko-KR" altLang="en-US" dirty="0" smtClean="0">
                <a:latin typeface="+mn-ea"/>
                <a:ea typeface="+mn-ea"/>
              </a:rPr>
              <a:t>원문조회서비스</a:t>
            </a:r>
            <a:r>
              <a:rPr lang="en-US" altLang="ko-KR" dirty="0" smtClean="0">
                <a:latin typeface="+mn-ea"/>
                <a:ea typeface="+mn-ea"/>
              </a:rPr>
              <a:t>(</a:t>
            </a:r>
            <a:r>
              <a:rPr lang="ko-KR" altLang="en-US" dirty="0" smtClean="0">
                <a:latin typeface="+mn-ea"/>
                <a:ea typeface="+mn-ea"/>
              </a:rPr>
              <a:t>실시간</a:t>
            </a:r>
            <a:r>
              <a:rPr lang="en-US" altLang="ko-KR" dirty="0" smtClean="0">
                <a:latin typeface="+mn-ea"/>
                <a:ea typeface="+mn-ea"/>
              </a:rPr>
              <a:t>) : </a:t>
            </a:r>
            <a:r>
              <a:rPr lang="ko-KR" altLang="en-US" dirty="0" smtClean="0">
                <a:latin typeface="+mn-ea"/>
                <a:ea typeface="+mn-ea"/>
              </a:rPr>
              <a:t>공개</a:t>
            </a:r>
            <a:r>
              <a:rPr lang="en-US" altLang="ko-KR" dirty="0" smtClean="0">
                <a:latin typeface="+mn-ea"/>
                <a:ea typeface="+mn-ea"/>
              </a:rPr>
              <a:t>(</a:t>
            </a:r>
            <a:r>
              <a:rPr lang="ko-KR" altLang="en-US" dirty="0" smtClean="0">
                <a:latin typeface="+mn-ea"/>
                <a:ea typeface="+mn-ea"/>
              </a:rPr>
              <a:t>부분공개</a:t>
            </a:r>
            <a:r>
              <a:rPr lang="en-US" altLang="ko-KR" dirty="0" smtClean="0">
                <a:latin typeface="+mn-ea"/>
                <a:ea typeface="+mn-ea"/>
              </a:rPr>
              <a:t>)</a:t>
            </a:r>
            <a:r>
              <a:rPr lang="ko-KR" altLang="en-US" dirty="0" smtClean="0">
                <a:latin typeface="+mn-ea"/>
                <a:ea typeface="+mn-ea"/>
              </a:rPr>
              <a:t>문서</a:t>
            </a:r>
            <a:endParaRPr lang="en-US" altLang="ko-KR" dirty="0" smtClean="0">
              <a:latin typeface="+mn-ea"/>
              <a:ea typeface="+mn-ea"/>
            </a:endParaRPr>
          </a:p>
          <a:p>
            <a:pPr eaLnBrk="0" latinLnBrk="0" hangingPunct="0">
              <a:defRPr/>
            </a:pPr>
            <a:r>
              <a:rPr lang="en-US" altLang="ko-KR" dirty="0" smtClean="0">
                <a:latin typeface="+mn-ea"/>
                <a:ea typeface="+mn-ea"/>
              </a:rPr>
              <a:t> - </a:t>
            </a:r>
            <a:r>
              <a:rPr lang="ko-KR" altLang="en-US" dirty="0" smtClean="0">
                <a:latin typeface="+mn-ea"/>
                <a:ea typeface="+mn-ea"/>
              </a:rPr>
              <a:t>기관별 정보목록 제공</a:t>
            </a:r>
            <a:r>
              <a:rPr lang="en-US" altLang="ko-KR" dirty="0" smtClean="0">
                <a:latin typeface="+mn-ea"/>
                <a:ea typeface="+mn-ea"/>
              </a:rPr>
              <a:t>(</a:t>
            </a:r>
            <a:r>
              <a:rPr lang="ko-KR" altLang="en-US" dirty="0" smtClean="0">
                <a:latin typeface="+mn-ea"/>
                <a:ea typeface="+mn-ea"/>
              </a:rPr>
              <a:t>기관 홈페이지</a:t>
            </a:r>
            <a:r>
              <a:rPr lang="en-US" altLang="ko-KR" dirty="0" smtClean="0">
                <a:latin typeface="+mn-ea"/>
                <a:ea typeface="+mn-ea"/>
              </a:rPr>
              <a:t>) : </a:t>
            </a:r>
            <a:r>
              <a:rPr lang="en-US" altLang="ko-KR" dirty="0" err="1" smtClean="0">
                <a:latin typeface="+mn-ea"/>
                <a:ea typeface="+mn-ea"/>
              </a:rPr>
              <a:t>iFrame</a:t>
            </a:r>
            <a:r>
              <a:rPr lang="en-US" altLang="ko-KR" dirty="0" smtClean="0">
                <a:latin typeface="+mn-ea"/>
                <a:ea typeface="+mn-ea"/>
              </a:rPr>
              <a:t>, API</a:t>
            </a:r>
            <a:r>
              <a:rPr lang="ko-KR" altLang="en-US" dirty="0" smtClean="0">
                <a:latin typeface="+mn-ea"/>
                <a:ea typeface="+mn-ea"/>
              </a:rPr>
              <a:t>방식</a:t>
            </a:r>
            <a:endParaRPr lang="en-US" altLang="ko-KR" dirty="0" smtClean="0">
              <a:latin typeface="+mn-ea"/>
              <a:ea typeface="+mn-ea"/>
            </a:endParaRPr>
          </a:p>
          <a:p>
            <a:pPr eaLnBrk="0" latinLnBrk="0" hangingPunct="0">
              <a:defRPr/>
            </a:pPr>
            <a:endParaRPr lang="en-US" altLang="ko-KR" sz="2100" dirty="0" smtClean="0">
              <a:latin typeface="+mn-ea"/>
              <a:ea typeface="+mn-ea"/>
            </a:endParaRPr>
          </a:p>
          <a:p>
            <a:pPr eaLnBrk="0" latinLnBrk="0" hangingPunct="0">
              <a:defRPr/>
            </a:pPr>
            <a:r>
              <a:rPr lang="ko-KR" altLang="en-US" sz="2100" dirty="0" smtClean="0">
                <a:latin typeface="+mn-ea"/>
                <a:ea typeface="+mn-ea"/>
              </a:rPr>
              <a:t>정보목록 및 원문 보유 시기 </a:t>
            </a:r>
            <a:r>
              <a:rPr lang="en-US" altLang="ko-KR" sz="2100" dirty="0" smtClean="0">
                <a:latin typeface="+mn-ea"/>
                <a:ea typeface="+mn-ea"/>
              </a:rPr>
              <a:t>: </a:t>
            </a:r>
            <a:r>
              <a:rPr lang="ko-KR" altLang="en-US" sz="2100" dirty="0" smtClean="0">
                <a:latin typeface="+mn-ea"/>
                <a:ea typeface="+mn-ea"/>
              </a:rPr>
              <a:t>문서보존 연한에 따라 보관</a:t>
            </a:r>
            <a:r>
              <a:rPr lang="en-US" altLang="ko-KR" sz="2100" dirty="0" smtClean="0">
                <a:latin typeface="+mn-ea"/>
                <a:ea typeface="+mn-ea"/>
              </a:rPr>
              <a:t>, </a:t>
            </a:r>
            <a:r>
              <a:rPr lang="ko-KR" altLang="en-US" sz="2100" dirty="0" smtClean="0">
                <a:latin typeface="+mn-ea"/>
                <a:ea typeface="+mn-ea"/>
              </a:rPr>
              <a:t>삭제</a:t>
            </a:r>
            <a:endParaRPr lang="en-US" altLang="ko-KR" sz="2100" dirty="0" smtClean="0">
              <a:latin typeface="+mn-ea"/>
              <a:ea typeface="+mn-ea"/>
            </a:endParaRPr>
          </a:p>
          <a:p>
            <a:pPr eaLnBrk="0" latinLnBrk="0" hangingPunct="0">
              <a:defRPr/>
            </a:pPr>
            <a:r>
              <a:rPr lang="en-US" altLang="ko-KR" dirty="0" smtClean="0">
                <a:solidFill>
                  <a:srgbClr val="0000CC"/>
                </a:solidFill>
                <a:latin typeface="+mn-ea"/>
                <a:ea typeface="+mn-ea"/>
              </a:rPr>
              <a:t>* </a:t>
            </a:r>
            <a:r>
              <a:rPr lang="ko-KR" altLang="en-US" dirty="0" smtClean="0">
                <a:solidFill>
                  <a:srgbClr val="0000CC"/>
                </a:solidFill>
                <a:latin typeface="+mn-ea"/>
                <a:ea typeface="+mn-ea"/>
              </a:rPr>
              <a:t>조회된 원문정보는 </a:t>
            </a:r>
            <a:r>
              <a:rPr lang="en-US" altLang="ko-KR" dirty="0" smtClean="0">
                <a:solidFill>
                  <a:srgbClr val="0000CC"/>
                </a:solidFill>
                <a:latin typeface="+mn-ea"/>
                <a:ea typeface="+mn-ea"/>
              </a:rPr>
              <a:t>‘</a:t>
            </a:r>
            <a:r>
              <a:rPr lang="ko-KR" altLang="en-US" dirty="0" smtClean="0">
                <a:solidFill>
                  <a:srgbClr val="0000CC"/>
                </a:solidFill>
                <a:latin typeface="+mn-ea"/>
                <a:ea typeface="+mn-ea"/>
              </a:rPr>
              <a:t>정보공개포탈</a:t>
            </a:r>
            <a:r>
              <a:rPr lang="en-US" altLang="ko-KR" dirty="0" smtClean="0">
                <a:solidFill>
                  <a:srgbClr val="0000CC"/>
                </a:solidFill>
                <a:latin typeface="+mn-ea"/>
                <a:ea typeface="+mn-ea"/>
              </a:rPr>
              <a:t>’</a:t>
            </a:r>
            <a:r>
              <a:rPr lang="ko-KR" altLang="en-US" dirty="0" smtClean="0">
                <a:solidFill>
                  <a:srgbClr val="0000CC"/>
                </a:solidFill>
                <a:latin typeface="+mn-ea"/>
                <a:ea typeface="+mn-ea"/>
              </a:rPr>
              <a:t>에 보관</a:t>
            </a:r>
            <a:endParaRPr lang="en-US" altLang="ko-KR" dirty="0" smtClean="0">
              <a:solidFill>
                <a:srgbClr val="0000CC"/>
              </a:solidFill>
              <a:latin typeface="+mn-ea"/>
              <a:ea typeface="+mn-ea"/>
            </a:endParaRPr>
          </a:p>
          <a:p>
            <a:pPr eaLnBrk="0" latinLnBrk="0" hangingPunct="0">
              <a:defRPr/>
            </a:pPr>
            <a:endParaRPr lang="en-US" altLang="ko-KR" dirty="0" smtClean="0">
              <a:solidFill>
                <a:srgbClr val="0000CC"/>
              </a:solidFill>
              <a:latin typeface="+mn-ea"/>
              <a:ea typeface="+mn-ea"/>
            </a:endParaRPr>
          </a:p>
          <a:p>
            <a:pPr lvl="0" eaLnBrk="0" latinLnBrk="0" hangingPunct="0">
              <a:defRPr/>
            </a:pPr>
            <a:r>
              <a:rPr lang="ko-KR" altLang="en-US" sz="2100" dirty="0" smtClean="0">
                <a:solidFill>
                  <a:prstClr val="black"/>
                </a:solidFill>
                <a:latin typeface="+mn-ea"/>
                <a:ea typeface="+mn-ea"/>
              </a:rPr>
              <a:t>연계 추진 시기 </a:t>
            </a:r>
            <a:r>
              <a:rPr lang="en-US" altLang="ko-KR" sz="2100" dirty="0" smtClean="0">
                <a:solidFill>
                  <a:prstClr val="black"/>
                </a:solidFill>
                <a:latin typeface="+mn-ea"/>
                <a:ea typeface="+mn-ea"/>
              </a:rPr>
              <a:t>: 2015. 4 ~ 12(</a:t>
            </a:r>
            <a:r>
              <a:rPr lang="ko-KR" altLang="en-US" sz="2100" dirty="0" smtClean="0">
                <a:solidFill>
                  <a:prstClr val="black"/>
                </a:solidFill>
                <a:latin typeface="+mn-ea"/>
                <a:ea typeface="+mn-ea"/>
              </a:rPr>
              <a:t>예정</a:t>
            </a:r>
            <a:r>
              <a:rPr lang="en-US" altLang="ko-KR" sz="2100" dirty="0" smtClean="0">
                <a:solidFill>
                  <a:prstClr val="black"/>
                </a:solidFill>
                <a:latin typeface="+mn-ea"/>
                <a:ea typeface="+mn-ea"/>
              </a:rPr>
              <a:t>)</a:t>
            </a:r>
          </a:p>
          <a:p>
            <a:pPr eaLnBrk="0" latinLnBrk="0" hangingPunct="0">
              <a:defRPr/>
            </a:pPr>
            <a:endParaRPr lang="en-US" altLang="ko-KR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pic>
        <p:nvPicPr>
          <p:cNvPr id="7" name="Picture 6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8634" y="1733739"/>
            <a:ext cx="310612" cy="293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8634" y="2364569"/>
            <a:ext cx="310612" cy="293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8634" y="3357009"/>
            <a:ext cx="310612" cy="293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8234" y="3999951"/>
            <a:ext cx="310612" cy="293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8234" y="5507841"/>
            <a:ext cx="310612" cy="293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8234" y="6357405"/>
            <a:ext cx="310612" cy="293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1.2 </a:t>
            </a:r>
            <a:r>
              <a:rPr lang="en-US" altLang="ko-KR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‘</a:t>
            </a: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16</a:t>
            </a:r>
            <a:r>
              <a:rPr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년도 </a:t>
            </a:r>
            <a:r>
              <a:rPr lang="ko-KR" altLang="en-US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원문정보 </a:t>
            </a:r>
            <a:r>
              <a:rPr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공개</a:t>
            </a:r>
            <a:endParaRPr lang="ko-KR" altLang="en-US" sz="2700" b="1" dirty="0">
              <a:solidFill>
                <a:srgbClr val="42414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 개요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047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모서리가 둥근 직사각형 86"/>
          <p:cNvSpPr/>
          <p:nvPr/>
        </p:nvSpPr>
        <p:spPr>
          <a:xfrm>
            <a:off x="414090" y="1296293"/>
            <a:ext cx="10023611" cy="5976664"/>
          </a:xfrm>
          <a:prstGeom prst="roundRect">
            <a:avLst>
              <a:gd name="adj" fmla="val 2096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228599" y="2270508"/>
            <a:ext cx="1039244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lang="ko-KR" altLang="ko-KR" sz="1000">
                <a:solidFill>
                  <a:srgbClr val="000000"/>
                </a:solidFill>
                <a:latin typeface="+mn-ea"/>
                <a:ea typeface="+mn-ea"/>
              </a:rPr>
              <a:t>  </a:t>
            </a:r>
            <a:endParaRPr lang="ko-KR" altLang="ko-KR">
              <a:latin typeface="+mn-ea"/>
              <a:ea typeface="+mn-ea"/>
            </a:endParaRPr>
          </a:p>
        </p:txBody>
      </p:sp>
      <p:sp>
        <p:nvSpPr>
          <p:cNvPr id="44" name="직사각형 63"/>
          <p:cNvSpPr>
            <a:spLocks noChangeArrowheads="1"/>
          </p:cNvSpPr>
          <p:nvPr/>
        </p:nvSpPr>
        <p:spPr bwMode="auto">
          <a:xfrm>
            <a:off x="7474733" y="1930698"/>
            <a:ext cx="2700622" cy="5011809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8EB4DA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endParaRPr kumimoji="0" lang="ko-KR" altLang="en-US" sz="1400" b="1">
              <a:latin typeface="+mn-ea"/>
              <a:ea typeface="+mn-ea"/>
            </a:endParaRPr>
          </a:p>
        </p:txBody>
      </p:sp>
      <p:pic>
        <p:nvPicPr>
          <p:cNvPr id="45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15445" y="2494551"/>
            <a:ext cx="550988" cy="50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직사각형 113"/>
          <p:cNvSpPr>
            <a:spLocks noChangeArrowheads="1"/>
          </p:cNvSpPr>
          <p:nvPr/>
        </p:nvSpPr>
        <p:spPr bwMode="auto">
          <a:xfrm>
            <a:off x="7518710" y="2947918"/>
            <a:ext cx="2227236" cy="30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>
                <a:solidFill>
                  <a:srgbClr val="000000"/>
                </a:solidFill>
                <a:latin typeface="+mn-ea"/>
                <a:ea typeface="+mn-ea"/>
              </a:rPr>
              <a:t>연계 시스템</a:t>
            </a:r>
            <a:endParaRPr lang="en-US" altLang="ko-KR" sz="1400" b="1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47" name="그룹 66"/>
          <p:cNvGrpSpPr>
            <a:grpSpLocks/>
          </p:cNvGrpSpPr>
          <p:nvPr/>
        </p:nvGrpSpPr>
        <p:grpSpPr bwMode="auto">
          <a:xfrm>
            <a:off x="7601487" y="3746075"/>
            <a:ext cx="2061681" cy="636239"/>
            <a:chOff x="1878615" y="4847195"/>
            <a:chExt cx="1338417" cy="686717"/>
          </a:xfrm>
        </p:grpSpPr>
        <p:pic>
          <p:nvPicPr>
            <p:cNvPr id="85" name="Picture 59" descr="DB"/>
            <p:cNvPicPr preferRelativeResize="0"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78615" y="4847195"/>
              <a:ext cx="1338417" cy="6867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6" name="직사각형 85"/>
            <p:cNvSpPr/>
            <p:nvPr/>
          </p:nvSpPr>
          <p:spPr>
            <a:xfrm>
              <a:off x="1921640" y="4883785"/>
              <a:ext cx="1252364" cy="564732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>
                <a:defRPr/>
              </a:pPr>
              <a:r>
                <a:rPr lang="ko-KR" altLang="en-US" sz="1400" b="1" kern="0" dirty="0">
                  <a:latin typeface="+mn-ea"/>
                  <a:ea typeface="+mn-ea"/>
                </a:rPr>
                <a:t>정보목록</a:t>
              </a:r>
              <a:r>
                <a:rPr lang="en-US" altLang="ko-KR" sz="1400" b="1" kern="0" dirty="0">
                  <a:latin typeface="+mn-ea"/>
                  <a:ea typeface="+mn-ea"/>
                </a:rPr>
                <a:t>/</a:t>
              </a:r>
              <a:r>
                <a:rPr lang="ko-KR" altLang="en-US" sz="1400" b="1" kern="0" dirty="0">
                  <a:latin typeface="+mn-ea"/>
                  <a:ea typeface="+mn-ea"/>
                </a:rPr>
                <a:t>원문</a:t>
              </a:r>
              <a:endParaRPr lang="en-US" altLang="ko-KR" sz="1400" b="1" kern="0" dirty="0">
                <a:latin typeface="+mn-ea"/>
                <a:ea typeface="+mn-ea"/>
              </a:endParaRPr>
            </a:p>
            <a:p>
              <a:pPr algn="ctr">
                <a:defRPr/>
              </a:pPr>
              <a:r>
                <a:rPr lang="ko-KR" altLang="en-US" sz="1400" b="1" kern="0" dirty="0">
                  <a:latin typeface="+mn-ea"/>
                  <a:ea typeface="+mn-ea"/>
                </a:rPr>
                <a:t>통합 </a:t>
              </a:r>
              <a:r>
                <a:rPr lang="en-US" altLang="ko-KR" sz="1400" b="1" kern="0" dirty="0">
                  <a:latin typeface="+mn-ea"/>
                  <a:ea typeface="+mn-ea"/>
                </a:rPr>
                <a:t>DB</a:t>
              </a:r>
              <a:endParaRPr lang="ko-KR" altLang="en-US" sz="1400" b="1" kern="0" dirty="0">
                <a:latin typeface="+mn-ea"/>
                <a:ea typeface="+mn-ea"/>
              </a:endParaRPr>
            </a:p>
          </p:txBody>
        </p:sp>
      </p:grpSp>
      <p:sp>
        <p:nvSpPr>
          <p:cNvPr id="48" name="직사각형 130"/>
          <p:cNvSpPr>
            <a:spLocks noChangeArrowheads="1"/>
          </p:cNvSpPr>
          <p:nvPr/>
        </p:nvSpPr>
        <p:spPr bwMode="auto">
          <a:xfrm>
            <a:off x="4189494" y="1930698"/>
            <a:ext cx="2700622" cy="5011809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8EB4DA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endParaRPr kumimoji="0" lang="ko-KR" altLang="en-US" sz="1400" b="1">
              <a:latin typeface="+mn-ea"/>
              <a:ea typeface="+mn-ea"/>
            </a:endParaRPr>
          </a:p>
        </p:txBody>
      </p:sp>
      <p:pic>
        <p:nvPicPr>
          <p:cNvPr id="49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06108" y="2224054"/>
            <a:ext cx="550988" cy="50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직사각형 100"/>
          <p:cNvSpPr>
            <a:spLocks noChangeArrowheads="1"/>
          </p:cNvSpPr>
          <p:nvPr/>
        </p:nvSpPr>
        <p:spPr bwMode="auto">
          <a:xfrm>
            <a:off x="4776699" y="2732664"/>
            <a:ext cx="1836630" cy="30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0000"/>
                </a:solidFill>
                <a:latin typeface="+mn-ea"/>
                <a:ea typeface="+mn-ea"/>
              </a:rPr>
              <a:t>온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  <a:ea typeface="+mn-ea"/>
              </a:rPr>
              <a:t>-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  <a:ea typeface="+mn-ea"/>
              </a:rPr>
              <a:t>나라 중계 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시스템</a:t>
            </a:r>
            <a:endParaRPr lang="en-US" altLang="ko-KR" sz="1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1" name="직사각형 107"/>
          <p:cNvSpPr>
            <a:spLocks noChangeArrowheads="1"/>
          </p:cNvSpPr>
          <p:nvPr/>
        </p:nvSpPr>
        <p:spPr bwMode="auto">
          <a:xfrm>
            <a:off x="4398847" y="4350882"/>
            <a:ext cx="232255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>
                <a:solidFill>
                  <a:srgbClr val="000000"/>
                </a:solidFill>
                <a:latin typeface="+mn-ea"/>
                <a:ea typeface="+mn-ea"/>
              </a:rPr>
              <a:t>행정정보</a:t>
            </a:r>
            <a:endParaRPr lang="en-US" altLang="ko-KR" sz="1400" b="1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1400" b="1">
                <a:solidFill>
                  <a:srgbClr val="000000"/>
                </a:solidFill>
                <a:latin typeface="+mn-ea"/>
                <a:ea typeface="+mn-ea"/>
              </a:rPr>
              <a:t>공동이용센터</a:t>
            </a:r>
          </a:p>
        </p:txBody>
      </p:sp>
      <p:pic>
        <p:nvPicPr>
          <p:cNvPr id="52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06108" y="3694641"/>
            <a:ext cx="550988" cy="50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3" name="꺾인 연결선 122"/>
          <p:cNvCxnSpPr>
            <a:cxnSpLocks noChangeShapeType="1"/>
          </p:cNvCxnSpPr>
          <p:nvPr/>
        </p:nvCxnSpPr>
        <p:spPr bwMode="auto">
          <a:xfrm flipV="1">
            <a:off x="5757097" y="2747904"/>
            <a:ext cx="2558348" cy="120009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cxnSp>
        <p:nvCxnSpPr>
          <p:cNvPr id="54" name="꺾인 연결선 120"/>
          <p:cNvCxnSpPr>
            <a:cxnSpLocks noChangeShapeType="1"/>
          </p:cNvCxnSpPr>
          <p:nvPr/>
        </p:nvCxnSpPr>
        <p:spPr bwMode="auto">
          <a:xfrm>
            <a:off x="5757097" y="2477407"/>
            <a:ext cx="2558348" cy="27049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sp>
        <p:nvSpPr>
          <p:cNvPr id="55" name="직사각형 132"/>
          <p:cNvSpPr>
            <a:spLocks noChangeArrowheads="1"/>
          </p:cNvSpPr>
          <p:nvPr/>
        </p:nvSpPr>
        <p:spPr bwMode="auto">
          <a:xfrm>
            <a:off x="728353" y="1930698"/>
            <a:ext cx="2700622" cy="5011809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8EB4DA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endParaRPr kumimoji="0" lang="ko-KR" altLang="en-US" sz="1400" b="1">
              <a:latin typeface="+mn-ea"/>
              <a:ea typeface="+mn-ea"/>
            </a:endParaRPr>
          </a:p>
        </p:txBody>
      </p:sp>
      <p:pic>
        <p:nvPicPr>
          <p:cNvPr id="56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5469" y="2224054"/>
            <a:ext cx="550990" cy="50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직사각형 1"/>
          <p:cNvSpPr>
            <a:spLocks noChangeArrowheads="1"/>
          </p:cNvSpPr>
          <p:nvPr/>
        </p:nvSpPr>
        <p:spPr bwMode="auto">
          <a:xfrm>
            <a:off x="904255" y="2656468"/>
            <a:ext cx="22298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0000"/>
                </a:solidFill>
                <a:latin typeface="+mn-ea"/>
                <a:ea typeface="+mn-ea"/>
              </a:rPr>
              <a:t>온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  <a:ea typeface="+mn-ea"/>
              </a:rPr>
              <a:t>-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  <a:ea typeface="+mn-ea"/>
              </a:rPr>
              <a:t>나라시스템 </a:t>
            </a:r>
            <a:endParaRPr lang="en-US" altLang="ko-KR" sz="1400" b="1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endParaRPr lang="en-US" altLang="ko-KR" sz="1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58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793" y="3521296"/>
            <a:ext cx="550988" cy="50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793" y="4818536"/>
            <a:ext cx="550988" cy="50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" name="직사각형 105"/>
          <p:cNvSpPr>
            <a:spLocks noChangeArrowheads="1"/>
          </p:cNvSpPr>
          <p:nvPr/>
        </p:nvSpPr>
        <p:spPr bwMode="auto">
          <a:xfrm>
            <a:off x="552450" y="3953710"/>
            <a:ext cx="3052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 dirty="0" err="1">
                <a:solidFill>
                  <a:srgbClr val="000000"/>
                </a:solidFill>
                <a:latin typeface="+mn-ea"/>
                <a:ea typeface="+mn-ea"/>
              </a:rPr>
              <a:t>시군구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  <a:ea typeface="+mn-ea"/>
              </a:rPr>
              <a:t> 전자결재시스템</a:t>
            </a:r>
            <a:endParaRPr lang="en-US" altLang="ko-KR" sz="14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endParaRPr lang="en-US" altLang="ko-KR" sz="1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1" name="직사각형 106"/>
          <p:cNvSpPr>
            <a:spLocks noChangeArrowheads="1"/>
          </p:cNvSpPr>
          <p:nvPr/>
        </p:nvSpPr>
        <p:spPr bwMode="auto">
          <a:xfrm>
            <a:off x="739742" y="5249045"/>
            <a:ext cx="27006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공공기관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전자결재시스템</a:t>
            </a:r>
            <a:endParaRPr lang="en-US" altLang="ko-KR" sz="14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lang="en-US" altLang="ko-KR" sz="1400" b="1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16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년 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lang="ko-KR" altLang="en-US" sz="1400" b="1" dirty="0">
                <a:solidFill>
                  <a:srgbClr val="000000"/>
                </a:solidFill>
                <a:latin typeface="+mn-ea"/>
                <a:ea typeface="+mn-ea"/>
              </a:rPr>
              <a:t>월</a:t>
            </a:r>
            <a:r>
              <a:rPr lang="en-US" altLang="ko-KR" sz="1400" b="1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ko-KR" altLang="en-US" sz="1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7475336" y="1585911"/>
            <a:ext cx="2699150" cy="3447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8EB4DA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kumimoji="0" lang="ko-KR" altLang="en-US" sz="1400" b="1" dirty="0">
                <a:latin typeface="+mn-ea"/>
                <a:ea typeface="+mn-ea"/>
              </a:rPr>
              <a:t>원문정보공개시스템</a:t>
            </a:r>
          </a:p>
        </p:txBody>
      </p:sp>
      <p:sp>
        <p:nvSpPr>
          <p:cNvPr id="63" name="직사각형 62"/>
          <p:cNvSpPr/>
          <p:nvPr/>
        </p:nvSpPr>
        <p:spPr bwMode="auto">
          <a:xfrm>
            <a:off x="4189807" y="1585911"/>
            <a:ext cx="2700954" cy="3447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8EB4DA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kumimoji="0" lang="ko-KR" altLang="en-US" sz="1400" b="1" dirty="0">
                <a:latin typeface="+mn-ea"/>
                <a:ea typeface="+mn-ea"/>
              </a:rPr>
              <a:t>중계 시스템</a:t>
            </a:r>
          </a:p>
        </p:txBody>
      </p:sp>
      <p:sp>
        <p:nvSpPr>
          <p:cNvPr id="64" name="직사각형 63"/>
          <p:cNvSpPr/>
          <p:nvPr/>
        </p:nvSpPr>
        <p:spPr bwMode="auto">
          <a:xfrm>
            <a:off x="727463" y="1585911"/>
            <a:ext cx="2700954" cy="3447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8EB4DA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kumimoji="0" lang="ko-KR" altLang="en-US" sz="1400" b="1" dirty="0">
                <a:latin typeface="+mn-ea"/>
                <a:ea typeface="+mn-ea"/>
              </a:rPr>
              <a:t>기관 전자문서시스템</a:t>
            </a:r>
          </a:p>
        </p:txBody>
      </p:sp>
      <p:cxnSp>
        <p:nvCxnSpPr>
          <p:cNvPr id="68" name="꺾인 연결선 114"/>
          <p:cNvCxnSpPr>
            <a:cxnSpLocks noChangeShapeType="1"/>
          </p:cNvCxnSpPr>
          <p:nvPr/>
        </p:nvCxnSpPr>
        <p:spPr bwMode="auto">
          <a:xfrm>
            <a:off x="2290781" y="3774648"/>
            <a:ext cx="2915327" cy="17334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cxnSp>
        <p:nvCxnSpPr>
          <p:cNvPr id="69" name="직선 화살표 연결선 65"/>
          <p:cNvCxnSpPr>
            <a:cxnSpLocks noChangeShapeType="1"/>
          </p:cNvCxnSpPr>
          <p:nvPr/>
        </p:nvCxnSpPr>
        <p:spPr bwMode="auto">
          <a:xfrm>
            <a:off x="2236459" y="2477407"/>
            <a:ext cx="2969649" cy="0"/>
          </a:xfrm>
          <a:prstGeom prst="straightConnector1">
            <a:avLst/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cxnSp>
        <p:nvCxnSpPr>
          <p:cNvPr id="70" name="꺾인 연결선 116"/>
          <p:cNvCxnSpPr>
            <a:cxnSpLocks noChangeShapeType="1"/>
          </p:cNvCxnSpPr>
          <p:nvPr/>
        </p:nvCxnSpPr>
        <p:spPr bwMode="auto">
          <a:xfrm flipV="1">
            <a:off x="2290781" y="3947995"/>
            <a:ext cx="2915327" cy="112389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cxnSp>
        <p:nvCxnSpPr>
          <p:cNvPr id="71" name="직선 화살표 연결선 71"/>
          <p:cNvCxnSpPr>
            <a:cxnSpLocks noChangeShapeType="1"/>
            <a:stCxn id="46" idx="2"/>
          </p:cNvCxnSpPr>
          <p:nvPr/>
        </p:nvCxnSpPr>
        <p:spPr bwMode="auto">
          <a:xfrm>
            <a:off x="8632329" y="3255694"/>
            <a:ext cx="2" cy="490380"/>
          </a:xfrm>
          <a:prstGeom prst="straightConnector1">
            <a:avLst/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sp>
        <p:nvSpPr>
          <p:cNvPr id="72" name="직사각형 72"/>
          <p:cNvSpPr>
            <a:spLocks noChangeArrowheads="1"/>
          </p:cNvSpPr>
          <p:nvPr/>
        </p:nvSpPr>
        <p:spPr bwMode="auto">
          <a:xfrm>
            <a:off x="2633396" y="2163097"/>
            <a:ext cx="2230097" cy="30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400" b="1">
                <a:solidFill>
                  <a:schemeClr val="accent2"/>
                </a:solidFill>
                <a:latin typeface="+mn-ea"/>
                <a:ea typeface="+mn-ea"/>
              </a:rPr>
              <a:t>① 정보목록 추출 및 전송</a:t>
            </a:r>
          </a:p>
        </p:txBody>
      </p:sp>
      <p:sp>
        <p:nvSpPr>
          <p:cNvPr id="73" name="직사각형 140"/>
          <p:cNvSpPr>
            <a:spLocks noChangeArrowheads="1"/>
          </p:cNvSpPr>
          <p:nvPr/>
        </p:nvSpPr>
        <p:spPr bwMode="auto">
          <a:xfrm>
            <a:off x="2633396" y="3460339"/>
            <a:ext cx="2230097" cy="30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400" b="1">
                <a:solidFill>
                  <a:srgbClr val="000000"/>
                </a:solidFill>
                <a:latin typeface="+mn-ea"/>
                <a:ea typeface="+mn-ea"/>
              </a:rPr>
              <a:t>① 정보목록 추출 및 전송</a:t>
            </a:r>
          </a:p>
        </p:txBody>
      </p:sp>
      <p:sp>
        <p:nvSpPr>
          <p:cNvPr id="74" name="직사각형 142"/>
          <p:cNvSpPr>
            <a:spLocks noChangeArrowheads="1"/>
          </p:cNvSpPr>
          <p:nvPr/>
        </p:nvSpPr>
        <p:spPr bwMode="auto">
          <a:xfrm>
            <a:off x="6126291" y="2180242"/>
            <a:ext cx="1566453" cy="30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400" b="1">
                <a:solidFill>
                  <a:schemeClr val="accent2"/>
                </a:solidFill>
                <a:latin typeface="+mn-ea"/>
                <a:ea typeface="+mn-ea"/>
              </a:rPr>
              <a:t>② 정보목록 전송</a:t>
            </a:r>
          </a:p>
        </p:txBody>
      </p:sp>
      <p:sp>
        <p:nvSpPr>
          <p:cNvPr id="75" name="직사각형 143"/>
          <p:cNvSpPr>
            <a:spLocks noChangeArrowheads="1"/>
          </p:cNvSpPr>
          <p:nvPr/>
        </p:nvSpPr>
        <p:spPr bwMode="auto">
          <a:xfrm>
            <a:off x="7962920" y="2182146"/>
            <a:ext cx="1566453" cy="30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400" b="1">
                <a:solidFill>
                  <a:schemeClr val="accent2"/>
                </a:solidFill>
                <a:latin typeface="+mn-ea"/>
                <a:ea typeface="+mn-ea"/>
              </a:rPr>
              <a:t>③ 정보목록 수신</a:t>
            </a:r>
          </a:p>
        </p:txBody>
      </p:sp>
      <p:sp>
        <p:nvSpPr>
          <p:cNvPr id="76" name="직사각형 144"/>
          <p:cNvSpPr>
            <a:spLocks noChangeArrowheads="1"/>
          </p:cNvSpPr>
          <p:nvPr/>
        </p:nvSpPr>
        <p:spPr bwMode="auto">
          <a:xfrm>
            <a:off x="8530149" y="3262228"/>
            <a:ext cx="15262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>
                <a:solidFill>
                  <a:schemeClr val="accent2"/>
                </a:solidFill>
                <a:latin typeface="+mn-ea"/>
                <a:ea typeface="+mn-ea"/>
              </a:rPr>
              <a:t>④ 정보목록 저장</a:t>
            </a:r>
          </a:p>
        </p:txBody>
      </p:sp>
      <p:pic>
        <p:nvPicPr>
          <p:cNvPr id="77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6834" y="4826156"/>
            <a:ext cx="550988" cy="50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직사각형 57"/>
          <p:cNvSpPr>
            <a:spLocks noChangeArrowheads="1"/>
          </p:cNvSpPr>
          <p:nvPr/>
        </p:nvSpPr>
        <p:spPr bwMode="auto">
          <a:xfrm>
            <a:off x="7518710" y="5279523"/>
            <a:ext cx="2227236" cy="30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>
                <a:solidFill>
                  <a:srgbClr val="000000"/>
                </a:solidFill>
                <a:latin typeface="+mn-ea"/>
                <a:ea typeface="+mn-ea"/>
              </a:rPr>
              <a:t>검색 시스템</a:t>
            </a:r>
            <a:endParaRPr lang="en-US" altLang="ko-KR" sz="1400" b="1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79" name="직선 화살표 연결선 58"/>
          <p:cNvCxnSpPr>
            <a:cxnSpLocks noChangeShapeType="1"/>
          </p:cNvCxnSpPr>
          <p:nvPr/>
        </p:nvCxnSpPr>
        <p:spPr bwMode="auto">
          <a:xfrm flipH="1">
            <a:off x="8631035" y="4382313"/>
            <a:ext cx="0" cy="443843"/>
          </a:xfrm>
          <a:prstGeom prst="straightConnector1">
            <a:avLst/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sp>
        <p:nvSpPr>
          <p:cNvPr id="80" name="직사각형 64"/>
          <p:cNvSpPr>
            <a:spLocks noChangeArrowheads="1"/>
          </p:cNvSpPr>
          <p:nvPr/>
        </p:nvSpPr>
        <p:spPr bwMode="auto">
          <a:xfrm>
            <a:off x="8762961" y="4816632"/>
            <a:ext cx="1528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>
                <a:solidFill>
                  <a:schemeClr val="accent2"/>
                </a:solidFill>
                <a:latin typeface="+mn-ea"/>
                <a:ea typeface="+mn-ea"/>
              </a:rPr>
              <a:t>⑤ 정보목록 색인</a:t>
            </a:r>
          </a:p>
        </p:txBody>
      </p:sp>
      <p:pic>
        <p:nvPicPr>
          <p:cNvPr id="81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6834" y="5917668"/>
            <a:ext cx="550988" cy="50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" name="직사각형 70"/>
          <p:cNvSpPr>
            <a:spLocks noChangeArrowheads="1"/>
          </p:cNvSpPr>
          <p:nvPr/>
        </p:nvSpPr>
        <p:spPr bwMode="auto">
          <a:xfrm>
            <a:off x="7560099" y="6369130"/>
            <a:ext cx="2227236" cy="30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1400" b="1">
                <a:solidFill>
                  <a:srgbClr val="000000"/>
                </a:solidFill>
                <a:latin typeface="+mn-ea"/>
                <a:ea typeface="+mn-ea"/>
              </a:rPr>
              <a:t>www.open.go.kr</a:t>
            </a:r>
          </a:p>
        </p:txBody>
      </p:sp>
      <p:cxnSp>
        <p:nvCxnSpPr>
          <p:cNvPr id="83" name="직선 화살표 연결선 74"/>
          <p:cNvCxnSpPr>
            <a:cxnSpLocks noChangeShapeType="1"/>
            <a:stCxn id="78" idx="2"/>
          </p:cNvCxnSpPr>
          <p:nvPr/>
        </p:nvCxnSpPr>
        <p:spPr bwMode="auto">
          <a:xfrm flipH="1">
            <a:off x="8632327" y="5587299"/>
            <a:ext cx="2" cy="330369"/>
          </a:xfrm>
          <a:prstGeom prst="straightConnector1">
            <a:avLst/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sp>
        <p:nvSpPr>
          <p:cNvPr id="84" name="직사각형 75"/>
          <p:cNvSpPr>
            <a:spLocks noChangeArrowheads="1"/>
          </p:cNvSpPr>
          <p:nvPr/>
        </p:nvSpPr>
        <p:spPr bwMode="auto">
          <a:xfrm>
            <a:off x="8762961" y="5902428"/>
            <a:ext cx="1528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b="1">
                <a:solidFill>
                  <a:schemeClr val="accent2"/>
                </a:solidFill>
                <a:latin typeface="+mn-ea"/>
                <a:ea typeface="+mn-ea"/>
              </a:rPr>
              <a:t>⑥ 정보목록 검색</a:t>
            </a:r>
          </a:p>
        </p:txBody>
      </p:sp>
      <p:sp>
        <p:nvSpPr>
          <p:cNvPr id="65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1"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2.1 </a:t>
            </a:r>
            <a:r>
              <a:rPr lang="ko-KR" altLang="en-US" sz="2700" b="1" dirty="0">
                <a:latin typeface="+mj-ea"/>
              </a:rPr>
              <a:t>정보목록 </a:t>
            </a:r>
            <a:r>
              <a:rPr lang="ko-KR" altLang="en-US" sz="2700" b="1" dirty="0" smtClean="0">
                <a:latin typeface="+mj-ea"/>
              </a:rPr>
              <a:t>연계도</a:t>
            </a:r>
            <a:endParaRPr lang="ko-KR" altLang="en-US" sz="2700" b="1" dirty="0">
              <a:latin typeface="+mj-ea"/>
            </a:endParaRPr>
          </a:p>
        </p:txBody>
      </p:sp>
      <p:sp>
        <p:nvSpPr>
          <p:cNvPr id="66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정보목록 및 원문 연계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813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모서리가 둥근 직사각형 44"/>
          <p:cNvSpPr/>
          <p:nvPr/>
        </p:nvSpPr>
        <p:spPr>
          <a:xfrm>
            <a:off x="414090" y="1296293"/>
            <a:ext cx="10023611" cy="5976664"/>
          </a:xfrm>
          <a:prstGeom prst="roundRect">
            <a:avLst>
              <a:gd name="adj" fmla="val 2096"/>
            </a:avLst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037" name="직사각형 148"/>
          <p:cNvSpPr>
            <a:spLocks noChangeArrowheads="1"/>
          </p:cNvSpPr>
          <p:nvPr/>
        </p:nvSpPr>
        <p:spPr bwMode="auto">
          <a:xfrm>
            <a:off x="866269" y="2007410"/>
            <a:ext cx="3179687" cy="519498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8EB4DA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endParaRPr lang="ko-KR" altLang="en-US" sz="1600" dirty="0">
              <a:latin typeface="+mn-ea"/>
              <a:ea typeface="+mn-ea"/>
            </a:endParaRPr>
          </a:p>
        </p:txBody>
      </p:sp>
      <p:pic>
        <p:nvPicPr>
          <p:cNvPr id="44038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5242" y="2591814"/>
            <a:ext cx="533285" cy="52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9" name="직사각형 150"/>
          <p:cNvSpPr>
            <a:spLocks noChangeArrowheads="1"/>
          </p:cNvSpPr>
          <p:nvPr/>
        </p:nvSpPr>
        <p:spPr bwMode="auto">
          <a:xfrm>
            <a:off x="1091120" y="3059319"/>
            <a:ext cx="2159132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www.open.go.kr</a:t>
            </a:r>
          </a:p>
        </p:txBody>
      </p:sp>
      <p:sp>
        <p:nvSpPr>
          <p:cNvPr id="44040" name="직사각형 154"/>
          <p:cNvSpPr>
            <a:spLocks noChangeArrowheads="1"/>
          </p:cNvSpPr>
          <p:nvPr/>
        </p:nvSpPr>
        <p:spPr bwMode="auto">
          <a:xfrm>
            <a:off x="4271288" y="2009385"/>
            <a:ext cx="2613853" cy="5194979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8EB4DA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endParaRPr lang="ko-KR" altLang="en-US" sz="1600" dirty="0">
              <a:latin typeface="+mn-ea"/>
              <a:ea typeface="+mn-ea"/>
            </a:endParaRPr>
          </a:p>
        </p:txBody>
      </p:sp>
      <p:pic>
        <p:nvPicPr>
          <p:cNvPr id="44041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73797" y="2313433"/>
            <a:ext cx="533287" cy="52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42" name="직사각형 156"/>
          <p:cNvSpPr>
            <a:spLocks noChangeArrowheads="1"/>
          </p:cNvSpPr>
          <p:nvPr/>
        </p:nvSpPr>
        <p:spPr bwMode="auto">
          <a:xfrm>
            <a:off x="5144228" y="2841486"/>
            <a:ext cx="17784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온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-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나라 중계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시스템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4043" name="직사각형 157"/>
          <p:cNvSpPr>
            <a:spLocks noChangeArrowheads="1"/>
          </p:cNvSpPr>
          <p:nvPr/>
        </p:nvSpPr>
        <p:spPr bwMode="auto">
          <a:xfrm>
            <a:off x="5163167" y="4697562"/>
            <a:ext cx="21591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행정정보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공동이용센터</a:t>
            </a:r>
          </a:p>
        </p:txBody>
      </p:sp>
      <p:pic>
        <p:nvPicPr>
          <p:cNvPr id="44044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73797" y="4228540"/>
            <a:ext cx="533287" cy="52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45" name="직사각형 162"/>
          <p:cNvSpPr>
            <a:spLocks noChangeArrowheads="1"/>
          </p:cNvSpPr>
          <p:nvPr/>
        </p:nvSpPr>
        <p:spPr bwMode="auto">
          <a:xfrm>
            <a:off x="7117984" y="2003460"/>
            <a:ext cx="2876739" cy="5210139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8EB4DA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</a:pPr>
            <a:endParaRPr lang="ko-KR" altLang="en-US" sz="1600" dirty="0">
              <a:latin typeface="+mn-ea"/>
              <a:ea typeface="+mn-ea"/>
            </a:endParaRPr>
          </a:p>
        </p:txBody>
      </p:sp>
      <p:pic>
        <p:nvPicPr>
          <p:cNvPr id="44046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34925" y="2313433"/>
            <a:ext cx="533285" cy="52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47" name="직사각형 164"/>
          <p:cNvSpPr>
            <a:spLocks noChangeArrowheads="1"/>
          </p:cNvSpPr>
          <p:nvPr/>
        </p:nvSpPr>
        <p:spPr bwMode="auto">
          <a:xfrm>
            <a:off x="7678366" y="2756872"/>
            <a:ext cx="21591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온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-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나라시스템      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(14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년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월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</p:txBody>
      </p:sp>
      <p:pic>
        <p:nvPicPr>
          <p:cNvPr id="44048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87502" y="3652034"/>
            <a:ext cx="533287" cy="52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9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87502" y="5286381"/>
            <a:ext cx="533287" cy="52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50" name="직사각형 167"/>
          <p:cNvSpPr>
            <a:spLocks noChangeArrowheads="1"/>
          </p:cNvSpPr>
          <p:nvPr/>
        </p:nvSpPr>
        <p:spPr bwMode="auto">
          <a:xfrm>
            <a:off x="7339345" y="4159283"/>
            <a:ext cx="29508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 err="1" smtClean="0">
                <a:solidFill>
                  <a:srgbClr val="000000"/>
                </a:solidFill>
                <a:latin typeface="+mn-ea"/>
                <a:ea typeface="+mn-ea"/>
              </a:rPr>
              <a:t>시군구</a:t>
            </a:r>
            <a:r>
              <a:rPr lang="ko-KR" altLang="en-US" sz="1600" dirty="0" smtClean="0">
                <a:solidFill>
                  <a:srgbClr val="000000"/>
                </a:solidFill>
                <a:latin typeface="바탕체"/>
                <a:ea typeface="바탕체"/>
              </a:rPr>
              <a:t>▪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교육청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/>
            </a:r>
            <a:b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전자결재시스템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(15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년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월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44051" name="직사각형 168"/>
          <p:cNvSpPr>
            <a:spLocks noChangeArrowheads="1"/>
          </p:cNvSpPr>
          <p:nvPr/>
        </p:nvSpPr>
        <p:spPr bwMode="auto">
          <a:xfrm>
            <a:off x="7339345" y="5732698"/>
            <a:ext cx="26098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공공기관 전자결재시스템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16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년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월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ko-KR" altLang="en-US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5" name="직사각형 64"/>
          <p:cNvSpPr/>
          <p:nvPr/>
        </p:nvSpPr>
        <p:spPr bwMode="auto">
          <a:xfrm>
            <a:off x="865736" y="1649707"/>
            <a:ext cx="3181879" cy="3582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8EB4DA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ko-KR" altLang="en-US" sz="1600" dirty="0">
                <a:latin typeface="+mn-ea"/>
                <a:ea typeface="+mn-ea"/>
              </a:rPr>
              <a:t>정보공개포털</a:t>
            </a:r>
          </a:p>
        </p:txBody>
      </p:sp>
      <p:sp>
        <p:nvSpPr>
          <p:cNvPr id="66" name="직사각형 65"/>
          <p:cNvSpPr/>
          <p:nvPr/>
        </p:nvSpPr>
        <p:spPr bwMode="auto">
          <a:xfrm>
            <a:off x="4271105" y="1651507"/>
            <a:ext cx="2613687" cy="3582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8EB4DA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ko-KR" altLang="en-US" sz="1600" dirty="0">
                <a:latin typeface="+mn-ea"/>
                <a:ea typeface="+mn-ea"/>
              </a:rPr>
              <a:t>중계 시스템</a:t>
            </a:r>
          </a:p>
        </p:txBody>
      </p:sp>
      <p:sp>
        <p:nvSpPr>
          <p:cNvPr id="67" name="직사각형 66"/>
          <p:cNvSpPr/>
          <p:nvPr/>
        </p:nvSpPr>
        <p:spPr bwMode="auto">
          <a:xfrm>
            <a:off x="7117751" y="1646107"/>
            <a:ext cx="2875055" cy="35645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8EB4DA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 algn="ctr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ko-KR" altLang="en-US" sz="1600" dirty="0">
                <a:latin typeface="+mn-ea"/>
                <a:ea typeface="+mn-ea"/>
              </a:rPr>
              <a:t>기관 전자문서시스템</a:t>
            </a:r>
          </a:p>
        </p:txBody>
      </p:sp>
      <p:cxnSp>
        <p:nvCxnSpPr>
          <p:cNvPr id="44055" name="꺾인 연결선 173"/>
          <p:cNvCxnSpPr>
            <a:cxnSpLocks noChangeShapeType="1"/>
          </p:cNvCxnSpPr>
          <p:nvPr/>
        </p:nvCxnSpPr>
        <p:spPr bwMode="auto">
          <a:xfrm flipV="1">
            <a:off x="3657884" y="2576019"/>
            <a:ext cx="2315913" cy="228825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4056" name="직선 화살표 연결선 174"/>
          <p:cNvCxnSpPr>
            <a:cxnSpLocks noChangeShapeType="1"/>
          </p:cNvCxnSpPr>
          <p:nvPr/>
        </p:nvCxnSpPr>
        <p:spPr bwMode="auto">
          <a:xfrm>
            <a:off x="6507084" y="2576019"/>
            <a:ext cx="1927842" cy="0"/>
          </a:xfrm>
          <a:prstGeom prst="straightConnector1">
            <a:avLst/>
          </a:prstGeom>
          <a:noFill/>
          <a:ln w="9525">
            <a:solidFill>
              <a:srgbClr val="777777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4057" name="꺾인 연결선 175"/>
          <p:cNvCxnSpPr>
            <a:cxnSpLocks noChangeShapeType="1"/>
          </p:cNvCxnSpPr>
          <p:nvPr/>
        </p:nvCxnSpPr>
        <p:spPr bwMode="auto">
          <a:xfrm flipV="1">
            <a:off x="3657884" y="4491127"/>
            <a:ext cx="2315913" cy="3731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44058" name="직사각형 177"/>
          <p:cNvSpPr>
            <a:spLocks noChangeArrowheads="1"/>
          </p:cNvSpPr>
          <p:nvPr/>
        </p:nvSpPr>
        <p:spPr bwMode="auto">
          <a:xfrm>
            <a:off x="708537" y="2009762"/>
            <a:ext cx="242807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① 정보목록 검색</a:t>
            </a:r>
            <a:endParaRPr lang="en-US" altLang="ko-KR" sz="1600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 ② 원문 조회 요청</a:t>
            </a:r>
          </a:p>
        </p:txBody>
      </p:sp>
      <p:sp>
        <p:nvSpPr>
          <p:cNvPr id="44059" name="직사각형 181"/>
          <p:cNvSpPr>
            <a:spLocks noChangeArrowheads="1"/>
          </p:cNvSpPr>
          <p:nvPr/>
        </p:nvSpPr>
        <p:spPr bwMode="auto">
          <a:xfrm>
            <a:off x="8596945" y="2009762"/>
            <a:ext cx="1507605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④ 원문추출</a:t>
            </a:r>
          </a:p>
        </p:txBody>
      </p:sp>
      <p:cxnSp>
        <p:nvCxnSpPr>
          <p:cNvPr id="44060" name="꺾인 연결선 214"/>
          <p:cNvCxnSpPr>
            <a:cxnSpLocks noChangeShapeType="1"/>
            <a:stCxn id="44039" idx="2"/>
          </p:cNvCxnSpPr>
          <p:nvPr/>
        </p:nvCxnSpPr>
        <p:spPr bwMode="auto">
          <a:xfrm rot="16200000" flipH="1">
            <a:off x="2201376" y="3411824"/>
            <a:ext cx="1159182" cy="12205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cxnSp>
        <p:nvCxnSpPr>
          <p:cNvPr id="44061" name="꺾인 연결선 159"/>
          <p:cNvCxnSpPr>
            <a:cxnSpLocks noChangeShapeType="1"/>
          </p:cNvCxnSpPr>
          <p:nvPr/>
        </p:nvCxnSpPr>
        <p:spPr bwMode="auto">
          <a:xfrm flipV="1">
            <a:off x="6507084" y="3914620"/>
            <a:ext cx="1980418" cy="57650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cxnSp>
        <p:nvCxnSpPr>
          <p:cNvPr id="44062" name="꺾인 연결선 222"/>
          <p:cNvCxnSpPr>
            <a:cxnSpLocks noChangeShapeType="1"/>
            <a:endCxn id="44049" idx="1"/>
          </p:cNvCxnSpPr>
          <p:nvPr/>
        </p:nvCxnSpPr>
        <p:spPr bwMode="auto">
          <a:xfrm>
            <a:off x="6507084" y="4491127"/>
            <a:ext cx="1980418" cy="105784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44063" name="직사각형 226"/>
          <p:cNvSpPr>
            <a:spLocks noChangeArrowheads="1"/>
          </p:cNvSpPr>
          <p:nvPr/>
        </p:nvSpPr>
        <p:spPr bwMode="auto">
          <a:xfrm>
            <a:off x="4140421" y="2243796"/>
            <a:ext cx="2000038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③ 원문요청</a:t>
            </a:r>
          </a:p>
        </p:txBody>
      </p:sp>
      <p:sp>
        <p:nvSpPr>
          <p:cNvPr id="44064" name="직사각형 229"/>
          <p:cNvSpPr>
            <a:spLocks noChangeArrowheads="1"/>
          </p:cNvSpPr>
          <p:nvPr/>
        </p:nvSpPr>
        <p:spPr bwMode="auto">
          <a:xfrm>
            <a:off x="8623460" y="3374366"/>
            <a:ext cx="1505711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④ 원문추출</a:t>
            </a:r>
          </a:p>
        </p:txBody>
      </p:sp>
      <p:sp>
        <p:nvSpPr>
          <p:cNvPr id="44065" name="직사각형 230"/>
          <p:cNvSpPr>
            <a:spLocks noChangeArrowheads="1"/>
          </p:cNvSpPr>
          <p:nvPr/>
        </p:nvSpPr>
        <p:spPr bwMode="auto">
          <a:xfrm>
            <a:off x="8646307" y="5007765"/>
            <a:ext cx="1507605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④ 원문추출</a:t>
            </a:r>
          </a:p>
        </p:txBody>
      </p:sp>
      <p:sp>
        <p:nvSpPr>
          <p:cNvPr id="44066" name="직사각형 232"/>
          <p:cNvSpPr>
            <a:spLocks noChangeArrowheads="1"/>
          </p:cNvSpPr>
          <p:nvPr/>
        </p:nvSpPr>
        <p:spPr bwMode="auto">
          <a:xfrm>
            <a:off x="6657513" y="2571445"/>
            <a:ext cx="1776549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⑤ 원문 전송</a:t>
            </a:r>
          </a:p>
        </p:txBody>
      </p:sp>
      <p:sp>
        <p:nvSpPr>
          <p:cNvPr id="44067" name="직사각형 234"/>
          <p:cNvSpPr>
            <a:spLocks noChangeArrowheads="1"/>
          </p:cNvSpPr>
          <p:nvPr/>
        </p:nvSpPr>
        <p:spPr bwMode="auto">
          <a:xfrm>
            <a:off x="3438740" y="4144881"/>
            <a:ext cx="1551167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⑥ 원문 수신</a:t>
            </a:r>
          </a:p>
        </p:txBody>
      </p:sp>
      <p:pic>
        <p:nvPicPr>
          <p:cNvPr id="44068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597" y="4601690"/>
            <a:ext cx="533287" cy="52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69" name="직사각형 239"/>
          <p:cNvSpPr>
            <a:spLocks noChangeArrowheads="1"/>
          </p:cNvSpPr>
          <p:nvPr/>
        </p:nvSpPr>
        <p:spPr bwMode="auto">
          <a:xfrm>
            <a:off x="2341143" y="5084621"/>
            <a:ext cx="2159132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연계시스템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44070" name="Picture 16" descr="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2177" y="4601690"/>
            <a:ext cx="533287" cy="52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71" name="직사각형 260"/>
          <p:cNvSpPr>
            <a:spLocks noChangeArrowheads="1"/>
          </p:cNvSpPr>
          <p:nvPr/>
        </p:nvSpPr>
        <p:spPr bwMode="auto">
          <a:xfrm>
            <a:off x="994527" y="5084621"/>
            <a:ext cx="1462149" cy="34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업무시스템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4072" name="직사각형 264"/>
          <p:cNvSpPr>
            <a:spLocks noChangeArrowheads="1"/>
          </p:cNvSpPr>
          <p:nvPr/>
        </p:nvSpPr>
        <p:spPr bwMode="auto">
          <a:xfrm>
            <a:off x="916874" y="5406869"/>
            <a:ext cx="2962179" cy="830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⑦ 개인정보검사</a:t>
            </a:r>
            <a:endParaRPr lang="en-US" altLang="ko-KR" sz="1600" dirty="0">
              <a:solidFill>
                <a:schemeClr val="accent2"/>
              </a:solidFill>
              <a:latin typeface="+mn-ea"/>
              <a:ea typeface="+mn-ea"/>
            </a:endParaRPr>
          </a:p>
          <a:p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⑧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accent2"/>
                </a:solidFill>
                <a:latin typeface="+mn-ea"/>
                <a:ea typeface="+mn-ea"/>
              </a:rPr>
              <a:t>PDF </a:t>
            </a:r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변환</a:t>
            </a:r>
            <a:endParaRPr lang="en-US" altLang="ko-KR" sz="1600" dirty="0">
              <a:solidFill>
                <a:schemeClr val="accent2"/>
              </a:solidFill>
              <a:latin typeface="+mn-ea"/>
              <a:ea typeface="+mn-ea"/>
            </a:endParaRPr>
          </a:p>
          <a:p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⑨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문서진위확인마크 발급</a:t>
            </a:r>
          </a:p>
        </p:txBody>
      </p:sp>
      <p:cxnSp>
        <p:nvCxnSpPr>
          <p:cNvPr id="44073" name="꺾인 연결선 268"/>
          <p:cNvCxnSpPr>
            <a:cxnSpLocks noChangeShapeType="1"/>
            <a:endCxn id="44039" idx="2"/>
          </p:cNvCxnSpPr>
          <p:nvPr/>
        </p:nvCxnSpPr>
        <p:spPr bwMode="auto">
          <a:xfrm rot="5400000" flipH="1" flipV="1">
            <a:off x="1380165" y="3811163"/>
            <a:ext cx="1159182" cy="42187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777777"/>
            </a:solidFill>
            <a:round/>
            <a:headEnd/>
            <a:tailEnd type="triangle" w="med" len="med"/>
          </a:ln>
        </p:spPr>
      </p:cxnSp>
      <p:sp>
        <p:nvSpPr>
          <p:cNvPr id="44074" name="직사각형 271"/>
          <p:cNvSpPr>
            <a:spLocks noChangeArrowheads="1"/>
          </p:cNvSpPr>
          <p:nvPr/>
        </p:nvSpPr>
        <p:spPr bwMode="auto">
          <a:xfrm>
            <a:off x="938410" y="3586470"/>
            <a:ext cx="1598515" cy="345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⑩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accent2"/>
                </a:solidFill>
                <a:latin typeface="+mn-ea"/>
                <a:ea typeface="+mn-ea"/>
              </a:rPr>
              <a:t>원문열람</a:t>
            </a:r>
          </a:p>
        </p:txBody>
      </p:sp>
      <p:sp>
        <p:nvSpPr>
          <p:cNvPr id="42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1"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2.2 </a:t>
            </a:r>
            <a:r>
              <a:rPr lang="ko-KR" altLang="en-US" sz="2700" b="1" dirty="0">
                <a:latin typeface="+mj-ea"/>
              </a:rPr>
              <a:t>원문정보 연계도</a:t>
            </a:r>
          </a:p>
        </p:txBody>
      </p:sp>
      <p:sp>
        <p:nvSpPr>
          <p:cNvPr id="43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정보목록 및 원문 연계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752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42" y="1357150"/>
            <a:ext cx="9419855" cy="5531827"/>
          </a:xfrm>
          <a:prstGeom prst="rect">
            <a:avLst/>
          </a:prstGeom>
        </p:spPr>
      </p:pic>
      <p:sp>
        <p:nvSpPr>
          <p:cNvPr id="6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/>
            <a:r>
              <a:rPr kumimoji="1"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5.1 </a:t>
            </a:r>
            <a:r>
              <a:rPr lang="ko-KR" altLang="en-US" sz="2700" b="1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홈페이지 접속</a:t>
            </a:r>
            <a:endParaRPr lang="en-US" altLang="ko-KR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anose="020B0503020000020004" pitchFamily="50" charset="-127"/>
            </a:endParaRPr>
          </a:p>
        </p:txBody>
      </p:sp>
      <p:sp>
        <p:nvSpPr>
          <p:cNvPr id="7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원문정보공개시스템 시연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735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그림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930" y="1316813"/>
            <a:ext cx="9744504" cy="5877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defRPr/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5.2</a:t>
            </a:r>
            <a:r>
              <a:rPr kumimoji="1"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정보목록 검색 </a:t>
            </a:r>
            <a:r>
              <a:rPr lang="en-US" altLang="ko-KR" sz="2000" b="1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000" b="1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통합검색</a:t>
            </a:r>
            <a:r>
              <a:rPr lang="en-US" altLang="ko-KR" sz="20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)</a:t>
            </a:r>
            <a:endParaRPr lang="en-US" altLang="ko-KR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anose="020B0503020000020004" pitchFamily="50" charset="-127"/>
            </a:endParaRPr>
          </a:p>
        </p:txBody>
      </p:sp>
      <p:sp>
        <p:nvSpPr>
          <p:cNvPr id="6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원문정보공개시스템 </a:t>
            </a:r>
            <a:r>
              <a:rPr kumimoji="0"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475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그림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3143" y="1252988"/>
            <a:ext cx="9258317" cy="5993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4555807" y="6460349"/>
            <a:ext cx="3952727" cy="835325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774" tIns="53387" rIns="106774" bIns="53387" anchor="ctr"/>
          <a:lstStyle/>
          <a:p>
            <a:pPr algn="ctr" defTabSz="1067392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100" dirty="0"/>
          </a:p>
        </p:txBody>
      </p:sp>
      <p:sp>
        <p:nvSpPr>
          <p:cNvPr id="12" name="직사각형 11"/>
          <p:cNvSpPr/>
          <p:nvPr/>
        </p:nvSpPr>
        <p:spPr>
          <a:xfrm>
            <a:off x="887401" y="1934498"/>
            <a:ext cx="9240570" cy="209696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774" tIns="53387" rIns="106774" bIns="53387" anchor="ctr"/>
          <a:lstStyle/>
          <a:p>
            <a:pPr algn="ctr" defTabSz="1067392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100" dirty="0"/>
          </a:p>
        </p:txBody>
      </p:sp>
      <p:sp>
        <p:nvSpPr>
          <p:cNvPr id="8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defRPr/>
            </a:pPr>
            <a:r>
              <a:rPr kumimoji="1"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5.2 </a:t>
            </a:r>
            <a:r>
              <a:rPr kumimoji="1"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정보</a:t>
            </a:r>
            <a:r>
              <a:rPr lang="ko-KR" altLang="en-US" sz="2700" b="1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목록 검색 </a:t>
            </a:r>
            <a:r>
              <a:rPr lang="en-US" altLang="ko-KR" sz="2000" b="1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000" b="1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분류검색</a:t>
            </a:r>
            <a:r>
              <a:rPr lang="en-US" altLang="ko-KR" sz="2000" b="1" dirty="0" smtClean="0">
                <a:solidFill>
                  <a:srgbClr val="0000FF"/>
                </a:solidFill>
                <a:latin typeface="맑은 고딕" panose="020B0503020000020004" pitchFamily="50" charset="-127"/>
              </a:rPr>
              <a:t>)</a:t>
            </a:r>
            <a:endParaRPr lang="en-US" altLang="ko-KR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anose="020B0503020000020004" pitchFamily="50" charset="-127"/>
            </a:endParaRPr>
          </a:p>
        </p:txBody>
      </p:sp>
      <p:sp>
        <p:nvSpPr>
          <p:cNvPr id="9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원문정보공개시스템 </a:t>
            </a:r>
            <a:r>
              <a:rPr kumimoji="0"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09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C:\Users\sgchai\Desktop\화면 이미지\장관_시도지사_2_1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4238" y="1388251"/>
            <a:ext cx="9021006" cy="5800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_x172019608" descr="EMB0000101027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4" t="55371" r="23108" b="26367"/>
          <a:stretch>
            <a:fillRect/>
          </a:stretch>
        </p:blipFill>
        <p:spPr bwMode="auto">
          <a:xfrm>
            <a:off x="3525824" y="4674399"/>
            <a:ext cx="5435976" cy="128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defRPr/>
            </a:pPr>
            <a:r>
              <a:rPr kumimoji="1"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5.4 </a:t>
            </a:r>
            <a:r>
              <a:rPr kumimoji="1"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상세정보 확인</a:t>
            </a:r>
            <a:endParaRPr lang="en-US" altLang="ko-KR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anose="020B0503020000020004" pitchFamily="50" charset="-127"/>
            </a:endParaRPr>
          </a:p>
        </p:txBody>
      </p:sp>
      <p:sp>
        <p:nvSpPr>
          <p:cNvPr id="8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kumimoji="0"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시스템 시연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74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C:\Users\sgchai\Desktop\화면 이미지\장관_시도지사_2_4.png"/>
          <p:cNvPicPr preferRelativeResize="0"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1246" y="1245375"/>
            <a:ext cx="8418723" cy="6039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제목 47"/>
          <p:cNvSpPr txBox="1">
            <a:spLocks/>
          </p:cNvSpPr>
          <p:nvPr/>
        </p:nvSpPr>
        <p:spPr>
          <a:xfrm>
            <a:off x="218232" y="472779"/>
            <a:ext cx="7252642" cy="518395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defRPr/>
            </a:pPr>
            <a:r>
              <a:rPr kumimoji="1"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5.5 </a:t>
            </a:r>
            <a:r>
              <a:rPr lang="ko-KR" altLang="en-US" sz="2700" b="1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원문다운로드</a:t>
            </a:r>
            <a:endParaRPr lang="en-US" altLang="ko-KR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anose="020B0503020000020004" pitchFamily="50" charset="-127"/>
            </a:endParaRPr>
          </a:p>
        </p:txBody>
      </p:sp>
      <p:sp>
        <p:nvSpPr>
          <p:cNvPr id="7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kumimoji="0"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시스템 시연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0893" y="184119"/>
            <a:ext cx="21629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원문정보공개 서비스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539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G:\★ [20120419] 야긴스텍 행안부 2012년 대한민국 정부포털 이용활성화 1차사업 제안서\PSD\PT\템플릿\야긴스텍 행안부 제안설명회 간지-2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1" y="0"/>
            <a:ext cx="10905803" cy="777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제목 2"/>
          <p:cNvSpPr txBox="1">
            <a:spLocks/>
          </p:cNvSpPr>
          <p:nvPr/>
        </p:nvSpPr>
        <p:spPr>
          <a:xfrm>
            <a:off x="6923276" y="4436179"/>
            <a:ext cx="4680519" cy="488638"/>
          </a:xfrm>
          <a:prstGeom prst="rect">
            <a:avLst/>
          </a:prstGeom>
        </p:spPr>
        <p:txBody>
          <a:bodyPr lIns="101910" tIns="50955" rIns="101910" bIns="50955" anchor="ctr">
            <a:scene3d>
              <a:camera prst="orthographicFront"/>
              <a:lightRig rig="threePt" dir="t"/>
            </a:scene3d>
            <a:sp3d>
              <a:bevelT w="1270" h="38100"/>
            </a:sp3d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9pPr>
          </a:lstStyle>
          <a:p>
            <a:r>
              <a:rPr lang="ko-KR" altLang="en-US" sz="25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원문정보 연계</a:t>
            </a:r>
            <a:endParaRPr lang="ko-KR" altLang="en-US" sz="25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354750" y="5040209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제목 2"/>
          <p:cNvSpPr txBox="1">
            <a:spLocks/>
          </p:cNvSpPr>
          <p:nvPr/>
        </p:nvSpPr>
        <p:spPr>
          <a:xfrm>
            <a:off x="6874490" y="4937599"/>
            <a:ext cx="3764736" cy="2479374"/>
          </a:xfrm>
          <a:prstGeom prst="rect">
            <a:avLst/>
          </a:prstGeom>
        </p:spPr>
        <p:txBody>
          <a:bodyPr lIns="101910" tIns="50955" rIns="101910" bIns="50955" anchor="t">
            <a:scene3d>
              <a:camera prst="orthographicFront"/>
              <a:lightRig rig="threePt" dir="t"/>
            </a:scene3d>
            <a:sp3d>
              <a:bevelT w="1270" h="38100"/>
            </a:sp3d>
          </a:bodyPr>
          <a:lstStyle>
            <a:defPPr>
              <a:defRPr lang="ko-KR"/>
            </a:defPPr>
            <a:lvl1pPr eaLnBrk="0" hangingPunct="0">
              <a:lnSpc>
                <a:spcPct val="130000"/>
              </a:lnSpc>
              <a:spcAft>
                <a:spcPts val="0"/>
              </a:spcAft>
              <a:defRPr sz="1400" b="0" spc="-60">
                <a:solidFill>
                  <a:schemeClr val="bg1"/>
                </a:solidFill>
                <a:latin typeface="Rix모던고딕 M" pitchFamily="18" charset="-127"/>
                <a:ea typeface="Rix모던고딕 M" pitchFamily="18" charset="-127"/>
                <a:cs typeface="+mj-cs"/>
              </a:defRPr>
            </a:lvl1pPr>
            <a:lvl2pPr eaLnBrk="0" hangingPunct="0"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2pPr>
            <a:lvl3pPr eaLnBrk="0" hangingPunct="0"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3pPr>
            <a:lvl4pPr eaLnBrk="0" hangingPunct="0"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4pPr>
            <a:lvl5pPr eaLnBrk="0" hangingPunct="0"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entury Gothic" pitchFamily="34" charset="0"/>
                <a:ea typeface="돋움" pitchFamily="50" charset="-127"/>
              </a:defRPr>
            </a:lvl9pPr>
          </a:lstStyle>
          <a:p>
            <a:pPr>
              <a:lnSpc>
                <a:spcPts val="2300"/>
              </a:lnSpc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목표시스템 개요</a:t>
            </a:r>
            <a:endParaRPr lang="en-US" altLang="ko-KR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전자결재 연계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연계 개발 가이드</a:t>
            </a:r>
          </a:p>
          <a:p>
            <a:pPr>
              <a:lnSpc>
                <a:spcPct val="160000"/>
              </a:lnSpc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연계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절차 및 역할 정의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연계 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현행</a:t>
            </a:r>
            <a:endParaRPr lang="en-US" altLang="ko-KR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60000"/>
              </a:lnSpc>
            </a:pPr>
            <a:r>
              <a:rPr kumimoji="0"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  <a:r>
              <a:rPr kumimoji="0"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정보목록 추출 모듈 개발 비용산정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6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협조사항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60000"/>
              </a:lnSpc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60000"/>
              </a:lnSpc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60000"/>
              </a:lnSpc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300"/>
              </a:lnSpc>
            </a:pPr>
            <a:endParaRPr lang="en-US" altLang="ko-KR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354750" y="5361701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54750" y="5681632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354750" y="6012649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354750" y="6356688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354750" y="6716733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354750" y="7062264"/>
            <a:ext cx="515400" cy="244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algn="ctr"/>
            <a:r>
              <a:rPr lang="en-US" altLang="ko-KR" sz="1400" spc="-11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1400" spc="-11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638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제목 47"/>
          <p:cNvSpPr>
            <a:spLocks noGrp="1"/>
          </p:cNvSpPr>
          <p:nvPr>
            <p:ph type="title"/>
          </p:nvPr>
        </p:nvSpPr>
        <p:spPr>
          <a:xfrm>
            <a:off x="218232" y="472779"/>
            <a:ext cx="7252642" cy="518395"/>
          </a:xfrm>
        </p:spPr>
        <p:txBody>
          <a:bodyPr/>
          <a:lstStyle/>
          <a:p>
            <a:pPr algn="l"/>
            <a:r>
              <a:rPr kumimoji="1"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1.3 </a:t>
            </a:r>
            <a:r>
              <a:rPr kumimoji="1"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원문정보공개 연계 </a:t>
            </a:r>
            <a:r>
              <a:rPr kumimoji="1" lang="ko-KR" altLang="en-US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흐름도</a:t>
            </a:r>
          </a:p>
        </p:txBody>
      </p:sp>
      <p:sp>
        <p:nvSpPr>
          <p:cNvPr id="245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목표시스템 개요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42082" y="1296293"/>
            <a:ext cx="10225135" cy="5976664"/>
            <a:chOff x="342082" y="1296293"/>
            <a:chExt cx="10225135" cy="5976664"/>
          </a:xfrm>
        </p:grpSpPr>
        <p:sp>
          <p:nvSpPr>
            <p:cNvPr id="292" name="Rectangle 146"/>
            <p:cNvSpPr>
              <a:spLocks noChangeArrowheads="1"/>
            </p:cNvSpPr>
            <p:nvPr/>
          </p:nvSpPr>
          <p:spPr bwMode="auto">
            <a:xfrm>
              <a:off x="342082" y="1535925"/>
              <a:ext cx="3084552" cy="5737032"/>
            </a:xfrm>
            <a:prstGeom prst="rect">
              <a:avLst/>
            </a:prstGeom>
            <a:solidFill>
              <a:srgbClr val="FFFFFF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00" kern="0" baseline="-25000" dirty="0">
                <a:solidFill>
                  <a:sysClr val="windowText" lastClr="000000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293" name="AutoShape 1100" descr="어두운 상향 대각선"/>
            <p:cNvSpPr>
              <a:spLocks noChangeArrowheads="1"/>
            </p:cNvSpPr>
            <p:nvPr/>
          </p:nvSpPr>
          <p:spPr bwMode="auto">
            <a:xfrm>
              <a:off x="342082" y="1296293"/>
              <a:ext cx="3084554" cy="411419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B9B9B"/>
                </a:gs>
                <a:gs pos="84000">
                  <a:srgbClr val="6F6F6F"/>
                </a:gs>
                <a:gs pos="100000">
                  <a:srgbClr val="A7A7A7"/>
                </a:gs>
              </a:gsLst>
              <a:lin ang="5400000" scaled="0"/>
            </a:gradFill>
            <a:ln>
              <a:noFill/>
            </a:ln>
            <a:scene3d>
              <a:camera prst="orthographicFront"/>
              <a:lightRig rig="threePt" dir="t"/>
            </a:scene3d>
            <a:sp3d contourW="12700" prstMaterial="dkEdge">
              <a:bevelT w="12700" h="44450"/>
              <a:bevelB w="0"/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>
              <a:sp3d contourW="31750">
                <a:bevelT w="1270"/>
                <a:contourClr>
                  <a:schemeClr val="tx1">
                    <a:lumMod val="75000"/>
                    <a:lumOff val="25000"/>
                  </a:schemeClr>
                </a:contourClr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indent="-184150" algn="ctr">
                <a:lnSpc>
                  <a:spcPct val="120000"/>
                </a:lnSpc>
                <a:defRPr/>
              </a:pPr>
              <a:r>
                <a:rPr lang="ko-KR" altLang="en-US" dirty="0" smtClea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전자결재시스템</a:t>
              </a:r>
            </a:p>
          </p:txBody>
        </p:sp>
        <p:sp>
          <p:nvSpPr>
            <p:cNvPr id="294" name="Rectangle 146"/>
            <p:cNvSpPr>
              <a:spLocks noChangeArrowheads="1"/>
            </p:cNvSpPr>
            <p:nvPr/>
          </p:nvSpPr>
          <p:spPr bwMode="auto">
            <a:xfrm>
              <a:off x="3924680" y="1535925"/>
              <a:ext cx="2583969" cy="5737032"/>
            </a:xfrm>
            <a:prstGeom prst="rect">
              <a:avLst/>
            </a:prstGeom>
            <a:solidFill>
              <a:srgbClr val="FFFFFF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00" kern="0" baseline="-25000" dirty="0">
                <a:solidFill>
                  <a:sysClr val="windowText" lastClr="000000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295" name="AutoShape 1100" descr="어두운 상향 대각선"/>
            <p:cNvSpPr>
              <a:spLocks noChangeArrowheads="1"/>
            </p:cNvSpPr>
            <p:nvPr/>
          </p:nvSpPr>
          <p:spPr bwMode="auto">
            <a:xfrm>
              <a:off x="3924680" y="1296293"/>
              <a:ext cx="2583971" cy="411419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B9B9B"/>
                </a:gs>
                <a:gs pos="84000">
                  <a:srgbClr val="6F6F6F"/>
                </a:gs>
                <a:gs pos="100000">
                  <a:srgbClr val="A7A7A7"/>
                </a:gs>
              </a:gsLst>
              <a:lin ang="5400000" scaled="0"/>
            </a:gradFill>
            <a:ln>
              <a:noFill/>
            </a:ln>
            <a:scene3d>
              <a:camera prst="orthographicFront"/>
              <a:lightRig rig="threePt" dir="t"/>
            </a:scene3d>
            <a:sp3d contourW="12700" prstMaterial="dkEdge">
              <a:bevelT w="12700" h="44450"/>
              <a:bevelB w="0"/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>
              <a:sp3d contourW="31750">
                <a:bevelT w="1270"/>
                <a:contourClr>
                  <a:schemeClr val="tx1">
                    <a:lumMod val="75000"/>
                    <a:lumOff val="25000"/>
                  </a:schemeClr>
                </a:contourClr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indent="-184150" algn="ctr">
                <a:lnSpc>
                  <a:spcPct val="120000"/>
                </a:lnSpc>
                <a:defRPr/>
              </a:pPr>
              <a:r>
                <a:rPr lang="ko-KR" altLang="en-US" dirty="0" smtClea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행정정보공동이용센터</a:t>
              </a:r>
            </a:p>
          </p:txBody>
        </p:sp>
        <p:sp>
          <p:nvSpPr>
            <p:cNvPr id="296" name="Rectangle 146"/>
            <p:cNvSpPr>
              <a:spLocks noChangeArrowheads="1"/>
            </p:cNvSpPr>
            <p:nvPr/>
          </p:nvSpPr>
          <p:spPr bwMode="auto">
            <a:xfrm>
              <a:off x="6942018" y="1495256"/>
              <a:ext cx="3624046" cy="5777701"/>
            </a:xfrm>
            <a:prstGeom prst="rect">
              <a:avLst/>
            </a:prstGeom>
            <a:solidFill>
              <a:srgbClr val="FFFFFF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00" kern="0" baseline="-25000" dirty="0">
                <a:solidFill>
                  <a:sysClr val="windowText" lastClr="000000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297" name="AutoShape 1100" descr="어두운 상향 대각선"/>
            <p:cNvSpPr>
              <a:spLocks noChangeArrowheads="1"/>
            </p:cNvSpPr>
            <p:nvPr/>
          </p:nvSpPr>
          <p:spPr bwMode="auto">
            <a:xfrm>
              <a:off x="6942018" y="1296293"/>
              <a:ext cx="3624048" cy="411419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B9B9B"/>
                </a:gs>
                <a:gs pos="84000">
                  <a:srgbClr val="6F6F6F"/>
                </a:gs>
                <a:gs pos="100000">
                  <a:srgbClr val="A7A7A7"/>
                </a:gs>
              </a:gsLst>
              <a:lin ang="5400000" scaled="0"/>
            </a:gradFill>
            <a:ln>
              <a:noFill/>
            </a:ln>
            <a:scene3d>
              <a:camera prst="orthographicFront"/>
              <a:lightRig rig="threePt" dir="t"/>
            </a:scene3d>
            <a:sp3d contourW="12700" prstMaterial="dkEdge">
              <a:bevelT w="12700" h="44450"/>
              <a:bevelB w="0"/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>
              <a:sp3d contourW="31750">
                <a:bevelT w="1270"/>
                <a:contourClr>
                  <a:schemeClr val="tx1">
                    <a:lumMod val="75000"/>
                    <a:lumOff val="25000"/>
                  </a:schemeClr>
                </a:contourClr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indent="-184150" algn="ctr">
                <a:lnSpc>
                  <a:spcPct val="120000"/>
                </a:lnSpc>
                <a:defRPr/>
              </a:pPr>
              <a:r>
                <a:rPr lang="ko-KR" altLang="en-US" dirty="0" smtClea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정보공개시스템</a:t>
              </a:r>
            </a:p>
          </p:txBody>
        </p:sp>
        <p:sp>
          <p:nvSpPr>
            <p:cNvPr id="298" name="모서리가 둥근 직사각형 297"/>
            <p:cNvSpPr/>
            <p:nvPr/>
          </p:nvSpPr>
          <p:spPr>
            <a:xfrm>
              <a:off x="4258149" y="2518939"/>
              <a:ext cx="1925346" cy="3968333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innerShdw blurRad="114300">
                <a:schemeClr val="bg1">
                  <a:lumMod val="75000"/>
                </a:schemeClr>
              </a:innerShdw>
            </a:effectLst>
          </p:spPr>
          <p:txBody>
            <a:bodyPr lIns="7200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42875" algn="ctr" defTabSz="1330325" latinLnBrk="0">
                <a:buClr>
                  <a:sysClr val="windowText" lastClr="000000"/>
                </a:buClr>
                <a:tabLst>
                  <a:tab pos="5648325" algn="l"/>
                </a:tabLst>
                <a:defRPr/>
              </a:pPr>
              <a:endParaRPr lang="ko-KR" altLang="en-US" sz="1300" kern="0" dirty="0" smtClean="0">
                <a:solidFill>
                  <a:srgbClr val="292929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299" name="Rectangle 78"/>
            <p:cNvSpPr>
              <a:spLocks noChangeArrowheads="1"/>
            </p:cNvSpPr>
            <p:nvPr/>
          </p:nvSpPr>
          <p:spPr bwMode="auto">
            <a:xfrm>
              <a:off x="4258149" y="2118241"/>
              <a:ext cx="1925346" cy="650810"/>
            </a:xfrm>
            <a:prstGeom prst="rect">
              <a:avLst/>
            </a:prstGeom>
            <a:gradFill flip="none" rotWithShape="1">
              <a:gsLst>
                <a:gs pos="0">
                  <a:srgbClr val="72A6E0"/>
                </a:gs>
                <a:gs pos="96000">
                  <a:srgbClr val="2C79CE"/>
                </a:gs>
                <a:gs pos="97000">
                  <a:srgbClr val="336089"/>
                </a:gs>
              </a:gsLst>
              <a:lin ang="5400000" scaled="1"/>
              <a:tileRect/>
            </a:gradFill>
            <a:ln w="127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400" dirty="0" smtClea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행정정보공동</a:t>
              </a:r>
              <a:endParaRPr kumimoji="1" lang="en-US" altLang="ko-KR" sz="1400" dirty="0" smtClean="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400" dirty="0" smtClea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이용센터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ESB</a:t>
              </a:r>
              <a:endParaRPr kumimoji="1" lang="en-US" altLang="ko-KR" sz="1400" dirty="0" smtClean="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pic>
          <p:nvPicPr>
            <p:cNvPr id="300" name="Picture 16" descr="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51259" y="3943380"/>
              <a:ext cx="892447" cy="1409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1" name="Oval 18"/>
            <p:cNvSpPr>
              <a:spLocks noChangeArrowheads="1"/>
            </p:cNvSpPr>
            <p:nvPr/>
          </p:nvSpPr>
          <p:spPr bwMode="auto">
            <a:xfrm>
              <a:off x="4958932" y="4444867"/>
              <a:ext cx="515328" cy="619735"/>
            </a:xfrm>
            <a:prstGeom prst="ellipse">
              <a:avLst/>
            </a:prstGeom>
            <a:solidFill>
              <a:sysClr val="window" lastClr="FFFFFF"/>
            </a:solidFill>
            <a:ln w="2857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kern="0" dirty="0" err="1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  <a:cs typeface="나눔명조"/>
                </a:rPr>
                <a:t>행공센</a:t>
              </a:r>
              <a:endParaRPr kumimoji="0" lang="en-US" altLang="ko-KR" sz="800" kern="0" dirty="0" smtClean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  <a:cs typeface="나눔명조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  <a:cs typeface="나눔명조"/>
                </a:rPr>
                <a:t>실시간</a:t>
              </a:r>
              <a:endParaRPr kumimoji="0" lang="en-US" altLang="ko-KR" sz="800" kern="0" dirty="0" smtClean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  <a:cs typeface="나눔명조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  <a:cs typeface="나눔명조"/>
                </a:rPr>
                <a:t>서비스</a:t>
              </a:r>
              <a:endParaRPr kumimoji="0" lang="en-US" altLang="ko-KR" sz="800" kern="0" dirty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  <a:cs typeface="나눔명조"/>
              </a:endParaRPr>
            </a:p>
          </p:txBody>
        </p:sp>
        <p:sp>
          <p:nvSpPr>
            <p:cNvPr id="302" name="모서리가 둥근 직사각형 301"/>
            <p:cNvSpPr/>
            <p:nvPr/>
          </p:nvSpPr>
          <p:spPr>
            <a:xfrm>
              <a:off x="468126" y="2518939"/>
              <a:ext cx="2811157" cy="3968333"/>
            </a:xfrm>
            <a:prstGeom prst="roundRect">
              <a:avLst>
                <a:gd name="adj" fmla="val 3752"/>
              </a:avLst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>
              <a:innerShdw blurRad="114300">
                <a:schemeClr val="bg1">
                  <a:lumMod val="75000"/>
                </a:schemeClr>
              </a:innerShdw>
            </a:effectLst>
          </p:spPr>
          <p:txBody>
            <a:bodyPr lIns="72000" tIns="0" rIns="0" bIns="0" anchor="ctr">
              <a:scene3d>
                <a:camera prst="orthographicFront"/>
                <a:lightRig rig="threePt" dir="t"/>
              </a:scene3d>
              <a:sp3d contourW="25400">
                <a:bevelT w="1270"/>
                <a:contourClr>
                  <a:schemeClr val="bg1"/>
                </a:contourClr>
              </a:sp3d>
            </a:bodyPr>
            <a:lstStyle/>
            <a:p>
              <a:pPr marL="0" lvl="1" indent="-142875" algn="ctr" defTabSz="1330325" latinLnBrk="0">
                <a:buClr>
                  <a:sysClr val="windowText" lastClr="000000"/>
                </a:buClr>
                <a:tabLst>
                  <a:tab pos="5648325" algn="l"/>
                </a:tabLst>
                <a:defRPr/>
              </a:pPr>
              <a:endParaRPr lang="ko-KR" altLang="en-US" sz="1300" kern="0" dirty="0" smtClean="0">
                <a:solidFill>
                  <a:srgbClr val="292929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303" name="Rectangle 78"/>
            <p:cNvSpPr>
              <a:spLocks noChangeArrowheads="1"/>
            </p:cNvSpPr>
            <p:nvPr/>
          </p:nvSpPr>
          <p:spPr bwMode="auto">
            <a:xfrm>
              <a:off x="468126" y="2118241"/>
              <a:ext cx="2811157" cy="650810"/>
            </a:xfrm>
            <a:prstGeom prst="rect">
              <a:avLst/>
            </a:prstGeom>
            <a:gradFill flip="none" rotWithShape="1">
              <a:gsLst>
                <a:gs pos="0">
                  <a:srgbClr val="72A6E0"/>
                </a:gs>
                <a:gs pos="96000">
                  <a:srgbClr val="2C79CE"/>
                </a:gs>
                <a:gs pos="97000">
                  <a:srgbClr val="336089"/>
                </a:gs>
              </a:gsLst>
              <a:lin ang="5400000" scaled="1"/>
              <a:tileRect/>
            </a:gradFill>
            <a:ln w="127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400" dirty="0" smtClea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</a:rPr>
                <a:t>공공기관전자결재시스템</a:t>
              </a:r>
              <a:endParaRPr kumimoji="1" lang="en-US" altLang="ko-KR" sz="1400" dirty="0" smtClean="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cxnSp>
          <p:nvCxnSpPr>
            <p:cNvPr id="304" name="직선 화살표 연결선 119"/>
            <p:cNvCxnSpPr>
              <a:endCxn id="301" idx="2"/>
            </p:cNvCxnSpPr>
            <p:nvPr/>
          </p:nvCxnSpPr>
          <p:spPr>
            <a:xfrm>
              <a:off x="2988474" y="4347271"/>
              <a:ext cx="1970458" cy="407464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636A6F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화살표 연결선 177"/>
            <p:cNvCxnSpPr>
              <a:endCxn id="319" idx="2"/>
            </p:cNvCxnSpPr>
            <p:nvPr/>
          </p:nvCxnSpPr>
          <p:spPr>
            <a:xfrm>
              <a:off x="5655708" y="4709774"/>
              <a:ext cx="1409925" cy="349063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636A6F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6" name="Picture 219" descr="사람아이콘-0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854185" y="2450998"/>
              <a:ext cx="583828" cy="730664"/>
            </a:xfrm>
            <a:prstGeom prst="rect">
              <a:avLst/>
            </a:prstGeom>
            <a:noFill/>
          </p:spPr>
        </p:pic>
        <p:sp>
          <p:nvSpPr>
            <p:cNvPr id="307" name="직사각형 306"/>
            <p:cNvSpPr/>
            <p:nvPr/>
          </p:nvSpPr>
          <p:spPr>
            <a:xfrm>
              <a:off x="7584050" y="3249604"/>
              <a:ext cx="2219753" cy="36623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lvl="0" algn="ctr">
                <a:defRPr/>
              </a:pPr>
              <a:r>
                <a:rPr lang="en-US" altLang="ko-KR" sz="1200" kern="0" dirty="0" smtClean="0">
                  <a:latin typeface="Rix모던고딕 B" pitchFamily="18" charset="-127"/>
                  <a:ea typeface="Rix모던고딕 B" pitchFamily="18" charset="-127"/>
                </a:rPr>
                <a:t>www.open.go.kr</a:t>
              </a:r>
              <a:endParaRPr lang="ko-KR" altLang="en-US" sz="1200" kern="0" dirty="0">
                <a:latin typeface="Rix모던고딕 B" pitchFamily="18" charset="-127"/>
                <a:ea typeface="Rix모던고딕 B" pitchFamily="18" charset="-127"/>
              </a:endParaRPr>
            </a:p>
          </p:txBody>
        </p:sp>
        <p:pic>
          <p:nvPicPr>
            <p:cNvPr id="308" name="Picture 16" descr="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92709" y="3346512"/>
              <a:ext cx="892447" cy="1228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9" name="Picture 16" descr="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03344" y="3601579"/>
              <a:ext cx="892447" cy="1228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" name="Oval 18"/>
            <p:cNvSpPr>
              <a:spLocks noChangeArrowheads="1"/>
            </p:cNvSpPr>
            <p:nvPr/>
          </p:nvSpPr>
          <p:spPr bwMode="auto">
            <a:xfrm>
              <a:off x="2465808" y="4081808"/>
              <a:ext cx="522666" cy="573354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00B0F0"/>
              </a:solidFill>
              <a:round/>
              <a:headEnd/>
              <a:tailEnd/>
            </a:ln>
          </p:spPr>
          <p:txBody>
            <a:bodyPr lIns="0" rIns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REST</a:t>
              </a:r>
              <a:endParaRPr kumimoji="0" lang="en-US" altLang="ko-KR" sz="800" kern="0" dirty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11" name="Oval 18"/>
            <p:cNvSpPr>
              <a:spLocks noChangeArrowheads="1"/>
            </p:cNvSpPr>
            <p:nvPr/>
          </p:nvSpPr>
          <p:spPr bwMode="auto">
            <a:xfrm>
              <a:off x="2486974" y="3760874"/>
              <a:ext cx="480335" cy="450071"/>
            </a:xfrm>
            <a:prstGeom prst="ellipse">
              <a:avLst/>
            </a:prstGeom>
            <a:solidFill>
              <a:sysClr val="window" lastClr="FFFFFF"/>
            </a:solidFill>
            <a:ln w="2857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0" rIns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ESB Agent</a:t>
              </a:r>
            </a:p>
          </p:txBody>
        </p:sp>
        <p:sp>
          <p:nvSpPr>
            <p:cNvPr id="312" name="Oval 18"/>
            <p:cNvSpPr>
              <a:spLocks noChangeArrowheads="1"/>
            </p:cNvSpPr>
            <p:nvPr/>
          </p:nvSpPr>
          <p:spPr bwMode="auto">
            <a:xfrm>
              <a:off x="832334" y="3841932"/>
              <a:ext cx="681970" cy="573354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00B0F0"/>
              </a:solidFill>
              <a:round/>
              <a:headEnd/>
              <a:tailEnd/>
            </a:ln>
          </p:spPr>
          <p:txBody>
            <a:bodyPr lIns="0" rIns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원문</a:t>
              </a:r>
              <a:endParaRPr lang="en-US" altLang="ko-KR" sz="800" kern="0" dirty="0" smtClean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추출모듈</a:t>
              </a:r>
              <a:endParaRPr kumimoji="0" lang="en-US" altLang="ko-KR" sz="800" kern="0" dirty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13" name="Oval 18"/>
            <p:cNvSpPr>
              <a:spLocks noChangeArrowheads="1"/>
            </p:cNvSpPr>
            <p:nvPr/>
          </p:nvSpPr>
          <p:spPr bwMode="auto">
            <a:xfrm>
              <a:off x="857566" y="3520998"/>
              <a:ext cx="631506" cy="450071"/>
            </a:xfrm>
            <a:prstGeom prst="ellipse">
              <a:avLst/>
            </a:prstGeom>
            <a:solidFill>
              <a:sysClr val="window" lastClr="FFFFFF"/>
            </a:solidFill>
            <a:ln w="2857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0" rIns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전자결재</a:t>
              </a:r>
              <a:endParaRPr kumimoji="0" lang="en-US" altLang="ko-KR" sz="800" kern="0" dirty="0" smtClean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S/W</a:t>
              </a:r>
              <a:endParaRPr kumimoji="0" lang="en-US" altLang="ko-KR" sz="800" kern="0" dirty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cxnSp>
          <p:nvCxnSpPr>
            <p:cNvPr id="314" name="직선 화살표 연결선 111"/>
            <p:cNvCxnSpPr>
              <a:stCxn id="312" idx="6"/>
              <a:endCxn id="310" idx="2"/>
            </p:cNvCxnSpPr>
            <p:nvPr/>
          </p:nvCxnSpPr>
          <p:spPr>
            <a:xfrm>
              <a:off x="1514304" y="4128610"/>
              <a:ext cx="951503" cy="239876"/>
            </a:xfrm>
            <a:prstGeom prst="bent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5" name="Picture 16" descr="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68018" y="4362510"/>
              <a:ext cx="892447" cy="1228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6" name="직사각형 315"/>
            <p:cNvSpPr/>
            <p:nvPr/>
          </p:nvSpPr>
          <p:spPr>
            <a:xfrm>
              <a:off x="7161009" y="5708941"/>
              <a:ext cx="1642158" cy="3356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lvl="0" algn="ctr">
                <a:defRPr/>
              </a:pPr>
              <a:r>
                <a:rPr lang="ko-KR" altLang="en-US" sz="1200" kern="0" dirty="0" smtClean="0">
                  <a:latin typeface="Rix모던고딕 B" pitchFamily="18" charset="-127"/>
                  <a:ea typeface="Rix모던고딕 B" pitchFamily="18" charset="-127"/>
                </a:rPr>
                <a:t>원문 연계서버</a:t>
              </a:r>
              <a:endParaRPr lang="ko-KR" altLang="en-US" sz="1200" kern="0" dirty="0">
                <a:latin typeface="Rix모던고딕 B" pitchFamily="18" charset="-127"/>
                <a:ea typeface="Rix모던고딕 B" pitchFamily="18" charset="-127"/>
              </a:endParaRPr>
            </a:p>
          </p:txBody>
        </p:sp>
        <p:pic>
          <p:nvPicPr>
            <p:cNvPr id="317" name="Picture 16" descr="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714242" y="4543725"/>
              <a:ext cx="892447" cy="1228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8" name="Picture 128"/>
            <p:cNvPicPr preferRelativeResize="0"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1" t="2182" r="3818" b="21739"/>
            <a:stretch>
              <a:fillRect/>
            </a:stretch>
          </p:blipFill>
          <p:spPr bwMode="auto">
            <a:xfrm>
              <a:off x="9545051" y="5789326"/>
              <a:ext cx="623759" cy="831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9" name="Oval 18"/>
            <p:cNvSpPr>
              <a:spLocks noChangeArrowheads="1"/>
            </p:cNvSpPr>
            <p:nvPr/>
          </p:nvSpPr>
          <p:spPr bwMode="auto">
            <a:xfrm>
              <a:off x="7065632" y="4709774"/>
              <a:ext cx="636406" cy="69812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00B0F0"/>
              </a:solidFill>
              <a:round/>
              <a:headEnd/>
              <a:tailEnd/>
            </a:ln>
          </p:spPr>
          <p:txBody>
            <a:bodyPr lIns="0" rIns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원문수집</a:t>
              </a:r>
              <a:endParaRPr kumimoji="0" lang="en-US" altLang="ko-KR" sz="800" kern="0" dirty="0" smtClean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프로그램</a:t>
              </a:r>
              <a:endParaRPr kumimoji="0" lang="en-US" altLang="ko-KR" sz="800" kern="0" dirty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20" name="직사각형 319"/>
            <p:cNvSpPr/>
            <p:nvPr/>
          </p:nvSpPr>
          <p:spPr>
            <a:xfrm>
              <a:off x="9114354" y="6625876"/>
              <a:ext cx="1452863" cy="461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lvl="0" algn="ctr">
                <a:defRPr/>
              </a:pPr>
              <a:r>
                <a:rPr lang="ko-KR" altLang="en-US" sz="1200" kern="0" dirty="0" smtClean="0">
                  <a:solidFill>
                    <a:prstClr val="black"/>
                  </a:solidFill>
                  <a:latin typeface="Rix모던고딕 B" pitchFamily="18" charset="-127"/>
                  <a:ea typeface="Rix모던고딕 B" pitchFamily="18" charset="-127"/>
                </a:rPr>
                <a:t>원문정보공개     </a:t>
              </a:r>
              <a:endParaRPr lang="en-US" altLang="ko-KR" sz="1200" kern="0" dirty="0" smtClean="0">
                <a:solidFill>
                  <a:prstClr val="black"/>
                </a:solidFill>
                <a:latin typeface="Rix모던고딕 B" pitchFamily="18" charset="-127"/>
                <a:ea typeface="Rix모던고딕 B" pitchFamily="18" charset="-127"/>
              </a:endParaRPr>
            </a:p>
            <a:p>
              <a:pPr lvl="0" algn="ctr">
                <a:defRPr/>
              </a:pPr>
              <a:r>
                <a:rPr lang="ko-KR" altLang="en-US" sz="1200" kern="0" dirty="0" smtClean="0">
                  <a:solidFill>
                    <a:prstClr val="black"/>
                  </a:solidFill>
                  <a:latin typeface="Rix모던고딕 B" pitchFamily="18" charset="-127"/>
                  <a:ea typeface="Rix모던고딕 B" pitchFamily="18" charset="-127"/>
                </a:rPr>
                <a:t>스토리지</a:t>
              </a:r>
              <a:endParaRPr lang="ko-KR" altLang="en-US" sz="1200" kern="0" dirty="0">
                <a:solidFill>
                  <a:prstClr val="black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cxnSp>
          <p:nvCxnSpPr>
            <p:cNvPr id="321" name="꺾인 연결선 32"/>
            <p:cNvCxnSpPr>
              <a:stCxn id="315" idx="0"/>
              <a:endCxn id="322" idx="1"/>
            </p:cNvCxnSpPr>
            <p:nvPr/>
          </p:nvCxnSpPr>
          <p:spPr>
            <a:xfrm rot="5400000" flipH="1" flipV="1">
              <a:off x="7174733" y="3344878"/>
              <a:ext cx="1557140" cy="478124"/>
            </a:xfrm>
            <a:prstGeom prst="bentConnector2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2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192365" y="2365050"/>
              <a:ext cx="843395" cy="880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cxnSp>
          <p:nvCxnSpPr>
            <p:cNvPr id="323" name="꺾인 연결선 322"/>
            <p:cNvCxnSpPr/>
            <p:nvPr/>
          </p:nvCxnSpPr>
          <p:spPr>
            <a:xfrm>
              <a:off x="9048956" y="2805371"/>
              <a:ext cx="812749" cy="1"/>
            </a:xfrm>
            <a:prstGeom prst="bentConnector3">
              <a:avLst>
                <a:gd name="adj1" fmla="val 50000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Text Box 62"/>
            <p:cNvSpPr txBox="1">
              <a:spLocks noChangeArrowheads="1"/>
            </p:cNvSpPr>
            <p:nvPr/>
          </p:nvSpPr>
          <p:spPr bwMode="auto">
            <a:xfrm>
              <a:off x="8648706" y="2007411"/>
              <a:ext cx="1679241" cy="610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① 원문 </a:t>
              </a:r>
              <a:endParaRPr lang="en-US" altLang="ko-KR" sz="12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pPr algn="ctr"/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조회 요청</a:t>
              </a:r>
              <a:endParaRPr lang="ko-KR" sz="1200" dirty="0"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25" name="Text Box 62"/>
            <p:cNvSpPr txBox="1">
              <a:spLocks noChangeArrowheads="1"/>
            </p:cNvSpPr>
            <p:nvPr/>
          </p:nvSpPr>
          <p:spPr bwMode="auto">
            <a:xfrm>
              <a:off x="6546549" y="2287819"/>
              <a:ext cx="174187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② 연계 서버 조회 요청</a:t>
              </a:r>
              <a:endParaRPr lang="ko-KR" sz="1200" dirty="0"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26" name="Text Box 62"/>
            <p:cNvSpPr txBox="1">
              <a:spLocks noChangeArrowheads="1"/>
            </p:cNvSpPr>
            <p:nvPr/>
          </p:nvSpPr>
          <p:spPr bwMode="auto">
            <a:xfrm>
              <a:off x="6752120" y="6360822"/>
              <a:ext cx="2395677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⑦ 원문 자동 저장</a:t>
              </a:r>
              <a:endParaRPr lang="en-US" altLang="ko-KR" sz="12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pPr marL="85725" lvl="0" indent="-85725" algn="ctr">
                <a:defRPr/>
              </a:pPr>
              <a:r>
                <a:rPr lang="ko-KR" altLang="en-US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              원문 </a:t>
              </a:r>
              <a:r>
                <a:rPr lang="ko-KR" altLang="en-US" sz="1200" dirty="0" err="1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저장시</a:t>
              </a:r>
              <a:r>
                <a:rPr lang="ko-KR" altLang="en-US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 파일 명 </a:t>
              </a:r>
              <a:r>
                <a:rPr lang="en-US" altLang="ko-KR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: </a:t>
              </a:r>
            </a:p>
            <a:p>
              <a:pPr marL="85725" lvl="0" indent="-85725" algn="ctr">
                <a:defRPr/>
              </a:pPr>
              <a:r>
                <a:rPr lang="ko-KR" altLang="en-US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                 문서관리</a:t>
              </a:r>
              <a:r>
                <a:rPr lang="en-US" altLang="ko-KR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 </a:t>
              </a:r>
              <a:r>
                <a:rPr lang="ko-KR" altLang="en-US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카드</a:t>
              </a:r>
              <a:r>
                <a:rPr lang="en-US" altLang="ko-KR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ID_</a:t>
              </a:r>
              <a:r>
                <a:rPr lang="ko-KR" altLang="en-US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파일</a:t>
              </a:r>
              <a:r>
                <a:rPr lang="en-US" altLang="ko-KR" sz="1200" dirty="0" smtClean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</a:rPr>
                <a:t>ID</a:t>
              </a:r>
            </a:p>
          </p:txBody>
        </p:sp>
        <p:cxnSp>
          <p:nvCxnSpPr>
            <p:cNvPr id="327" name="꺾인 연결선 32"/>
            <p:cNvCxnSpPr>
              <a:stCxn id="318" idx="1"/>
              <a:endCxn id="319" idx="4"/>
            </p:cNvCxnSpPr>
            <p:nvPr/>
          </p:nvCxnSpPr>
          <p:spPr>
            <a:xfrm rot="10800000">
              <a:off x="7383835" y="5407900"/>
              <a:ext cx="2161216" cy="797351"/>
            </a:xfrm>
            <a:prstGeom prst="bentConnector2">
              <a:avLst/>
            </a:prstGeom>
            <a:ln w="28575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Text Box 62"/>
            <p:cNvSpPr txBox="1">
              <a:spLocks noChangeArrowheads="1"/>
            </p:cNvSpPr>
            <p:nvPr/>
          </p:nvSpPr>
          <p:spPr bwMode="auto">
            <a:xfrm>
              <a:off x="5655708" y="4347271"/>
              <a:ext cx="1996098" cy="335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③원문 수집요청</a:t>
              </a:r>
              <a:endParaRPr lang="ko-KR" sz="1200" dirty="0"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29" name="Text Box 62"/>
            <p:cNvSpPr txBox="1">
              <a:spLocks noChangeArrowheads="1"/>
            </p:cNvSpPr>
            <p:nvPr/>
          </p:nvSpPr>
          <p:spPr bwMode="auto">
            <a:xfrm>
              <a:off x="979957" y="3782729"/>
              <a:ext cx="1996098" cy="335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④원문 요청</a:t>
              </a:r>
              <a:endParaRPr lang="ko-KR" sz="1200" dirty="0"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30" name="Text Box 62"/>
            <p:cNvSpPr txBox="1">
              <a:spLocks noChangeArrowheads="1"/>
            </p:cNvSpPr>
            <p:nvPr/>
          </p:nvSpPr>
          <p:spPr bwMode="auto">
            <a:xfrm>
              <a:off x="1260053" y="4444792"/>
              <a:ext cx="1668009" cy="559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⑤응답메시지에</a:t>
              </a:r>
              <a:endParaRPr lang="en-US" altLang="ko-KR" sz="12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원문 파일 첨부</a:t>
              </a:r>
              <a:endParaRPr lang="ko-KR" sz="1200" dirty="0"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31" name="Text Box 62"/>
            <p:cNvSpPr txBox="1">
              <a:spLocks noChangeArrowheads="1"/>
            </p:cNvSpPr>
            <p:nvPr/>
          </p:nvSpPr>
          <p:spPr bwMode="auto">
            <a:xfrm>
              <a:off x="2768925" y="4827556"/>
              <a:ext cx="1996098" cy="335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ko-KR" altLang="en-US" sz="1200" dirty="0" smtClean="0">
                  <a:latin typeface="Rix모던고딕 M" pitchFamily="18" charset="-127"/>
                  <a:ea typeface="Rix모던고딕 M" pitchFamily="18" charset="-127"/>
                </a:rPr>
                <a:t>⑥응답메시지 전달</a:t>
              </a:r>
              <a:endParaRPr lang="ko-KR" sz="1200" dirty="0"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32" name="Oval 18"/>
            <p:cNvSpPr>
              <a:spLocks noChangeArrowheads="1"/>
            </p:cNvSpPr>
            <p:nvPr/>
          </p:nvSpPr>
          <p:spPr bwMode="auto">
            <a:xfrm>
              <a:off x="447047" y="6629958"/>
              <a:ext cx="412793" cy="38077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00B0F0"/>
              </a:solidFill>
              <a:round/>
              <a:headEnd/>
              <a:tailEnd/>
            </a:ln>
          </p:spPr>
          <p:txBody>
            <a:bodyPr lIns="0" rIns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solidFill>
                    <a:srgbClr val="002060"/>
                  </a:solidFill>
                  <a:latin typeface="Rix모던고딕 M" pitchFamily="18" charset="-127"/>
                  <a:ea typeface="Rix모던고딕 M" pitchFamily="18" charset="-127"/>
                </a:rPr>
                <a:t>REST</a:t>
              </a:r>
              <a:endParaRPr kumimoji="0" lang="en-US" altLang="ko-KR" sz="800" kern="0" dirty="0">
                <a:solidFill>
                  <a:srgbClr val="00206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333" name="직사각형 332"/>
            <p:cNvSpPr/>
            <p:nvPr/>
          </p:nvSpPr>
          <p:spPr>
            <a:xfrm>
              <a:off x="864198" y="6654864"/>
              <a:ext cx="4689562" cy="3356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lvl="0">
                <a:defRPr/>
              </a:pPr>
              <a:r>
                <a:rPr lang="ko-KR" altLang="en-US" sz="1200" kern="0" dirty="0" smtClean="0">
                  <a:latin typeface="Rix모던고딕 B" pitchFamily="18" charset="-127"/>
                  <a:ea typeface="Rix모던고딕 B" pitchFamily="18" charset="-127"/>
                </a:rPr>
                <a:t>원문 연계 </a:t>
              </a:r>
              <a:r>
                <a:rPr lang="en-US" altLang="ko-KR" sz="1200" kern="0" dirty="0" err="1" smtClean="0">
                  <a:latin typeface="Rix모던고딕 B" pitchFamily="18" charset="-127"/>
                  <a:ea typeface="Rix모던고딕 B" pitchFamily="18" charset="-127"/>
                </a:rPr>
                <a:t>RESTful</a:t>
              </a:r>
              <a:endParaRPr lang="ko-KR" altLang="en-US" sz="1200" kern="0" dirty="0"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334" name="직사각형 333"/>
            <p:cNvSpPr/>
            <p:nvPr/>
          </p:nvSpPr>
          <p:spPr>
            <a:xfrm>
              <a:off x="583281" y="5370376"/>
              <a:ext cx="2580225" cy="6463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lvl="0">
                <a:defRPr/>
              </a:pPr>
              <a:r>
                <a:rPr lang="en-US" altLang="ko-KR" sz="1200" kern="0" dirty="0" smtClean="0">
                  <a:latin typeface="Rix모던고딕 B" pitchFamily="18" charset="-127"/>
                  <a:ea typeface="Rix모던고딕 B" pitchFamily="18" charset="-127"/>
                </a:rPr>
                <a:t>※ </a:t>
              </a:r>
              <a:r>
                <a:rPr lang="ko-KR" altLang="en-US" sz="1200" kern="0" dirty="0" smtClean="0">
                  <a:latin typeface="Rix모던고딕 B" pitchFamily="18" charset="-127"/>
                  <a:ea typeface="Rix모던고딕 B" pitchFamily="18" charset="-127"/>
                </a:rPr>
                <a:t>원문요청 시 전자결재 </a:t>
              </a:r>
              <a:r>
                <a:rPr lang="en-US" altLang="ko-KR" sz="1200" kern="0" dirty="0" smtClean="0">
                  <a:latin typeface="Rix모던고딕 B" pitchFamily="18" charset="-127"/>
                  <a:ea typeface="Rix모던고딕 B" pitchFamily="18" charset="-127"/>
                </a:rPr>
                <a:t>S/W</a:t>
              </a:r>
              <a:r>
                <a:rPr lang="ko-KR" altLang="en-US" sz="1200" kern="0" dirty="0" smtClean="0">
                  <a:latin typeface="Rix모던고딕 B" pitchFamily="18" charset="-127"/>
                  <a:ea typeface="Rix모던고딕 B" pitchFamily="18" charset="-127"/>
                </a:rPr>
                <a:t>에서</a:t>
              </a:r>
              <a:endParaRPr lang="en-US" altLang="ko-KR" sz="1200" kern="0" dirty="0" smtClean="0">
                <a:latin typeface="Rix모던고딕 B" pitchFamily="18" charset="-127"/>
                <a:ea typeface="Rix모던고딕 B" pitchFamily="18" charset="-127"/>
              </a:endParaRPr>
            </a:p>
            <a:p>
              <a:pPr lvl="0">
                <a:defRPr/>
              </a:pPr>
              <a:r>
                <a:rPr lang="ko-KR" altLang="en-US" sz="1200" kern="0" dirty="0" smtClean="0">
                  <a:latin typeface="Rix모던고딕 B" pitchFamily="18" charset="-127"/>
                  <a:ea typeface="Rix모던고딕 B" pitchFamily="18" charset="-127"/>
                </a:rPr>
                <a:t>제공하는 </a:t>
              </a:r>
              <a:r>
                <a:rPr lang="en-US" altLang="ko-KR" sz="1200" kern="0" dirty="0" err="1" smtClean="0">
                  <a:latin typeface="Rix모던고딕 B" pitchFamily="18" charset="-127"/>
                  <a:ea typeface="Rix모던고딕 B" pitchFamily="18" charset="-127"/>
                </a:rPr>
                <a:t>RESTful</a:t>
              </a:r>
              <a:r>
                <a:rPr lang="en-US" altLang="ko-KR" sz="1200" kern="0" dirty="0" smtClean="0">
                  <a:latin typeface="Rix모던고딕 B" pitchFamily="18" charset="-127"/>
                  <a:ea typeface="Rix모던고딕 B" pitchFamily="18" charset="-127"/>
                </a:rPr>
                <a:t> </a:t>
              </a:r>
              <a:r>
                <a:rPr lang="ko-KR" altLang="en-US" sz="1200" kern="0" dirty="0" err="1" smtClean="0">
                  <a:latin typeface="Rix모던고딕 B" pitchFamily="18" charset="-127"/>
                  <a:ea typeface="Rix모던고딕 B" pitchFamily="18" charset="-127"/>
                </a:rPr>
                <a:t>웹서비스를</a:t>
              </a:r>
              <a:r>
                <a:rPr lang="ko-KR" altLang="en-US" sz="1200" kern="0" dirty="0" smtClean="0">
                  <a:latin typeface="Rix모던고딕 B" pitchFamily="18" charset="-127"/>
                  <a:ea typeface="Rix모던고딕 B" pitchFamily="18" charset="-127"/>
                </a:rPr>
                <a:t> 이용하여 첨부파일을 추출</a:t>
              </a:r>
              <a:endParaRPr lang="ko-KR" altLang="en-US" sz="1200" kern="0" dirty="0"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8277872" y="184119"/>
            <a:ext cx="242592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원문정보 연계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latinLnBrk="0"/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079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/>
          <p:cNvSpPr/>
          <p:nvPr/>
        </p:nvSpPr>
        <p:spPr>
          <a:xfrm>
            <a:off x="515126" y="1380723"/>
            <a:ext cx="9937104" cy="4496178"/>
          </a:xfrm>
          <a:prstGeom prst="roundRect">
            <a:avLst>
              <a:gd name="adj" fmla="val 5416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제목 36"/>
          <p:cNvSpPr txBox="1">
            <a:spLocks/>
          </p:cNvSpPr>
          <p:nvPr/>
        </p:nvSpPr>
        <p:spPr>
          <a:xfrm>
            <a:off x="218232" y="470206"/>
            <a:ext cx="9471340" cy="523541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2.1.</a:t>
            </a:r>
            <a:r>
              <a:rPr lang="en-US" altLang="ko-KR" sz="2700" dirty="0" smtClean="0">
                <a:solidFill>
                  <a:srgbClr val="4241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공공기관 전자결재시스템</a:t>
            </a:r>
            <a:r>
              <a:rPr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 연계</a:t>
            </a:r>
            <a:endParaRPr lang="ko-KR" altLang="en-US" sz="2700" dirty="0">
              <a:solidFill>
                <a:srgbClr val="4241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</a:t>
            </a:r>
            <a:r>
              <a:rPr kumimoji="0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전자결재 연계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486098" y="6041534"/>
            <a:ext cx="9937104" cy="936000"/>
            <a:chOff x="994964" y="6041534"/>
            <a:chExt cx="9160789" cy="936000"/>
          </a:xfrm>
        </p:grpSpPr>
        <p:sp>
          <p:nvSpPr>
            <p:cNvPr id="171" name="모서리가 둥근 직사각형 170"/>
            <p:cNvSpPr/>
            <p:nvPr/>
          </p:nvSpPr>
          <p:spPr>
            <a:xfrm>
              <a:off x="1651136" y="6056710"/>
              <a:ext cx="8504617" cy="905585"/>
            </a:xfrm>
            <a:prstGeom prst="roundRect">
              <a:avLst>
                <a:gd name="adj" fmla="val 6570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2" name="그룹 125"/>
            <p:cNvGrpSpPr/>
            <p:nvPr/>
          </p:nvGrpSpPr>
          <p:grpSpPr>
            <a:xfrm rot="10800000">
              <a:off x="994964" y="6041534"/>
              <a:ext cx="746132" cy="936000"/>
              <a:chOff x="662045" y="3702893"/>
              <a:chExt cx="746132" cy="671708"/>
            </a:xfrm>
          </p:grpSpPr>
          <p:sp>
            <p:nvSpPr>
              <p:cNvPr id="173" name="양쪽 모서리가 둥근 사각형 172"/>
              <p:cNvSpPr/>
              <p:nvPr/>
            </p:nvSpPr>
            <p:spPr>
              <a:xfrm rot="5400000" flipH="1">
                <a:off x="699257" y="3665681"/>
                <a:ext cx="671708" cy="746132"/>
              </a:xfrm>
              <a:prstGeom prst="round2SameRect">
                <a:avLst>
                  <a:gd name="adj1" fmla="val 16034"/>
                  <a:gd name="adj2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 rot="10800000">
                <a:off x="684225" y="4030490"/>
                <a:ext cx="701773" cy="831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1018624" latinLnBrk="0">
                  <a:buSzPct val="80000"/>
                </a:pPr>
                <a:r>
                  <a:rPr lang="ko-KR" altLang="en-US" sz="1100" b="1" spc="-80" smtClean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고려사항</a:t>
                </a:r>
                <a:endParaRPr lang="ko-KR" altLang="en-US" sz="1100" b="1" spc="-8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75" name="TextBox 174"/>
            <p:cNvSpPr txBox="1"/>
            <p:nvPr/>
          </p:nvSpPr>
          <p:spPr>
            <a:xfrm>
              <a:off x="1890811" y="6256650"/>
              <a:ext cx="8028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8900" indent="-88900">
                <a:buFont typeface="Arial" panose="020B0604020202020204" pitchFamily="34" charset="0"/>
                <a:buChar char="•"/>
              </a:pPr>
              <a:r>
                <a:rPr lang="ko-KR" altLang="en-US" sz="12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인터넷망을</a:t>
              </a:r>
              <a:r>
                <a:rPr lang="ko-KR" altLang="en-US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사용하여 행정정보공동이용센터의 연계서비스를 활용 함으로 인터넷 구간의 보안을 위한 </a:t>
              </a:r>
              <a:r>
                <a:rPr lang="en-US" altLang="ko-KR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PKI </a:t>
              </a:r>
              <a:r>
                <a:rPr lang="ko-KR" altLang="en-US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적용과 인터넷 </a:t>
              </a:r>
              <a:endPara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구간과 전자결재시스템 간의 네트워크 보안장비를 이용하여 네트워크 보안 적용 필요</a:t>
              </a:r>
              <a:endPara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8277872" y="184119"/>
            <a:ext cx="242592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원문정보 연계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latinLnBrk="0"/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522890" y="1432813"/>
            <a:ext cx="9844681" cy="4444088"/>
            <a:chOff x="522890" y="1432813"/>
            <a:chExt cx="9844681" cy="4444088"/>
          </a:xfrm>
        </p:grpSpPr>
        <p:sp>
          <p:nvSpPr>
            <p:cNvPr id="75" name="직사각형 74"/>
            <p:cNvSpPr/>
            <p:nvPr/>
          </p:nvSpPr>
          <p:spPr>
            <a:xfrm>
              <a:off x="5035345" y="1519897"/>
              <a:ext cx="2204182" cy="424089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7303302" y="1519897"/>
              <a:ext cx="2985077" cy="42408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048420" y="1432813"/>
              <a:ext cx="7553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망 연동</a:t>
              </a:r>
              <a:endPara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" name="직사각형 112"/>
            <p:cNvSpPr/>
            <p:nvPr/>
          </p:nvSpPr>
          <p:spPr bwMode="auto">
            <a:xfrm>
              <a:off x="600498" y="2070654"/>
              <a:ext cx="1558327" cy="306052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buFont typeface="Arial" pitchFamily="34" charset="0"/>
                <a:buChar char="•"/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316590" y="3052797"/>
              <a:ext cx="183874" cy="1838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6316590" y="3409305"/>
              <a:ext cx="183874" cy="1838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/>
            <p:cNvSpPr/>
            <p:nvPr/>
          </p:nvSpPr>
          <p:spPr bwMode="auto">
            <a:xfrm>
              <a:off x="8127358" y="1658740"/>
              <a:ext cx="2114906" cy="386081"/>
            </a:xfrm>
            <a:prstGeom prst="rect">
              <a:avLst/>
            </a:prstGeom>
            <a:blipFill dpi="0"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 algn="ctr">
              <a:solidFill>
                <a:srgbClr val="678ABB"/>
              </a:solidFill>
              <a:round/>
              <a:headEnd/>
              <a:tailEnd/>
            </a:ln>
          </p:spPr>
          <p:txBody>
            <a:bodyPr wrap="square" tIns="18000" bIns="18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>
                <a:lnSpc>
                  <a:spcPct val="95000"/>
                </a:lnSpc>
                <a:defRPr/>
              </a:pP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공공기관 전자결재시스템</a:t>
              </a:r>
            </a:p>
          </p:txBody>
        </p:sp>
        <p:sp>
          <p:nvSpPr>
            <p:cNvPr id="63" name="직사각형 62"/>
            <p:cNvSpPr/>
            <p:nvPr/>
          </p:nvSpPr>
          <p:spPr bwMode="auto">
            <a:xfrm>
              <a:off x="8127358" y="2044822"/>
              <a:ext cx="2115200" cy="30863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buFont typeface="Arial" pitchFamily="34" charset="0"/>
                <a:buChar char="•"/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" name="직사각형 63"/>
            <p:cNvSpPr/>
            <p:nvPr/>
          </p:nvSpPr>
          <p:spPr bwMode="auto">
            <a:xfrm>
              <a:off x="5100157" y="1658740"/>
              <a:ext cx="2069197" cy="386081"/>
            </a:xfrm>
            <a:prstGeom prst="rect">
              <a:avLst/>
            </a:prstGeom>
            <a:blipFill dpi="0"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 algn="ctr">
              <a:solidFill>
                <a:srgbClr val="678ABB"/>
              </a:solidFill>
              <a:round/>
              <a:headEnd/>
              <a:tailEnd/>
            </a:ln>
          </p:spPr>
          <p:txBody>
            <a:bodyPr wrap="square" tIns="18000" bIns="18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>
                <a:lnSpc>
                  <a:spcPct val="95000"/>
                </a:lnSpc>
                <a:defRPr/>
              </a:pP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인터넷 구간</a:t>
              </a:r>
            </a:p>
          </p:txBody>
        </p:sp>
        <p:sp>
          <p:nvSpPr>
            <p:cNvPr id="65" name="직사각형 64"/>
            <p:cNvSpPr/>
            <p:nvPr/>
          </p:nvSpPr>
          <p:spPr bwMode="auto">
            <a:xfrm>
              <a:off x="5100221" y="2044822"/>
              <a:ext cx="2069441" cy="30863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buFont typeface="Arial" pitchFamily="34" charset="0"/>
                <a:buChar char="•"/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6" name="Picture 16" descr="S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50189" y="2602174"/>
              <a:ext cx="1138670" cy="1514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" name="Oval 18"/>
            <p:cNvSpPr>
              <a:spLocks noChangeArrowheads="1"/>
            </p:cNvSpPr>
            <p:nvPr/>
          </p:nvSpPr>
          <p:spPr bwMode="auto">
            <a:xfrm>
              <a:off x="5973333" y="3042851"/>
              <a:ext cx="561062" cy="580081"/>
            </a:xfrm>
            <a:prstGeom prst="ellipse">
              <a:avLst/>
            </a:prstGeom>
            <a:solidFill>
              <a:sysClr val="window" lastClr="FFFFFF"/>
            </a:solidFill>
            <a:ln w="2857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kern="0" dirty="0" err="1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행공센</a:t>
              </a:r>
              <a:endParaRPr kumimoji="0" lang="en-US" altLang="ko-KR" sz="1000" kern="0" dirty="0" smtClean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dirty="0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ESB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dirty="0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Agent</a:t>
              </a:r>
              <a:endParaRPr kumimoji="0" lang="en-US" altLang="ko-KR" sz="1000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Text Box 62"/>
            <p:cNvSpPr txBox="1">
              <a:spLocks noChangeArrowheads="1"/>
            </p:cNvSpPr>
            <p:nvPr/>
          </p:nvSpPr>
          <p:spPr bwMode="auto">
            <a:xfrm>
              <a:off x="5248709" y="3996573"/>
              <a:ext cx="17724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/>
              <a:r>
                <a: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Agent </a:t>
              </a:r>
              <a:r>
                <a:rPr lang="ko-KR" altLang="en-US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서버</a:t>
              </a:r>
              <a:endParaRPr lang="ko-KR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5" name="Picture 16" descr="S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676185" y="2583013"/>
              <a:ext cx="1081529" cy="1514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6" name="그룹 85"/>
            <p:cNvGrpSpPr/>
            <p:nvPr/>
          </p:nvGrpSpPr>
          <p:grpSpPr>
            <a:xfrm>
              <a:off x="9041819" y="3771822"/>
              <a:ext cx="1246559" cy="1062983"/>
              <a:chOff x="8653148" y="4887507"/>
              <a:chExt cx="1246559" cy="1062983"/>
            </a:xfrm>
          </p:grpSpPr>
          <p:pic>
            <p:nvPicPr>
              <p:cNvPr id="87" name="Picture 59" descr="DB"/>
              <p:cNvPicPr preferRelativeResize="0">
                <a:picLocks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8726335" y="5219982"/>
                <a:ext cx="1058705" cy="7305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8" name="Text Box 62"/>
              <p:cNvSpPr txBox="1">
                <a:spLocks noChangeArrowheads="1"/>
              </p:cNvSpPr>
              <p:nvPr/>
            </p:nvSpPr>
            <p:spPr bwMode="auto">
              <a:xfrm>
                <a:off x="8653148" y="5378939"/>
                <a:ext cx="1246559" cy="430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/>
                <a:r>
                  <a:rPr lang="ko-KR" altLang="en-US" sz="11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전자결재</a:t>
                </a:r>
                <a:endPara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en-US" altLang="ko-KR" sz="11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DB</a:t>
                </a:r>
                <a:endParaRPr 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9" name="Freeform 286"/>
              <p:cNvSpPr>
                <a:spLocks/>
              </p:cNvSpPr>
              <p:nvPr/>
            </p:nvSpPr>
            <p:spPr bwMode="auto">
              <a:xfrm rot="16732570">
                <a:off x="9137757" y="4962472"/>
                <a:ext cx="232254" cy="447454"/>
              </a:xfrm>
              <a:custGeom>
                <a:avLst/>
                <a:gdLst/>
                <a:ahLst/>
                <a:cxnLst>
                  <a:cxn ang="0">
                    <a:pos x="556" y="2"/>
                  </a:cxn>
                  <a:cxn ang="0">
                    <a:pos x="137" y="257"/>
                  </a:cxn>
                  <a:cxn ang="0">
                    <a:pos x="300" y="720"/>
                  </a:cxn>
                  <a:cxn ang="0">
                    <a:pos x="240" y="816"/>
                  </a:cxn>
                  <a:cxn ang="0">
                    <a:pos x="640" y="750"/>
                  </a:cxn>
                  <a:cxn ang="0">
                    <a:pos x="527" y="387"/>
                  </a:cxn>
                  <a:cxn ang="0">
                    <a:pos x="466" y="486"/>
                  </a:cxn>
                  <a:cxn ang="0">
                    <a:pos x="556" y="2"/>
                  </a:cxn>
                </a:cxnLst>
                <a:rect l="0" t="0" r="r" b="b"/>
                <a:pathLst>
                  <a:path w="640" h="816">
                    <a:moveTo>
                      <a:pt x="556" y="2"/>
                    </a:moveTo>
                    <a:cubicBezTo>
                      <a:pt x="563" y="4"/>
                      <a:pt x="274" y="6"/>
                      <a:pt x="137" y="257"/>
                    </a:cubicBezTo>
                    <a:cubicBezTo>
                      <a:pt x="0" y="508"/>
                      <a:pt x="306" y="720"/>
                      <a:pt x="300" y="720"/>
                    </a:cubicBezTo>
                    <a:cubicBezTo>
                      <a:pt x="304" y="725"/>
                      <a:pt x="246" y="780"/>
                      <a:pt x="240" y="816"/>
                    </a:cubicBezTo>
                    <a:cubicBezTo>
                      <a:pt x="444" y="786"/>
                      <a:pt x="632" y="757"/>
                      <a:pt x="640" y="750"/>
                    </a:cubicBezTo>
                    <a:cubicBezTo>
                      <a:pt x="538" y="606"/>
                      <a:pt x="527" y="387"/>
                      <a:pt x="527" y="387"/>
                    </a:cubicBezTo>
                    <a:cubicBezTo>
                      <a:pt x="522" y="388"/>
                      <a:pt x="478" y="510"/>
                      <a:pt x="466" y="486"/>
                    </a:cubicBezTo>
                    <a:cubicBezTo>
                      <a:pt x="28" y="92"/>
                      <a:pt x="557" y="0"/>
                      <a:pt x="556" y="2"/>
                    </a:cubicBezTo>
                    <a:close/>
                  </a:path>
                </a:pathLst>
              </a:custGeom>
              <a:solidFill>
                <a:srgbClr val="FFC000"/>
              </a:solidFill>
              <a:ln w="9525" cap="flat" cmpd="sng">
                <a:solidFill>
                  <a:srgbClr val="969696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1pPr>
                <a:lvl2pPr marL="422275" indent="1905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2pPr>
                <a:lvl3pPr marL="847725" indent="39688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3pPr>
                <a:lvl4pPr marL="1273175" indent="61913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4pPr>
                <a:lvl5pPr marL="1698625" indent="80963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0" name="Freeform 287"/>
              <p:cNvSpPr>
                <a:spLocks/>
              </p:cNvSpPr>
              <p:nvPr/>
            </p:nvSpPr>
            <p:spPr bwMode="auto">
              <a:xfrm rot="16732570" flipH="1" flipV="1">
                <a:off x="9204105" y="4779907"/>
                <a:ext cx="232254" cy="447454"/>
              </a:xfrm>
              <a:custGeom>
                <a:avLst/>
                <a:gdLst/>
                <a:ahLst/>
                <a:cxnLst>
                  <a:cxn ang="0">
                    <a:pos x="556" y="2"/>
                  </a:cxn>
                  <a:cxn ang="0">
                    <a:pos x="137" y="257"/>
                  </a:cxn>
                  <a:cxn ang="0">
                    <a:pos x="300" y="720"/>
                  </a:cxn>
                  <a:cxn ang="0">
                    <a:pos x="240" y="816"/>
                  </a:cxn>
                  <a:cxn ang="0">
                    <a:pos x="640" y="750"/>
                  </a:cxn>
                  <a:cxn ang="0">
                    <a:pos x="527" y="387"/>
                  </a:cxn>
                  <a:cxn ang="0">
                    <a:pos x="466" y="486"/>
                  </a:cxn>
                  <a:cxn ang="0">
                    <a:pos x="556" y="2"/>
                  </a:cxn>
                </a:cxnLst>
                <a:rect l="0" t="0" r="r" b="b"/>
                <a:pathLst>
                  <a:path w="640" h="816">
                    <a:moveTo>
                      <a:pt x="556" y="2"/>
                    </a:moveTo>
                    <a:cubicBezTo>
                      <a:pt x="563" y="4"/>
                      <a:pt x="274" y="6"/>
                      <a:pt x="137" y="257"/>
                    </a:cubicBezTo>
                    <a:cubicBezTo>
                      <a:pt x="0" y="508"/>
                      <a:pt x="306" y="720"/>
                      <a:pt x="300" y="720"/>
                    </a:cubicBezTo>
                    <a:cubicBezTo>
                      <a:pt x="304" y="725"/>
                      <a:pt x="246" y="780"/>
                      <a:pt x="240" y="816"/>
                    </a:cubicBezTo>
                    <a:cubicBezTo>
                      <a:pt x="444" y="786"/>
                      <a:pt x="632" y="757"/>
                      <a:pt x="640" y="750"/>
                    </a:cubicBezTo>
                    <a:cubicBezTo>
                      <a:pt x="538" y="606"/>
                      <a:pt x="527" y="387"/>
                      <a:pt x="527" y="387"/>
                    </a:cubicBezTo>
                    <a:cubicBezTo>
                      <a:pt x="522" y="388"/>
                      <a:pt x="478" y="510"/>
                      <a:pt x="466" y="486"/>
                    </a:cubicBezTo>
                    <a:cubicBezTo>
                      <a:pt x="28" y="92"/>
                      <a:pt x="557" y="0"/>
                      <a:pt x="556" y="2"/>
                    </a:cubicBezTo>
                    <a:close/>
                  </a:path>
                </a:pathLst>
              </a:custGeom>
              <a:solidFill>
                <a:srgbClr val="FFC000"/>
              </a:solidFill>
              <a:ln w="9525" cap="flat" cmpd="sng">
                <a:solidFill>
                  <a:srgbClr val="969696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1pPr>
                <a:lvl2pPr marL="422275" indent="1905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2pPr>
                <a:lvl3pPr marL="847725" indent="39688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3pPr>
                <a:lvl4pPr marL="1273175" indent="61913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4pPr>
                <a:lvl5pPr marL="1698625" indent="80963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91" name="AutoShape 86"/>
            <p:cNvSpPr>
              <a:spLocks noChangeArrowheads="1"/>
            </p:cNvSpPr>
            <p:nvPr/>
          </p:nvSpPr>
          <p:spPr bwMode="auto">
            <a:xfrm>
              <a:off x="8696559" y="3002809"/>
              <a:ext cx="1025657" cy="282524"/>
            </a:xfrm>
            <a:prstGeom prst="roundRect">
              <a:avLst>
                <a:gd name="adj" fmla="val 2259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전자결재목록 추출 모듈</a:t>
              </a:r>
              <a:endParaRPr lang="en-US" altLang="ko-KR" sz="7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defRPr/>
              </a:pPr>
              <a:r>
                <a:rPr lang="en-US" altLang="ko-KR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배치 연계</a:t>
              </a:r>
              <a:r>
                <a:rPr lang="en-US" altLang="ko-KR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2" name="AutoShape 86"/>
            <p:cNvSpPr>
              <a:spLocks noChangeArrowheads="1"/>
            </p:cNvSpPr>
            <p:nvPr/>
          </p:nvSpPr>
          <p:spPr bwMode="auto">
            <a:xfrm>
              <a:off x="8696559" y="3359367"/>
              <a:ext cx="1025657" cy="282524"/>
            </a:xfrm>
            <a:prstGeom prst="roundRect">
              <a:avLst>
                <a:gd name="adj" fmla="val 2259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전자결재원문 </a:t>
              </a:r>
              <a:r>
                <a:rPr lang="ko-KR" altLang="en-US" sz="7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추출 </a:t>
              </a:r>
              <a:r>
                <a:rPr lang="ko-KR" altLang="en-US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모듈</a:t>
              </a:r>
              <a:endParaRPr lang="en-US" altLang="ko-KR" sz="7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defRPr/>
              </a:pPr>
              <a:r>
                <a:rPr lang="en-US" altLang="ko-KR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실시간 연계</a:t>
              </a:r>
              <a:r>
                <a:rPr lang="en-US" altLang="ko-KR" sz="7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직사각형 102"/>
            <p:cNvSpPr/>
            <p:nvPr/>
          </p:nvSpPr>
          <p:spPr bwMode="auto">
            <a:xfrm>
              <a:off x="2342381" y="1684571"/>
              <a:ext cx="1558326" cy="386081"/>
            </a:xfrm>
            <a:prstGeom prst="rect">
              <a:avLst/>
            </a:prstGeom>
            <a:blipFill dpi="0"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 algn="ctr">
              <a:solidFill>
                <a:srgbClr val="678ABB"/>
              </a:solidFill>
              <a:round/>
              <a:headEnd/>
              <a:tailEnd/>
            </a:ln>
          </p:spPr>
          <p:txBody>
            <a:bodyPr wrap="square" tIns="18000" bIns="18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>
                <a:lnSpc>
                  <a:spcPct val="95000"/>
                </a:lnSpc>
                <a:defRPr/>
              </a:pPr>
              <a:r>
                <a:rPr lang="ko-KR" altLang="en-US" sz="105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행정정보공동이용센터</a:t>
              </a:r>
              <a:endPara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4" name="직사각형 103"/>
            <p:cNvSpPr/>
            <p:nvPr/>
          </p:nvSpPr>
          <p:spPr bwMode="auto">
            <a:xfrm>
              <a:off x="2342380" y="2070654"/>
              <a:ext cx="1558327" cy="306052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buFont typeface="Arial" pitchFamily="34" charset="0"/>
                <a:buChar char="•"/>
                <a:defRPr/>
              </a:pP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5" name="Picture 16" descr="S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21067" y="2538931"/>
              <a:ext cx="1166183" cy="1514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" name="Text Box 62"/>
            <p:cNvSpPr txBox="1">
              <a:spLocks noChangeArrowheads="1"/>
            </p:cNvSpPr>
            <p:nvPr/>
          </p:nvSpPr>
          <p:spPr bwMode="auto">
            <a:xfrm>
              <a:off x="2733166" y="4102895"/>
              <a:ext cx="86409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/>
              <a:r>
                <a:rPr lang="ko-KR" altLang="en-US" sz="12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행공센</a:t>
              </a:r>
              <a:r>
                <a:rPr lang="ko-KR" altLang="en-US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ESB </a:t>
              </a:r>
              <a:r>
                <a:rPr lang="ko-KR" altLang="en-US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서버</a:t>
              </a:r>
              <a:endParaRPr 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7" name="Oval 18"/>
            <p:cNvSpPr>
              <a:spLocks noChangeArrowheads="1"/>
            </p:cNvSpPr>
            <p:nvPr/>
          </p:nvSpPr>
          <p:spPr bwMode="auto">
            <a:xfrm>
              <a:off x="2388144" y="3080820"/>
              <a:ext cx="528879" cy="580081"/>
            </a:xfrm>
            <a:prstGeom prst="ellipse">
              <a:avLst/>
            </a:prstGeom>
            <a:solidFill>
              <a:sysClr val="window" lastClr="FFFFFF"/>
            </a:solidFill>
            <a:ln w="2857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dirty="0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dirty="0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API</a:t>
              </a:r>
              <a:endParaRPr kumimoji="0" lang="en-US" altLang="ko-KR" sz="1000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Oval 18"/>
            <p:cNvSpPr>
              <a:spLocks noChangeArrowheads="1"/>
            </p:cNvSpPr>
            <p:nvPr/>
          </p:nvSpPr>
          <p:spPr bwMode="auto">
            <a:xfrm>
              <a:off x="3257505" y="3080820"/>
              <a:ext cx="600447" cy="580081"/>
            </a:xfrm>
            <a:prstGeom prst="ellipse">
              <a:avLst/>
            </a:prstGeom>
            <a:solidFill>
              <a:sysClr val="window" lastClr="FFFFFF"/>
            </a:solidFill>
            <a:ln w="2857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kern="0" dirty="0" err="1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행공센</a:t>
              </a:r>
              <a:endParaRPr kumimoji="0" lang="en-US" altLang="ko-KR" sz="1000" kern="0" dirty="0" smtClean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kern="0" dirty="0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</a:t>
              </a:r>
              <a:endParaRPr kumimoji="0" lang="en-US" altLang="ko-KR" sz="1000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9" name="직선 화살표 연결선 108"/>
            <p:cNvCxnSpPr/>
            <p:nvPr/>
          </p:nvCxnSpPr>
          <p:spPr bwMode="auto">
            <a:xfrm>
              <a:off x="3841209" y="3233392"/>
              <a:ext cx="1867755" cy="0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/>
            <p:cNvCxnSpPr/>
            <p:nvPr/>
          </p:nvCxnSpPr>
          <p:spPr bwMode="auto">
            <a:xfrm flipH="1">
              <a:off x="3815809" y="3498054"/>
              <a:ext cx="1867756" cy="0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2" name="직사각형 141"/>
            <p:cNvSpPr/>
            <p:nvPr/>
          </p:nvSpPr>
          <p:spPr>
            <a:xfrm>
              <a:off x="6404985" y="3222964"/>
              <a:ext cx="106725" cy="109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6404985" y="3348034"/>
              <a:ext cx="106725" cy="109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화살표 연결선 7"/>
            <p:cNvCxnSpPr>
              <a:stCxn id="91" idx="1"/>
              <a:endCxn id="6" idx="3"/>
            </p:cNvCxnSpPr>
            <p:nvPr/>
          </p:nvCxnSpPr>
          <p:spPr>
            <a:xfrm flipH="1">
              <a:off x="6500464" y="3144071"/>
              <a:ext cx="2196095" cy="6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화살표 연결선 148"/>
            <p:cNvCxnSpPr>
              <a:stCxn id="92" idx="1"/>
              <a:endCxn id="148" idx="3"/>
            </p:cNvCxnSpPr>
            <p:nvPr/>
          </p:nvCxnSpPr>
          <p:spPr>
            <a:xfrm flipH="1">
              <a:off x="6500464" y="3500629"/>
              <a:ext cx="2196095" cy="6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0" name="그룹 61"/>
            <p:cNvGrpSpPr/>
            <p:nvPr/>
          </p:nvGrpSpPr>
          <p:grpSpPr>
            <a:xfrm>
              <a:off x="6561954" y="2559270"/>
              <a:ext cx="394401" cy="566020"/>
              <a:chOff x="8002252" y="2794645"/>
              <a:chExt cx="562975" cy="682692"/>
            </a:xfrm>
          </p:grpSpPr>
          <p:pic>
            <p:nvPicPr>
              <p:cNvPr id="151" name="Picture 61" descr="C:\Users\yb\Desktop\11.PNG"/>
              <p:cNvPicPr>
                <a:picLocks noChangeAspect="1" noChangeArrowheads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67715" y="2794645"/>
                <a:ext cx="432048" cy="4087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2" name="TextBox 151"/>
              <p:cNvSpPr txBox="1"/>
              <p:nvPr/>
            </p:nvSpPr>
            <p:spPr>
              <a:xfrm>
                <a:off x="8002252" y="3169560"/>
                <a:ext cx="5629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7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정보목록</a:t>
                </a:r>
                <a:r>
                  <a:rPr lang="en-US" altLang="ko-KR" sz="7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</a:t>
                </a:r>
              </a:p>
              <a:p>
                <a:pPr algn="ctr"/>
                <a:r>
                  <a:rPr lang="en-US" altLang="ko-KR" sz="7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(CSV)</a:t>
                </a:r>
                <a:endParaRPr lang="ko-KR" altLang="en-US" sz="7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53" name="그룹 67"/>
            <p:cNvGrpSpPr/>
            <p:nvPr/>
          </p:nvGrpSpPr>
          <p:grpSpPr>
            <a:xfrm>
              <a:off x="6570319" y="3548536"/>
              <a:ext cx="320228" cy="436467"/>
              <a:chOff x="8077585" y="2924944"/>
              <a:chExt cx="510411" cy="704111"/>
            </a:xfrm>
          </p:grpSpPr>
          <p:pic>
            <p:nvPicPr>
              <p:cNvPr id="154" name="Picture 2"/>
              <p:cNvPicPr>
                <a:picLocks noChangeAspect="1" noChangeArrowheads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77585" y="2924944"/>
                <a:ext cx="510411" cy="5395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5" name="TextBox 154"/>
              <p:cNvSpPr txBox="1"/>
              <p:nvPr/>
            </p:nvSpPr>
            <p:spPr>
              <a:xfrm>
                <a:off x="8150689" y="3429000"/>
                <a:ext cx="36420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7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원문</a:t>
                </a:r>
                <a:endParaRPr lang="ko-KR" altLang="en-US" sz="7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56" name="Oval 18"/>
            <p:cNvSpPr>
              <a:spLocks noChangeArrowheads="1"/>
            </p:cNvSpPr>
            <p:nvPr/>
          </p:nvSpPr>
          <p:spPr bwMode="auto">
            <a:xfrm>
              <a:off x="8140780" y="3055009"/>
              <a:ext cx="617683" cy="580081"/>
            </a:xfrm>
            <a:prstGeom prst="ellipse">
              <a:avLst/>
            </a:prstGeom>
            <a:solidFill>
              <a:sysClr val="window" lastClr="FFFFFF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dirty="0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r>
                <a:rPr kumimoji="0" lang="ko-KR" altLang="en-US" sz="1000" kern="0" dirty="0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en-US" altLang="ko-KR" sz="1000" kern="0" dirty="0" smtClean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Service</a:t>
              </a:r>
              <a:endParaRPr kumimoji="0" lang="en-US" altLang="ko-KR" sz="1000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3" name="직선 연결선 92"/>
            <p:cNvCxnSpPr/>
            <p:nvPr/>
          </p:nvCxnSpPr>
          <p:spPr>
            <a:xfrm>
              <a:off x="4488347" y="1655483"/>
              <a:ext cx="0" cy="422141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그룹 13"/>
            <p:cNvGrpSpPr/>
            <p:nvPr/>
          </p:nvGrpSpPr>
          <p:grpSpPr>
            <a:xfrm>
              <a:off x="4378042" y="2122391"/>
              <a:ext cx="693747" cy="597511"/>
              <a:chOff x="-2215392" y="3437245"/>
              <a:chExt cx="693747" cy="597511"/>
            </a:xfrm>
          </p:grpSpPr>
          <p:sp>
            <p:nvSpPr>
              <p:cNvPr id="83" name="구름 82"/>
              <p:cNvSpPr/>
              <p:nvPr/>
            </p:nvSpPr>
            <p:spPr>
              <a:xfrm>
                <a:off x="-2215392" y="3437245"/>
                <a:ext cx="693747" cy="597511"/>
              </a:xfrm>
              <a:prstGeom prst="clou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6C9E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-2142366" y="3530843"/>
                <a:ext cx="60785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인터넷</a:t>
                </a:r>
                <a:endPara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ko-KR" altLang="en-US" sz="1100" dirty="0" err="1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사용망</a:t>
                </a:r>
                <a:endPara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3878219" y="3690158"/>
              <a:ext cx="748923" cy="597511"/>
              <a:chOff x="-3034708" y="4436399"/>
              <a:chExt cx="748923" cy="597511"/>
            </a:xfrm>
          </p:grpSpPr>
          <p:sp>
            <p:nvSpPr>
              <p:cNvPr id="95" name="구름 94"/>
              <p:cNvSpPr/>
              <p:nvPr/>
            </p:nvSpPr>
            <p:spPr>
              <a:xfrm>
                <a:off x="-3018678" y="4436399"/>
                <a:ext cx="693747" cy="597511"/>
              </a:xfrm>
              <a:prstGeom prst="clou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6C9E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-3034708" y="4509425"/>
                <a:ext cx="74892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1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국가정보</a:t>
                </a:r>
                <a:endPara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ko-KR" altLang="en-US" sz="1100" dirty="0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통신망</a:t>
                </a:r>
                <a:endPara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12" name="직사각형 111"/>
            <p:cNvSpPr/>
            <p:nvPr/>
          </p:nvSpPr>
          <p:spPr bwMode="auto">
            <a:xfrm>
              <a:off x="600499" y="1684571"/>
              <a:ext cx="1558326" cy="386081"/>
            </a:xfrm>
            <a:prstGeom prst="rect">
              <a:avLst/>
            </a:prstGeom>
            <a:blipFill dpi="0"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 algn="ctr">
              <a:solidFill>
                <a:srgbClr val="678ABB"/>
              </a:solidFill>
              <a:round/>
              <a:headEnd/>
              <a:tailEnd/>
            </a:ln>
          </p:spPr>
          <p:txBody>
            <a:bodyPr wrap="square" tIns="18000" bIns="18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>
                <a:lnSpc>
                  <a:spcPct val="95000"/>
                </a:lnSpc>
                <a:defRPr/>
              </a:pPr>
              <a:r>
                <a:rPr lang="ko-KR" altLang="en-US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원문정보공개  </a:t>
              </a:r>
              <a:endPara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95000"/>
                </a:lnSpc>
                <a:defRPr/>
              </a:pPr>
              <a:r>
                <a:rPr lang="ko-KR" altLang="en-US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</a:p>
          </p:txBody>
        </p:sp>
        <p:pic>
          <p:nvPicPr>
            <p:cNvPr id="114" name="Picture 16" descr="S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79185" y="2538931"/>
              <a:ext cx="1166183" cy="1514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5" name="Text Box 62"/>
            <p:cNvSpPr txBox="1">
              <a:spLocks noChangeArrowheads="1"/>
            </p:cNvSpPr>
            <p:nvPr/>
          </p:nvSpPr>
          <p:spPr bwMode="auto">
            <a:xfrm>
              <a:off x="522890" y="4028583"/>
              <a:ext cx="86409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연계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ESB</a:t>
              </a:r>
              <a:endParaRPr lang="ko-KR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화살표 연결선 117"/>
            <p:cNvCxnSpPr/>
            <p:nvPr/>
          </p:nvCxnSpPr>
          <p:spPr bwMode="auto">
            <a:xfrm>
              <a:off x="2047241" y="3273676"/>
              <a:ext cx="358803" cy="2388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직선 화살표 연결선 118"/>
            <p:cNvCxnSpPr/>
            <p:nvPr/>
          </p:nvCxnSpPr>
          <p:spPr bwMode="auto">
            <a:xfrm rot="10800000" flipV="1">
              <a:off x="2010729" y="3467882"/>
              <a:ext cx="369590" cy="5972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AutoShape 86"/>
            <p:cNvSpPr>
              <a:spLocks noChangeArrowheads="1"/>
            </p:cNvSpPr>
            <p:nvPr/>
          </p:nvSpPr>
          <p:spPr bwMode="auto">
            <a:xfrm>
              <a:off x="1426520" y="3054214"/>
              <a:ext cx="656692" cy="656913"/>
            </a:xfrm>
            <a:prstGeom prst="roundRect">
              <a:avLst>
                <a:gd name="adj" fmla="val 2259"/>
              </a:avLst>
            </a:prstGeom>
            <a:solidFill>
              <a:schemeClr val="bg1"/>
            </a:solidFill>
            <a:ln w="12700">
              <a:solidFill>
                <a:srgbClr val="6BB1C2"/>
              </a:solidFill>
              <a:round/>
              <a:headEnd/>
              <a:tailEnd/>
            </a:ln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원문 수집</a:t>
              </a:r>
              <a:endParaRPr lang="en-US" altLang="ko-KR" sz="10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defRPr/>
              </a:pPr>
              <a:r>
                <a:rPr lang="ko-KR" altLang="en-US" sz="10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</a:t>
              </a:r>
              <a:endParaRPr lang="en-US" altLang="ko-KR" sz="1000" dirty="0" smtClean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1" name="Text Box 62"/>
            <p:cNvSpPr txBox="1">
              <a:spLocks noChangeArrowheads="1"/>
            </p:cNvSpPr>
            <p:nvPr/>
          </p:nvSpPr>
          <p:spPr bwMode="auto">
            <a:xfrm>
              <a:off x="1140773" y="2673900"/>
              <a:ext cx="1252969" cy="2154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① 원문</a:t>
              </a:r>
              <a:r>
                <a:rPr lang="en-US" altLang="ko-KR" sz="800" dirty="0" smtClean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정보목록  요청</a:t>
              </a:r>
              <a:endParaRPr lang="ko-KR" sz="800" dirty="0"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134" name="Text Box 62"/>
            <p:cNvSpPr txBox="1">
              <a:spLocks noChangeArrowheads="1"/>
            </p:cNvSpPr>
            <p:nvPr/>
          </p:nvSpPr>
          <p:spPr bwMode="auto">
            <a:xfrm>
              <a:off x="8983007" y="2253862"/>
              <a:ext cx="1175694" cy="33855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② 정보목록 추출</a:t>
              </a:r>
              <a:endParaRPr lang="en-US" altLang="ko-KR" sz="8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pPr algn="ctr"/>
              <a:r>
                <a:rPr lang="en-US" altLang="ko-KR" sz="800" b="1" kern="0" dirty="0" smtClean="0">
                  <a:solidFill>
                    <a:srgbClr val="000000"/>
                  </a:solidFill>
                  <a:latin typeface="+mn-ea"/>
                </a:rPr>
                <a:t>IF-IA-001 </a:t>
              </a:r>
              <a:r>
                <a:rPr lang="ko-KR" altLang="en-US" sz="800" b="1" kern="0" dirty="0" smtClean="0">
                  <a:solidFill>
                    <a:srgbClr val="000000"/>
                  </a:solidFill>
                  <a:latin typeface="+mn-ea"/>
                </a:rPr>
                <a:t>참조</a:t>
              </a:r>
              <a:endParaRPr lang="en-US" altLang="ko-KR" sz="800" b="1" kern="0" dirty="0" smtClea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38" name="Text Box 62"/>
            <p:cNvSpPr txBox="1">
              <a:spLocks noChangeArrowheads="1"/>
            </p:cNvSpPr>
            <p:nvPr/>
          </p:nvSpPr>
          <p:spPr bwMode="auto">
            <a:xfrm>
              <a:off x="9284514" y="3690586"/>
              <a:ext cx="992383" cy="33855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② 원문 추출     </a:t>
              </a:r>
              <a:endParaRPr lang="en-US" altLang="ko-KR" sz="8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pPr algn="ctr"/>
              <a:r>
                <a:rPr lang="en-US" altLang="ko-KR" sz="800" b="1" kern="0" dirty="0" smtClean="0">
                  <a:solidFill>
                    <a:srgbClr val="000000"/>
                  </a:solidFill>
                  <a:latin typeface="+mn-ea"/>
                </a:rPr>
                <a:t>IF-IA-002 </a:t>
              </a:r>
              <a:r>
                <a:rPr lang="ko-KR" altLang="en-US" sz="800" b="1" kern="0" dirty="0" smtClean="0">
                  <a:solidFill>
                    <a:srgbClr val="000000"/>
                  </a:solidFill>
                  <a:latin typeface="+mn-ea"/>
                </a:rPr>
                <a:t>참조</a:t>
              </a:r>
              <a:endParaRPr lang="en-US" altLang="ko-KR" sz="800" b="1" kern="0" dirty="0" smtClea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39" name="Text Box 62"/>
            <p:cNvSpPr txBox="1">
              <a:spLocks noChangeArrowheads="1"/>
            </p:cNvSpPr>
            <p:nvPr/>
          </p:nvSpPr>
          <p:spPr bwMode="auto">
            <a:xfrm>
              <a:off x="8140780" y="2601853"/>
              <a:ext cx="1243214" cy="33855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④ 원문</a:t>
              </a:r>
              <a:r>
                <a:rPr lang="en-US" altLang="ko-KR" sz="800" dirty="0" smtClean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목록정보     </a:t>
              </a:r>
              <a:endParaRPr lang="en-US" altLang="ko-KR" sz="8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r>
                <a:rPr lang="en-US" altLang="ko-KR" sz="800" dirty="0">
                  <a:latin typeface="Rix모던고딕 M" pitchFamily="18" charset="-127"/>
                  <a:ea typeface="Rix모던고딕 M" pitchFamily="18" charset="-127"/>
                </a:rPr>
                <a:t> </a:t>
              </a:r>
              <a:r>
                <a:rPr lang="en-US" altLang="ko-KR" sz="800" dirty="0" smtClean="0">
                  <a:latin typeface="Rix모던고딕 M" pitchFamily="18" charset="-127"/>
                  <a:ea typeface="Rix모던고딕 M" pitchFamily="18" charset="-127"/>
                </a:rPr>
                <a:t>    </a:t>
              </a:r>
              <a:r>
                <a:rPr lang="en-US" altLang="ko-KR" sz="800" dirty="0" err="1" smtClean="0">
                  <a:latin typeface="Rix모던고딕 M" pitchFamily="18" charset="-127"/>
                  <a:ea typeface="Rix모던고딕 M" pitchFamily="18" charset="-127"/>
                </a:rPr>
                <a:t>OpenAPI</a:t>
              </a:r>
              <a:r>
                <a:rPr lang="en-US" altLang="ko-KR" sz="800" dirty="0" smtClean="0">
                  <a:latin typeface="Rix모던고딕 M" pitchFamily="18" charset="-127"/>
                  <a:ea typeface="Rix모던고딕 M" pitchFamily="18" charset="-127"/>
                </a:rPr>
                <a:t> </a:t>
              </a:r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서비스제공</a:t>
              </a:r>
              <a:endParaRPr lang="en-US" altLang="ko-KR" sz="800" kern="0" dirty="0" smtClea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40" name="Text Box 62"/>
            <p:cNvSpPr txBox="1">
              <a:spLocks noChangeArrowheads="1"/>
            </p:cNvSpPr>
            <p:nvPr/>
          </p:nvSpPr>
          <p:spPr bwMode="auto">
            <a:xfrm>
              <a:off x="7547503" y="3835030"/>
              <a:ext cx="1455390" cy="33855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⑤ </a:t>
              </a:r>
              <a:r>
                <a:rPr lang="ko-KR" altLang="en-US" sz="800" dirty="0" err="1" smtClean="0">
                  <a:latin typeface="Rix모던고딕 M" pitchFamily="18" charset="-127"/>
                  <a:ea typeface="Rix모던고딕 M" pitchFamily="18" charset="-127"/>
                </a:rPr>
                <a:t>첨부화일</a:t>
              </a:r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 목록 전송</a:t>
              </a:r>
              <a:endParaRPr lang="en-US" altLang="ko-KR" sz="8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pPr fontAlgn="auto">
                <a:spcAft>
                  <a:spcPts val="0"/>
                </a:spcAft>
              </a:pPr>
              <a:r>
                <a:rPr lang="ko-KR" altLang="en-US" sz="800" dirty="0" smtClean="0"/>
                <a:t>   </a:t>
              </a:r>
              <a:r>
                <a:rPr lang="ko-KR" altLang="en-US" sz="800" b="1" dirty="0" smtClean="0"/>
                <a:t>첨부 </a:t>
              </a:r>
              <a:r>
                <a:rPr lang="ko-KR" altLang="en-US" sz="800" b="1" dirty="0"/>
                <a:t>파일 목록 </a:t>
              </a:r>
              <a:r>
                <a:rPr lang="ko-KR" altLang="en-US" sz="800" b="1" dirty="0" smtClean="0"/>
                <a:t>정의 참조</a:t>
              </a:r>
              <a:endParaRPr lang="ko-KR" altLang="en-US" sz="800" b="1" dirty="0"/>
            </a:p>
          </p:txBody>
        </p:sp>
        <p:sp>
          <p:nvSpPr>
            <p:cNvPr id="141" name="Text Box 62"/>
            <p:cNvSpPr txBox="1">
              <a:spLocks noChangeArrowheads="1"/>
            </p:cNvSpPr>
            <p:nvPr/>
          </p:nvSpPr>
          <p:spPr bwMode="auto">
            <a:xfrm>
              <a:off x="2064232" y="3783075"/>
              <a:ext cx="1243214" cy="33855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⑥ 원문</a:t>
              </a:r>
              <a:r>
                <a:rPr lang="en-US" altLang="ko-KR" sz="800" dirty="0" smtClean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목록정보     </a:t>
              </a:r>
              <a:endParaRPr lang="en-US" altLang="ko-KR" sz="8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r>
                <a:rPr lang="en-US" altLang="ko-KR" sz="800" dirty="0">
                  <a:latin typeface="Rix모던고딕 M" pitchFamily="18" charset="-127"/>
                  <a:ea typeface="Rix모던고딕 M" pitchFamily="18" charset="-127"/>
                </a:rPr>
                <a:t> </a:t>
              </a:r>
              <a:r>
                <a:rPr lang="en-US" altLang="ko-KR" sz="800" dirty="0" smtClean="0">
                  <a:latin typeface="Rix모던고딕 M" pitchFamily="18" charset="-127"/>
                  <a:ea typeface="Rix모던고딕 M" pitchFamily="18" charset="-127"/>
                </a:rPr>
                <a:t>    </a:t>
              </a:r>
              <a:r>
                <a:rPr lang="en-US" altLang="ko-KR" sz="800" dirty="0" err="1" smtClean="0">
                  <a:latin typeface="Rix모던고딕 M" pitchFamily="18" charset="-127"/>
                  <a:ea typeface="Rix모던고딕 M" pitchFamily="18" charset="-127"/>
                </a:rPr>
                <a:t>OpenAPI</a:t>
              </a:r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로 전송완료</a:t>
              </a:r>
              <a:endParaRPr lang="en-US" altLang="ko-KR" sz="800" kern="0" dirty="0" smtClea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7" name="원통 76"/>
            <p:cNvSpPr/>
            <p:nvPr/>
          </p:nvSpPr>
          <p:spPr bwMode="auto">
            <a:xfrm>
              <a:off x="775884" y="4291966"/>
              <a:ext cx="1251090" cy="542839"/>
            </a:xfrm>
            <a:prstGeom prst="can">
              <a:avLst>
                <a:gd name="adj" fmla="val 38369"/>
              </a:avLst>
            </a:prstGeom>
            <a:solidFill>
              <a:srgbClr val="1F497D">
                <a:lumMod val="60000"/>
                <a:lumOff val="40000"/>
              </a:srgb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latinLnBrk="1">
                <a:defRPr/>
              </a:pPr>
              <a:r>
                <a:rPr lang="ko-KR" altLang="en-US" sz="1100" kern="0" dirty="0" smtClean="0">
                  <a:solidFill>
                    <a:sysClr val="window" lastClr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원문 스토리지</a:t>
              </a:r>
              <a:endParaRPr lang="ko-KR" altLang="en-US" sz="1100" kern="0" dirty="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8" name="직선 화살표 연결선 77"/>
            <p:cNvCxnSpPr/>
            <p:nvPr/>
          </p:nvCxnSpPr>
          <p:spPr bwMode="auto">
            <a:xfrm rot="16200000" flipH="1">
              <a:off x="1178524" y="4028562"/>
              <a:ext cx="461678" cy="43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 Box 62"/>
            <p:cNvSpPr txBox="1">
              <a:spLocks noChangeArrowheads="1"/>
            </p:cNvSpPr>
            <p:nvPr/>
          </p:nvSpPr>
          <p:spPr bwMode="auto">
            <a:xfrm>
              <a:off x="701143" y="4755433"/>
              <a:ext cx="1416395" cy="33855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⑦ 원문</a:t>
              </a:r>
              <a:r>
                <a:rPr lang="en-US" altLang="ko-KR" sz="800" dirty="0" smtClean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목록정보     </a:t>
              </a:r>
              <a:endParaRPr lang="en-US" altLang="ko-KR" sz="800" dirty="0" smtClean="0">
                <a:latin typeface="Rix모던고딕 M" pitchFamily="18" charset="-127"/>
                <a:ea typeface="Rix모던고딕 M" pitchFamily="18" charset="-127"/>
              </a:endParaRPr>
            </a:p>
            <a:p>
              <a:r>
                <a:rPr lang="en-US" altLang="ko-KR" sz="800" dirty="0">
                  <a:latin typeface="Rix모던고딕 M" pitchFamily="18" charset="-127"/>
                  <a:ea typeface="Rix모던고딕 M" pitchFamily="18" charset="-127"/>
                </a:rPr>
                <a:t> </a:t>
              </a:r>
              <a:r>
                <a:rPr lang="en-US" altLang="ko-KR" sz="800" dirty="0" smtClean="0">
                  <a:latin typeface="Rix모던고딕 M" pitchFamily="18" charset="-127"/>
                  <a:ea typeface="Rix모던고딕 M" pitchFamily="18" charset="-127"/>
                </a:rPr>
                <a:t>    </a:t>
              </a:r>
              <a:r>
                <a:rPr lang="ko-KR" altLang="en-US" sz="800" dirty="0" smtClean="0">
                  <a:latin typeface="Rix모던고딕 M" pitchFamily="18" charset="-127"/>
                  <a:ea typeface="Rix모던고딕 M" pitchFamily="18" charset="-127"/>
                </a:rPr>
                <a:t>원문정보공개 시스템 적재</a:t>
              </a:r>
              <a:endParaRPr lang="en-US" altLang="ko-KR" sz="800" kern="0" dirty="0" smtClean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265203" y="5207589"/>
              <a:ext cx="31023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>
                  <a:latin typeface="+mn-ea"/>
                  <a:ea typeface="+mn-ea"/>
                </a:rPr>
                <a:t>◆</a:t>
              </a:r>
              <a:r>
                <a:rPr lang="en-US" altLang="ko-KR" sz="800" dirty="0" smtClean="0">
                  <a:latin typeface="+mn-ea"/>
                  <a:ea typeface="+mn-ea"/>
                </a:rPr>
                <a:t>.</a:t>
              </a:r>
              <a:r>
                <a:rPr lang="ko-KR" altLang="en-US" sz="800" dirty="0" smtClean="0">
                  <a:latin typeface="+mn-ea"/>
                  <a:ea typeface="+mn-ea"/>
                </a:rPr>
                <a:t> 전자결재시스템의 정보목록</a:t>
              </a:r>
              <a:r>
                <a:rPr lang="en-US" altLang="ko-KR" sz="800" dirty="0" smtClean="0">
                  <a:latin typeface="+mn-ea"/>
                  <a:ea typeface="+mn-ea"/>
                </a:rPr>
                <a:t>/</a:t>
              </a:r>
              <a:r>
                <a:rPr lang="ko-KR" altLang="en-US" sz="800" dirty="0" smtClean="0">
                  <a:latin typeface="+mn-ea"/>
                  <a:ea typeface="+mn-ea"/>
                </a:rPr>
                <a:t>원문 추출 모듈개발 및</a:t>
              </a:r>
              <a:r>
                <a:rPr lang="en-US" altLang="ko-KR" sz="800" dirty="0" err="1" smtClean="0">
                  <a:latin typeface="+mn-ea"/>
                  <a:ea typeface="+mn-ea"/>
                </a:rPr>
                <a:t>OpenAPI</a:t>
              </a:r>
              <a:r>
                <a:rPr lang="en-US" altLang="ko-KR" sz="800" dirty="0" smtClean="0">
                  <a:latin typeface="+mn-ea"/>
                  <a:ea typeface="+mn-ea"/>
                </a:rPr>
                <a:t>  </a:t>
              </a:r>
              <a:br>
                <a:rPr lang="en-US" altLang="ko-KR" sz="800" dirty="0" smtClean="0">
                  <a:latin typeface="+mn-ea"/>
                  <a:ea typeface="+mn-ea"/>
                </a:rPr>
              </a:br>
              <a:r>
                <a:rPr lang="en-US" altLang="ko-KR" sz="800" dirty="0" smtClean="0">
                  <a:latin typeface="+mn-ea"/>
                  <a:ea typeface="+mn-ea"/>
                </a:rPr>
                <a:t>    </a:t>
              </a:r>
              <a:r>
                <a:rPr lang="ko-KR" altLang="en-US" sz="800" dirty="0" smtClean="0">
                  <a:latin typeface="+mn-ea"/>
                  <a:ea typeface="+mn-ea"/>
                </a:rPr>
                <a:t>서비스 개발은 공공기관에서 개발 및 테스트 진행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◆</a:t>
              </a:r>
              <a:r>
                <a:rPr lang="en-US" altLang="ko-KR" sz="800" dirty="0">
                  <a:latin typeface="+mn-ea"/>
                  <a:ea typeface="+mn-ea"/>
                </a:rPr>
                <a:t>. </a:t>
              </a:r>
              <a:r>
                <a:rPr lang="ko-KR" altLang="en-US" sz="800" dirty="0">
                  <a:latin typeface="+mn-ea"/>
                  <a:ea typeface="+mn-ea"/>
                </a:rPr>
                <a:t>인터넷구간과 내부 구간의 방화벽 </a:t>
              </a:r>
              <a:r>
                <a:rPr lang="en-US" altLang="ko-KR" sz="800" dirty="0" err="1">
                  <a:latin typeface="+mn-ea"/>
                  <a:ea typeface="+mn-ea"/>
                </a:rPr>
                <a:t>Ruleset</a:t>
              </a:r>
              <a:r>
                <a:rPr lang="en-US" altLang="ko-KR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latin typeface="+mn-ea"/>
                  <a:ea typeface="+mn-ea"/>
                </a:rPr>
                <a:t>설정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995259" y="5207589"/>
              <a:ext cx="2273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>
                  <a:latin typeface="+mn-ea"/>
                  <a:ea typeface="+mn-ea"/>
                </a:rPr>
                <a:t>◆</a:t>
              </a:r>
              <a:r>
                <a:rPr lang="en-US" altLang="ko-KR" sz="800" dirty="0" smtClean="0">
                  <a:latin typeface="+mn-ea"/>
                  <a:ea typeface="+mn-ea"/>
                </a:rPr>
                <a:t>.</a:t>
              </a:r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en-US" altLang="ko-KR" sz="800" dirty="0" smtClean="0">
                  <a:latin typeface="+mn-ea"/>
                  <a:ea typeface="+mn-ea"/>
                </a:rPr>
                <a:t>Agent </a:t>
              </a:r>
              <a:r>
                <a:rPr lang="ko-KR" altLang="en-US" sz="800" dirty="0" smtClean="0">
                  <a:latin typeface="+mn-ea"/>
                  <a:ea typeface="+mn-ea"/>
                </a:rPr>
                <a:t>설치는 원문정보공개사업자가 담당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</a:rPr>
                <a:t>◆</a:t>
              </a:r>
              <a:r>
                <a:rPr lang="en-US" altLang="ko-KR" sz="800" dirty="0" smtClean="0">
                  <a:latin typeface="+mn-ea"/>
                </a:rPr>
                <a:t>. </a:t>
              </a:r>
              <a:r>
                <a:rPr lang="en-US" altLang="ko-KR" sz="800" dirty="0" smtClean="0">
                  <a:latin typeface="+mn-ea"/>
                  <a:ea typeface="+mn-ea"/>
                </a:rPr>
                <a:t>Agent </a:t>
              </a:r>
              <a:r>
                <a:rPr lang="ko-KR" altLang="en-US" sz="800" dirty="0" smtClean="0">
                  <a:latin typeface="+mn-ea"/>
                  <a:ea typeface="+mn-ea"/>
                </a:rPr>
                <a:t>서버는 </a:t>
              </a:r>
              <a:r>
                <a:rPr lang="ko-KR" altLang="en-US" sz="800" dirty="0">
                  <a:latin typeface="+mn-ea"/>
                  <a:ea typeface="+mn-ea"/>
                </a:rPr>
                <a:t>공공기관에서 신규 </a:t>
              </a:r>
              <a:r>
                <a:rPr lang="ko-KR" altLang="en-US" sz="800" dirty="0" smtClean="0">
                  <a:latin typeface="+mn-ea"/>
                  <a:ea typeface="+mn-ea"/>
                </a:rPr>
                <a:t>또는 </a:t>
              </a:r>
              <a:r>
                <a:rPr lang="en-US" altLang="ko-KR" sz="800" dirty="0" smtClean="0">
                  <a:latin typeface="+mn-ea"/>
                  <a:ea typeface="+mn-ea"/>
                </a:rPr>
                <a:t/>
              </a:r>
              <a:br>
                <a:rPr lang="en-US" altLang="ko-KR" sz="800" dirty="0" smtClean="0">
                  <a:latin typeface="+mn-ea"/>
                  <a:ea typeface="+mn-ea"/>
                </a:rPr>
              </a:br>
              <a:r>
                <a:rPr lang="en-US" altLang="ko-KR" sz="800" dirty="0" smtClean="0">
                  <a:latin typeface="+mn-ea"/>
                  <a:ea typeface="+mn-ea"/>
                </a:rPr>
                <a:t>    </a:t>
              </a:r>
              <a:r>
                <a:rPr lang="ko-KR" altLang="en-US" sz="800" dirty="0" smtClean="0">
                  <a:latin typeface="+mn-ea"/>
                  <a:ea typeface="+mn-ea"/>
                </a:rPr>
                <a:t>기존자원 활용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3302" y="2602175"/>
              <a:ext cx="780895" cy="1136628"/>
            </a:xfrm>
            <a:prstGeom prst="rect">
              <a:avLst/>
            </a:prstGeom>
          </p:spPr>
        </p:pic>
        <p:sp>
          <p:nvSpPr>
            <p:cNvPr id="99" name="Text Box 62"/>
            <p:cNvSpPr txBox="1">
              <a:spLocks noChangeArrowheads="1"/>
            </p:cNvSpPr>
            <p:nvPr/>
          </p:nvSpPr>
          <p:spPr bwMode="auto">
            <a:xfrm>
              <a:off x="6795992" y="2311602"/>
              <a:ext cx="17724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/>
              <a:r>
                <a:rPr lang="ko-KR" altLang="en-US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구간방화벽</a:t>
              </a:r>
              <a:endParaRPr lang="ko-KR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171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753632"/>
              </p:ext>
            </p:extLst>
          </p:nvPr>
        </p:nvGraphicFramePr>
        <p:xfrm>
          <a:off x="421931" y="1716976"/>
          <a:ext cx="10056401" cy="5377632"/>
        </p:xfrm>
        <a:graphic>
          <a:graphicData uri="http://schemas.openxmlformats.org/drawingml/2006/table">
            <a:tbl>
              <a:tblPr/>
              <a:tblGrid>
                <a:gridCol w="661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7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순번</a:t>
                      </a:r>
                      <a:endParaRPr lang="ko-KR" altLang="en-US" sz="10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항목명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항목명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영문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타입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길이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문서관리카드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docid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생산처리과등록번호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등록일련번호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단위과제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bisid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단위업무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ID]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관리과제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pjtid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기록물철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ID]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단위과제명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bisnm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단위업무명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]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관리과제명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pjtnm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기록물철명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]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단위과제카드명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unitpjtcardnm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단위업무카드명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]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관리과제카드명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mpjtcardnm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기록물철카드명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]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제목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doctitle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정보제목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기록물 생산시에 등록된 제목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9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문서취지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docpurp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4,000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내용요약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생성일시분초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cretdt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생산일자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: YYYYMMDDHHMMSS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기관코드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orgcd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생산기관코드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기관명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orgnm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256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생산기관명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부서코드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deptcd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생산부서코드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부서명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deptnm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256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생산부서명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보고자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reportuser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]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16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docnum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처리과명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일련번호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064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문서번호명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docnumnm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문서번호명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74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보존기간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prsvperiod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 보존기간 코드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(01:1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03:3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05:5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10:10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20:20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30: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준영구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40: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영구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0" name="제목 35"/>
          <p:cNvSpPr txBox="1">
            <a:spLocks/>
          </p:cNvSpPr>
          <p:nvPr/>
        </p:nvSpPr>
        <p:spPr>
          <a:xfrm>
            <a:off x="220831" y="1163780"/>
            <a:ext cx="6313939" cy="718450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000" dirty="0" smtClean="0"/>
              <a:t>IF-IA-001 </a:t>
            </a:r>
            <a:r>
              <a:rPr lang="ko-KR" altLang="en-US" sz="2000" dirty="0" smtClean="0"/>
              <a:t>전자결재시스템 정보목록</a:t>
            </a:r>
            <a:r>
              <a:rPr lang="en-US" altLang="ko-KR" sz="2000" dirty="0" smtClean="0"/>
              <a:t>  </a:t>
            </a:r>
            <a:endParaRPr lang="ko-KR" altLang="en-US" sz="2000" dirty="0"/>
          </a:p>
          <a:p>
            <a:pPr fontAlgn="auto">
              <a:spcAft>
                <a:spcPts val="0"/>
              </a:spcAft>
            </a:pP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36"/>
          <p:cNvSpPr txBox="1">
            <a:spLocks/>
          </p:cNvSpPr>
          <p:nvPr/>
        </p:nvSpPr>
        <p:spPr>
          <a:xfrm>
            <a:off x="218232" y="470206"/>
            <a:ext cx="9471340" cy="523541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2.2.</a:t>
            </a:r>
            <a:r>
              <a:rPr lang="en-US" altLang="ko-KR" sz="2700" dirty="0" smtClean="0">
                <a:solidFill>
                  <a:srgbClr val="4241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데이터 연계</a:t>
            </a:r>
            <a:r>
              <a:rPr lang="en-US" altLang="ko-KR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표준</a:t>
            </a: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(1/3)</a:t>
            </a:r>
            <a:endParaRPr lang="ko-KR" altLang="en-US" sz="2700" b="1" dirty="0">
              <a:solidFill>
                <a:srgbClr val="42414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</a:t>
            </a:r>
            <a:r>
              <a:rPr kumimoji="0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전자결재 연계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7872" y="184119"/>
            <a:ext cx="242592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원문정보 연계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latinLnBrk="0"/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653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195237"/>
              </p:ext>
            </p:extLst>
          </p:nvPr>
        </p:nvGraphicFramePr>
        <p:xfrm>
          <a:off x="342082" y="1556385"/>
          <a:ext cx="10257219" cy="5914152"/>
        </p:xfrm>
        <a:graphic>
          <a:graphicData uri="http://schemas.openxmlformats.org/drawingml/2006/table">
            <a:tbl>
              <a:tblPr/>
              <a:tblGrid>
                <a:gridCol w="674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7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4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순번</a:t>
                      </a:r>
                      <a:endParaRPr lang="ko-KR" altLang="en-US" sz="10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항목명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항목명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영문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타입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길이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17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19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공개여부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opnyn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①자리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: 1(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공개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), 2(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부분공개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), 3(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비공개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②～⑨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비공개사유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1~8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등급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2NNNNNYNN 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공개여부 및 등급에 대한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코드값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비공개근거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opnbasis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목록비공개사유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비공개사유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opnreason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공개여부코드의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2-9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번째 자리 데이터 매핑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접수문서번호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acceptdocnum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생산접수등록번호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095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문서등록구분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docingubun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기록물매체의 형태와 생산˙접수를 구분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01: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일반문서 생산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발송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02: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일반문서 접수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03: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도면류 생산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발송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04: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도면류 접수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05: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필름류 생산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발송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06: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필름류 접수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07: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녹음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동영상류 생산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발송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08: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녹음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동영상류 접수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09: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카드류 생산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발송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카드류 접수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11: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카드류 이첩발송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시행문서번호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enfdocnum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시행문서번호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시행문서제목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enfdoctitle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시행문제목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26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목록공개여부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listopnyn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Y/N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01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정보유형코드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infotypecd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01: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전자결재문서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02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문서관리카드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신규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수정구분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opninfogubun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NEW/UPT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29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최종결재자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lastauthorname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최종결재자명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최종결재자직위직급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lastauthduty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최종결재자직급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열람제한종료일자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readlimitdate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열람제한이 걸려있는 자료의 경우 열람제한 종료일 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83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첨부파일목록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4678" marR="24678" marT="16452" marB="16452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25p 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첨부파일 목록 참조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0" name="제목 35"/>
          <p:cNvSpPr txBox="1">
            <a:spLocks/>
          </p:cNvSpPr>
          <p:nvPr/>
        </p:nvSpPr>
        <p:spPr>
          <a:xfrm>
            <a:off x="220831" y="1163780"/>
            <a:ext cx="6313939" cy="718450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IF-IA-001: 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전자결재시스템 정보목록</a:t>
            </a: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계속</a:t>
            </a:r>
            <a:r>
              <a:rPr lang="en-US" altLang="ko-K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  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fontAlgn="auto">
              <a:spcAft>
                <a:spcPts val="0"/>
              </a:spcAft>
            </a:pPr>
            <a:endParaRPr kumimoji="0"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36"/>
          <p:cNvSpPr txBox="1">
            <a:spLocks/>
          </p:cNvSpPr>
          <p:nvPr/>
        </p:nvSpPr>
        <p:spPr>
          <a:xfrm>
            <a:off x="218232" y="470206"/>
            <a:ext cx="9471340" cy="523541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2.2.</a:t>
            </a:r>
            <a:r>
              <a:rPr lang="en-US" altLang="ko-KR" sz="2700" dirty="0" smtClean="0">
                <a:solidFill>
                  <a:srgbClr val="4241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데이터 연계</a:t>
            </a: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표준</a:t>
            </a: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(2/3)</a:t>
            </a:r>
            <a:endParaRPr lang="ko-KR" altLang="en-US" sz="2700" b="1" dirty="0">
              <a:solidFill>
                <a:srgbClr val="42414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</a:t>
            </a:r>
            <a:r>
              <a:rPr kumimoji="0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전자결재 연계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7872" y="184119"/>
            <a:ext cx="242592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원문정보 연계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latinLnBrk="0"/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614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35"/>
          <p:cNvSpPr txBox="1">
            <a:spLocks/>
          </p:cNvSpPr>
          <p:nvPr/>
        </p:nvSpPr>
        <p:spPr>
          <a:xfrm>
            <a:off x="220831" y="1152277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000" dirty="0"/>
              <a:t>IF-IA-002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전자결재시스템 원문</a:t>
            </a:r>
            <a:endParaRPr kumimoji="0"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556266"/>
              </p:ext>
            </p:extLst>
          </p:nvPr>
        </p:nvGraphicFramePr>
        <p:xfrm>
          <a:off x="282049" y="1607567"/>
          <a:ext cx="10323270" cy="2682240"/>
        </p:xfrm>
        <a:graphic>
          <a:graphicData uri="http://schemas.openxmlformats.org/drawingml/2006/table">
            <a:tbl>
              <a:tblPr/>
              <a:tblGrid>
                <a:gridCol w="1032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0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46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smtClean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순번</a:t>
                      </a:r>
                      <a:endParaRPr lang="ko-KR" altLang="en-US" sz="1000" b="1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매개변수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매개변수명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국문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매개변수명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영문명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속성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smtClean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 여부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입력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문서관리카드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docId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입력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파일형식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fileType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부가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입력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fileId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입력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생성일자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ctDate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입력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기관코드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orgCd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출력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처리상태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rsltMsg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출력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처리상태 코드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rsltCode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출력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에러내용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errConts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부가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출력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파일경로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filePath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72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출력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원문파일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docFile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VARCHAR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필수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제목 36"/>
          <p:cNvSpPr txBox="1">
            <a:spLocks/>
          </p:cNvSpPr>
          <p:nvPr/>
        </p:nvSpPr>
        <p:spPr>
          <a:xfrm>
            <a:off x="218232" y="470206"/>
            <a:ext cx="9471340" cy="523541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2.2.</a:t>
            </a:r>
            <a:r>
              <a:rPr lang="en-US" altLang="ko-KR" sz="2700" dirty="0" smtClean="0">
                <a:solidFill>
                  <a:srgbClr val="4241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데이터 연계</a:t>
            </a:r>
            <a:r>
              <a:rPr lang="en-US" altLang="ko-KR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표준</a:t>
            </a: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(3/3)</a:t>
            </a:r>
            <a:endParaRPr lang="ko-KR" altLang="en-US" sz="2700" b="1" dirty="0">
              <a:solidFill>
                <a:srgbClr val="42414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</a:t>
            </a:r>
            <a:r>
              <a:rPr kumimoji="0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전자결재 연계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7872" y="184119"/>
            <a:ext cx="242592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원문정보 연계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latinLnBrk="0"/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35"/>
          <p:cNvSpPr txBox="1">
            <a:spLocks/>
          </p:cNvSpPr>
          <p:nvPr/>
        </p:nvSpPr>
        <p:spPr>
          <a:xfrm>
            <a:off x="218231" y="4392637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ko-KR" altLang="en-US" sz="2000" dirty="0"/>
              <a:t>첨부 </a:t>
            </a:r>
            <a:r>
              <a:rPr lang="ko-KR" altLang="en-US" sz="2000" dirty="0" smtClean="0"/>
              <a:t>파일</a:t>
            </a:r>
            <a:endParaRPr lang="ko-KR" altLang="en-US" sz="20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38471"/>
              </p:ext>
            </p:extLst>
          </p:nvPr>
        </p:nvGraphicFramePr>
        <p:xfrm>
          <a:off x="246231" y="4899851"/>
          <a:ext cx="10359087" cy="2376264"/>
        </p:xfrm>
        <a:graphic>
          <a:graphicData uri="http://schemas.openxmlformats.org/drawingml/2006/table">
            <a:tbl>
              <a:tblPr/>
              <a:tblGrid>
                <a:gridCol w="75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0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03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bg1"/>
                          </a:solidFill>
                          <a:effectLst/>
                          <a:ea typeface="맑은 고딕" panose="020B0503020000020004" pitchFamily="50" charset="-127"/>
                        </a:rPr>
                        <a:t>순번</a:t>
                      </a:r>
                      <a:endParaRPr lang="ko-KR" altLang="en-US" sz="1000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항목명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항목명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영문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타입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길이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문서관리카드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docid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생산처리과등록번호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등록일련번호 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문서생성일시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cretdt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생산일자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: YYYYMMDDHHMMSS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형태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파일형식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filetype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본문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첨부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fileid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filetitle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500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6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파일사이즈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Filesize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int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파일사이즈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붙임파일순서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index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String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 smtClean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붙입파일인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경우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붙임파일순서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69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218232" y="1328377"/>
            <a:ext cx="10485582" cy="5734710"/>
          </a:xfrm>
          <a:prstGeom prst="roundRect">
            <a:avLst>
              <a:gd name="adj" fmla="val 2582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제목 36"/>
          <p:cNvSpPr txBox="1">
            <a:spLocks/>
          </p:cNvSpPr>
          <p:nvPr/>
        </p:nvSpPr>
        <p:spPr>
          <a:xfrm>
            <a:off x="218232" y="470206"/>
            <a:ext cx="9471340" cy="523541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3.1</a:t>
            </a:r>
            <a:r>
              <a:rPr lang="en-US" altLang="ko-KR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원문정보공개시스템 표준 연계 규칙</a:t>
            </a:r>
            <a:endParaRPr lang="ko-KR" altLang="en-US" sz="2700" b="1" dirty="0">
              <a:solidFill>
                <a:srgbClr val="42414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0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연계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가이드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56596" y="1595973"/>
            <a:ext cx="10170243" cy="5150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8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b="1" kern="0" spc="-50" dirty="0" smtClean="0">
                <a:ea typeface="맑은 고딕" panose="020B0503020000020004" pitchFamily="50" charset="-127"/>
              </a:rPr>
              <a:t>파일 </a:t>
            </a:r>
            <a:r>
              <a:rPr lang="ko-KR" altLang="en-US" b="1" kern="0" spc="-50" dirty="0">
                <a:ea typeface="맑은 고딕" panose="020B0503020000020004" pitchFamily="50" charset="-127"/>
              </a:rPr>
              <a:t>저장 </a:t>
            </a:r>
            <a:r>
              <a:rPr lang="ko-KR" altLang="en-US" b="1" kern="0" spc="-50" dirty="0" err="1">
                <a:ea typeface="맑은 고딕" panose="020B0503020000020004" pitchFamily="50" charset="-127"/>
              </a:rPr>
              <a:t>디렉토리</a:t>
            </a:r>
            <a:r>
              <a:rPr lang="ko-KR" altLang="en-US" b="1" kern="0" spc="-50" dirty="0">
                <a:ea typeface="맑은 고딕" panose="020B0503020000020004" pitchFamily="50" charset="-127"/>
              </a:rPr>
              <a:t> 규칙</a:t>
            </a:r>
            <a:endParaRPr lang="ko-KR" altLang="en-US" b="1" kern="0" dirty="0"/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파일 저장 </a:t>
            </a:r>
            <a:r>
              <a:rPr lang="ko-KR" altLang="en-US" sz="1600" kern="0" spc="-50" dirty="0" err="1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디렉토리는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지정된 </a:t>
            </a:r>
            <a:r>
              <a:rPr lang="ko-KR" altLang="en-US" sz="1600" kern="0" spc="-50" dirty="0" err="1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디렉토리에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정보목록 저장</a:t>
            </a:r>
            <a:endParaRPr lang="en-US" altLang="ko-KR" sz="1600" kern="0" spc="-50" dirty="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endParaRPr lang="ko-KR" altLang="en-US" sz="100" kern="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spcBef>
                <a:spcPts val="8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b="1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b="1" kern="0" spc="-50" dirty="0">
                <a:ea typeface="맑은 고딕" panose="020B0503020000020004" pitchFamily="50" charset="-127"/>
              </a:rPr>
              <a:t>파일명 생성 규칙</a:t>
            </a: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정보목록 파일 명 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: EPSLIST +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기관코드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(7) + </a:t>
            </a:r>
            <a:r>
              <a:rPr lang="ko-KR" altLang="en-US" sz="1600" kern="0" spc="-50" dirty="0" err="1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연월일시분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+ .csv</a:t>
            </a:r>
            <a:endParaRPr lang="ko-KR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       예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EPSLIST7530000201312240100.csv</a:t>
            </a: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endParaRPr lang="ko-KR" altLang="en-US" sz="1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spcBef>
                <a:spcPts val="8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b="1" kern="0" spc="-50" dirty="0" err="1" smtClean="0">
                <a:ea typeface="맑은 고딕" panose="020B0503020000020004" pitchFamily="50" charset="-127"/>
              </a:rPr>
              <a:t>구분자</a:t>
            </a:r>
            <a:endParaRPr lang="ko-KR" altLang="en-US" b="1" kern="0" spc="-50" dirty="0">
              <a:ea typeface="맑은 고딕" panose="020B0503020000020004" pitchFamily="50" charset="-127"/>
            </a:endParaRP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정보목록은 항목에 대한 </a:t>
            </a:r>
            <a:r>
              <a:rPr lang="ko-KR" altLang="en-US" sz="1600" kern="0" spc="-50" dirty="0" err="1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구분자는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파이프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(|)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이며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파일정보에 대한 </a:t>
            </a:r>
            <a:r>
              <a:rPr lang="ko-KR" altLang="en-US" sz="1600" kern="0" spc="-50" dirty="0" err="1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구분자는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콜론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(:)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임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파일정보 즉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, 32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번째 </a:t>
            </a:r>
            <a:endParaRPr lang="en-US" altLang="ko-KR" sz="1600" kern="0" spc="-50" dirty="0" smtClean="0">
              <a:solidFill>
                <a:schemeClr val="tx1">
                  <a:lumMod val="50000"/>
                  <a:lumOff val="50000"/>
                </a:schemeClr>
              </a:solidFill>
              <a:ea typeface="맑은 고딕" panose="020B0503020000020004" pitchFamily="50" charset="-127"/>
            </a:endParaRP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     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항목은 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개 파일정보가 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개의 묶음이며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파일이 여러 개라도 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개의 항목으로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봄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. </a:t>
            </a: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endParaRPr lang="ko-KR" altLang="en-US" sz="100" b="1" kern="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spcBef>
                <a:spcPts val="8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b="1" kern="0" spc="-50" dirty="0" smtClean="0">
                <a:ea typeface="맑은 고딕" panose="020B0503020000020004" pitchFamily="50" charset="-127"/>
              </a:rPr>
              <a:t>내용 </a:t>
            </a:r>
            <a:r>
              <a:rPr lang="ko-KR" altLang="en-US" b="1" kern="0" spc="-50" dirty="0">
                <a:ea typeface="맑은 고딕" panose="020B0503020000020004" pitchFamily="50" charset="-127"/>
              </a:rPr>
              <a:t>저장 규칙</a:t>
            </a: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- 1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개의 라인이 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개의 정보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레코드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이며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정보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레코드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가 추가될 때마다 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줄씩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추가됨</a:t>
            </a:r>
            <a:endParaRPr lang="en-US" altLang="ko-KR" sz="1600" kern="0" spc="-50" dirty="0" smtClean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</a:endParaRP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endParaRPr lang="ko-KR" altLang="en-US" sz="1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 algn="just">
              <a:spcBef>
                <a:spcPts val="8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b="1" kern="0" spc="-50" dirty="0" smtClean="0">
                <a:ea typeface="맑은 고딕" panose="020B0503020000020004" pitchFamily="50" charset="-127"/>
              </a:rPr>
              <a:t>정보목록 </a:t>
            </a:r>
            <a:r>
              <a:rPr lang="ko-KR" altLang="en-US" b="1" kern="0" spc="-50" dirty="0">
                <a:ea typeface="맑은 고딕" panose="020B0503020000020004" pitchFamily="50" charset="-127"/>
              </a:rPr>
              <a:t>수정에 대한 처리 규칙</a:t>
            </a: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ko-KR" alt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전자결재시스템에서 정보목록에 대한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변경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(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공개↔비공개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)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이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이루어지면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변경된 내용을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정보목록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생성</a:t>
            </a:r>
            <a:endParaRPr lang="en-US" altLang="ko-KR" sz="1600" kern="0" spc="-50" dirty="0" smtClean="0">
              <a:solidFill>
                <a:schemeClr val="tx1">
                  <a:lumMod val="50000"/>
                  <a:lumOff val="50000"/>
                </a:schemeClr>
              </a:solidFill>
              <a:ea typeface="맑은 고딕" panose="020B0503020000020004" pitchFamily="50" charset="-127"/>
            </a:endParaRPr>
          </a:p>
          <a:p>
            <a:pPr indent="-422910" algn="just">
              <a:spcBef>
                <a:spcPts val="800"/>
              </a:spcBef>
              <a:spcAft>
                <a:spcPts val="0"/>
              </a:spcAft>
              <a:tabLst>
                <a:tab pos="368300" algn="l"/>
                <a:tab pos="736600" algn="l"/>
                <a:tab pos="1104900" algn="l"/>
                <a:tab pos="1473200" algn="l"/>
                <a:tab pos="1841500" algn="l"/>
                <a:tab pos="2209800" algn="l"/>
                <a:tab pos="2578100" algn="l"/>
                <a:tab pos="2946400" algn="l"/>
                <a:tab pos="3314700" algn="l"/>
                <a:tab pos="3683000" algn="l"/>
                <a:tab pos="4051300" algn="l"/>
                <a:tab pos="4419600" algn="l"/>
                <a:tab pos="4787900" algn="l"/>
                <a:tab pos="5156200" algn="l"/>
                <a:tab pos="5524500" algn="l"/>
                <a:tab pos="5892800" algn="l"/>
                <a:tab pos="6261100" algn="l"/>
                <a:tab pos="6629400" algn="l"/>
                <a:tab pos="6997700" algn="l"/>
                <a:tab pos="7366000" algn="l"/>
                <a:tab pos="7734300" algn="l"/>
                <a:tab pos="8102600" algn="l"/>
                <a:tab pos="8470900" algn="l"/>
                <a:tab pos="8839200" algn="l"/>
                <a:tab pos="9207500" algn="l"/>
                <a:tab pos="9575800" algn="l"/>
                <a:tab pos="9944100" algn="l"/>
                <a:tab pos="10312400" algn="l"/>
                <a:tab pos="10680700" algn="l"/>
                <a:tab pos="11049000" algn="l"/>
                <a:tab pos="11417300" algn="l"/>
                <a:tab pos="11785600" algn="l"/>
              </a:tabLst>
            </a:pP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    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 규칙대로 연계파일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(csv)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로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제공</a:t>
            </a:r>
            <a:r>
              <a:rPr lang="en-US" altLang="ko-KR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원문정보공개시스템에서는 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Insert 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및 </a:t>
            </a:r>
            <a:r>
              <a:rPr lang="en-US" altLang="ko-KR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</a:rPr>
              <a:t>Update</a:t>
            </a:r>
            <a:r>
              <a:rPr lang="ko-KR" altLang="en-US" sz="1600" kern="0" spc="-5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로 </a:t>
            </a:r>
            <a:r>
              <a:rPr lang="ko-KR" altLang="en-US" sz="1600" kern="0" spc="-50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처리함</a:t>
            </a:r>
            <a:endParaRPr lang="ko-KR" altLang="en-US" sz="1600" kern="0" spc="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7872" y="184119"/>
            <a:ext cx="242592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원문정보 연계</a:t>
            </a:r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 latinLnBrk="0"/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080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제목 36"/>
          <p:cNvSpPr txBox="1">
            <a:spLocks/>
          </p:cNvSpPr>
          <p:nvPr/>
        </p:nvSpPr>
        <p:spPr>
          <a:xfrm>
            <a:off x="218232" y="470206"/>
            <a:ext cx="9471340" cy="523541"/>
          </a:xfrm>
          <a:prstGeom prst="rect">
            <a:avLst/>
          </a:prstGeom>
        </p:spPr>
        <p:txBody>
          <a:bodyPr/>
          <a:lstStyle>
            <a:lvl1pPr algn="ctr" defTabSz="1018907" rtl="0" eaLnBrk="1" latinLnBrk="1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altLang="ko-KR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3.2</a:t>
            </a:r>
            <a:r>
              <a:rPr lang="en-US" altLang="ko-KR" sz="2700" b="1" dirty="0">
                <a:solidFill>
                  <a:srgbClr val="424142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2700" b="1" dirty="0" smtClean="0">
                <a:solidFill>
                  <a:srgbClr val="424142"/>
                </a:solidFill>
                <a:latin typeface="맑은 고딕" panose="020B0503020000020004" pitchFamily="50" charset="-127"/>
              </a:rPr>
              <a:t>공공기관 전자결재 기능 및 인터페이스 요구사항</a:t>
            </a:r>
            <a:endParaRPr lang="ko-KR" altLang="en-US" sz="2700" b="1" dirty="0">
              <a:solidFill>
                <a:srgbClr val="42414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제목 35"/>
          <p:cNvSpPr txBox="1">
            <a:spLocks/>
          </p:cNvSpPr>
          <p:nvPr/>
        </p:nvSpPr>
        <p:spPr>
          <a:xfrm>
            <a:off x="218232" y="36153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0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연계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가이드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683863"/>
              </p:ext>
            </p:extLst>
          </p:nvPr>
        </p:nvGraphicFramePr>
        <p:xfrm>
          <a:off x="268947" y="1728341"/>
          <a:ext cx="10434868" cy="2172654"/>
        </p:xfrm>
        <a:graphic>
          <a:graphicData uri="http://schemas.openxmlformats.org/drawingml/2006/table">
            <a:tbl>
              <a:tblPr/>
              <a:tblGrid>
                <a:gridCol w="1513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1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7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1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기 능 명</a:t>
                      </a:r>
                      <a:endParaRPr lang="ko-KR" altLang="en-US" sz="16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 능 정 의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 부 기 능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40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공공기관 </a:t>
                      </a:r>
                      <a:r>
                        <a:rPr lang="ko-KR" altLang="en-US" sz="1600" kern="0" spc="-1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전자결재시스템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정보추출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정보목록 </a:t>
                      </a:r>
                      <a:r>
                        <a:rPr lang="en-US" altLang="ko-KR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원문추출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7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정보목록 </a:t>
                      </a:r>
                      <a:r>
                        <a:rPr lang="ko-KR" altLang="en-US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추출</a:t>
                      </a:r>
                      <a:endParaRPr lang="en-US" altLang="ko-KR" sz="1600" kern="0" spc="-17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600" kern="0" spc="-17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kern="0" spc="-17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배치</a:t>
                      </a:r>
                      <a:r>
                        <a:rPr lang="en-US" altLang="ko-KR" sz="1600" kern="0" spc="-17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fontAlgn="base" latinLnBrk="1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-15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전자결재시스템에서 생산되거나 수정된 정보목록 추출 기능</a:t>
                      </a:r>
                    </a:p>
                    <a:p>
                      <a:pPr marL="0" marR="0" lvl="0" indent="0" algn="just" fontAlgn="base" latinLnBrk="1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-15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전자결재시스템에 정보목록 추출 모듈 배포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5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7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원문 </a:t>
                      </a:r>
                      <a:r>
                        <a:rPr lang="ko-KR" altLang="en-US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추출</a:t>
                      </a:r>
                      <a:endParaRPr lang="en-US" altLang="ko-KR" sz="1600" kern="0" spc="-17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실시간</a:t>
                      </a:r>
                      <a:r>
                        <a:rPr lang="en-US" altLang="ko-KR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fontAlgn="base" latinLnBrk="1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-15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전자결재시스템에서 </a:t>
                      </a: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생산된 원문 추출 기능 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just" fontAlgn="base" latinLnBrk="1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-15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전자결재시스템에 </a:t>
                      </a:r>
                      <a:r>
                        <a:rPr lang="ko-KR" altLang="en-US" sz="1600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원문 추출 모듈 배포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54214"/>
              </p:ext>
            </p:extLst>
          </p:nvPr>
        </p:nvGraphicFramePr>
        <p:xfrm>
          <a:off x="283465" y="4623737"/>
          <a:ext cx="10420351" cy="2297022"/>
        </p:xfrm>
        <a:graphic>
          <a:graphicData uri="http://schemas.openxmlformats.org/drawingml/2006/table">
            <a:tbl>
              <a:tblPr/>
              <a:tblGrid>
                <a:gridCol w="149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9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9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10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기 능 명</a:t>
                      </a:r>
                      <a:endParaRPr lang="ko-KR" altLang="en-US" sz="16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 능 정 의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 부 기 능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11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공공기관 전자결재시스템 </a:t>
                      </a: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Web</a:t>
                      </a: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Service </a:t>
                      </a: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7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정보목록 </a:t>
                      </a:r>
                      <a:r>
                        <a:rPr lang="ko-KR" altLang="en-US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  <a:endParaRPr lang="en-US" altLang="ko-KR" sz="1600" kern="0" spc="-17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 배치</a:t>
                      </a:r>
                      <a:r>
                        <a:rPr lang="en-US" altLang="ko-KR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356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전자결재시스템에서 생산되거나 수정된 </a:t>
                      </a:r>
                      <a:endParaRPr lang="en-US" altLang="ko-KR" sz="1600" kern="0" spc="-1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549910" marR="0" indent="-635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정보목록에 대하여 원문정보공개시스템과 연계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1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7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원문 </a:t>
                      </a:r>
                      <a:r>
                        <a:rPr lang="ko-KR" altLang="en-US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  <a:endParaRPr lang="en-US" altLang="ko-KR" sz="1600" kern="0" spc="-17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실시간</a:t>
                      </a:r>
                      <a:r>
                        <a:rPr lang="en-US" altLang="ko-KR" sz="1600" kern="0" spc="-17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9910" marR="0" indent="-635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전자결재시스템에서 </a:t>
                      </a: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생산된 </a:t>
                      </a: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원문정보에 </a:t>
                      </a: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대하여 원문정보공개시스템과 </a:t>
                      </a:r>
                      <a:r>
                        <a:rPr lang="ko-KR" altLang="en-US" sz="16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  <a:endParaRPr lang="ko-KR" altLang="en-US" sz="16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제목 35"/>
          <p:cNvSpPr txBox="1">
            <a:spLocks/>
          </p:cNvSpPr>
          <p:nvPr/>
        </p:nvSpPr>
        <p:spPr>
          <a:xfrm>
            <a:off x="220831" y="1214595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ko-KR" altLang="en-US" sz="2000" dirty="0" smtClean="0"/>
              <a:t>기능 요구사항</a:t>
            </a:r>
            <a:r>
              <a:rPr lang="en-US" altLang="ko-KR" sz="2000" dirty="0" smtClean="0"/>
              <a:t>  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35"/>
          <p:cNvSpPr txBox="1">
            <a:spLocks/>
          </p:cNvSpPr>
          <p:nvPr/>
        </p:nvSpPr>
        <p:spPr>
          <a:xfrm>
            <a:off x="198066" y="4077499"/>
            <a:ext cx="6313939" cy="410674"/>
          </a:xfrm>
          <a:prstGeom prst="rect">
            <a:avLst/>
          </a:prstGeom>
          <a:noFill/>
          <a:effectLst/>
        </p:spPr>
        <p:txBody>
          <a:bodyPr wrap="square" lIns="101900" tIns="50951" rIns="101900" bIns="50951" rtlCol="0" anchor="ctr" anchorCtr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algn="l" defTabSz="1018907" rtl="0" eaLnBrk="1" latinLnBrk="1" hangingPunct="1">
              <a:spcBef>
                <a:spcPct val="0"/>
              </a:spcBef>
              <a:buNone/>
              <a:defRPr lang="ko-KR" altLang="en-US" sz="2700" b="0" kern="1200" cap="none" spc="0" noProof="0" dirty="0">
                <a:ln>
                  <a:noFill/>
                </a:ln>
                <a:solidFill>
                  <a:srgbClr val="424142"/>
                </a:solidFill>
                <a:effectLst/>
                <a:latin typeface="Rix모던고딕 B" pitchFamily="18" charset="-127"/>
                <a:ea typeface="Rix모던고딕 B" pitchFamily="18" charset="-127"/>
                <a:cs typeface="+mn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ko-KR" altLang="en-US" sz="2000" dirty="0" smtClean="0"/>
              <a:t>인터페이스 요구사항</a:t>
            </a:r>
            <a:endParaRPr kumimoji="0"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7872" y="184119"/>
            <a:ext cx="242592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 latinLnBrk="0"/>
            <a:r>
              <a:rPr lang="en-US" altLang="ko-KR" sz="1600" spc="-56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sz="1600" spc="-56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공공기관 원문정보 연계</a:t>
            </a:r>
          </a:p>
          <a:p>
            <a:pPr algn="r" latinLnBrk="0"/>
            <a:endParaRPr lang="ko-KR" altLang="en-US" sz="1600" spc="-56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844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75324" y="3153650"/>
            <a:ext cx="2741761" cy="1133957"/>
          </a:xfrm>
          <a:prstGeom prst="rect">
            <a:avLst/>
          </a:prstGeom>
          <a:noFill/>
        </p:spPr>
        <p:txBody>
          <a:bodyPr wrap="none" lIns="101910" tIns="50955" rIns="101910" bIns="50955" rtlCol="0">
            <a:spAutoFit/>
          </a:bodyPr>
          <a:lstStyle/>
          <a:p>
            <a:pPr algn="ctr"/>
            <a:r>
              <a:rPr lang="en-US" altLang="ko-KR" sz="67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Q &amp; A</a:t>
            </a:r>
            <a:endParaRPr lang="ko-KR" altLang="en-US" sz="67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38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디자인 사용자 지정">
      <a:majorFont>
        <a:latin typeface="Century Gothic"/>
        <a:ea typeface="돋움"/>
        <a:cs typeface=""/>
      </a:majorFont>
      <a:minorFont>
        <a:latin typeface="Century Gothic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디자인 사용자 지정">
      <a:majorFont>
        <a:latin typeface="Century Gothic"/>
        <a:ea typeface="돋움"/>
        <a:cs typeface=""/>
      </a:majorFont>
      <a:minorFont>
        <a:latin typeface="Century Gothic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43057</TotalTime>
  <Words>1312</Words>
  <Application>Microsoft Office PowerPoint</Application>
  <PresentationFormat>사용자 지정</PresentationFormat>
  <Paragraphs>617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20</vt:i4>
      </vt:variant>
    </vt:vector>
  </HeadingPairs>
  <TitlesOfParts>
    <vt:vector size="39" baseType="lpstr">
      <vt:lpstr>Rix고딕 EB</vt:lpstr>
      <vt:lpstr>Rix고딕 M</vt:lpstr>
      <vt:lpstr>Rix모던고딕 B</vt:lpstr>
      <vt:lpstr>Rix모던고딕 EB</vt:lpstr>
      <vt:lpstr>Rix모던고딕 M</vt:lpstr>
      <vt:lpstr>굴림</vt:lpstr>
      <vt:lpstr>나눔고딕 Bold</vt:lpstr>
      <vt:lpstr>나눔명조</vt:lpstr>
      <vt:lpstr>다음_SemiBold</vt:lpstr>
      <vt:lpstr>돋움</vt:lpstr>
      <vt:lpstr>맑은 고딕</vt:lpstr>
      <vt:lpstr>뫼비우스 Bold</vt:lpstr>
      <vt:lpstr>바탕체</vt:lpstr>
      <vt:lpstr>Arial</vt:lpstr>
      <vt:lpstr>Century Gothic</vt:lpstr>
      <vt:lpstr>Wingdings</vt:lpstr>
      <vt:lpstr>3_디자인 사용자 지정</vt:lpstr>
      <vt:lpstr>4_디자인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1.3 원문정보공개 연계 흐름도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Yagins</dc:creator>
  <cp:lastModifiedBy>Windows 사용자</cp:lastModifiedBy>
  <cp:revision>2879</cp:revision>
  <cp:lastPrinted>2014-08-27T07:29:21Z</cp:lastPrinted>
  <dcterms:created xsi:type="dcterms:W3CDTF">2011-08-23T09:33:59Z</dcterms:created>
  <dcterms:modified xsi:type="dcterms:W3CDTF">2019-11-08T08:57:12Z</dcterms:modified>
</cp:coreProperties>
</file>