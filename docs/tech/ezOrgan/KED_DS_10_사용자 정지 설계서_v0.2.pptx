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9"/>
  </p:notesMasterIdLst>
  <p:sldIdLst>
    <p:sldId id="590" r:id="rId2"/>
    <p:sldId id="1119" r:id="rId3"/>
    <p:sldId id="592" r:id="rId4"/>
    <p:sldId id="730" r:id="rId5"/>
    <p:sldId id="1120" r:id="rId6"/>
    <p:sldId id="1121" r:id="rId7"/>
    <p:sldId id="112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2" clrIdx="0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7A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3E2EC-4CFD-4C4F-AD62-C40AA422161D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12075-5D0B-46F8-8956-C8598B85E2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8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5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9897F6F4-9267-44EB-B43D-D3AB4AFE9860}" type="slidenum">
              <a:rPr lang="ko-KR" altLang="en-US" smtClean="0"/>
              <a:pPr eaLnBrk="1" hangingPunct="1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3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418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4303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786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72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46F920-B0A5-4D36-AF43-CEC3479D00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92" y="199804"/>
            <a:ext cx="1932884" cy="3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19404" y="2138606"/>
            <a:ext cx="8544949" cy="47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ko-KR" altLang="en-US"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19403" y="2655962"/>
            <a:ext cx="8534400" cy="31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marR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 lang="ko-KR" altLang="en-US"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4290B7-FDB0-485A-BF62-934F460D90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92" y="199804"/>
            <a:ext cx="1932884" cy="3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5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71535C-D51E-47ED-93E1-3298DD9A5E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92" y="199804"/>
            <a:ext cx="1932884" cy="3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59736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8E713-7CC6-4756-A129-44C94FB5DA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46F529-7E37-42CD-B681-A348E44EF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92" y="199804"/>
            <a:ext cx="1932884" cy="3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F47BF04-C72B-442A-90A0-48918F92D25E}"/>
              </a:ext>
            </a:extLst>
          </p:cNvPr>
          <p:cNvPicPr preferRelativeResize="0">
            <a:picLocks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9" y="0"/>
            <a:ext cx="12193477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D22964-7EA5-447B-81EE-C50D6BE6AA5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" y="1"/>
            <a:ext cx="3901778" cy="6401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4422240-2A5E-4599-9ACF-956A735D0657}"/>
              </a:ext>
            </a:extLst>
          </p:cNvPr>
          <p:cNvSpPr/>
          <p:nvPr userDrawn="1"/>
        </p:nvSpPr>
        <p:spPr>
          <a:xfrm>
            <a:off x="-739" y="638399"/>
            <a:ext cx="12193477" cy="591252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7FC522-728C-48DE-AABC-D8A3D1DCA8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clrChange>
              <a:clrFrom>
                <a:srgbClr val="999999">
                  <a:alpha val="60000"/>
                </a:srgbClr>
              </a:clrFrom>
              <a:clrTo>
                <a:srgbClr val="999999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99" t="33868" b="23109"/>
          <a:stretch/>
        </p:blipFill>
        <p:spPr>
          <a:xfrm rot="10800000">
            <a:off x="-3328" y="5915891"/>
            <a:ext cx="1214002" cy="91784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0044F2C-00A3-4FFD-8BFF-1F05CA27F402}"/>
              </a:ext>
            </a:extLst>
          </p:cNvPr>
          <p:cNvSpPr/>
          <p:nvPr userDrawn="1"/>
        </p:nvSpPr>
        <p:spPr>
          <a:xfrm>
            <a:off x="-739" y="6553200"/>
            <a:ext cx="12193477" cy="5415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86A1F55D-AB44-4E01-8682-65E2797C2D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91945" y="6665912"/>
            <a:ext cx="2749151" cy="114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6000" rIns="0" bIns="0">
            <a:spAutoFit/>
          </a:bodyPr>
          <a:lstStyle>
            <a:lvl1pPr marL="457200" indent="-4572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q"/>
              <a:defRPr sz="1200" b="1">
                <a:solidFill>
                  <a:schemeClr val="tx1"/>
                </a:solidFill>
                <a:latin typeface="Arial" pitchFamily="34" charset="0"/>
                <a:ea typeface="굴림체" pitchFamily="49" charset="-127"/>
              </a:defRPr>
            </a:lvl9pPr>
          </a:lstStyle>
          <a:p>
            <a:pPr eaLnBrk="0" fontAlgn="base" hangingPunct="0">
              <a:lnSpc>
                <a:spcPct val="60000"/>
              </a:lnSpc>
              <a:spcBef>
                <a:spcPts val="863"/>
              </a:spcBef>
              <a:spcAft>
                <a:spcPct val="10000"/>
              </a:spcAft>
              <a:buFont typeface="Wingdings" panose="05000000000000000000" pitchFamily="2" charset="2"/>
              <a:buNone/>
              <a:defRPr/>
            </a:pPr>
            <a:r>
              <a:rPr lang="en-US" altLang="ko-KR" sz="800" b="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Copyright © 2000-2019 KAONI Co., Ltd. All right reserved.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4E7D76C-B8F3-4219-8B8A-FF12346C6D4E}"/>
              </a:ext>
            </a:extLst>
          </p:cNvPr>
          <p:cNvSpPr/>
          <p:nvPr userDrawn="1"/>
        </p:nvSpPr>
        <p:spPr bwMode="auto">
          <a:xfrm>
            <a:off x="6498040" y="6697516"/>
            <a:ext cx="75809" cy="639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CC69668-CD94-462C-8CA7-B780FE53957B}"/>
              </a:ext>
            </a:extLst>
          </p:cNvPr>
          <p:cNvSpPr/>
          <p:nvPr userDrawn="1"/>
        </p:nvSpPr>
        <p:spPr bwMode="auto">
          <a:xfrm>
            <a:off x="6590695" y="6697516"/>
            <a:ext cx="75809" cy="639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BA39BF4-6A6A-4CEB-A2E5-C2BBC7FBF16E}"/>
              </a:ext>
            </a:extLst>
          </p:cNvPr>
          <p:cNvSpPr/>
          <p:nvPr userDrawn="1"/>
        </p:nvSpPr>
        <p:spPr bwMode="auto">
          <a:xfrm>
            <a:off x="5529583" y="6697516"/>
            <a:ext cx="75808" cy="639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0D89714-6155-4D37-8646-9CF2D510CA83}"/>
              </a:ext>
            </a:extLst>
          </p:cNvPr>
          <p:cNvSpPr/>
          <p:nvPr userDrawn="1"/>
        </p:nvSpPr>
        <p:spPr bwMode="auto">
          <a:xfrm>
            <a:off x="5624343" y="6697516"/>
            <a:ext cx="75808" cy="6397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endParaRPr lang="ko-KR" altLang="en-US" sz="1800" kern="0" dirty="0">
              <a:solidFill>
                <a:prstClr val="white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Rectangle 56">
            <a:extLst>
              <a:ext uri="{FF2B5EF4-FFF2-40B4-BE49-F238E27FC236}">
                <a16:creationId xmlns:a16="http://schemas.microsoft.com/office/drawing/2014/main" id="{8DFC5B63-5A0D-4648-B775-5BE7D9F879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14964" y="6608309"/>
            <a:ext cx="962074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q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q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q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Wingdings" panose="05000000000000000000" pitchFamily="2" charset="2"/>
              <a:buChar char="q"/>
              <a:defRPr sz="1200" b="1">
                <a:solidFill>
                  <a:schemeClr val="tx1"/>
                </a:solidFill>
                <a:latin typeface="Arial" panose="020B0604020202020204" pitchFamily="34" charset="0"/>
                <a:ea typeface="굴림체" panose="020B0609000101010101" pitchFamily="49" charset="-127"/>
              </a:defRPr>
            </a:lvl9pPr>
          </a:lstStyle>
          <a:p>
            <a:pPr algn="ctr">
              <a:defRPr/>
            </a:pPr>
            <a:fld id="{5045DE45-C8BD-4C8B-BF56-9571CED5CC62}" type="slidenum">
              <a:rPr kumimoji="1" lang="en-US" altLang="ko-KR" sz="800" smtClean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>
                <a:defRPr/>
              </a:pPr>
              <a:t>‹#›</a:t>
            </a:fld>
            <a:r>
              <a:rPr kumimoji="1" lang="en-US" altLang="ko-KR" sz="80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7EB58F9-C19C-4401-AA4F-56CA1FA7DC9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7" y="6644507"/>
            <a:ext cx="938794" cy="16824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4949A6-DAF7-4884-A186-4BCF62666F2C}"/>
              </a:ext>
            </a:extLst>
          </p:cNvPr>
          <p:cNvSpPr/>
          <p:nvPr userDrawn="1"/>
        </p:nvSpPr>
        <p:spPr>
          <a:xfrm>
            <a:off x="-17296" y="63501"/>
            <a:ext cx="12226592" cy="91343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D720871B-96E6-4244-ADAF-054C326AB057}"/>
              </a:ext>
            </a:extLst>
          </p:cNvPr>
          <p:cNvSpPr/>
          <p:nvPr userDrawn="1"/>
        </p:nvSpPr>
        <p:spPr>
          <a:xfrm rot="10800000">
            <a:off x="352238" y="127000"/>
            <a:ext cx="469397" cy="181230"/>
          </a:xfrm>
          <a:prstGeom prst="triangl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96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4768703" y="1687366"/>
            <a:ext cx="5880278" cy="471487"/>
          </a:xfrm>
          <a:ln/>
        </p:spPr>
        <p:txBody>
          <a:bodyPr>
            <a:normAutofit fontScale="90000"/>
          </a:bodyPr>
          <a:lstStyle/>
          <a:p>
            <a:pPr algn="r"/>
            <a:r>
              <a:rPr lang="ko-KR" altLang="en-US" sz="2800" dirty="0"/>
              <a:t>사용자 관리 </a:t>
            </a:r>
            <a:r>
              <a:rPr lang="en-US" altLang="ko-KR" sz="2800" dirty="0"/>
              <a:t>UI/IX </a:t>
            </a:r>
            <a:r>
              <a:rPr lang="ko-KR" altLang="en-US" sz="2800" dirty="0"/>
              <a:t>설계서</a:t>
            </a:r>
            <a:r>
              <a:rPr lang="en-US" altLang="ko-KR" sz="2800" dirty="0"/>
              <a:t>(</a:t>
            </a:r>
            <a:r>
              <a:rPr lang="ko-KR" altLang="en-US" sz="2800" dirty="0"/>
              <a:t>기능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6888088" y="1246630"/>
            <a:ext cx="3736504" cy="312737"/>
          </a:xfrm>
          <a:ln/>
        </p:spPr>
        <p:txBody>
          <a:bodyPr>
            <a:normAutofit fontScale="70000" lnSpcReduction="20000"/>
          </a:bodyPr>
          <a:lstStyle/>
          <a:p>
            <a:pPr algn="r"/>
            <a:r>
              <a:rPr lang="en-US" dirty="0"/>
              <a:t>[</a:t>
            </a:r>
            <a:r>
              <a:rPr lang="ko-KR" altLang="en-US" dirty="0"/>
              <a:t>한국경제 그룹웨어 시스템 </a:t>
            </a:r>
            <a:r>
              <a:rPr lang="ko-KR" altLang="en-US" dirty="0" err="1"/>
              <a:t>재구축</a:t>
            </a:r>
            <a:r>
              <a:rPr lang="en-US" dirty="0"/>
              <a:t>]</a:t>
            </a:r>
            <a:endParaRPr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73641"/>
              </p:ext>
            </p:extLst>
          </p:nvPr>
        </p:nvGraphicFramePr>
        <p:xfrm>
          <a:off x="6927498" y="4758609"/>
          <a:ext cx="3632998" cy="1368152"/>
        </p:xfrm>
        <a:graphic>
          <a:graphicData uri="http://schemas.openxmlformats.org/drawingml/2006/table">
            <a:tbl>
              <a:tblPr/>
              <a:tblGrid>
                <a:gridCol w="135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번 호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Times New Roman"/>
                          <a:ea typeface="바탕체"/>
                        </a:rPr>
                        <a:t>KED-DS-10</a:t>
                      </a:r>
                      <a:endParaRPr lang="ko-KR" sz="1000" dirty="0">
                        <a:effectLst/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문 서 </a:t>
                      </a:r>
                      <a:r>
                        <a:rPr lang="ko-KR" sz="1000" b="1" kern="100" dirty="0" err="1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버</a:t>
                      </a: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 전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>
                          <a:effectLst/>
                          <a:latin typeface="Times New Roman"/>
                          <a:ea typeface="바탕체"/>
                        </a:rPr>
                        <a:t>v1.0</a:t>
                      </a:r>
                      <a:endParaRPr lang="ko-KR" sz="1000" dirty="0">
                        <a:effectLst/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 성 일 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Times New Roman"/>
                          <a:ea typeface="바탕체"/>
                        </a:rPr>
                        <a:t>2019.08.07</a:t>
                      </a:r>
                      <a:endParaRPr lang="ko-KR" sz="1000" dirty="0">
                        <a:effectLst/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dist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작성자</a:t>
                      </a: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auto" latinLnBrk="0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Times New Roman"/>
                          <a:ea typeface="바탕체"/>
                        </a:rPr>
                        <a:t>홍대표</a:t>
                      </a:r>
                      <a:endParaRPr lang="ko-KR" sz="1000" dirty="0">
                        <a:effectLst/>
                        <a:latin typeface="Times New Roman"/>
                        <a:ea typeface="바탕체"/>
                      </a:endParaRPr>
                    </a:p>
                  </a:txBody>
                  <a:tcPr marL="62865" marR="6286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직선 연결선 10"/>
          <p:cNvCxnSpPr/>
          <p:nvPr/>
        </p:nvCxnSpPr>
        <p:spPr>
          <a:xfrm>
            <a:off x="5342860" y="2208731"/>
            <a:ext cx="5216528" cy="17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98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 txBox="1">
            <a:spLocks/>
          </p:cNvSpPr>
          <p:nvPr/>
        </p:nvSpPr>
        <p:spPr bwMode="auto">
          <a:xfrm>
            <a:off x="1616306" y="263438"/>
            <a:ext cx="5900738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292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승인이력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008762"/>
              </p:ext>
            </p:extLst>
          </p:nvPr>
        </p:nvGraphicFramePr>
        <p:xfrm>
          <a:off x="1857363" y="1053376"/>
          <a:ext cx="8479499" cy="2048490"/>
        </p:xfrm>
        <a:graphic>
          <a:graphicData uri="http://schemas.openxmlformats.org/drawingml/2006/table">
            <a:tbl>
              <a:tblPr firstRow="1" firstCol="1" bandRow="1"/>
              <a:tblGrid>
                <a:gridCol w="2325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0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12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698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수행 역할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소속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이름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승인일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0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비고</a:t>
                      </a:r>
                      <a:endParaRPr lang="ko-KR" sz="10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58435" marR="58435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698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개발사 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PL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aseline="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Kaoni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홍대표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98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개발사 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PM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aseline="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Kaoni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최재원</a:t>
                      </a:r>
                      <a:r>
                        <a:rPr lang="en-US" altLang="ko-KR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B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698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주관사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한국경제신문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이현종과장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98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주관사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  <a:cs typeface="Times New Roman"/>
                        </a:rPr>
                        <a:t>한국경제신문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effectLst/>
                          <a:latin typeface="+mn-ea"/>
                          <a:ea typeface="+mn-ea"/>
                          <a:cs typeface="Times New Roman"/>
                        </a:rPr>
                        <a:t>한필구차장</a:t>
                      </a: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0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58435" marR="5843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49486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752410"/>
              </p:ext>
            </p:extLst>
          </p:nvPr>
        </p:nvGraphicFramePr>
        <p:xfrm>
          <a:off x="1832957" y="1044531"/>
          <a:ext cx="8542337" cy="3157220"/>
        </p:xfrm>
        <a:graphic>
          <a:graphicData uri="http://schemas.openxmlformats.org/drawingml/2006/table">
            <a:tbl>
              <a:tblPr firstRow="1" firstCol="1" bandRow="1"/>
              <a:tblGrid>
                <a:gridCol w="142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2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1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일자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버전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변경내용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sz="1100" b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작성자</a:t>
                      </a:r>
                      <a:endParaRPr lang="ko-KR" sz="1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2019.08.7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0.1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최초작성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홍대표</a:t>
                      </a:r>
                      <a:endParaRPr lang="en-US" alt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2019.08.08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0.2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폼 수정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최재원</a:t>
                      </a:r>
                      <a:r>
                        <a:rPr lang="en-US" altLang="ko-KR" sz="1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PM</a:t>
                      </a: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3305" marR="63305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3305" marR="6330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3305" marR="6330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en-US" alt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3305" marR="63305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제목 1"/>
          <p:cNvSpPr txBox="1">
            <a:spLocks/>
          </p:cNvSpPr>
          <p:nvPr/>
        </p:nvSpPr>
        <p:spPr bwMode="auto">
          <a:xfrm>
            <a:off x="1616306" y="263438"/>
            <a:ext cx="5900738" cy="30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9398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lang="ko-KR" altLang="en-US" sz="1292" b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개정이력</a:t>
            </a:r>
            <a:endParaRPr lang="ko-KR" altLang="en-US" sz="1292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7569127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16412"/>
              </p:ext>
            </p:extLst>
          </p:nvPr>
        </p:nvGraphicFramePr>
        <p:xfrm>
          <a:off x="1335088" y="1268760"/>
          <a:ext cx="6561112" cy="5004492"/>
        </p:xfrm>
        <a:graphic>
          <a:graphicData uri="http://schemas.openxmlformats.org/drawingml/2006/table">
            <a:tbl>
              <a:tblPr firstRow="1" bandRow="1"/>
              <a:tblGrid>
                <a:gridCol w="6561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기능 설명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0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일정기간 암호를 변경하지 않은 사용자를 관리자가 사용 정지 시킬 수 있는 기능</a:t>
                      </a:r>
                      <a:r>
                        <a:rPr lang="en-US" altLang="ko-KR" sz="1100" dirty="0"/>
                        <a:t>.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- </a:t>
                      </a:r>
                      <a:r>
                        <a:rPr lang="ko-KR" altLang="en-US" sz="1100" dirty="0"/>
                        <a:t>관리자 화면과 사용자 화면을 제공</a:t>
                      </a:r>
                      <a:r>
                        <a:rPr lang="en-US" altLang="ko-KR" sz="1100" dirty="0"/>
                        <a:t>.</a:t>
                      </a: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/>
          </p:nvPr>
        </p:nvGraphicFramePr>
        <p:xfrm>
          <a:off x="8040216" y="1268760"/>
          <a:ext cx="2736304" cy="5004492"/>
        </p:xfrm>
        <a:graphic>
          <a:graphicData uri="http://schemas.openxmlformats.org/drawingml/2006/table">
            <a:tbl>
              <a:tblPr firstRow="1" bandRow="1"/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수행절차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0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marL="457200" lvl="1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100" baseline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latinLnBrk="1" hangingPunct="0">
                        <a:buNone/>
                      </a:pP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관리자기능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marR="0" lvl="0" indent="-22860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게시관리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-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게시판생성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–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게시판이름 및 설명입력 후 생성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"/>
                      </a:endParaRPr>
                    </a:p>
                    <a:p>
                      <a:pPr marL="228600" marR="0" lvl="0" indent="-22860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게시판 그룹 생성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"/>
                      </a:endParaRPr>
                    </a:p>
                    <a:p>
                      <a:pPr marL="228600" marR="0" lvl="0" indent="-22860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생성된 그룹에 신규 하위게시판 및 기존게시판 등록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"/>
                      </a:endParaRPr>
                    </a:p>
                    <a:p>
                      <a:pPr marL="228600" marR="0" lvl="0" indent="-22860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게시판 순서 조정 필요시 순서 조정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"/>
                      </a:endParaRPr>
                    </a:p>
                    <a:p>
                      <a:pPr marL="228600" marR="0" lvl="0" indent="-228600" algn="l" defTabSz="914400" rtl="0" eaLnBrk="1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생성된 게시판의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URL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을 사용하고자 하는 메뉴에 등록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(1.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 게시판 생성시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URL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"/>
                        </a:rPr>
                        <a:t> 생성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Group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45192"/>
              </p:ext>
            </p:extLst>
          </p:nvPr>
        </p:nvGraphicFramePr>
        <p:xfrm>
          <a:off x="1343472" y="685800"/>
          <a:ext cx="9433048" cy="401638"/>
        </p:xfrm>
        <a:graphic>
          <a:graphicData uri="http://schemas.openxmlformats.org/drawingml/2006/table">
            <a:tbl>
              <a:tblPr/>
              <a:tblGrid>
                <a:gridCol w="85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113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조직도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KED_GEN_03, KED_ADMIN_11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암호관리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사용자 암호 관리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24768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039498"/>
              </p:ext>
            </p:extLst>
          </p:nvPr>
        </p:nvGraphicFramePr>
        <p:xfrm>
          <a:off x="1335088" y="1268760"/>
          <a:ext cx="9441432" cy="5004492"/>
        </p:xfrm>
        <a:graphic>
          <a:graphicData uri="http://schemas.openxmlformats.org/drawingml/2006/table">
            <a:tbl>
              <a:tblPr firstRow="1" bandRow="1"/>
              <a:tblGrid>
                <a:gridCol w="944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기능 설명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0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Group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06867"/>
              </p:ext>
            </p:extLst>
          </p:nvPr>
        </p:nvGraphicFramePr>
        <p:xfrm>
          <a:off x="1343472" y="685800"/>
          <a:ext cx="9433048" cy="401638"/>
        </p:xfrm>
        <a:graphic>
          <a:graphicData uri="http://schemas.openxmlformats.org/drawingml/2006/table">
            <a:tbl>
              <a:tblPr/>
              <a:tblGrid>
                <a:gridCol w="85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113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조직도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KED_GEN_03, KED_ADMIN_11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관리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사용자 정지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F06217E5-8864-4F4E-9A2B-7A622FD0D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552" y="1866708"/>
            <a:ext cx="8997063" cy="41422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2D3310-D234-4922-B168-0EEDA8F917F2}"/>
              </a:ext>
            </a:extLst>
          </p:cNvPr>
          <p:cNvSpPr/>
          <p:nvPr/>
        </p:nvSpPr>
        <p:spPr>
          <a:xfrm>
            <a:off x="3283630" y="1874754"/>
            <a:ext cx="316851" cy="17676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사각형 설명선 9">
            <a:extLst>
              <a:ext uri="{FF2B5EF4-FFF2-40B4-BE49-F238E27FC236}">
                <a16:creationId xmlns:a16="http://schemas.microsoft.com/office/drawing/2014/main" id="{BDD98310-F507-47BD-8109-0BB9C59C78FE}"/>
              </a:ext>
            </a:extLst>
          </p:cNvPr>
          <p:cNvSpPr/>
          <p:nvPr/>
        </p:nvSpPr>
        <p:spPr>
          <a:xfrm>
            <a:off x="3057285" y="1422040"/>
            <a:ext cx="1234798" cy="401638"/>
          </a:xfrm>
          <a:prstGeom prst="wedgeRoundRectCallou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1. </a:t>
            </a:r>
            <a:r>
              <a:rPr lang="ko-KR" altLang="en-US" sz="800" dirty="0"/>
              <a:t>관리자 </a:t>
            </a:r>
            <a:r>
              <a:rPr lang="en-US" altLang="ko-KR" sz="800" dirty="0"/>
              <a:t>&gt; </a:t>
            </a:r>
            <a:r>
              <a:rPr lang="ko-KR" altLang="en-US" sz="800" dirty="0"/>
              <a:t>조직도 </a:t>
            </a:r>
            <a:r>
              <a:rPr lang="en-US" altLang="ko-KR" sz="800" dirty="0"/>
              <a:t>&gt; </a:t>
            </a:r>
            <a:r>
              <a:rPr lang="ko-KR" altLang="en-US" sz="800" dirty="0" err="1"/>
              <a:t>사용자정지</a:t>
            </a:r>
            <a:r>
              <a:rPr lang="ko-KR" altLang="en-US" sz="800" dirty="0"/>
              <a:t> 선택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8F1311-4156-46BA-8EBA-C219742D261D}"/>
              </a:ext>
            </a:extLst>
          </p:cNvPr>
          <p:cNvSpPr/>
          <p:nvPr/>
        </p:nvSpPr>
        <p:spPr>
          <a:xfrm>
            <a:off x="2925730" y="2484687"/>
            <a:ext cx="995327" cy="17676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6C19D9-5338-411E-9075-0DF8435C3D07}"/>
              </a:ext>
            </a:extLst>
          </p:cNvPr>
          <p:cNvSpPr/>
          <p:nvPr/>
        </p:nvSpPr>
        <p:spPr>
          <a:xfrm>
            <a:off x="2909729" y="2911625"/>
            <a:ext cx="231053" cy="17676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B6BEFA6-27F7-4CF3-84FB-CA5085BAA8EB}"/>
              </a:ext>
            </a:extLst>
          </p:cNvPr>
          <p:cNvSpPr/>
          <p:nvPr/>
        </p:nvSpPr>
        <p:spPr>
          <a:xfrm>
            <a:off x="3324355" y="3133345"/>
            <a:ext cx="501196" cy="14608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07B7C8-D5EF-47B4-8CEC-2C2AFAA317F4}"/>
              </a:ext>
            </a:extLst>
          </p:cNvPr>
          <p:cNvSpPr/>
          <p:nvPr/>
        </p:nvSpPr>
        <p:spPr>
          <a:xfrm>
            <a:off x="2925729" y="3351320"/>
            <a:ext cx="7356605" cy="13310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51BFC6-2A85-446E-86FC-C0CBBAC21E8D}"/>
              </a:ext>
            </a:extLst>
          </p:cNvPr>
          <p:cNvSpPr/>
          <p:nvPr/>
        </p:nvSpPr>
        <p:spPr>
          <a:xfrm>
            <a:off x="1571382" y="3477144"/>
            <a:ext cx="472022" cy="13310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사각형 설명선 20">
            <a:extLst>
              <a:ext uri="{FF2B5EF4-FFF2-40B4-BE49-F238E27FC236}">
                <a16:creationId xmlns:a16="http://schemas.microsoft.com/office/drawing/2014/main" id="{64C5F1EC-5190-4EFC-93D5-2C860E477941}"/>
              </a:ext>
            </a:extLst>
          </p:cNvPr>
          <p:cNvSpPr/>
          <p:nvPr/>
        </p:nvSpPr>
        <p:spPr>
          <a:xfrm>
            <a:off x="4570191" y="1789184"/>
            <a:ext cx="1485613" cy="590269"/>
          </a:xfrm>
          <a:prstGeom prst="wedgeRoundRectCallout">
            <a:avLst>
              <a:gd name="adj1" fmla="val -94960"/>
              <a:gd name="adj2" fmla="val 88002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5. </a:t>
            </a:r>
            <a:r>
              <a:rPr lang="ko-KR" altLang="en-US" sz="800" dirty="0"/>
              <a:t>전체관리자는 회사를 선택할 수 있고 회사관리자는 자신의 회사로 고정됨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1" name="모서리가 둥근 사각형 설명선 16">
            <a:extLst>
              <a:ext uri="{FF2B5EF4-FFF2-40B4-BE49-F238E27FC236}">
                <a16:creationId xmlns:a16="http://schemas.microsoft.com/office/drawing/2014/main" id="{78BD7B39-4BE8-4DAC-A56A-635EC86EA423}"/>
              </a:ext>
            </a:extLst>
          </p:cNvPr>
          <p:cNvSpPr/>
          <p:nvPr/>
        </p:nvSpPr>
        <p:spPr>
          <a:xfrm>
            <a:off x="4570191" y="2560775"/>
            <a:ext cx="1485613" cy="408910"/>
          </a:xfrm>
          <a:prstGeom prst="wedgeRoundRectCallout">
            <a:avLst>
              <a:gd name="adj1" fmla="val -96392"/>
              <a:gd name="adj2" fmla="val 95137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6. </a:t>
            </a:r>
            <a:r>
              <a:rPr lang="ko-KR" altLang="en-US" sz="800" dirty="0" err="1"/>
              <a:t>검색조건은</a:t>
            </a:r>
            <a:r>
              <a:rPr lang="ko-KR" altLang="en-US" sz="800" dirty="0"/>
              <a:t> 이름</a:t>
            </a:r>
            <a:r>
              <a:rPr lang="en-US" altLang="ko-KR" sz="800" dirty="0"/>
              <a:t>, </a:t>
            </a:r>
            <a:r>
              <a:rPr lang="ko-KR" altLang="en-US" sz="800" dirty="0"/>
              <a:t>부서</a:t>
            </a:r>
            <a:r>
              <a:rPr lang="en-US" altLang="ko-KR" sz="800" dirty="0"/>
              <a:t>, </a:t>
            </a:r>
            <a:r>
              <a:rPr lang="ko-KR" altLang="en-US" sz="800" dirty="0"/>
              <a:t>아이디를 선택 할 수 있음</a:t>
            </a:r>
            <a:r>
              <a:rPr lang="en-US" altLang="ko-KR" sz="800" dirty="0"/>
              <a:t>.</a:t>
            </a:r>
          </a:p>
        </p:txBody>
      </p:sp>
      <p:sp>
        <p:nvSpPr>
          <p:cNvPr id="32" name="모서리가 둥근 사각형 설명선 11">
            <a:extLst>
              <a:ext uri="{FF2B5EF4-FFF2-40B4-BE49-F238E27FC236}">
                <a16:creationId xmlns:a16="http://schemas.microsoft.com/office/drawing/2014/main" id="{95B0C9FA-3382-4E1D-8B07-1B0355FE62B0}"/>
              </a:ext>
            </a:extLst>
          </p:cNvPr>
          <p:cNvSpPr/>
          <p:nvPr/>
        </p:nvSpPr>
        <p:spPr>
          <a:xfrm>
            <a:off x="7141521" y="2185597"/>
            <a:ext cx="1874538" cy="846834"/>
          </a:xfrm>
          <a:prstGeom prst="wedgeRoundRectCallout">
            <a:avLst>
              <a:gd name="adj1" fmla="val -34112"/>
              <a:gd name="adj2" fmla="val 85048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2. </a:t>
            </a:r>
            <a:r>
              <a:rPr lang="ko-KR" altLang="en-US" sz="800" dirty="0"/>
              <a:t>리스트에 순번</a:t>
            </a:r>
            <a:r>
              <a:rPr lang="en-US" altLang="ko-KR" sz="800" dirty="0"/>
              <a:t>, </a:t>
            </a:r>
            <a:r>
              <a:rPr lang="ko-KR" altLang="en-US" sz="800" dirty="0"/>
              <a:t>이름</a:t>
            </a:r>
            <a:r>
              <a:rPr lang="en-US" altLang="ko-KR" sz="800" dirty="0"/>
              <a:t>(ID), </a:t>
            </a:r>
            <a:r>
              <a:rPr lang="ko-KR" altLang="en-US" sz="800" dirty="0"/>
              <a:t>부서</a:t>
            </a:r>
            <a:r>
              <a:rPr lang="en-US" altLang="ko-KR" sz="800" dirty="0"/>
              <a:t>, </a:t>
            </a:r>
            <a:r>
              <a:rPr lang="ko-KR" altLang="en-US" sz="800" dirty="0"/>
              <a:t>암호 최종변경일자 컬럼이 있음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 err="1"/>
              <a:t>기본정렬</a:t>
            </a:r>
            <a:r>
              <a:rPr lang="ko-KR" altLang="en-US" sz="800" dirty="0"/>
              <a:t> 순서는 최종변경일자 오름차순</a:t>
            </a:r>
            <a:r>
              <a:rPr lang="en-US" altLang="ko-KR" sz="800" dirty="0"/>
              <a:t>, </a:t>
            </a:r>
            <a:r>
              <a:rPr lang="ko-KR" altLang="en-US" sz="800" dirty="0"/>
              <a:t>이름 오름차순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4" name="모서리가 둥근 사각형 설명선 19">
            <a:extLst>
              <a:ext uri="{FF2B5EF4-FFF2-40B4-BE49-F238E27FC236}">
                <a16:creationId xmlns:a16="http://schemas.microsoft.com/office/drawing/2014/main" id="{2913294D-E44F-4D51-8312-DA4E8B0DC8B7}"/>
              </a:ext>
            </a:extLst>
          </p:cNvPr>
          <p:cNvSpPr/>
          <p:nvPr/>
        </p:nvSpPr>
        <p:spPr>
          <a:xfrm>
            <a:off x="1756974" y="2108447"/>
            <a:ext cx="908104" cy="861238"/>
          </a:xfrm>
          <a:prstGeom prst="wedgeRoundRectCallout">
            <a:avLst>
              <a:gd name="adj1" fmla="val 77638"/>
              <a:gd name="adj2" fmla="val 53663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3. </a:t>
            </a:r>
            <a:r>
              <a:rPr lang="ko-KR" altLang="en-US" sz="800" dirty="0"/>
              <a:t>관리자는 정지 버튼을 눌러 해당 계정을 정지할 수 있음</a:t>
            </a:r>
            <a:r>
              <a:rPr lang="en-US" altLang="ko-KR" sz="800" dirty="0"/>
              <a:t>.</a:t>
            </a:r>
          </a:p>
        </p:txBody>
      </p:sp>
      <p:sp>
        <p:nvSpPr>
          <p:cNvPr id="35" name="모서리가 둥근 사각형 설명선 14">
            <a:extLst>
              <a:ext uri="{FF2B5EF4-FFF2-40B4-BE49-F238E27FC236}">
                <a16:creationId xmlns:a16="http://schemas.microsoft.com/office/drawing/2014/main" id="{1BA9A6E7-884D-431B-89C9-0A2D2C2B0925}"/>
              </a:ext>
            </a:extLst>
          </p:cNvPr>
          <p:cNvSpPr/>
          <p:nvPr/>
        </p:nvSpPr>
        <p:spPr>
          <a:xfrm>
            <a:off x="1732385" y="3791572"/>
            <a:ext cx="908104" cy="663976"/>
          </a:xfrm>
          <a:prstGeom prst="wedgeRoundRectCallout">
            <a:avLst>
              <a:gd name="adj1" fmla="val -26821"/>
              <a:gd name="adj2" fmla="val -72068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4. DB</a:t>
            </a:r>
            <a:r>
              <a:rPr lang="ko-KR" altLang="en-US" sz="800" dirty="0"/>
              <a:t>상의 옵션에 따라서 메뉴 활성화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8869B86-9F29-46DD-9909-C0B037B5A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91" y="4294167"/>
            <a:ext cx="1874539" cy="67487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sp>
        <p:nvSpPr>
          <p:cNvPr id="37" name="모서리가 둥근 사각형 설명선 16">
            <a:extLst>
              <a:ext uri="{FF2B5EF4-FFF2-40B4-BE49-F238E27FC236}">
                <a16:creationId xmlns:a16="http://schemas.microsoft.com/office/drawing/2014/main" id="{127FD47D-6537-4608-ABC1-89633BE6EE63}"/>
              </a:ext>
            </a:extLst>
          </p:cNvPr>
          <p:cNvSpPr/>
          <p:nvPr/>
        </p:nvSpPr>
        <p:spPr>
          <a:xfrm>
            <a:off x="7141521" y="4038317"/>
            <a:ext cx="1485613" cy="408910"/>
          </a:xfrm>
          <a:prstGeom prst="wedgeRoundRectCallout">
            <a:avLst>
              <a:gd name="adj1" fmla="val -96392"/>
              <a:gd name="adj2" fmla="val 95137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7. </a:t>
            </a:r>
            <a:r>
              <a:rPr lang="ko-KR" altLang="en-US" sz="800" dirty="0"/>
              <a:t>정지버튼을 눌렀을 경우</a:t>
            </a:r>
            <a:r>
              <a:rPr lang="en-US" altLang="ko-KR" sz="800" dirty="0"/>
              <a:t>, </a:t>
            </a:r>
            <a:r>
              <a:rPr lang="ko-KR" altLang="en-US" sz="800" dirty="0" err="1"/>
              <a:t>확인창</a:t>
            </a:r>
            <a:r>
              <a:rPr lang="ko-KR" altLang="en-US" sz="800" dirty="0"/>
              <a:t> 표시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3519742934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>
            <p:extLst/>
          </p:nvPr>
        </p:nvGraphicFramePr>
        <p:xfrm>
          <a:off x="1335088" y="1268760"/>
          <a:ext cx="9441432" cy="5004492"/>
        </p:xfrm>
        <a:graphic>
          <a:graphicData uri="http://schemas.openxmlformats.org/drawingml/2006/table">
            <a:tbl>
              <a:tblPr firstRow="1" bandRow="1"/>
              <a:tblGrid>
                <a:gridCol w="944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기능 설명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0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Group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13936"/>
              </p:ext>
            </p:extLst>
          </p:nvPr>
        </p:nvGraphicFramePr>
        <p:xfrm>
          <a:off x="1343472" y="685800"/>
          <a:ext cx="9433048" cy="401638"/>
        </p:xfrm>
        <a:graphic>
          <a:graphicData uri="http://schemas.openxmlformats.org/drawingml/2006/table">
            <a:tbl>
              <a:tblPr/>
              <a:tblGrid>
                <a:gridCol w="85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113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조직도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관리자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KED_GEN_03, KED_ADMIN_11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관리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사용자 정지 해제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0E02CB7E-E641-40AC-AF34-5AD982B5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02" y="1754150"/>
            <a:ext cx="8173615" cy="418945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401718-DF5C-4FC5-A86A-23FA069E4DD0}"/>
              </a:ext>
            </a:extLst>
          </p:cNvPr>
          <p:cNvSpPr/>
          <p:nvPr/>
        </p:nvSpPr>
        <p:spPr>
          <a:xfrm>
            <a:off x="3012368" y="2827648"/>
            <a:ext cx="231053" cy="17680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4688954-93EC-44D9-BE44-FA2AFF660AC1}"/>
              </a:ext>
            </a:extLst>
          </p:cNvPr>
          <p:cNvSpPr/>
          <p:nvPr/>
        </p:nvSpPr>
        <p:spPr>
          <a:xfrm>
            <a:off x="3361677" y="3043437"/>
            <a:ext cx="501196" cy="14608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FF97E6-CB3E-418B-963A-10C3C40DA4CC}"/>
              </a:ext>
            </a:extLst>
          </p:cNvPr>
          <p:cNvSpPr/>
          <p:nvPr/>
        </p:nvSpPr>
        <p:spPr>
          <a:xfrm>
            <a:off x="3012368" y="3239903"/>
            <a:ext cx="6784775" cy="14608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사각형 설명선 17">
            <a:extLst>
              <a:ext uri="{FF2B5EF4-FFF2-40B4-BE49-F238E27FC236}">
                <a16:creationId xmlns:a16="http://schemas.microsoft.com/office/drawing/2014/main" id="{C03C6A4D-5977-4A45-A767-466509D2E825}"/>
              </a:ext>
            </a:extLst>
          </p:cNvPr>
          <p:cNvSpPr/>
          <p:nvPr/>
        </p:nvSpPr>
        <p:spPr>
          <a:xfrm>
            <a:off x="5155749" y="2438470"/>
            <a:ext cx="1277119" cy="401638"/>
          </a:xfrm>
          <a:prstGeom prst="wedgeRoundRectCallout">
            <a:avLst>
              <a:gd name="adj1" fmla="val -118610"/>
              <a:gd name="adj2" fmla="val -10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1. </a:t>
            </a:r>
            <a:r>
              <a:rPr lang="ko-KR" altLang="en-US" sz="800" dirty="0"/>
              <a:t>정지 사용자 탭을 선택하여 정지된 사용자만 조회할 수 있음</a:t>
            </a:r>
            <a:r>
              <a:rPr lang="en-US" altLang="ko-KR" sz="800" dirty="0"/>
              <a:t>.</a:t>
            </a:r>
          </a:p>
        </p:txBody>
      </p:sp>
      <p:sp>
        <p:nvSpPr>
          <p:cNvPr id="41" name="모서리가 둥근 사각형 설명선 11">
            <a:extLst>
              <a:ext uri="{FF2B5EF4-FFF2-40B4-BE49-F238E27FC236}">
                <a16:creationId xmlns:a16="http://schemas.microsoft.com/office/drawing/2014/main" id="{C534AC75-1F29-4198-AF85-88FBB378A6FE}"/>
              </a:ext>
            </a:extLst>
          </p:cNvPr>
          <p:cNvSpPr/>
          <p:nvPr/>
        </p:nvSpPr>
        <p:spPr>
          <a:xfrm>
            <a:off x="7635289" y="1978090"/>
            <a:ext cx="1713983" cy="868268"/>
          </a:xfrm>
          <a:prstGeom prst="wedgeRoundRectCallout">
            <a:avLst>
              <a:gd name="adj1" fmla="val -34112"/>
              <a:gd name="adj2" fmla="val 85048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2. </a:t>
            </a:r>
            <a:r>
              <a:rPr lang="ko-KR" altLang="en-US" sz="800" dirty="0"/>
              <a:t>리스트에 순번</a:t>
            </a:r>
            <a:r>
              <a:rPr lang="en-US" altLang="ko-KR" sz="800" dirty="0"/>
              <a:t>, </a:t>
            </a:r>
            <a:r>
              <a:rPr lang="ko-KR" altLang="en-US" sz="800" dirty="0"/>
              <a:t>이름</a:t>
            </a:r>
            <a:r>
              <a:rPr lang="en-US" altLang="ko-KR" sz="800" dirty="0"/>
              <a:t>(ID), </a:t>
            </a:r>
            <a:r>
              <a:rPr lang="ko-KR" altLang="en-US" sz="800" dirty="0"/>
              <a:t>부서</a:t>
            </a:r>
            <a:r>
              <a:rPr lang="en-US" altLang="ko-KR" sz="800" dirty="0"/>
              <a:t>, </a:t>
            </a:r>
            <a:r>
              <a:rPr lang="ko-KR" altLang="en-US" sz="800" dirty="0"/>
              <a:t>회사</a:t>
            </a:r>
            <a:r>
              <a:rPr lang="en-US" altLang="ko-KR" sz="800" dirty="0"/>
              <a:t>, </a:t>
            </a:r>
            <a:r>
              <a:rPr lang="ko-KR" altLang="en-US" sz="800" dirty="0"/>
              <a:t>암호 최종변경일자</a:t>
            </a:r>
            <a:r>
              <a:rPr lang="en-US" altLang="ko-KR" sz="800" dirty="0"/>
              <a:t>, </a:t>
            </a:r>
            <a:r>
              <a:rPr lang="ko-KR" altLang="en-US" sz="800" dirty="0" err="1"/>
              <a:t>정지일자</a:t>
            </a:r>
            <a:r>
              <a:rPr lang="ko-KR" altLang="en-US" sz="800" dirty="0"/>
              <a:t> 컬럼이 있음</a:t>
            </a:r>
            <a:r>
              <a:rPr lang="en-US" altLang="ko-KR" sz="800" dirty="0"/>
              <a:t>. </a:t>
            </a:r>
            <a:br>
              <a:rPr lang="en-US" altLang="ko-KR" sz="800" dirty="0"/>
            </a:br>
            <a:r>
              <a:rPr lang="ko-KR" altLang="en-US" sz="800" dirty="0" err="1"/>
              <a:t>기본정렬</a:t>
            </a:r>
            <a:r>
              <a:rPr lang="ko-KR" altLang="en-US" sz="800" dirty="0"/>
              <a:t> 순서는 최종변경일자 오름차순</a:t>
            </a:r>
            <a:r>
              <a:rPr lang="en-US" altLang="ko-KR" sz="800" dirty="0"/>
              <a:t>, </a:t>
            </a:r>
            <a:r>
              <a:rPr lang="ko-KR" altLang="en-US" sz="800" dirty="0"/>
              <a:t>이름 오름차순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43" name="모서리가 둥근 사각형 설명선 13">
            <a:extLst>
              <a:ext uri="{FF2B5EF4-FFF2-40B4-BE49-F238E27FC236}">
                <a16:creationId xmlns:a16="http://schemas.microsoft.com/office/drawing/2014/main" id="{047CBA47-2DEA-4C33-B1CE-BCC7E31A26FE}"/>
              </a:ext>
            </a:extLst>
          </p:cNvPr>
          <p:cNvSpPr/>
          <p:nvPr/>
        </p:nvSpPr>
        <p:spPr>
          <a:xfrm>
            <a:off x="2021185" y="1754150"/>
            <a:ext cx="940294" cy="786806"/>
          </a:xfrm>
          <a:prstGeom prst="wedgeRoundRectCallout">
            <a:avLst>
              <a:gd name="adj1" fmla="val 48707"/>
              <a:gd name="adj2" fmla="val 81748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3. </a:t>
            </a:r>
            <a:r>
              <a:rPr lang="ko-KR" altLang="en-US" sz="800" dirty="0"/>
              <a:t>관리자는 해제 버튼을 눌러 해당 계정의 정지를 해제할 수 있음</a:t>
            </a:r>
            <a:r>
              <a:rPr lang="en-US" altLang="ko-KR" sz="800" dirty="0"/>
              <a:t>.</a:t>
            </a:r>
          </a:p>
        </p:txBody>
      </p:sp>
      <p:sp>
        <p:nvSpPr>
          <p:cNvPr id="44" name="모서리가 둥근 사각형 설명선 12">
            <a:extLst>
              <a:ext uri="{FF2B5EF4-FFF2-40B4-BE49-F238E27FC236}">
                <a16:creationId xmlns:a16="http://schemas.microsoft.com/office/drawing/2014/main" id="{9655E6C2-6C9A-4566-A45D-11B1E5A9B6DB}"/>
              </a:ext>
            </a:extLst>
          </p:cNvPr>
          <p:cNvSpPr/>
          <p:nvPr/>
        </p:nvSpPr>
        <p:spPr>
          <a:xfrm>
            <a:off x="1853936" y="3418258"/>
            <a:ext cx="913894" cy="861238"/>
          </a:xfrm>
          <a:prstGeom prst="wedgeRoundRectCallout">
            <a:avLst>
              <a:gd name="adj1" fmla="val 115937"/>
              <a:gd name="adj2" fmla="val -78948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4. </a:t>
            </a:r>
            <a:r>
              <a:rPr lang="ko-KR" altLang="en-US" sz="800" dirty="0" err="1"/>
              <a:t>검색조건은</a:t>
            </a:r>
            <a:r>
              <a:rPr lang="ko-KR" altLang="en-US" sz="800" dirty="0"/>
              <a:t> 이름</a:t>
            </a:r>
            <a:r>
              <a:rPr lang="en-US" altLang="ko-KR" sz="800" dirty="0"/>
              <a:t>, </a:t>
            </a:r>
            <a:r>
              <a:rPr lang="ko-KR" altLang="en-US" sz="800" dirty="0"/>
              <a:t>부서</a:t>
            </a:r>
            <a:r>
              <a:rPr lang="en-US" altLang="ko-KR" sz="800" dirty="0"/>
              <a:t>, </a:t>
            </a:r>
            <a:r>
              <a:rPr lang="ko-KR" altLang="en-US" sz="800" dirty="0"/>
              <a:t>아이디를 선택 할 수 있음</a:t>
            </a:r>
            <a:r>
              <a:rPr lang="en-US" altLang="ko-KR" sz="800" dirty="0"/>
              <a:t>.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3FFD02B6-06F4-4826-BC37-728CDA0BA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289" y="4351101"/>
            <a:ext cx="2166919" cy="62739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63500"/>
          </a:effectLst>
        </p:spPr>
      </p:pic>
      <p:sp>
        <p:nvSpPr>
          <p:cNvPr id="46" name="모서리가 둥근 사각형 설명선 17">
            <a:extLst>
              <a:ext uri="{FF2B5EF4-FFF2-40B4-BE49-F238E27FC236}">
                <a16:creationId xmlns:a16="http://schemas.microsoft.com/office/drawing/2014/main" id="{9884081C-A667-4A39-971B-9BADDFA43485}"/>
              </a:ext>
            </a:extLst>
          </p:cNvPr>
          <p:cNvSpPr/>
          <p:nvPr/>
        </p:nvSpPr>
        <p:spPr>
          <a:xfrm>
            <a:off x="6996729" y="4470105"/>
            <a:ext cx="1055589" cy="401638"/>
          </a:xfrm>
          <a:prstGeom prst="wedgeRoundRectCallout">
            <a:avLst>
              <a:gd name="adj1" fmla="val -118610"/>
              <a:gd name="adj2" fmla="val -10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5. </a:t>
            </a:r>
            <a:r>
              <a:rPr lang="ko-KR" altLang="en-US" sz="800" dirty="0" err="1"/>
              <a:t>해</a:t>
            </a:r>
            <a:r>
              <a:rPr lang="ko-KR" altLang="en-US" sz="800" dirty="0" err="1" smtClean="0"/>
              <a:t>제버튼</a:t>
            </a:r>
            <a:r>
              <a:rPr lang="ko-KR" altLang="en-US" sz="800" dirty="0" smtClean="0"/>
              <a:t> </a:t>
            </a:r>
            <a:r>
              <a:rPr lang="ko-KR" altLang="en-US" sz="800" dirty="0" err="1"/>
              <a:t>클릭시</a:t>
            </a:r>
            <a:r>
              <a:rPr lang="ko-KR" altLang="en-US" sz="800" dirty="0"/>
              <a:t> </a:t>
            </a:r>
            <a:r>
              <a:rPr lang="ko-KR" altLang="en-US" sz="800" dirty="0" err="1"/>
              <a:t>확인창</a:t>
            </a:r>
            <a:r>
              <a:rPr lang="ko-KR" altLang="en-US" sz="800" dirty="0"/>
              <a:t> 표시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14099118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/>
          <p:cNvGraphicFramePr>
            <a:graphicFrameLocks noGrp="1"/>
          </p:cNvGraphicFramePr>
          <p:nvPr>
            <p:extLst/>
          </p:nvPr>
        </p:nvGraphicFramePr>
        <p:xfrm>
          <a:off x="1335088" y="1268760"/>
          <a:ext cx="9441432" cy="5004492"/>
        </p:xfrm>
        <a:graphic>
          <a:graphicData uri="http://schemas.openxmlformats.org/drawingml/2006/table">
            <a:tbl>
              <a:tblPr firstRow="1" bandRow="1"/>
              <a:tblGrid>
                <a:gridCol w="944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/>
                        <a:t>기능 설명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6460">
                <a:tc>
                  <a:txBody>
                    <a:bodyPr/>
                    <a:lstStyle>
                      <a:lvl1pPr marL="0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1pPr>
                      <a:lvl2pPr marL="42204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2pPr>
                      <a:lvl3pPr marL="844083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3pPr>
                      <a:lvl4pPr marL="1266124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4pPr>
                      <a:lvl5pPr marL="1688165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5pPr>
                      <a:lvl6pPr marL="2110207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6pPr>
                      <a:lvl7pPr marL="2532248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7pPr>
                      <a:lvl8pPr marL="2954289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8pPr>
                      <a:lvl9pPr marL="3376331" algn="l" defTabSz="844083" rtl="0" eaLnBrk="1" latinLnBrk="1" hangingPunct="1">
                        <a:defRPr sz="1662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"/>
                        </a:defRPr>
                      </a:lvl9pPr>
                    </a:lstStyle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Group 1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01968"/>
              </p:ext>
            </p:extLst>
          </p:nvPr>
        </p:nvGraphicFramePr>
        <p:xfrm>
          <a:off x="1343472" y="685800"/>
          <a:ext cx="9433048" cy="401638"/>
        </p:xfrm>
        <a:graphic>
          <a:graphicData uri="http://schemas.openxmlformats.org/drawingml/2006/table">
            <a:tbl>
              <a:tblPr/>
              <a:tblGrid>
                <a:gridCol w="85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2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113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조직도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KED_GEN_03, KED_ADMIN_11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사용자 관리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</a:t>
                      </a: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사용자 정지 해제</a:t>
                      </a: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9050" marR="19050" marT="19050" marB="1905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572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0" marR="18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CBF7C0BC-88F4-4FB2-89F2-C6F5AB5B8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517" y="1829233"/>
            <a:ext cx="3618967" cy="389043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A2BA7E-5022-45ED-A82D-0EEC02D65A61}"/>
              </a:ext>
            </a:extLst>
          </p:cNvPr>
          <p:cNvSpPr/>
          <p:nvPr/>
        </p:nvSpPr>
        <p:spPr>
          <a:xfrm>
            <a:off x="4391473" y="2961889"/>
            <a:ext cx="3377147" cy="12939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사각형 설명선 6">
            <a:extLst>
              <a:ext uri="{FF2B5EF4-FFF2-40B4-BE49-F238E27FC236}">
                <a16:creationId xmlns:a16="http://schemas.microsoft.com/office/drawing/2014/main" id="{878F3157-A843-489D-A7A0-B0547724B5F2}"/>
              </a:ext>
            </a:extLst>
          </p:cNvPr>
          <p:cNvSpPr/>
          <p:nvPr/>
        </p:nvSpPr>
        <p:spPr>
          <a:xfrm>
            <a:off x="6447551" y="2080726"/>
            <a:ext cx="1321069" cy="745453"/>
          </a:xfrm>
          <a:prstGeom prst="wedgeRoundRectCallou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1. </a:t>
            </a:r>
            <a:r>
              <a:rPr lang="ko-KR" altLang="en-US" sz="800" dirty="0"/>
              <a:t>사용 정지된 사용자로 접속 시도할 경우</a:t>
            </a:r>
            <a:r>
              <a:rPr lang="en-US" altLang="ko-KR" sz="800" dirty="0"/>
              <a:t>, </a:t>
            </a:r>
            <a:r>
              <a:rPr lang="ko-KR" altLang="en-US" sz="800" dirty="0" err="1"/>
              <a:t>안내창이</a:t>
            </a:r>
            <a:r>
              <a:rPr lang="ko-KR" altLang="en-US" sz="800" dirty="0"/>
              <a:t> 나타남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213217517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349</Words>
  <Application>Microsoft Office PowerPoint</Application>
  <PresentationFormat>와이드스크린</PresentationFormat>
  <Paragraphs>109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굴림</vt:lpstr>
      <vt:lpstr>나눔고딕</vt:lpstr>
      <vt:lpstr>맑은 고딕</vt:lpstr>
      <vt:lpstr>바탕체</vt:lpstr>
      <vt:lpstr>Arial</vt:lpstr>
      <vt:lpstr>Calibri</vt:lpstr>
      <vt:lpstr>Times New Roman</vt:lpstr>
      <vt:lpstr>Wingdings</vt:lpstr>
      <vt:lpstr>2_Office 테마</vt:lpstr>
      <vt:lpstr>사용자 관리 UI/IX 설계서(기능)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101</cp:revision>
  <dcterms:created xsi:type="dcterms:W3CDTF">2019-07-03T05:01:55Z</dcterms:created>
  <dcterms:modified xsi:type="dcterms:W3CDTF">2019-08-09T00:30:18Z</dcterms:modified>
</cp:coreProperties>
</file>