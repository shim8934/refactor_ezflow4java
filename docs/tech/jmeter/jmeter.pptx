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25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notesSlides/notesSlide26.xml" ContentType="application/vnd.openxmlformats-officedocument.presentationml.notesSlid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drawings/drawing1.xml" ContentType="application/vnd.openxmlformats-officedocument.drawingml.chartshapes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notesSlides/notesSlide27.xml" ContentType="application/vnd.openxmlformats-officedocument.presentationml.notesSlid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charts/chart16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48" r:id="rId1"/>
    <p:sldMasterId id="2147483749" r:id="rId2"/>
  </p:sldMasterIdLst>
  <p:notesMasterIdLst>
    <p:notesMasterId r:id="rId49"/>
  </p:notesMasterIdLst>
  <p:sldIdLst>
    <p:sldId id="256" r:id="rId3"/>
    <p:sldId id="257" r:id="rId4"/>
    <p:sldId id="356" r:id="rId5"/>
    <p:sldId id="350" r:id="rId6"/>
    <p:sldId id="316" r:id="rId7"/>
    <p:sldId id="328" r:id="rId8"/>
    <p:sldId id="317" r:id="rId9"/>
    <p:sldId id="319" r:id="rId10"/>
    <p:sldId id="320" r:id="rId11"/>
    <p:sldId id="322" r:id="rId12"/>
    <p:sldId id="352" r:id="rId13"/>
    <p:sldId id="323" r:id="rId14"/>
    <p:sldId id="325" r:id="rId15"/>
    <p:sldId id="324" r:id="rId16"/>
    <p:sldId id="326" r:id="rId17"/>
    <p:sldId id="353" r:id="rId18"/>
    <p:sldId id="355" r:id="rId19"/>
    <p:sldId id="334" r:id="rId20"/>
    <p:sldId id="335" r:id="rId21"/>
    <p:sldId id="336" r:id="rId22"/>
    <p:sldId id="338" r:id="rId23"/>
    <p:sldId id="343" r:id="rId24"/>
    <p:sldId id="354" r:id="rId25"/>
    <p:sldId id="344" r:id="rId26"/>
    <p:sldId id="346" r:id="rId27"/>
    <p:sldId id="347" r:id="rId28"/>
    <p:sldId id="357" r:id="rId29"/>
    <p:sldId id="348" r:id="rId30"/>
    <p:sldId id="358" r:id="rId31"/>
    <p:sldId id="361" r:id="rId32"/>
    <p:sldId id="369" r:id="rId33"/>
    <p:sldId id="362" r:id="rId34"/>
    <p:sldId id="363" r:id="rId35"/>
    <p:sldId id="364" r:id="rId36"/>
    <p:sldId id="365" r:id="rId37"/>
    <p:sldId id="366" r:id="rId38"/>
    <p:sldId id="367" r:id="rId39"/>
    <p:sldId id="368" r:id="rId40"/>
    <p:sldId id="370" r:id="rId41"/>
    <p:sldId id="371" r:id="rId42"/>
    <p:sldId id="372" r:id="rId43"/>
    <p:sldId id="373" r:id="rId44"/>
    <p:sldId id="374" r:id="rId45"/>
    <p:sldId id="375" r:id="rId46"/>
    <p:sldId id="376" r:id="rId47"/>
    <p:sldId id="315" r:id="rId48"/>
  </p:sldIdLst>
  <p:sldSz cx="12187238" cy="6854825"/>
  <p:notesSz cx="6797675" cy="9926638"/>
  <p:defaultTextStyle>
    <a:defPPr algn="l" rtl="0" eaLnBrk="0" latinLnBrk="1" hangingPunct="0">
      <a:defRPr kumimoji="1" lang="ko-KR" altLang="en-US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287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>
        <a:alpha val="100000"/>
      </a:srgbClr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F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73" autoAdjust="0"/>
    <p:restoredTop sz="76173"/>
  </p:normalViewPr>
  <p:slideViewPr>
    <p:cSldViewPr>
      <p:cViewPr varScale="1">
        <p:scale>
          <a:sx n="73" d="100"/>
          <a:sy n="73" d="100"/>
        </p:scale>
        <p:origin x="1212" y="72"/>
      </p:cViewPr>
      <p:guideLst>
        <p:guide orient="horz" pos="2159"/>
        <p:guide pos="2879"/>
      </p:guideLst>
    </p:cSldViewPr>
  </p:slideViewPr>
  <p:notesTextViewPr>
    <p:cViewPr>
      <p:scale>
        <a:sx n="150" d="100"/>
        <a:sy n="150" d="100"/>
      </p:scale>
      <p:origin x="0" y="0"/>
    </p:cViewPr>
  </p:notesTextViewPr>
  <p:gridSpacing cx="72027" cy="72027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presProps" Target="pres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8" Type="http://schemas.openxmlformats.org/officeDocument/2006/relationships/slide" Target="slides/slide6.xml"/><Relationship Id="rId51" Type="http://schemas.openxmlformats.org/officeDocument/2006/relationships/viewProps" Target="view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NC453\Desktop\&#44368;&#50977;&#54028;&#51068;\&#49457;&#45733;&#53580;&#49828;&#53944;\2021-02-01\&#44172;&#49884;&#54032;\&#44172;&#49884;&#54032;&#46321;&#47197;\&#44172;&#49884;&#54032;&#46321;&#47197;_&#49436;&#48260;&#49457;&#45733;&#53580;&#49828;&#53944;_&#49556;&#47336;&#49496;2&#54016;_&#49436;&#54620;&#48324;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NC453\Desktop\&#44368;&#50977;&#54028;&#51068;\&#49457;&#45733;&#53580;&#49828;&#53944;\2021-02-01\&#44172;&#49884;&#54032;\&#44172;&#49884;&#54032;&#46321;&#47197;\&#44172;&#49884;&#54032;&#46321;&#47197;_&#49436;&#48260;&#49457;&#45733;&#53580;&#49828;&#53944;_&#49556;&#47336;&#49496;2&#54016;_&#49436;&#54620;&#48324;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NC453\Desktop\&#44368;&#50977;&#54028;&#51068;\&#49457;&#45733;&#53580;&#49828;&#53944;\2021-02-01\&#44172;&#49884;&#54032;\&#44172;&#49884;&#54032;&#53364;&#47533;\&#44172;&#49884;&#54032;&#46308;&#50612;&#44032;&#44592;_&#49436;&#48260;&#49457;&#45733;&#53580;&#49828;&#53944;_&#49556;&#47336;&#49496;2&#54016;_&#49436;&#54620;&#48324;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NC453\Desktop\&#44368;&#50977;&#54028;&#51068;\&#49457;&#45733;&#53580;&#49828;&#53944;\2021-02-01\&#44172;&#49884;&#54032;\&#44172;&#49884;&#54032;&#53364;&#47533;\&#44172;&#49884;&#54032;&#46308;&#50612;&#44032;&#44592;_&#49436;&#48260;&#49457;&#45733;&#53580;&#49828;&#53944;_&#49556;&#47336;&#49496;2&#54016;_&#49436;&#54620;&#48324;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NC453\Desktop\&#44368;&#50977;&#54028;&#51068;\&#49457;&#45733;&#53580;&#49828;&#53944;\2021-02-01\&#51088;&#50896;&#44288;&#47532;\&#51088;&#50896;&#44288;&#47532;&#46321;&#47197;\&#51088;&#50896;&#44288;&#47532;&#46321;&#47197;_&#49436;&#48260;&#49457;&#45733;&#53580;&#49828;&#53944;_&#49556;&#47336;&#49496;2&#54016;_&#49436;&#54620;&#48324;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NC453\Desktop\&#44368;&#50977;&#54028;&#51068;\&#49457;&#45733;&#53580;&#49828;&#53944;\2021-02-01\&#51088;&#50896;&#44288;&#47532;\&#51088;&#50896;&#44288;&#47532;&#46321;&#47197;\&#51088;&#50896;&#44288;&#47532;&#46321;&#47197;_&#49436;&#48260;&#49457;&#45733;&#53580;&#49828;&#53944;_&#49556;&#47336;&#49496;2&#54016;_&#49436;&#54620;&#48324;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NC453\Desktop\&#44368;&#50977;&#54028;&#51068;\&#49457;&#45733;&#53580;&#49828;&#53944;\2021-02-01\&#51088;&#50896;&#44288;&#47532;\&#51088;&#50896;&#44288;&#47532;&#53364;&#47533;\&#51088;&#50896;&#44288;&#47532;&#53364;&#47533;_&#49436;&#48260;&#49457;&#45733;&#53580;&#49828;&#53944;_&#49556;&#47336;&#49496;2&#54016;_&#49436;&#54620;&#48324;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NC453\Desktop\&#44368;&#50977;&#54028;&#51068;\&#49457;&#45733;&#53580;&#49828;&#53944;\2021-02-01\&#51088;&#50896;&#44288;&#47532;\&#51088;&#50896;&#44288;&#47532;&#53364;&#47533;\&#51088;&#50896;&#44288;&#47532;&#53364;&#47533;_&#49436;&#48260;&#49457;&#45733;&#53580;&#49828;&#53944;_&#49556;&#47336;&#49496;2&#54016;_&#49436;&#54620;&#48324;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NC453\Desktop\work\jmeter\&#49457;&#45733;&#53580;&#49828;&#53944;\2021-02-01\&#51204;&#51088;&#44208;&#51116;&#53580;&#49828;&#53944;\&#48512;&#54616;&#51221;&#48372;(10.0.1)\&#51204;&#51088;&#44208;&#51116;&#53364;&#47533;(&#48512;&#54616;%2010,0,1)\&#51204;&#51088;&#44208;&#51116;&#53364;&#47533;_&#49436;&#48260;&#49457;&#45733;&#53580;&#49828;&#53944;_&#49556;&#47336;&#49496;2&#54016;_&#49436;&#54620;&#48324;.xlsx" TargetMode="External"/><Relationship Id="rId2" Type="http://schemas.microsoft.com/office/2011/relationships/chartColorStyle" Target="colors9.xml"/><Relationship Id="rId1" Type="http://schemas.microsoft.com/office/2011/relationships/chartStyle" Target="style9.xml"/><Relationship Id="rId4" Type="http://schemas.openxmlformats.org/officeDocument/2006/relationships/chartUserShapes" Target="../drawings/drawing1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NC453\Desktop\work\jmeter\&#49457;&#45733;&#53580;&#49828;&#53944;\2021-02-01\&#51204;&#51088;&#44208;&#51116;&#53580;&#49828;&#53944;\&#48512;&#54616;&#51221;&#48372;(10.0.1)\&#51204;&#51088;&#44208;&#51116;&#53364;&#47533;(&#48512;&#54616;%2010,0,1)\&#51204;&#51088;&#44208;&#51116;&#53364;&#47533;_&#49436;&#48260;&#49457;&#45733;&#53580;&#49828;&#53944;_&#49556;&#47336;&#49496;2&#54016;_&#49436;&#54620;&#48324;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NC453\Desktop\work\jmeter\&#49457;&#45733;&#53580;&#49828;&#53944;\2021-02-01\&#51204;&#51088;&#44208;&#51116;&#53580;&#49828;&#53944;\&#48512;&#54616;&#51221;&#48372;(10.0.1)\&#51204;&#51088;&#44208;&#51116;&#50732;&#47548;(&#48512;&#54616;%2010,0,1)\&#51204;&#51088;&#44208;&#51116;&#46321;&#47197;_&#49436;&#48260;&#49457;&#45733;&#53580;&#49828;&#53944;_&#49556;&#47336;&#49496;2&#54016;_&#49436;&#54620;&#48324;.xlsx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NC453\Desktop\work\jmeter\&#49457;&#45733;&#53580;&#49828;&#53944;\2021-02-01\&#51204;&#51088;&#44208;&#51116;&#53580;&#49828;&#53944;\&#48512;&#54616;&#51221;&#48372;(10.0.1)\&#51204;&#51088;&#44208;&#51116;&#50732;&#47548;(&#48512;&#54616;%2010,0,1)\&#51204;&#51088;&#44208;&#51116;&#46321;&#47197;_&#49436;&#48260;&#49457;&#45733;&#53580;&#49828;&#53944;_&#49556;&#47336;&#49496;2&#54016;_&#49436;&#54620;&#48324;.xlsx" TargetMode="External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NC345\Documents\bizmeka%20Talk%20Download\&#51068;&#51221;&#44288;&#47532;\&#48512;&#54616;(10.0.1)\&#51068;&#51221;&#44288;&#47532;%20&#53364;&#47533;\&#51068;&#51221;&#44288;&#47532;&#51312;&#54924;.xlsx" TargetMode="External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NC345\Documents\bizmeka%20Talk%20Download\&#51068;&#51221;&#44288;&#47532;\&#48512;&#54616;(10.0.1)\&#51068;&#51221;&#44288;&#47532;%20&#53364;&#47533;\&#51068;&#51221;&#44288;&#47532;&#51312;&#54924;.xlsx" TargetMode="External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NC345\Documents\bizmeka%20Talk%20Download\&#51068;&#51221;&#44288;&#47532;\&#48512;&#54616;(10.0.1)\&#51068;&#51221;&#44288;&#47532;%20&#46321;&#47197;\&#51068;&#51221;&#51089;&#49457;(10,0,1).xlsx" TargetMode="External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NC345\Documents\bizmeka%20Talk%20Download\&#51068;&#51221;&#44288;&#47532;\&#48512;&#54616;(10.0.1)\&#51068;&#51221;&#44288;&#47532;%20&#46321;&#47197;\&#51068;&#51221;&#51089;&#49457;(10,0,1).xlsx" TargetMode="External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/>
              <a:t>cpu</a:t>
            </a:r>
            <a:r>
              <a:rPr lang="ko-KR" altLang="en-US"/>
              <a:t>사용량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'dstat-log'!$C$13:$C$20</c:f>
              <c:numCache>
                <c:formatCode>General</c:formatCode>
                <c:ptCount val="8"/>
                <c:pt idx="0">
                  <c:v>0</c:v>
                </c:pt>
                <c:pt idx="1">
                  <c:v>1.01</c:v>
                </c:pt>
                <c:pt idx="2">
                  <c:v>1.0309999999999999</c:v>
                </c:pt>
                <c:pt idx="3">
                  <c:v>1.01</c:v>
                </c:pt>
                <c:pt idx="4">
                  <c:v>4.0809999999999995</c:v>
                </c:pt>
                <c:pt idx="5">
                  <c:v>1.01</c:v>
                </c:pt>
                <c:pt idx="6">
                  <c:v>47.917000000000002</c:v>
                </c:pt>
                <c:pt idx="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D37-4068-91B1-91FFF8177C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29648543"/>
        <c:axId val="622186015"/>
      </c:lineChart>
      <c:catAx>
        <c:axId val="6296485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22186015"/>
        <c:crosses val="autoZero"/>
        <c:auto val="1"/>
        <c:lblAlgn val="ctr"/>
        <c:lblOffset val="100"/>
        <c:noMultiLvlLbl val="0"/>
      </c:catAx>
      <c:valAx>
        <c:axId val="62218601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296485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/>
              <a:t>메모리사용량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'dstat-log'!$O$13:$O$20</c:f>
              <c:numCache>
                <c:formatCode>General</c:formatCode>
                <c:ptCount val="8"/>
                <c:pt idx="0">
                  <c:v>2725314560</c:v>
                </c:pt>
                <c:pt idx="1">
                  <c:v>2725314560</c:v>
                </c:pt>
                <c:pt idx="2">
                  <c:v>2725314560</c:v>
                </c:pt>
                <c:pt idx="3">
                  <c:v>2725314560</c:v>
                </c:pt>
                <c:pt idx="4">
                  <c:v>2725695488</c:v>
                </c:pt>
                <c:pt idx="5">
                  <c:v>2725679104</c:v>
                </c:pt>
                <c:pt idx="6">
                  <c:v>2725732352</c:v>
                </c:pt>
                <c:pt idx="7">
                  <c:v>2725715968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E24-4E94-8CE3-8FCDEC6F2F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79969583"/>
        <c:axId val="622171039"/>
      </c:lineChart>
      <c:catAx>
        <c:axId val="6799695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22171039"/>
        <c:crosses val="autoZero"/>
        <c:auto val="1"/>
        <c:lblAlgn val="ctr"/>
        <c:lblOffset val="100"/>
        <c:noMultiLvlLbl val="0"/>
      </c:catAx>
      <c:valAx>
        <c:axId val="62217103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7996958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/>
              <a:t>cpu </a:t>
            </a:r>
            <a:r>
              <a:rPr lang="ko-KR" altLang="en-US"/>
              <a:t>사용량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'dstat-log'!$C$13:$C$21</c:f>
              <c:numCache>
                <c:formatCode>General</c:formatCode>
                <c:ptCount val="9"/>
                <c:pt idx="0">
                  <c:v>1.01</c:v>
                </c:pt>
                <c:pt idx="1">
                  <c:v>0</c:v>
                </c:pt>
                <c:pt idx="2">
                  <c:v>0</c:v>
                </c:pt>
                <c:pt idx="3">
                  <c:v>29.896999999999998</c:v>
                </c:pt>
                <c:pt idx="4">
                  <c:v>14</c:v>
                </c:pt>
                <c:pt idx="5">
                  <c:v>0</c:v>
                </c:pt>
                <c:pt idx="6">
                  <c:v>1.01</c:v>
                </c:pt>
                <c:pt idx="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0F1-491D-BEFF-ABD1865F4D0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630553119"/>
        <c:axId val="1469242655"/>
      </c:lineChart>
      <c:catAx>
        <c:axId val="163055311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469242655"/>
        <c:crosses val="autoZero"/>
        <c:auto val="1"/>
        <c:lblAlgn val="ctr"/>
        <c:lblOffset val="100"/>
        <c:noMultiLvlLbl val="0"/>
      </c:catAx>
      <c:valAx>
        <c:axId val="146924265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63055311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dirty="0"/>
              <a:t>메모리사용량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'dstat-log'!$O$13:$O$20</c:f>
              <c:numCache>
                <c:formatCode>General</c:formatCode>
                <c:ptCount val="8"/>
                <c:pt idx="0">
                  <c:v>2718052352</c:v>
                </c:pt>
                <c:pt idx="1">
                  <c:v>2718052352</c:v>
                </c:pt>
                <c:pt idx="2">
                  <c:v>2718064640</c:v>
                </c:pt>
                <c:pt idx="3">
                  <c:v>2718150656</c:v>
                </c:pt>
                <c:pt idx="4">
                  <c:v>2718040064</c:v>
                </c:pt>
                <c:pt idx="5">
                  <c:v>2718040064</c:v>
                </c:pt>
                <c:pt idx="6">
                  <c:v>2718023680</c:v>
                </c:pt>
                <c:pt idx="7">
                  <c:v>2718007296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CE3-455A-B826-602CE80EDDA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486802511"/>
        <c:axId val="1584871919"/>
      </c:lineChart>
      <c:catAx>
        <c:axId val="14868025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584871919"/>
        <c:crosses val="autoZero"/>
        <c:auto val="1"/>
        <c:lblAlgn val="ctr"/>
        <c:lblOffset val="100"/>
        <c:noMultiLvlLbl val="0"/>
      </c:catAx>
      <c:valAx>
        <c:axId val="158487191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48680251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/>
              <a:t>cpu</a:t>
            </a:r>
            <a:r>
              <a:rPr lang="ko-KR" altLang="en-US"/>
              <a:t>사용량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'dstat-log'!$C$13:$C$20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3.0300000000000002</c:v>
                </c:pt>
                <c:pt idx="5">
                  <c:v>1.02</c:v>
                </c:pt>
                <c:pt idx="6">
                  <c:v>64.286000000000001</c:v>
                </c:pt>
                <c:pt idx="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2CF-4F70-8287-18C16D1F503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29648543"/>
        <c:axId val="622186015"/>
      </c:lineChart>
      <c:catAx>
        <c:axId val="6296485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22186015"/>
        <c:crosses val="autoZero"/>
        <c:auto val="1"/>
        <c:lblAlgn val="ctr"/>
        <c:lblOffset val="100"/>
        <c:noMultiLvlLbl val="0"/>
      </c:catAx>
      <c:valAx>
        <c:axId val="62218601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296485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/>
              <a:t>메모리사용량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'dstat-log'!$O$13:$O$20</c:f>
              <c:numCache>
                <c:formatCode>General</c:formatCode>
                <c:ptCount val="8"/>
                <c:pt idx="0">
                  <c:v>2713915392</c:v>
                </c:pt>
                <c:pt idx="1">
                  <c:v>2713915392</c:v>
                </c:pt>
                <c:pt idx="2">
                  <c:v>2713915392</c:v>
                </c:pt>
                <c:pt idx="3">
                  <c:v>2713915392</c:v>
                </c:pt>
                <c:pt idx="4">
                  <c:v>2714296320</c:v>
                </c:pt>
                <c:pt idx="5">
                  <c:v>2714296320</c:v>
                </c:pt>
                <c:pt idx="6">
                  <c:v>2714652672</c:v>
                </c:pt>
                <c:pt idx="7">
                  <c:v>2714652672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A74-4994-B247-12780187534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79969583"/>
        <c:axId val="622171039"/>
      </c:lineChart>
      <c:catAx>
        <c:axId val="6799695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22171039"/>
        <c:crosses val="autoZero"/>
        <c:auto val="1"/>
        <c:lblAlgn val="ctr"/>
        <c:lblOffset val="100"/>
        <c:noMultiLvlLbl val="0"/>
      </c:catAx>
      <c:valAx>
        <c:axId val="62217103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7996958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/>
              <a:t>cpu</a:t>
            </a:r>
            <a:r>
              <a:rPr lang="ko-KR" altLang="en-US"/>
              <a:t>사용량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'dstat-log'!$C$13:$C$20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2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22.34</c:v>
                </c:pt>
                <c:pt idx="7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DC3-46B8-BAB9-88D2CE683D7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29648543"/>
        <c:axId val="622186015"/>
      </c:lineChart>
      <c:catAx>
        <c:axId val="6296485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22186015"/>
        <c:crosses val="autoZero"/>
        <c:auto val="1"/>
        <c:lblAlgn val="ctr"/>
        <c:lblOffset val="100"/>
        <c:noMultiLvlLbl val="0"/>
      </c:catAx>
      <c:valAx>
        <c:axId val="62218601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296485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/>
              <a:t>메모리사용량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'dstat-log'!$O$13:$O$20</c:f>
              <c:numCache>
                <c:formatCode>General</c:formatCode>
                <c:ptCount val="8"/>
                <c:pt idx="0">
                  <c:v>2689163264</c:v>
                </c:pt>
                <c:pt idx="1">
                  <c:v>2689163264</c:v>
                </c:pt>
                <c:pt idx="2">
                  <c:v>2689163264</c:v>
                </c:pt>
                <c:pt idx="3">
                  <c:v>2689163264</c:v>
                </c:pt>
                <c:pt idx="4">
                  <c:v>2689163264</c:v>
                </c:pt>
                <c:pt idx="5">
                  <c:v>2689163264</c:v>
                </c:pt>
                <c:pt idx="6">
                  <c:v>2689675264</c:v>
                </c:pt>
                <c:pt idx="7">
                  <c:v>2689675264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27A-4B8D-BEB0-35EC4F98F2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79969583"/>
        <c:axId val="622171039"/>
      </c:lineChart>
      <c:catAx>
        <c:axId val="6799695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22171039"/>
        <c:crosses val="autoZero"/>
        <c:auto val="1"/>
        <c:lblAlgn val="ctr"/>
        <c:lblOffset val="100"/>
        <c:noMultiLvlLbl val="0"/>
      </c:catAx>
      <c:valAx>
        <c:axId val="62217103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7996958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/>
              <a:t>cpu</a:t>
            </a:r>
            <a:r>
              <a:rPr lang="ko-KR" altLang="en-US"/>
              <a:t>사용량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'dstat-log'!$C$13:$C$20</c:f>
              <c:numCache>
                <c:formatCode>General</c:formatCode>
                <c:ptCount val="8"/>
                <c:pt idx="0">
                  <c:v>0</c:v>
                </c:pt>
                <c:pt idx="1">
                  <c:v>1.01</c:v>
                </c:pt>
                <c:pt idx="2">
                  <c:v>0</c:v>
                </c:pt>
                <c:pt idx="3">
                  <c:v>0</c:v>
                </c:pt>
                <c:pt idx="4">
                  <c:v>1.01</c:v>
                </c:pt>
                <c:pt idx="5">
                  <c:v>0</c:v>
                </c:pt>
                <c:pt idx="6">
                  <c:v>34.020000000000003</c:v>
                </c:pt>
                <c:pt idx="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1CB-48A5-B51F-64B44167CD9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499026255"/>
        <c:axId val="1524223519"/>
      </c:lineChart>
      <c:catAx>
        <c:axId val="14990262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524223519"/>
        <c:crosses val="autoZero"/>
        <c:auto val="1"/>
        <c:lblAlgn val="ctr"/>
        <c:lblOffset val="100"/>
        <c:noMultiLvlLbl val="0"/>
      </c:catAx>
      <c:valAx>
        <c:axId val="152422351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49902625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  <c:userShapes r:id="rId4"/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/>
              <a:t>memory</a:t>
            </a:r>
            <a:r>
              <a:rPr lang="ko-KR" altLang="en-US"/>
              <a:t>사용량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'dstat-log'!$O$13:$O$20</c:f>
              <c:numCache>
                <c:formatCode>General</c:formatCode>
                <c:ptCount val="8"/>
                <c:pt idx="0">
                  <c:v>2734370816</c:v>
                </c:pt>
                <c:pt idx="1">
                  <c:v>2734370816</c:v>
                </c:pt>
                <c:pt idx="2">
                  <c:v>2734370816</c:v>
                </c:pt>
                <c:pt idx="3">
                  <c:v>2734370816</c:v>
                </c:pt>
                <c:pt idx="4">
                  <c:v>2734370816</c:v>
                </c:pt>
                <c:pt idx="5">
                  <c:v>2734370816</c:v>
                </c:pt>
                <c:pt idx="6">
                  <c:v>2734632960</c:v>
                </c:pt>
                <c:pt idx="7">
                  <c:v>2734628864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620-49E0-8B06-6A4D50A9E80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499026655"/>
        <c:axId val="1585103887"/>
      </c:lineChart>
      <c:catAx>
        <c:axId val="14990266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585103887"/>
        <c:crosses val="autoZero"/>
        <c:auto val="1"/>
        <c:lblAlgn val="ctr"/>
        <c:lblOffset val="100"/>
        <c:noMultiLvlLbl val="0"/>
      </c:catAx>
      <c:valAx>
        <c:axId val="158510388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49902665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/>
              <a:t>cpu</a:t>
            </a:r>
            <a:r>
              <a:rPr lang="ko-KR" altLang="en-US"/>
              <a:t>사용량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'dstat-log'!$C$13:$C$20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87.628999999999991</c:v>
                </c:pt>
                <c:pt idx="3">
                  <c:v>91.490000000000009</c:v>
                </c:pt>
                <c:pt idx="4">
                  <c:v>94.792000000000002</c:v>
                </c:pt>
                <c:pt idx="5">
                  <c:v>41.835999999999999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C61-46AB-AF62-D917BDC7235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493723487"/>
        <c:axId val="1524220191"/>
      </c:lineChart>
      <c:catAx>
        <c:axId val="149372348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524220191"/>
        <c:crosses val="autoZero"/>
        <c:auto val="1"/>
        <c:lblAlgn val="ctr"/>
        <c:lblOffset val="100"/>
        <c:noMultiLvlLbl val="0"/>
      </c:catAx>
      <c:valAx>
        <c:axId val="15242201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49372348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/>
              <a:t>메모리사용량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'dstat-log'!$O$13:$O$20</c:f>
              <c:numCache>
                <c:formatCode>General</c:formatCode>
                <c:ptCount val="8"/>
                <c:pt idx="0">
                  <c:v>2757328896</c:v>
                </c:pt>
                <c:pt idx="1">
                  <c:v>2757328896</c:v>
                </c:pt>
                <c:pt idx="2">
                  <c:v>2757562368</c:v>
                </c:pt>
                <c:pt idx="3">
                  <c:v>2757287936</c:v>
                </c:pt>
                <c:pt idx="4">
                  <c:v>2756960256</c:v>
                </c:pt>
                <c:pt idx="5">
                  <c:v>2757054464</c:v>
                </c:pt>
                <c:pt idx="6">
                  <c:v>2757066752</c:v>
                </c:pt>
                <c:pt idx="7">
                  <c:v>2757066752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E17-4A06-8E4F-5309CB5DC9A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79969583"/>
        <c:axId val="622171039"/>
      </c:lineChart>
      <c:catAx>
        <c:axId val="6799695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22171039"/>
        <c:crosses val="autoZero"/>
        <c:auto val="1"/>
        <c:lblAlgn val="ctr"/>
        <c:lblOffset val="100"/>
        <c:noMultiLvlLbl val="0"/>
      </c:catAx>
      <c:valAx>
        <c:axId val="62217103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7996958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/>
              <a:t>CPU </a:t>
            </a:r>
            <a:r>
              <a:rPr lang="ko-KR" altLang="en-US"/>
              <a:t>사용량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dayClick!$C$141:$C$150</c:f>
              <c:numCache>
                <c:formatCode>General</c:formatCode>
                <c:ptCount val="10"/>
                <c:pt idx="0">
                  <c:v>1.01</c:v>
                </c:pt>
                <c:pt idx="1">
                  <c:v>0</c:v>
                </c:pt>
                <c:pt idx="2">
                  <c:v>1.01</c:v>
                </c:pt>
                <c:pt idx="3">
                  <c:v>1.01</c:v>
                </c:pt>
                <c:pt idx="4">
                  <c:v>3.0609999999999999</c:v>
                </c:pt>
                <c:pt idx="5">
                  <c:v>0</c:v>
                </c:pt>
                <c:pt idx="6">
                  <c:v>37.893999999999998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0AB-4908-8CFA-461BE857670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537003599"/>
        <c:axId val="541949743"/>
      </c:lineChart>
      <c:catAx>
        <c:axId val="53700359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41949743"/>
        <c:crosses val="autoZero"/>
        <c:auto val="1"/>
        <c:lblAlgn val="ctr"/>
        <c:lblOffset val="100"/>
        <c:noMultiLvlLbl val="0"/>
      </c:catAx>
      <c:valAx>
        <c:axId val="54194974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3700359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/>
              <a:t>메모리 사용량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dayClick!$O$141:$O$150</c:f>
              <c:numCache>
                <c:formatCode>General</c:formatCode>
                <c:ptCount val="10"/>
                <c:pt idx="0">
                  <c:v>2760077312</c:v>
                </c:pt>
                <c:pt idx="1">
                  <c:v>2760077312</c:v>
                </c:pt>
                <c:pt idx="2">
                  <c:v>2760077312</c:v>
                </c:pt>
                <c:pt idx="3">
                  <c:v>2760077312</c:v>
                </c:pt>
                <c:pt idx="4">
                  <c:v>2760077312</c:v>
                </c:pt>
                <c:pt idx="5">
                  <c:v>2760077312</c:v>
                </c:pt>
                <c:pt idx="6">
                  <c:v>2760290304</c:v>
                </c:pt>
                <c:pt idx="7">
                  <c:v>2760286208</c:v>
                </c:pt>
                <c:pt idx="8">
                  <c:v>2760286208</c:v>
                </c:pt>
                <c:pt idx="9">
                  <c:v>2760286208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FB2-4DA7-823C-26F5A106DF6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24436463"/>
        <c:axId val="535978095"/>
      </c:lineChart>
      <c:catAx>
        <c:axId val="42443646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35978095"/>
        <c:crosses val="autoZero"/>
        <c:auto val="1"/>
        <c:lblAlgn val="ctr"/>
        <c:lblOffset val="100"/>
        <c:noMultiLvlLbl val="0"/>
      </c:catAx>
      <c:valAx>
        <c:axId val="53597809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2443646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/>
              <a:t>cpu</a:t>
            </a:r>
            <a:r>
              <a:rPr lang="en-US" altLang="ko-KR" baseline="0"/>
              <a:t> </a:t>
            </a:r>
            <a:r>
              <a:rPr lang="ko-KR" altLang="en-US" baseline="0"/>
              <a:t>사용량</a:t>
            </a:r>
            <a:endParaRPr lang="ko-KR" alt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dayWrite!$C$14:$C$23</c:f>
              <c:numCache>
                <c:formatCode>General</c:formatCode>
                <c:ptCount val="10"/>
                <c:pt idx="0">
                  <c:v>0</c:v>
                </c:pt>
                <c:pt idx="1">
                  <c:v>1.01</c:v>
                </c:pt>
                <c:pt idx="2">
                  <c:v>0</c:v>
                </c:pt>
                <c:pt idx="3">
                  <c:v>0</c:v>
                </c:pt>
                <c:pt idx="4">
                  <c:v>1.01</c:v>
                </c:pt>
                <c:pt idx="5">
                  <c:v>0</c:v>
                </c:pt>
                <c:pt idx="6">
                  <c:v>37.5</c:v>
                </c:pt>
                <c:pt idx="7">
                  <c:v>0</c:v>
                </c:pt>
                <c:pt idx="8">
                  <c:v>0</c:v>
                </c:pt>
                <c:pt idx="9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BAB-4A10-BBAF-9BC06785A9F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35639952"/>
        <c:axId val="241266160"/>
      </c:lineChart>
      <c:catAx>
        <c:axId val="2356399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241266160"/>
        <c:crosses val="autoZero"/>
        <c:auto val="1"/>
        <c:lblAlgn val="ctr"/>
        <c:lblOffset val="100"/>
        <c:noMultiLvlLbl val="0"/>
      </c:catAx>
      <c:valAx>
        <c:axId val="2412661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23563995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/>
              <a:t>메모리 사용량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dayWrite!$O$14:$O$23</c:f>
              <c:numCache>
                <c:formatCode>General</c:formatCode>
                <c:ptCount val="10"/>
                <c:pt idx="0">
                  <c:v>2784292864</c:v>
                </c:pt>
                <c:pt idx="1">
                  <c:v>2784292864</c:v>
                </c:pt>
                <c:pt idx="2">
                  <c:v>2784292864</c:v>
                </c:pt>
                <c:pt idx="3">
                  <c:v>2784292864</c:v>
                </c:pt>
                <c:pt idx="4">
                  <c:v>2784292864</c:v>
                </c:pt>
                <c:pt idx="5">
                  <c:v>2784292864</c:v>
                </c:pt>
                <c:pt idx="6">
                  <c:v>2784763904</c:v>
                </c:pt>
                <c:pt idx="7">
                  <c:v>2784763904</c:v>
                </c:pt>
                <c:pt idx="8">
                  <c:v>2784763904</c:v>
                </c:pt>
                <c:pt idx="9">
                  <c:v>2784763904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D67-4EB2-AAED-CEDEE7C09B1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353704624"/>
        <c:axId val="353260192"/>
      </c:lineChart>
      <c:catAx>
        <c:axId val="3537046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353260192"/>
        <c:crosses val="autoZero"/>
        <c:auto val="1"/>
        <c:lblAlgn val="ctr"/>
        <c:lblOffset val="100"/>
        <c:noMultiLvlLbl val="0"/>
      </c:catAx>
      <c:valAx>
        <c:axId val="3532601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35370462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0.60636</cdr:x>
      <cdr:y>0.26909</cdr:y>
    </cdr:from>
    <cdr:to>
      <cdr:x>0.79555</cdr:x>
      <cdr:y>0.83892</cdr:y>
    </cdr:to>
    <cdr:sp macro="" textlink="">
      <cdr:nvSpPr>
        <cdr:cNvPr id="2" name="직사각형 1">
          <a:extLst xmlns:a="http://schemas.openxmlformats.org/drawingml/2006/main">
            <a:ext uri="{FF2B5EF4-FFF2-40B4-BE49-F238E27FC236}">
              <a16:creationId xmlns:a16="http://schemas.microsoft.com/office/drawing/2014/main" id="{C687495D-83CD-46BC-9160-B7DE7F656389}"/>
            </a:ext>
          </a:extLst>
        </cdr:cNvPr>
        <cdr:cNvSpPr/>
      </cdr:nvSpPr>
      <cdr:spPr>
        <a:xfrm xmlns:a="http://schemas.openxmlformats.org/drawingml/2006/main">
          <a:off x="1615960" y="458796"/>
          <a:ext cx="504189" cy="971550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 w="38100" cap="flat" cmpd="sng" algn="ctr">
          <a:solidFill>
            <a:schemeClr val="accent2"/>
          </a:solidFill>
          <a:prstDash val="solid"/>
          <a:round/>
          <a:headEnd type="none" w="med" len="med"/>
          <a:tailEnd type="none" w="med" len="med"/>
        </a:ln>
      </cdr:spPr>
      <cdr:style>
        <a:lnRef xmlns:a="http://schemas.openxmlformats.org/drawingml/2006/main" idx="0">
          <a:scrgbClr r="0" g="0" b="0"/>
        </a:lnRef>
        <a:fillRef xmlns:a="http://schemas.openxmlformats.org/drawingml/2006/main" idx="0">
          <a:scrgbClr r="0" g="0" b="0"/>
        </a:fillRef>
        <a:effectRef xmlns:a="http://schemas.openxmlformats.org/drawingml/2006/main" idx="0">
          <a:scrgbClr r="0" g="0" b="0"/>
        </a:effectRef>
        <a:fontRef xmlns:a="http://schemas.openxmlformats.org/drawingml/2006/main" idx="minor">
          <a:schemeClr val="accent2"/>
        </a:fontRef>
      </cdr:style>
      <cdr:txBody>
        <a:bodyPr xmlns:a="http://schemas.openxmlformats.org/drawingml/2006/main" rtlCol="0" anchor="t"/>
        <a:lstStyle xmlns:a="http://schemas.openxmlformats.org/drawingml/2006/main">
          <a:lvl1pPr marL="0" indent="0">
            <a:defRPr sz="1100">
              <a:solidFill>
                <a:schemeClr val="accent2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accent2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accent2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accent2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accent2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accent2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accent2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accent2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accent2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l"/>
          <a:endParaRPr lang="ko-KR" altLang="en-US" sz="1100"/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E2B2BC9D-A816-4D0A-858B-1D023B3A8ACA}" type="datetime1">
              <a:rPr lang="ko-KR" altLang="en-US"/>
              <a:pPr lvl="0">
                <a:defRPr/>
              </a:pPr>
              <a:t>2021-02-03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sz="1200" dirty="0">
              <a:solidFill>
                <a:srgbClr val="000000">
                  <a:alpha val="100000"/>
                </a:srgbClr>
              </a:solidFill>
            </a:endParaRPr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r>
              <a:rPr lang="ko-KR" altLang="en-US" sz="1200" dirty="0">
                <a:solidFill>
                  <a:srgbClr val="000000">
                    <a:alpha val="100000"/>
                  </a:srgbClr>
                </a:solidFill>
              </a:rPr>
              <a:t>목차는 다음과 같고</a:t>
            </a:r>
            <a:r>
              <a:rPr lang="en-US" altLang="ko-KR" sz="1200" dirty="0">
                <a:solidFill>
                  <a:srgbClr val="000000">
                    <a:alpha val="100000"/>
                  </a:srgbClr>
                </a:solidFill>
              </a:rPr>
              <a:t>, </a:t>
            </a:r>
            <a:r>
              <a:rPr lang="ko-KR" altLang="en-US" sz="1200" dirty="0">
                <a:solidFill>
                  <a:srgbClr val="000000">
                    <a:alpha val="100000"/>
                  </a:srgbClr>
                </a:solidFill>
              </a:rPr>
              <a:t>사용자 메뉴얼은 아래 링크와 같습니다</a:t>
            </a:r>
            <a:r>
              <a:rPr lang="en-US" altLang="ko-KR" sz="1200" dirty="0">
                <a:solidFill>
                  <a:srgbClr val="000000">
                    <a:alpha val="100000"/>
                  </a:srgbClr>
                </a:solidFill>
              </a:rPr>
              <a:t>.</a:t>
            </a:r>
            <a:endParaRPr sz="1200" dirty="0">
              <a:solidFill>
                <a:srgbClr val="000000">
                  <a:alpha val="100000"/>
                </a:srgbClr>
              </a:solidFill>
            </a:endParaRPr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성능테스트 </a:t>
            </a:r>
            <a:r>
              <a:rPr lang="en-US" altLang="ko-KR" dirty="0"/>
              <a:t>: </a:t>
            </a:r>
            <a:r>
              <a:rPr lang="ko-KR" altLang="en-US" dirty="0">
                <a:solidFill>
                  <a:srgbClr val="000000">
                    <a:alpha val="100000"/>
                  </a:srgbClr>
                </a:solidFill>
              </a:rPr>
              <a:t> 서비스 및 서비스 시스템의 성능을 확인하기 위해서 실제 사용환경과 비슷한 환경에서 테스트를 진행하는 것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0430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r>
              <a:rPr lang="ko-KR" altLang="en-US" sz="1200" dirty="0">
                <a:solidFill>
                  <a:srgbClr val="000000">
                    <a:alpha val="100000"/>
                  </a:srgbClr>
                </a:solidFill>
              </a:rPr>
              <a:t>테스트 계획생성 </a:t>
            </a:r>
            <a:r>
              <a:rPr lang="en-US" altLang="ko-KR" sz="1200" dirty="0">
                <a:solidFill>
                  <a:srgbClr val="000000">
                    <a:alpha val="100000"/>
                  </a:srgbClr>
                </a:solidFill>
              </a:rPr>
              <a:t>-&gt; </a:t>
            </a:r>
            <a:r>
              <a:rPr lang="ko-KR" altLang="en-US" sz="1200" dirty="0">
                <a:solidFill>
                  <a:srgbClr val="000000">
                    <a:alpha val="100000"/>
                  </a:srgbClr>
                </a:solidFill>
              </a:rPr>
              <a:t>테스트 실행</a:t>
            </a:r>
            <a:r>
              <a:rPr lang="en-US" altLang="ko-KR" sz="1200" dirty="0">
                <a:solidFill>
                  <a:srgbClr val="000000">
                    <a:alpha val="100000"/>
                  </a:srgbClr>
                </a:solidFill>
              </a:rPr>
              <a:t>(</a:t>
            </a:r>
            <a:r>
              <a:rPr lang="ko-KR" altLang="en-US" sz="1200" dirty="0">
                <a:solidFill>
                  <a:srgbClr val="000000">
                    <a:alpha val="100000"/>
                  </a:srgbClr>
                </a:solidFill>
              </a:rPr>
              <a:t>서버 모니터링</a:t>
            </a:r>
            <a:r>
              <a:rPr lang="en-US" altLang="ko-KR" sz="1200" dirty="0">
                <a:solidFill>
                  <a:srgbClr val="000000">
                    <a:alpha val="100000"/>
                  </a:srgbClr>
                </a:solidFill>
              </a:rPr>
              <a:t> + </a:t>
            </a:r>
            <a:r>
              <a:rPr lang="ko-KR" altLang="en-US" sz="1200" dirty="0">
                <a:solidFill>
                  <a:srgbClr val="000000">
                    <a:alpha val="100000"/>
                  </a:srgbClr>
                </a:solidFill>
              </a:rPr>
              <a:t>테스트 실행</a:t>
            </a:r>
            <a:r>
              <a:rPr lang="en-US" altLang="ko-KR" sz="1200" dirty="0">
                <a:solidFill>
                  <a:srgbClr val="000000">
                    <a:alpha val="100000"/>
                  </a:srgbClr>
                </a:solidFill>
              </a:rPr>
              <a:t>) -&gt; </a:t>
            </a:r>
            <a:r>
              <a:rPr lang="ko-KR" altLang="en-US" sz="1200" dirty="0">
                <a:solidFill>
                  <a:srgbClr val="000000">
                    <a:alpha val="100000"/>
                  </a:srgbClr>
                </a:solidFill>
              </a:rPr>
              <a:t>계산</a:t>
            </a:r>
            <a:r>
              <a:rPr lang="en-US" altLang="ko-KR" sz="1200" dirty="0">
                <a:solidFill>
                  <a:srgbClr val="000000">
                    <a:alpha val="100000"/>
                  </a:srgbClr>
                </a:solidFill>
              </a:rPr>
              <a:t>(Linux</a:t>
            </a:r>
            <a:r>
              <a:rPr lang="ko-KR" altLang="en-US" sz="1200" dirty="0">
                <a:solidFill>
                  <a:srgbClr val="000000">
                    <a:alpha val="100000"/>
                  </a:srgbClr>
                </a:solidFill>
              </a:rPr>
              <a:t>환경에서</a:t>
            </a:r>
            <a:r>
              <a:rPr lang="en-US" altLang="ko-KR" sz="1200" dirty="0">
                <a:solidFill>
                  <a:srgbClr val="000000">
                    <a:alpha val="100000"/>
                  </a:srgbClr>
                </a:solidFill>
              </a:rPr>
              <a:t>)</a:t>
            </a:r>
            <a:endParaRPr sz="1200" dirty="0">
              <a:solidFill>
                <a:srgbClr val="000000">
                  <a:alpha val="100000"/>
                </a:srgbClr>
              </a:solidFill>
            </a:endParaRPr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399485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/>
              <a:t>Jmeter</a:t>
            </a:r>
            <a:r>
              <a:rPr lang="ko-KR" altLang="en-US" dirty="0"/>
              <a:t>를 설치</a:t>
            </a:r>
            <a:br>
              <a:rPr lang="en-US" altLang="ko-KR" dirty="0"/>
            </a:br>
            <a:r>
              <a:rPr lang="en-US" altLang="ko-KR" dirty="0"/>
              <a:t>1) jmeter.apache.org</a:t>
            </a:r>
            <a:r>
              <a:rPr lang="ko-KR" altLang="en-US" dirty="0"/>
              <a:t>사이트에 접속</a:t>
            </a:r>
            <a:endParaRPr lang="en-US" altLang="ko-KR" dirty="0"/>
          </a:p>
          <a:p>
            <a:r>
              <a:rPr lang="en-US" altLang="ko-KR" dirty="0"/>
              <a:t>2) Binaries</a:t>
            </a:r>
            <a:r>
              <a:rPr lang="ko-KR" altLang="en-US" dirty="0"/>
              <a:t>에서 원하는 형태로 다운받은 후 압축 풀기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80537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r>
              <a:rPr lang="en-US" altLang="ko-KR" dirty="0" err="1"/>
              <a:t>jmeter.properties</a:t>
            </a:r>
            <a:r>
              <a:rPr lang="ko-KR" altLang="en-US" dirty="0"/>
              <a:t>파일의 </a:t>
            </a:r>
            <a:r>
              <a:rPr lang="en-US" altLang="ko-KR" dirty="0" err="1"/>
              <a:t>CookieManager.save.cookies</a:t>
            </a:r>
            <a:r>
              <a:rPr lang="ko-KR" altLang="en-US" dirty="0"/>
              <a:t>의 </a:t>
            </a:r>
            <a:r>
              <a:rPr lang="ko-KR" altLang="en-US" dirty="0" err="1"/>
              <a:t>설정값을</a:t>
            </a:r>
            <a:r>
              <a:rPr lang="ko-KR" altLang="en-US" dirty="0"/>
              <a:t> </a:t>
            </a:r>
            <a:r>
              <a:rPr lang="en-US" altLang="ko-KR" dirty="0"/>
              <a:t>true</a:t>
            </a:r>
            <a:r>
              <a:rPr lang="ko-KR" altLang="en-US" dirty="0"/>
              <a:t>로 설정 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(</a:t>
            </a:r>
            <a:r>
              <a:rPr lang="ko-KR" altLang="en-US" dirty="0"/>
              <a:t>쿠키 값을 보존하기 위해</a:t>
            </a:r>
            <a:r>
              <a:rPr lang="en-US" altLang="ko-KR" dirty="0"/>
              <a:t>)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41183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dirty="0"/>
              <a:t>1. </a:t>
            </a:r>
            <a:r>
              <a:rPr lang="ko-KR" altLang="en-US" dirty="0"/>
              <a:t>윈도우 환경 </a:t>
            </a:r>
            <a:r>
              <a:rPr lang="en-US" altLang="ko-KR" dirty="0"/>
              <a:t>-&gt;</a:t>
            </a:r>
            <a:r>
              <a:rPr lang="ko-KR" altLang="en-US" dirty="0"/>
              <a:t> </a:t>
            </a:r>
            <a:r>
              <a:rPr lang="en-US" altLang="ko-KR" dirty="0"/>
              <a:t>jmeter.bat </a:t>
            </a:r>
            <a:r>
              <a:rPr lang="ko-KR" altLang="en-US" dirty="0"/>
              <a:t>파일 실행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2. </a:t>
            </a:r>
            <a:r>
              <a:rPr lang="ko-KR" altLang="en-US" dirty="0"/>
              <a:t>리눅스 환경 </a:t>
            </a:r>
            <a:r>
              <a:rPr lang="en-US" altLang="ko-KR" dirty="0"/>
              <a:t>-&gt; jmeter.sh </a:t>
            </a:r>
            <a:r>
              <a:rPr lang="ko-KR" altLang="en-US" dirty="0"/>
              <a:t>파일 실행 </a:t>
            </a:r>
            <a:br>
              <a:rPr lang="en-US" altLang="ko-KR" dirty="0"/>
            </a:b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34857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FFC000"/>
                </a:solidFill>
              </a:rPr>
              <a:t>1</a:t>
            </a:r>
            <a:r>
              <a:rPr lang="en-US" altLang="ko-KR" dirty="0">
                <a:solidFill>
                  <a:srgbClr val="FF0000"/>
                </a:solidFill>
              </a:rPr>
              <a:t> </a:t>
            </a:r>
            <a:r>
              <a:rPr lang="ko-KR" altLang="en-US" dirty="0"/>
              <a:t>쓰레드 그룹 추가</a:t>
            </a:r>
            <a:endParaRPr lang="en-US" altLang="ko-KR" dirty="0"/>
          </a:p>
          <a:p>
            <a:r>
              <a:rPr lang="en-US" altLang="ko-KR" dirty="0"/>
              <a:t>2 </a:t>
            </a:r>
            <a:r>
              <a:rPr lang="ko-KR" altLang="en-US" dirty="0"/>
              <a:t>테스트 계획에 따른 쓰레드 속성 설정</a:t>
            </a:r>
            <a:endParaRPr lang="en-US" altLang="ko-KR" dirty="0"/>
          </a:p>
          <a:p>
            <a:r>
              <a:rPr lang="ko-KR" altLang="en-US" dirty="0"/>
              <a:t>  </a:t>
            </a:r>
            <a:r>
              <a:rPr lang="en-US" altLang="ko-KR" dirty="0"/>
              <a:t>(</a:t>
            </a:r>
            <a:r>
              <a:rPr lang="ko-KR" altLang="en-US" dirty="0"/>
              <a:t>스레드 수 </a:t>
            </a:r>
            <a:r>
              <a:rPr lang="en-US" altLang="ko-KR" dirty="0"/>
              <a:t>: </a:t>
            </a:r>
            <a:r>
              <a:rPr lang="ko-KR" altLang="en-US" dirty="0"/>
              <a:t>사용자 수 </a:t>
            </a:r>
            <a:r>
              <a:rPr lang="en-US" altLang="ko-KR" dirty="0"/>
              <a:t>/  Ramp-up </a:t>
            </a:r>
            <a:r>
              <a:rPr lang="ko-KR" altLang="en-US" dirty="0"/>
              <a:t>시간</a:t>
            </a:r>
            <a:r>
              <a:rPr lang="en-US" altLang="ko-KR" dirty="0"/>
              <a:t>: </a:t>
            </a:r>
            <a:r>
              <a:rPr lang="ko-KR" altLang="en-US" dirty="0"/>
              <a:t>몇 초 안에 설정된 스레드를 모두 실행시킬지 의미</a:t>
            </a:r>
            <a:r>
              <a:rPr lang="en-US" altLang="ko-KR" dirty="0"/>
              <a:t>(</a:t>
            </a:r>
            <a:r>
              <a:rPr lang="ko-KR" altLang="en-US" dirty="0"/>
              <a:t>따라서 </a:t>
            </a:r>
            <a:r>
              <a:rPr lang="en-US" altLang="ko-KR" dirty="0"/>
              <a:t>0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스레드들을 동시에 실행시킴 의미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  루프 카운트 </a:t>
            </a:r>
            <a:r>
              <a:rPr lang="en-US" altLang="ko-KR" dirty="0"/>
              <a:t>:</a:t>
            </a:r>
            <a:r>
              <a:rPr lang="ko-KR" altLang="en-US" dirty="0"/>
              <a:t> 한 스레드 당 </a:t>
            </a:r>
            <a:r>
              <a:rPr lang="en-US" altLang="ko-KR" dirty="0"/>
              <a:t>sampler</a:t>
            </a:r>
            <a:r>
              <a:rPr lang="ko-KR" altLang="en-US" dirty="0"/>
              <a:t>로 있는 테스트 시나리오의 실행 횟수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en-US" altLang="ko-KR" dirty="0"/>
              <a:t>Ex)</a:t>
            </a:r>
          </a:p>
          <a:p>
            <a:r>
              <a:rPr lang="ko-KR" altLang="en-US" dirty="0"/>
              <a:t>만약 </a:t>
            </a:r>
            <a:r>
              <a:rPr lang="en-US" altLang="ko-KR" dirty="0"/>
              <a:t>10</a:t>
            </a:r>
            <a:r>
              <a:rPr lang="ko-KR" altLang="en-US" dirty="0"/>
              <a:t>개의 스레드 </a:t>
            </a:r>
            <a:r>
              <a:rPr lang="en-US" altLang="ko-KR" dirty="0"/>
              <a:t>100</a:t>
            </a:r>
            <a:r>
              <a:rPr lang="ko-KR" altLang="en-US" dirty="0"/>
              <a:t>초의 </a:t>
            </a:r>
            <a:r>
              <a:rPr lang="en-US" altLang="ko-KR" dirty="0"/>
              <a:t>Ramp-up</a:t>
            </a:r>
            <a:r>
              <a:rPr lang="ko-KR" altLang="en-US" dirty="0"/>
              <a:t>을 설정한다면</a:t>
            </a:r>
            <a:r>
              <a:rPr lang="en-US" altLang="ko-KR" dirty="0"/>
              <a:t>, </a:t>
            </a:r>
            <a:r>
              <a:rPr lang="en-US" altLang="ko-KR" dirty="0" err="1"/>
              <a:t>jmeter</a:t>
            </a:r>
            <a:r>
              <a:rPr lang="ko-KR" altLang="en-US" dirty="0"/>
              <a:t>는 </a:t>
            </a:r>
            <a:r>
              <a:rPr lang="en-US" altLang="ko-KR" dirty="0"/>
              <a:t>100</a:t>
            </a:r>
            <a:r>
              <a:rPr lang="ko-KR" altLang="en-US" dirty="0"/>
              <a:t>초안에 </a:t>
            </a:r>
            <a:r>
              <a:rPr lang="en-US" altLang="ko-KR" dirty="0"/>
              <a:t>10</a:t>
            </a:r>
            <a:r>
              <a:rPr lang="ko-KR" altLang="en-US" dirty="0"/>
              <a:t>개의 스레드들이 실행되는 것을 의미하므로</a:t>
            </a:r>
            <a:r>
              <a:rPr lang="en-US" altLang="ko-KR" dirty="0"/>
              <a:t>, </a:t>
            </a:r>
            <a:r>
              <a:rPr lang="ko-KR" altLang="en-US" dirty="0"/>
              <a:t>각 스레드들은 </a:t>
            </a:r>
            <a:r>
              <a:rPr lang="en-US" altLang="ko-KR" dirty="0"/>
              <a:t>10</a:t>
            </a:r>
            <a:r>
              <a:rPr lang="ko-KR" altLang="en-US" dirty="0"/>
              <a:t>초마다 실행됨을 의미합니다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27647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dirty="0"/>
              <a:t>1. HTTP </a:t>
            </a:r>
            <a:r>
              <a:rPr lang="ko-KR" altLang="en-US" dirty="0"/>
              <a:t>테스트 스크립트 레코더를 추가</a:t>
            </a:r>
            <a:r>
              <a:rPr lang="en-US" altLang="ko-KR" dirty="0"/>
              <a:t>(</a:t>
            </a:r>
            <a:r>
              <a:rPr lang="ko-KR" altLang="en-US" dirty="0"/>
              <a:t>요청 </a:t>
            </a:r>
            <a:r>
              <a:rPr lang="en-US" altLang="ko-KR" dirty="0"/>
              <a:t>URL </a:t>
            </a:r>
            <a:r>
              <a:rPr lang="ko-KR" altLang="en-US" dirty="0" err="1"/>
              <a:t>수집을위해</a:t>
            </a:r>
            <a:r>
              <a:rPr lang="en-US" altLang="ko-KR" dirty="0"/>
              <a:t>)</a:t>
            </a:r>
          </a:p>
          <a:p>
            <a:pPr marL="0" indent="0">
              <a:buNone/>
            </a:pPr>
            <a:r>
              <a:rPr lang="en-US" altLang="ko-KR" dirty="0"/>
              <a:t>2. </a:t>
            </a:r>
            <a:r>
              <a:rPr lang="ko-KR" altLang="en-US" dirty="0"/>
              <a:t>사용할 </a:t>
            </a:r>
            <a:r>
              <a:rPr lang="en-US" altLang="ko-KR" dirty="0"/>
              <a:t>Proxy </a:t>
            </a:r>
            <a:r>
              <a:rPr lang="ko-KR" altLang="en-US" dirty="0"/>
              <a:t>서버 포트를 입력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3. Target Controller</a:t>
            </a:r>
            <a:r>
              <a:rPr lang="ko-KR" altLang="en-US" dirty="0"/>
              <a:t>를 스레드 그룹으로 지정합니다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4. Redirect</a:t>
            </a:r>
            <a:r>
              <a:rPr lang="ko-KR" altLang="en-US" dirty="0"/>
              <a:t>들을 따라가기 체크 해제</a:t>
            </a:r>
            <a:br>
              <a:rPr lang="en-US" altLang="ko-KR" dirty="0"/>
            </a:br>
            <a:r>
              <a:rPr lang="en-US" altLang="ko-KR" dirty="0"/>
              <a:t>( </a:t>
            </a:r>
            <a:r>
              <a:rPr lang="ko-KR" altLang="en-US" dirty="0"/>
              <a:t>이 옵션을 해제하지 않으면 </a:t>
            </a:r>
            <a:r>
              <a:rPr lang="en-US" altLang="ko-KR" dirty="0"/>
              <a:t>JMETER</a:t>
            </a:r>
            <a:r>
              <a:rPr lang="ko-KR" altLang="en-US" dirty="0"/>
              <a:t>가 테스트 수행 시 </a:t>
            </a:r>
            <a:r>
              <a:rPr lang="en-US" altLang="ko-KR" dirty="0"/>
              <a:t>redirection</a:t>
            </a:r>
            <a:r>
              <a:rPr lang="ko-KR" altLang="en-US" dirty="0"/>
              <a:t>을 자동으로 수행해 동일한 요청이 </a:t>
            </a:r>
            <a:r>
              <a:rPr lang="en-US" altLang="ko-KR" dirty="0"/>
              <a:t>2</a:t>
            </a:r>
            <a:r>
              <a:rPr lang="ko-KR" altLang="en-US" dirty="0"/>
              <a:t>번 전송됩니다</a:t>
            </a:r>
            <a:r>
              <a:rPr lang="en-US" altLang="ko-KR" dirty="0"/>
              <a:t>. )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57905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1 </a:t>
            </a:r>
            <a:r>
              <a:rPr lang="ko-KR" altLang="en-US" dirty="0"/>
              <a:t>우측 톱니바퀴 버튼클릭</a:t>
            </a: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2 </a:t>
            </a:r>
            <a:r>
              <a:rPr lang="ko-KR" altLang="en-US" dirty="0"/>
              <a:t>인터넷 옵션의 연결 선택</a:t>
            </a: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3 Lan </a:t>
            </a:r>
            <a:r>
              <a:rPr lang="ko-KR" altLang="en-US" dirty="0"/>
              <a:t>설정 클릭</a:t>
            </a: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4 </a:t>
            </a:r>
            <a:r>
              <a:rPr lang="ko-KR" altLang="en-US" dirty="0"/>
              <a:t>자동으로 설정 체크 및 프록시 서버 설정 체크</a:t>
            </a: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  </a:t>
            </a:r>
            <a:r>
              <a:rPr lang="ko-KR" altLang="en-US" dirty="0"/>
              <a:t>주의사항</a:t>
            </a: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4-1)  </a:t>
            </a:r>
            <a:r>
              <a:rPr lang="ko-KR" altLang="en-US" dirty="0"/>
              <a:t>프록시 설정 전에</a:t>
            </a:r>
            <a:r>
              <a:rPr lang="en-US" altLang="ko-KR" dirty="0"/>
              <a:t>, </a:t>
            </a:r>
            <a:r>
              <a:rPr lang="ko-KR" altLang="en-US" dirty="0"/>
              <a:t>테스트하고자 하는 사이트까지 미리 접속</a:t>
            </a:r>
            <a:endParaRPr lang="en-US" altLang="ko-KR" dirty="0"/>
          </a:p>
          <a:p>
            <a:r>
              <a:rPr lang="en-US" altLang="ko-KR" dirty="0"/>
              <a:t>4-2) Proxy</a:t>
            </a:r>
            <a:r>
              <a:rPr lang="ko-KR" altLang="en-US" dirty="0"/>
              <a:t>서버 설정 </a:t>
            </a:r>
            <a:r>
              <a:rPr lang="en-US" altLang="ko-KR" dirty="0"/>
              <a:t>(</a:t>
            </a:r>
            <a:r>
              <a:rPr lang="ko-KR" altLang="en-US" dirty="0"/>
              <a:t>이전 </a:t>
            </a:r>
            <a:r>
              <a:rPr lang="en-US" altLang="ko-KR" dirty="0"/>
              <a:t>PPT</a:t>
            </a:r>
            <a:r>
              <a:rPr lang="ko-KR" altLang="en-US" dirty="0"/>
              <a:t>의 스크립트 레코더에서 프록시 서버 </a:t>
            </a:r>
            <a:r>
              <a:rPr lang="en-US" altLang="ko-KR" dirty="0"/>
              <a:t>8888</a:t>
            </a:r>
            <a:r>
              <a:rPr lang="ko-KR" altLang="en-US" dirty="0"/>
              <a:t>번을 사용하기로 설정하였기 때문에</a:t>
            </a:r>
            <a:r>
              <a:rPr lang="en-US" altLang="ko-KR" dirty="0"/>
              <a:t>, 8888</a:t>
            </a:r>
            <a:r>
              <a:rPr lang="ko-KR" altLang="en-US" dirty="0"/>
              <a:t>번으로 설정해줍니다</a:t>
            </a:r>
            <a:r>
              <a:rPr lang="en-US" altLang="ko-KR" dirty="0"/>
              <a:t>. )</a:t>
            </a:r>
            <a:br>
              <a:rPr lang="en-US" altLang="ko-KR" dirty="0"/>
            </a:b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14181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크롬 설정 창으로 진입 </a:t>
            </a:r>
            <a:r>
              <a:rPr lang="en-US" altLang="ko-KR" dirty="0"/>
              <a:t>: chrome</a:t>
            </a:r>
            <a:r>
              <a:rPr lang="ko-KR" altLang="en-US" dirty="0"/>
              <a:t> 브라우저 톱니바퀴 클릭</a:t>
            </a:r>
            <a:r>
              <a:rPr lang="en-US" altLang="ko-KR" dirty="0"/>
              <a:t> -&gt; </a:t>
            </a:r>
            <a:r>
              <a:rPr lang="ko-KR" altLang="en-US" dirty="0"/>
              <a:t>설정클릭</a:t>
            </a:r>
            <a:endParaRPr lang="en-US" altLang="ko-KR" dirty="0"/>
          </a:p>
          <a:p>
            <a:pPr marL="228600" marR="0" lvl="0" indent="-2286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lang="ko-KR" altLang="en-US" dirty="0"/>
              <a:t>좌측 레이아웃 중 고급 속성을 클릭 </a:t>
            </a:r>
            <a:endParaRPr lang="en-US" altLang="ko-KR" dirty="0"/>
          </a:p>
          <a:p>
            <a:pPr marL="228600" marR="0" lvl="0" indent="-2286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lang="ko-KR" altLang="en-US" dirty="0"/>
              <a:t>시스템클릭</a:t>
            </a: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3)  </a:t>
            </a:r>
            <a:r>
              <a:rPr lang="ko-KR" altLang="en-US" dirty="0"/>
              <a:t>컴퓨터 프록시 설정 열기 버튼을 클릭</a:t>
            </a:r>
            <a:r>
              <a:rPr lang="en-US" altLang="ko-KR" dirty="0"/>
              <a:t> 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4) </a:t>
            </a:r>
            <a:r>
              <a:rPr lang="ko-KR" altLang="en-US" dirty="0"/>
              <a:t>자동으로 설정검색 기능 켬</a:t>
            </a:r>
            <a:br>
              <a:rPr lang="en-US" altLang="ko-KR" dirty="0"/>
            </a:br>
            <a:r>
              <a:rPr lang="en-US" altLang="ko-KR" dirty="0"/>
              <a:t>5)</a:t>
            </a:r>
            <a:r>
              <a:rPr lang="ko-KR" altLang="en-US" dirty="0"/>
              <a:t> 프록시 서버 사용 기능 켬 </a:t>
            </a:r>
            <a:br>
              <a:rPr lang="en-US" altLang="ko-KR" dirty="0"/>
            </a:br>
            <a:r>
              <a:rPr lang="en-US" altLang="ko-KR" dirty="0"/>
              <a:t>6) </a:t>
            </a:r>
            <a:r>
              <a:rPr lang="ko-KR" altLang="en-US" dirty="0"/>
              <a:t>주소는 </a:t>
            </a:r>
            <a:r>
              <a:rPr lang="en-US" altLang="ko-KR" dirty="0"/>
              <a:t>IE</a:t>
            </a:r>
            <a:r>
              <a:rPr lang="ko-KR" altLang="en-US" dirty="0"/>
              <a:t>에서 마찬가지로 </a:t>
            </a:r>
            <a:r>
              <a:rPr lang="en-US" altLang="ko-KR" dirty="0"/>
              <a:t>localhost, </a:t>
            </a:r>
            <a:r>
              <a:rPr lang="ko-KR" altLang="en-US" dirty="0"/>
              <a:t>포트는 </a:t>
            </a:r>
            <a:r>
              <a:rPr lang="en-US" altLang="ko-KR" dirty="0" err="1"/>
              <a:t>jmeter</a:t>
            </a:r>
            <a:r>
              <a:rPr lang="ko-KR" altLang="en-US" dirty="0"/>
              <a:t>에서 설정한 포트 입력</a:t>
            </a:r>
            <a:r>
              <a:rPr lang="en-US" altLang="ko-KR" dirty="0"/>
              <a:t> -&gt;</a:t>
            </a:r>
            <a:r>
              <a:rPr lang="ko-KR" altLang="en-US" dirty="0"/>
              <a:t> 저장 버튼을 클릭</a:t>
            </a: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en-US" altLang="ko-KR" dirty="0"/>
            </a:b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78618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r>
              <a:rPr lang="ko-KR" altLang="en-US" dirty="0"/>
              <a:t>시작 버튼 클릭</a:t>
            </a:r>
            <a:r>
              <a:rPr lang="en-US" altLang="ko-KR" dirty="0"/>
              <a:t>(</a:t>
            </a:r>
            <a:r>
              <a:rPr lang="ko-KR" altLang="en-US" dirty="0"/>
              <a:t>요청 </a:t>
            </a:r>
            <a:r>
              <a:rPr lang="en-US" altLang="ko-KR" dirty="0"/>
              <a:t>URL</a:t>
            </a:r>
            <a:r>
              <a:rPr lang="ko-KR" altLang="en-US" dirty="0"/>
              <a:t>을 수집하기 위하여</a:t>
            </a:r>
            <a:r>
              <a:rPr lang="en-US" altLang="ko-KR" dirty="0"/>
              <a:t>) </a:t>
            </a:r>
          </a:p>
          <a:p>
            <a:pPr marL="228600" indent="-228600">
              <a:buAutoNum type="arabicParenR"/>
            </a:pPr>
            <a:r>
              <a:rPr lang="en-US" altLang="ko-KR" dirty="0"/>
              <a:t>7</a:t>
            </a:r>
            <a:r>
              <a:rPr lang="ko-KR" altLang="en-US" dirty="0"/>
              <a:t>일동안 사설 인증서가 만들어 졌다는 </a:t>
            </a:r>
            <a:r>
              <a:rPr lang="ko-KR" altLang="en-US" dirty="0" err="1"/>
              <a:t>알림창</a:t>
            </a:r>
            <a:r>
              <a:rPr lang="ko-KR" altLang="en-US" dirty="0"/>
              <a:t> 발동</a:t>
            </a:r>
            <a:endParaRPr lang="en-US" altLang="ko-KR" dirty="0"/>
          </a:p>
          <a:p>
            <a:pPr marL="228600" indent="-228600">
              <a:buAutoNum type="arabicParenR"/>
            </a:pPr>
            <a:r>
              <a:rPr lang="ko-KR" altLang="en-US" dirty="0"/>
              <a:t>확인을 누르게 되면</a:t>
            </a:r>
            <a:r>
              <a:rPr lang="en-US" altLang="ko-KR" dirty="0"/>
              <a:t>, </a:t>
            </a:r>
            <a:r>
              <a:rPr lang="ko-KR" altLang="en-US" dirty="0"/>
              <a:t>레코더 창이 나타납니다</a:t>
            </a:r>
            <a:r>
              <a:rPr lang="en-US" altLang="ko-KR" dirty="0"/>
              <a:t>. </a:t>
            </a:r>
          </a:p>
          <a:p>
            <a:pPr marL="0" indent="0">
              <a:buNone/>
            </a:pPr>
            <a:r>
              <a:rPr lang="en-US" altLang="ko-KR" dirty="0"/>
              <a:t>4)</a:t>
            </a:r>
            <a:r>
              <a:rPr lang="ko-KR" altLang="en-US" dirty="0"/>
              <a:t>  테스트하고자 하는 시나리오대로 브라우저에서 테스트 시나리오를 실행</a:t>
            </a:r>
            <a:r>
              <a:rPr lang="en-US" altLang="ko-KR" dirty="0"/>
              <a:t> </a:t>
            </a:r>
            <a:r>
              <a:rPr lang="ko-KR" altLang="en-US" dirty="0"/>
              <a:t>후 중지버튼 클릭 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5593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/>
              <a:t>Url</a:t>
            </a:r>
            <a:r>
              <a:rPr lang="ko-KR" altLang="en-US" dirty="0"/>
              <a:t>을 클릭</a:t>
            </a:r>
            <a:r>
              <a:rPr lang="en-US" altLang="ko-KR" dirty="0"/>
              <a:t> -&gt; </a:t>
            </a:r>
            <a:r>
              <a:rPr lang="ko-KR" altLang="en-US" dirty="0"/>
              <a:t>자동으로 서버 이름과 프로토콜</a:t>
            </a:r>
            <a:r>
              <a:rPr lang="en-US" altLang="ko-KR" dirty="0"/>
              <a:t>, </a:t>
            </a:r>
            <a:r>
              <a:rPr lang="ko-KR" altLang="en-US" dirty="0" err="1"/>
              <a:t>매서드</a:t>
            </a:r>
            <a:r>
              <a:rPr lang="ko-KR" altLang="en-US" dirty="0"/>
              <a:t> 방식과 주소</a:t>
            </a:r>
            <a:r>
              <a:rPr lang="en-US" altLang="ko-KR" dirty="0"/>
              <a:t>, </a:t>
            </a:r>
            <a:r>
              <a:rPr lang="ko-KR" altLang="en-US" dirty="0"/>
              <a:t>파라미터가 입력되어 </a:t>
            </a:r>
            <a:r>
              <a:rPr lang="ko-KR" altLang="en-US" dirty="0" err="1"/>
              <a:t>보여짐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019064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쓰레드 그룹에 </a:t>
            </a:r>
            <a:r>
              <a:rPr lang="en-US" altLang="ko-KR" dirty="0"/>
              <a:t>Recording</a:t>
            </a:r>
            <a:r>
              <a:rPr lang="ko-KR" altLang="en-US" dirty="0"/>
              <a:t>한 </a:t>
            </a:r>
            <a:r>
              <a:rPr lang="en-US" altLang="ko-KR" dirty="0"/>
              <a:t>URL</a:t>
            </a:r>
            <a:r>
              <a:rPr lang="ko-KR" altLang="en-US" dirty="0"/>
              <a:t>이 수집된 것을 확인 할 수 있고</a:t>
            </a:r>
            <a:r>
              <a:rPr lang="en-US" altLang="ko-KR" dirty="0"/>
              <a:t>, </a:t>
            </a:r>
            <a:r>
              <a:rPr lang="en-US" altLang="ko-KR" dirty="0" err="1"/>
              <a:t>url</a:t>
            </a:r>
            <a:r>
              <a:rPr lang="ko-KR" altLang="en-US" dirty="0"/>
              <a:t>중 테스트시나리오에서 제거하려는 부분은 제거 후</a:t>
            </a:r>
            <a:r>
              <a:rPr lang="en-US" altLang="ko-KR" dirty="0"/>
              <a:t>, </a:t>
            </a:r>
            <a:r>
              <a:rPr lang="ko-KR" altLang="en-US" dirty="0"/>
              <a:t>파일 저장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946352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r>
              <a:rPr lang="ko-KR" altLang="en-US" dirty="0"/>
              <a:t>저장 버튼을 눌러 테스트 계획 저장</a:t>
            </a:r>
            <a:endParaRPr lang="en-US" altLang="ko-KR" dirty="0"/>
          </a:p>
          <a:p>
            <a:pPr marL="228600" indent="-228600">
              <a:buAutoNum type="arabicParenR"/>
            </a:pPr>
            <a:r>
              <a:rPr lang="ko-KR" altLang="en-US" dirty="0"/>
              <a:t>저장할 경로를 나타내는 </a:t>
            </a:r>
            <a:r>
              <a:rPr lang="ko-KR" altLang="en-US" dirty="0" err="1"/>
              <a:t>팝업창</a:t>
            </a:r>
            <a:r>
              <a:rPr lang="ko-KR" altLang="en-US" dirty="0"/>
              <a:t> 출력 </a:t>
            </a:r>
            <a:r>
              <a:rPr lang="en-US" altLang="ko-KR" dirty="0"/>
              <a:t>-&gt; </a:t>
            </a:r>
            <a:r>
              <a:rPr lang="ko-KR" altLang="en-US" dirty="0"/>
              <a:t>저장 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  (</a:t>
            </a:r>
            <a:r>
              <a:rPr lang="ko-KR" altLang="en-US" dirty="0"/>
              <a:t>기본경로 </a:t>
            </a:r>
            <a:r>
              <a:rPr lang="en-US" altLang="ko-KR" dirty="0"/>
              <a:t>: apache-jmeter-5.4\apache-jmeter-5.4\bin 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226037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r>
              <a:rPr lang="ko-KR" altLang="en-US" dirty="0"/>
              <a:t>해당 서버에 접속</a:t>
            </a:r>
            <a:endParaRPr lang="en-US" altLang="ko-KR" dirty="0"/>
          </a:p>
          <a:p>
            <a:pPr marL="228600" indent="-228600">
              <a:buAutoNum type="arabicParenR"/>
            </a:pPr>
            <a:r>
              <a:rPr lang="en-US" altLang="ko-KR" dirty="0" err="1"/>
              <a:t>dstat</a:t>
            </a:r>
            <a:r>
              <a:rPr lang="en-US" altLang="ko-KR" dirty="0"/>
              <a:t> </a:t>
            </a:r>
            <a:r>
              <a:rPr lang="ko-KR" altLang="en-US" dirty="0"/>
              <a:t>명령을 실행</a:t>
            </a:r>
            <a:r>
              <a:rPr lang="en-US" altLang="ko-KR" dirty="0"/>
              <a:t>(</a:t>
            </a:r>
            <a:r>
              <a:rPr lang="en-US" altLang="ko-KR" dirty="0" err="1"/>
              <a:t>cpu</a:t>
            </a:r>
            <a:r>
              <a:rPr lang="ko-KR" altLang="en-US" dirty="0"/>
              <a:t>상태와 </a:t>
            </a:r>
            <a:r>
              <a:rPr lang="ko-KR" altLang="en-US" dirty="0" err="1"/>
              <a:t>메모리사용량등을</a:t>
            </a:r>
            <a:r>
              <a:rPr lang="ko-KR" altLang="en-US" dirty="0"/>
              <a:t> 기록 하기 위한</a:t>
            </a:r>
            <a:r>
              <a:rPr lang="en-US" altLang="ko-KR" dirty="0"/>
              <a:t>)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486910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1) </a:t>
            </a:r>
            <a:r>
              <a:rPr lang="ko-KR" altLang="en-US" dirty="0"/>
              <a:t>해당 </a:t>
            </a:r>
            <a:r>
              <a:rPr lang="en-US" altLang="ko-KR" dirty="0"/>
              <a:t>jmeter.sh</a:t>
            </a:r>
            <a:r>
              <a:rPr lang="ko-KR" altLang="en-US" dirty="0"/>
              <a:t>실행파일이 있는 곳으로 들어가</a:t>
            </a:r>
            <a:r>
              <a:rPr lang="en-US" altLang="ko-KR" dirty="0"/>
              <a:t> </a:t>
            </a:r>
            <a:r>
              <a:rPr lang="ko-KR" altLang="en-US" dirty="0"/>
              <a:t>실행 명령 실행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옵션값 </a:t>
            </a:r>
            <a:endParaRPr lang="en-US" altLang="ko-KR" dirty="0"/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-n : Non-</a:t>
            </a:r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Gui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모드로 수행</a:t>
            </a:r>
            <a:br>
              <a:rPr lang="ko-KR" altLang="en-US" dirty="0"/>
            </a:b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-t : 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스크립트 파일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(</a:t>
            </a:r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jmx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파일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)</a:t>
            </a:r>
            <a:br>
              <a:rPr lang="ko-KR" altLang="en-US" dirty="0"/>
            </a:b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-l : 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테스트 결과 파일</a:t>
            </a:r>
            <a:br>
              <a:rPr lang="ko-KR" altLang="en-US" dirty="0"/>
            </a:b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-j : 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로그 파일 지정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356682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결과적으로 </a:t>
            </a:r>
            <a:r>
              <a:rPr lang="en-US" altLang="ko-KR" dirty="0"/>
              <a:t>output </a:t>
            </a:r>
            <a:r>
              <a:rPr lang="ko-KR" altLang="en-US" dirty="0"/>
              <a:t>폴더안에 </a:t>
            </a:r>
            <a:r>
              <a:rPr lang="en-US" altLang="ko-KR" dirty="0" err="1"/>
              <a:t>result.jtl</a:t>
            </a:r>
            <a:r>
              <a:rPr lang="ko-KR" altLang="en-US" dirty="0"/>
              <a:t> 파일과</a:t>
            </a:r>
            <a:r>
              <a:rPr lang="en-US" altLang="ko-KR" dirty="0"/>
              <a:t>, log</a:t>
            </a:r>
            <a:r>
              <a:rPr lang="ko-KR" altLang="en-US" dirty="0"/>
              <a:t>파일이 생성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 err="1"/>
              <a:t>Result.jtl</a:t>
            </a:r>
            <a:r>
              <a:rPr lang="en-US" altLang="ko-KR" dirty="0"/>
              <a:t> </a:t>
            </a:r>
            <a:r>
              <a:rPr lang="ko-KR" altLang="en-US" dirty="0"/>
              <a:t>파일을 보면 요청 </a:t>
            </a:r>
            <a:r>
              <a:rPr lang="en-US" altLang="ko-KR" dirty="0" err="1"/>
              <a:t>url</a:t>
            </a:r>
            <a:r>
              <a:rPr lang="ko-KR" altLang="en-US" dirty="0"/>
              <a:t>과 성공여부</a:t>
            </a:r>
            <a:r>
              <a:rPr lang="en-US" altLang="ko-KR" dirty="0"/>
              <a:t>, </a:t>
            </a:r>
            <a:r>
              <a:rPr lang="ko-KR" altLang="en-US" dirty="0"/>
              <a:t>실패 메시지 등을 볼 수 있습니다</a:t>
            </a:r>
            <a:endParaRPr lang="en-US" altLang="ko-KR" dirty="0"/>
          </a:p>
          <a:p>
            <a:r>
              <a:rPr lang="en-US" altLang="ko-KR" dirty="0"/>
              <a:t>Run</a:t>
            </a:r>
            <a:r>
              <a:rPr lang="ko-KR" altLang="en-US" dirty="0"/>
              <a:t>은 로그 파일로서 </a:t>
            </a:r>
            <a:r>
              <a:rPr lang="en-US" altLang="ko-KR" dirty="0" err="1"/>
              <a:t>jmeter</a:t>
            </a:r>
            <a:r>
              <a:rPr lang="en-US" altLang="ko-KR" dirty="0"/>
              <a:t> </a:t>
            </a:r>
            <a:r>
              <a:rPr lang="ko-KR" altLang="en-US" dirty="0"/>
              <a:t>돌렸을 때 </a:t>
            </a:r>
            <a:r>
              <a:rPr lang="ko-KR" altLang="en-US" dirty="0" err="1"/>
              <a:t>에러난</a:t>
            </a:r>
            <a:r>
              <a:rPr lang="ko-KR" altLang="en-US" dirty="0"/>
              <a:t> 경우 해당 파일로 분석하면 됩니다</a:t>
            </a: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017523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Cal.sh</a:t>
            </a:r>
            <a:r>
              <a:rPr lang="ko-KR" altLang="en-US" dirty="0"/>
              <a:t>파일 </a:t>
            </a:r>
            <a:r>
              <a:rPr lang="en-US" altLang="ko-KR" dirty="0"/>
              <a:t>: </a:t>
            </a:r>
            <a:r>
              <a:rPr lang="ko-KR" altLang="en-US" dirty="0" err="1"/>
              <a:t>표준모듈</a:t>
            </a:r>
            <a:r>
              <a:rPr lang="en-US" altLang="ko-KR" dirty="0"/>
              <a:t>.git</a:t>
            </a:r>
            <a:r>
              <a:rPr lang="ko-KR" altLang="en-US" dirty="0"/>
              <a:t> </a:t>
            </a:r>
            <a:r>
              <a:rPr lang="en-US" altLang="ko-KR" dirty="0"/>
              <a:t>&gt; </a:t>
            </a:r>
            <a:r>
              <a:rPr lang="en-US" altLang="ko-KR" dirty="0" err="1"/>
              <a:t>Jmeter</a:t>
            </a:r>
            <a:r>
              <a:rPr lang="en-US" altLang="ko-KR" dirty="0"/>
              <a:t> &gt; Cal.sh </a:t>
            </a:r>
            <a:r>
              <a:rPr lang="ko-KR" altLang="en-US" dirty="0"/>
              <a:t>실행 파일 존재</a:t>
            </a:r>
            <a:endParaRPr lang="en-US" altLang="ko-KR" dirty="0"/>
          </a:p>
          <a:p>
            <a:r>
              <a:rPr lang="en-US" altLang="ko-KR" dirty="0"/>
              <a:t>(git clone jmocha@10.0.102.8:git/ezFlow4Java.git) </a:t>
            </a:r>
            <a:r>
              <a:rPr lang="ko-KR" altLang="en-US" dirty="0"/>
              <a:t>에 존재하는 </a:t>
            </a:r>
            <a:r>
              <a:rPr lang="en-US" altLang="ko-KR" dirty="0"/>
              <a:t>docs/tech/</a:t>
            </a:r>
            <a:r>
              <a:rPr lang="en-US" altLang="ko-KR" dirty="0" err="1"/>
              <a:t>jmeter</a:t>
            </a:r>
            <a:r>
              <a:rPr lang="en-US" altLang="ko-KR" dirty="0"/>
              <a:t> </a:t>
            </a:r>
            <a:r>
              <a:rPr lang="ko-KR" altLang="en-US" dirty="0"/>
              <a:t>에 </a:t>
            </a:r>
            <a:r>
              <a:rPr lang="en-US" altLang="ko-KR" dirty="0"/>
              <a:t>cal.sh </a:t>
            </a:r>
            <a:r>
              <a:rPr lang="ko-KR" altLang="en-US" dirty="0"/>
              <a:t>존재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en-US" altLang="ko-KR" dirty="0"/>
              <a:t>1) </a:t>
            </a:r>
            <a:r>
              <a:rPr lang="en-US" altLang="ko-KR" dirty="0" err="1"/>
              <a:t>Result.jtl</a:t>
            </a:r>
            <a:r>
              <a:rPr lang="en-US" altLang="ko-KR" dirty="0"/>
              <a:t> </a:t>
            </a:r>
            <a:r>
              <a:rPr lang="ko-KR" altLang="en-US" dirty="0"/>
              <a:t>파일과 </a:t>
            </a:r>
            <a:r>
              <a:rPr lang="en-US" altLang="ko-KR" dirty="0"/>
              <a:t>run.log</a:t>
            </a:r>
            <a:r>
              <a:rPr lang="ko-KR" altLang="en-US" dirty="0"/>
              <a:t>파일 </a:t>
            </a:r>
            <a:r>
              <a:rPr lang="en-US" altLang="ko-KR" dirty="0"/>
              <a:t>cal.sh</a:t>
            </a:r>
            <a:r>
              <a:rPr lang="ko-KR" altLang="en-US" dirty="0"/>
              <a:t>파일을 리눅스 서버에 옮김</a:t>
            </a:r>
            <a:endParaRPr lang="en-US" altLang="ko-KR" dirty="0"/>
          </a:p>
          <a:p>
            <a:br>
              <a:rPr lang="en-US" altLang="ko-KR" dirty="0"/>
            </a:br>
            <a:r>
              <a:rPr lang="en-US" altLang="ko-KR" dirty="0"/>
              <a:t>2) cal.sh</a:t>
            </a:r>
            <a:r>
              <a:rPr lang="ko-KR" altLang="en-US" dirty="0"/>
              <a:t>를 실행</a:t>
            </a:r>
            <a:r>
              <a:rPr lang="en-US" altLang="ko-KR" dirty="0"/>
              <a:t>(</a:t>
            </a:r>
            <a:r>
              <a:rPr lang="en-US" altLang="ko-KR" dirty="0" err="1"/>
              <a:t>Result.jtl</a:t>
            </a:r>
            <a:r>
              <a:rPr lang="ko-KR" altLang="en-US" dirty="0"/>
              <a:t>파일을 이용하여 스레드의 평균 속도를 구하기 위하여 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ko-KR" altLang="en-US" dirty="0"/>
              <a:t>주의사항 </a:t>
            </a:r>
            <a:r>
              <a:rPr lang="en-US" altLang="ko-KR" dirty="0"/>
              <a:t>) Cal.sh</a:t>
            </a:r>
            <a:r>
              <a:rPr lang="ko-KR" altLang="en-US" dirty="0"/>
              <a:t>를 </a:t>
            </a:r>
            <a:r>
              <a:rPr lang="ko-KR" altLang="en-US" dirty="0" err="1"/>
              <a:t>실행시킬때</a:t>
            </a:r>
            <a:r>
              <a:rPr lang="ko-KR" altLang="en-US" dirty="0"/>
              <a:t> </a:t>
            </a:r>
            <a:r>
              <a:rPr lang="en-US" altLang="ko-KR" dirty="0"/>
              <a:t>/bin/</a:t>
            </a:r>
            <a:r>
              <a:rPr lang="en-US" altLang="ko-KR" dirty="0" err="1"/>
              <a:t>bash^M</a:t>
            </a:r>
            <a:r>
              <a:rPr lang="en-US" altLang="ko-KR" dirty="0"/>
              <a:t>: bad interpreter </a:t>
            </a:r>
            <a:r>
              <a:rPr lang="ko-KR" altLang="en-US" dirty="0"/>
              <a:t>라는 에러가 나온다면</a:t>
            </a:r>
            <a:r>
              <a:rPr lang="en-US" altLang="ko-KR" dirty="0"/>
              <a:t>,</a:t>
            </a:r>
          </a:p>
          <a:p>
            <a:r>
              <a:rPr lang="ko-KR" altLang="en-US" dirty="0"/>
              <a:t>   윈도우에서 스크립트 파일을 만든 뒤</a:t>
            </a:r>
            <a:r>
              <a:rPr lang="en-US" altLang="ko-KR" dirty="0"/>
              <a:t>, </a:t>
            </a:r>
            <a:r>
              <a:rPr lang="en-US" altLang="ko-KR" dirty="0" err="1"/>
              <a:t>linux</a:t>
            </a:r>
            <a:r>
              <a:rPr lang="ko-KR" altLang="en-US" dirty="0"/>
              <a:t>에서 실행했기 때문에 나오는 오류로 </a:t>
            </a:r>
            <a:endParaRPr lang="en-US" altLang="ko-KR" dirty="0"/>
          </a:p>
          <a:p>
            <a:r>
              <a:rPr lang="ko-KR" altLang="en-US" dirty="0"/>
              <a:t>   정확히는 </a:t>
            </a:r>
            <a:r>
              <a:rPr lang="ko-KR" altLang="en-US" dirty="0" err="1"/>
              <a:t>줄바꿈을</a:t>
            </a:r>
            <a:r>
              <a:rPr lang="ko-KR" altLang="en-US" dirty="0"/>
              <a:t> 의미하는 </a:t>
            </a:r>
            <a:r>
              <a:rPr lang="ko-KR" altLang="en-US" dirty="0" err="1"/>
              <a:t>개행문자가</a:t>
            </a:r>
            <a:r>
              <a:rPr lang="ko-KR" altLang="en-US" dirty="0"/>
              <a:t> 달라서 발생하는 문제입니다</a:t>
            </a:r>
            <a:r>
              <a:rPr lang="en-US" altLang="ko-KR" dirty="0"/>
              <a:t>. </a:t>
            </a:r>
            <a:r>
              <a:rPr lang="ko-KR" altLang="en-US" dirty="0"/>
              <a:t>이것의 해결을 위해 </a:t>
            </a:r>
            <a:endParaRPr lang="en-US" altLang="ko-KR" dirty="0"/>
          </a:p>
          <a:p>
            <a:r>
              <a:rPr lang="en-US" altLang="ko-KR" dirty="0"/>
              <a:t>   Vim -b </a:t>
            </a:r>
            <a:r>
              <a:rPr lang="ko-KR" altLang="en-US" dirty="0"/>
              <a:t>옵션을 이용해 </a:t>
            </a:r>
            <a:r>
              <a:rPr lang="en-US" altLang="ko-KR" dirty="0"/>
              <a:t>cal.sh </a:t>
            </a:r>
            <a:r>
              <a:rPr lang="ko-KR" altLang="en-US" dirty="0"/>
              <a:t>파일을 열고 </a:t>
            </a:r>
            <a:r>
              <a:rPr lang="en-US" altLang="ko-KR" dirty="0"/>
              <a:t>^M</a:t>
            </a:r>
            <a:r>
              <a:rPr lang="ko-KR" altLang="en-US" dirty="0"/>
              <a:t>을 모두 제거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04827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:%s/^M//g</a:t>
            </a:r>
            <a:r>
              <a:rPr lang="ko-KR" altLang="en-US" dirty="0"/>
              <a:t>를 이용하여 </a:t>
            </a:r>
            <a:r>
              <a:rPr lang="en-US" altLang="ko-KR" dirty="0"/>
              <a:t>^M</a:t>
            </a:r>
            <a:r>
              <a:rPr lang="ko-KR" altLang="en-US" dirty="0"/>
              <a:t>을 제거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567957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두 결과 파일을 이용하여 메모리사용량과</a:t>
            </a:r>
            <a:r>
              <a:rPr lang="en-US" altLang="ko-KR" dirty="0"/>
              <a:t>, </a:t>
            </a:r>
            <a:r>
              <a:rPr lang="en-US" altLang="ko-KR" dirty="0" err="1"/>
              <a:t>cpu</a:t>
            </a:r>
            <a:r>
              <a:rPr lang="ko-KR" altLang="en-US" dirty="0"/>
              <a:t>사용량 등을 계산 가능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543291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(10</a:t>
            </a:r>
            <a:r>
              <a:rPr lang="ko-KR" altLang="en-US" dirty="0"/>
              <a:t>명의 가상유저가 </a:t>
            </a:r>
            <a:r>
              <a:rPr lang="en-US" altLang="ko-KR" dirty="0"/>
              <a:t>1</a:t>
            </a:r>
            <a:r>
              <a:rPr lang="ko-KR" altLang="en-US" dirty="0"/>
              <a:t>번만 </a:t>
            </a:r>
            <a:r>
              <a:rPr lang="en-US" altLang="ko-KR" dirty="0"/>
              <a:t>1</a:t>
            </a:r>
            <a:r>
              <a:rPr lang="ko-KR" altLang="en-US" dirty="0"/>
              <a:t>초안에 게시판을 클릭 했을 경우 </a:t>
            </a:r>
            <a:r>
              <a:rPr lang="en-US" altLang="ko-KR" dirty="0"/>
              <a:t>-&gt; </a:t>
            </a:r>
            <a:r>
              <a:rPr lang="ko-KR" altLang="en-US" dirty="0"/>
              <a:t>평균 응답시간 </a:t>
            </a:r>
            <a:r>
              <a:rPr lang="en-US" altLang="ko-KR" dirty="0"/>
              <a:t>0.094</a:t>
            </a:r>
            <a:r>
              <a:rPr lang="ko-KR" altLang="en-US" dirty="0"/>
              <a:t>초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Cal</a:t>
            </a:r>
            <a:r>
              <a:rPr lang="ko-KR" altLang="en-US" dirty="0"/>
              <a:t>을 실행시켜서 결과로 나온 </a:t>
            </a:r>
            <a:r>
              <a:rPr lang="en-US" altLang="ko-KR" dirty="0"/>
              <a:t>result.log</a:t>
            </a:r>
            <a:r>
              <a:rPr lang="ko-KR" altLang="en-US" dirty="0"/>
              <a:t>파일 </a:t>
            </a:r>
            <a:r>
              <a:rPr lang="en-US" altLang="ko-KR" dirty="0"/>
              <a:t>-&gt; </a:t>
            </a:r>
            <a:r>
              <a:rPr lang="ko-KR" altLang="en-US" dirty="0"/>
              <a:t>스레드의 시작시간과</a:t>
            </a:r>
            <a:r>
              <a:rPr lang="en-US" altLang="ko-KR" dirty="0"/>
              <a:t>, </a:t>
            </a:r>
            <a:r>
              <a:rPr lang="ko-KR" altLang="en-US" dirty="0"/>
              <a:t>끝 시간</a:t>
            </a:r>
            <a:r>
              <a:rPr lang="en-US" altLang="ko-KR" dirty="0"/>
              <a:t>, </a:t>
            </a:r>
            <a:r>
              <a:rPr lang="ko-KR" altLang="en-US" dirty="0"/>
              <a:t>그리고 스레드의 평균속도 결과 도출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또한 </a:t>
            </a:r>
            <a:r>
              <a:rPr lang="en-US" altLang="ko-KR" dirty="0"/>
              <a:t>result.log</a:t>
            </a:r>
            <a:r>
              <a:rPr lang="ko-KR" altLang="en-US" dirty="0"/>
              <a:t>파일에서 볼 수 있는 스레드 시작 시간과</a:t>
            </a:r>
            <a:r>
              <a:rPr lang="en-US" altLang="ko-KR" dirty="0"/>
              <a:t>, </a:t>
            </a:r>
            <a:r>
              <a:rPr lang="ko-KR" altLang="en-US" dirty="0"/>
              <a:t>끝시간을 이용하여 </a:t>
            </a:r>
            <a:endParaRPr lang="en-US" altLang="ko-KR" dirty="0"/>
          </a:p>
          <a:p>
            <a:r>
              <a:rPr lang="en-US" altLang="ko-KR" dirty="0" err="1"/>
              <a:t>Cpu</a:t>
            </a:r>
            <a:r>
              <a:rPr lang="ko-KR" altLang="en-US" dirty="0"/>
              <a:t>사용량에 대한 그래프와</a:t>
            </a:r>
            <a:r>
              <a:rPr lang="en-US" altLang="ko-KR" dirty="0"/>
              <a:t>, </a:t>
            </a:r>
            <a:r>
              <a:rPr lang="ko-KR" altLang="en-US" dirty="0"/>
              <a:t>메모리 사용량에 대한 그래프를 출력할 수 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CPU </a:t>
            </a:r>
            <a:r>
              <a:rPr lang="ko-KR" altLang="en-US" dirty="0"/>
              <a:t>사용량은 시스템 사용량과 사용자 사용률을 합친 값입니다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여기서 시스템 사용률은 운영체제가 사용한 </a:t>
            </a:r>
            <a:r>
              <a:rPr lang="en-US" altLang="ko-KR" dirty="0" err="1"/>
              <a:t>cpu</a:t>
            </a:r>
            <a:r>
              <a:rPr lang="en-US" altLang="ko-KR" dirty="0"/>
              <a:t> </a:t>
            </a:r>
            <a:r>
              <a:rPr lang="ko-KR" altLang="en-US" dirty="0"/>
              <a:t>사용률을 의미하며</a:t>
            </a:r>
            <a:r>
              <a:rPr lang="en-US" altLang="ko-KR" dirty="0"/>
              <a:t>, </a:t>
            </a:r>
          </a:p>
          <a:p>
            <a:r>
              <a:rPr lang="ko-KR" altLang="en-US" dirty="0"/>
              <a:t>사용자 사용률은 응용프로그램이 사용하는 </a:t>
            </a:r>
            <a:r>
              <a:rPr lang="en-US" altLang="ko-KR" dirty="0" err="1"/>
              <a:t>cpu</a:t>
            </a:r>
            <a:r>
              <a:rPr lang="ko-KR" altLang="en-US" dirty="0"/>
              <a:t>사용률을 의미합니다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만약 </a:t>
            </a:r>
            <a:r>
              <a:rPr lang="en-US" altLang="ko-KR" dirty="0"/>
              <a:t>system</a:t>
            </a:r>
            <a:r>
              <a:rPr lang="ko-KR" altLang="en-US" dirty="0"/>
              <a:t>사용율이 높다면 시스템 사양을 높여야 하고</a:t>
            </a:r>
            <a:r>
              <a:rPr lang="en-US" altLang="ko-KR" dirty="0"/>
              <a:t>,</a:t>
            </a:r>
          </a:p>
          <a:p>
            <a:r>
              <a:rPr lang="en-US" altLang="ko-KR" dirty="0" err="1"/>
              <a:t>Usr</a:t>
            </a:r>
            <a:r>
              <a:rPr lang="ko-KR" altLang="en-US" dirty="0"/>
              <a:t>사용률이 높다면 시스템 업그레이드 또는 애플리케이션의 분배에 대해 고민해 보아야 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Unix time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은 컴퓨터시스템에서 시간을 표현하기 위해서 사용된다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. Unix time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은 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UTC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방식으로 시간을 표현</a:t>
            </a: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480037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다음은 테스트 실행 환경 정보 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br>
              <a:rPr lang="en-US" altLang="ko-KR" dirty="0"/>
            </a:br>
            <a:r>
              <a:rPr lang="ko-KR" altLang="en-US" dirty="0" err="1"/>
              <a:t>코어갯수</a:t>
            </a:r>
            <a:r>
              <a:rPr lang="ko-KR" altLang="en-US" dirty="0"/>
              <a:t>  </a:t>
            </a:r>
            <a:r>
              <a:rPr lang="en-US" altLang="ko-KR" dirty="0"/>
              <a:t>: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$ cat /proc/</a:t>
            </a:r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cpuinfo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 | grep 'core id'</a:t>
            </a:r>
            <a:br>
              <a:rPr lang="en-US" altLang="ko-KR" sz="1200" b="0" i="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</a:b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프로세스 개수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: cat /proc/</a:t>
            </a:r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cpuinfo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 | grep processor | </a:t>
            </a:r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wc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 -l</a:t>
            </a:r>
            <a:br>
              <a:rPr lang="en-US" altLang="ko-KR" dirty="0"/>
            </a:b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388461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박희찬 사원</a:t>
            </a:r>
            <a:r>
              <a:rPr lang="en-US" altLang="ko-KR" dirty="0"/>
              <a:t>, </a:t>
            </a:r>
            <a:r>
              <a:rPr lang="ko-KR" altLang="en-US" dirty="0"/>
              <a:t>이종우 사원</a:t>
            </a:r>
            <a:r>
              <a:rPr lang="en-US" altLang="ko-KR" dirty="0"/>
              <a:t>, </a:t>
            </a:r>
            <a:r>
              <a:rPr lang="ko-KR" altLang="en-US" dirty="0" err="1"/>
              <a:t>서미배</a:t>
            </a:r>
            <a:r>
              <a:rPr lang="ko-KR" altLang="en-US" dirty="0"/>
              <a:t> 사원과 함께 결과를 측정하였고</a:t>
            </a:r>
            <a:r>
              <a:rPr lang="en-US" altLang="ko-KR" dirty="0"/>
              <a:t>, </a:t>
            </a:r>
            <a:r>
              <a:rPr lang="ko-KR" altLang="en-US" dirty="0"/>
              <a:t>부하를 동일하게 주고 테스트한 결과 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모두 열명이 동시에 한번 클릭 또는 등록하도록 하였습니다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게시판 조회는 </a:t>
            </a:r>
            <a:r>
              <a:rPr lang="en-US" altLang="ko-KR" dirty="0" err="1"/>
              <a:t>cpu</a:t>
            </a:r>
            <a:r>
              <a:rPr lang="ko-KR" altLang="en-US" dirty="0"/>
              <a:t>사용량이 약 </a:t>
            </a:r>
            <a:r>
              <a:rPr lang="en-US" altLang="ko-KR" dirty="0"/>
              <a:t>30%</a:t>
            </a:r>
            <a:r>
              <a:rPr lang="ko-KR" altLang="en-US" dirty="0"/>
              <a:t>였고 </a:t>
            </a:r>
            <a:r>
              <a:rPr lang="en-US" altLang="ko-KR" dirty="0"/>
              <a:t>memory</a:t>
            </a:r>
            <a:r>
              <a:rPr lang="ko-KR" altLang="en-US" dirty="0"/>
              <a:t>사용량은 </a:t>
            </a:r>
            <a:r>
              <a:rPr lang="en-US" altLang="ko-KR" dirty="0"/>
              <a:t>2.7G</a:t>
            </a:r>
            <a:r>
              <a:rPr lang="ko-KR" altLang="en-US" dirty="0"/>
              <a:t>정도로 평균 응답시간 </a:t>
            </a:r>
            <a:r>
              <a:rPr lang="en-US" altLang="ko-KR" dirty="0"/>
              <a:t>0.574</a:t>
            </a:r>
            <a:r>
              <a:rPr lang="ko-KR" altLang="en-US" dirty="0"/>
              <a:t>초로 측정되었습니다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게시판 등록은 </a:t>
            </a:r>
            <a:r>
              <a:rPr lang="en-US" altLang="ko-KR" dirty="0" err="1"/>
              <a:t>cpu</a:t>
            </a:r>
            <a:r>
              <a:rPr lang="ko-KR" altLang="en-US" dirty="0"/>
              <a:t>사용량이 약 </a:t>
            </a:r>
            <a:r>
              <a:rPr lang="en-US" altLang="ko-KR" dirty="0"/>
              <a:t>48%</a:t>
            </a:r>
            <a:r>
              <a:rPr lang="ko-KR" altLang="en-US" dirty="0"/>
              <a:t>였고</a:t>
            </a:r>
            <a:r>
              <a:rPr lang="en-US" altLang="ko-KR" dirty="0"/>
              <a:t> memory</a:t>
            </a:r>
            <a:r>
              <a:rPr lang="ko-KR" altLang="en-US" dirty="0"/>
              <a:t>사용량은 </a:t>
            </a:r>
            <a:r>
              <a:rPr lang="en-US" altLang="ko-KR" dirty="0"/>
              <a:t>2.7G</a:t>
            </a:r>
            <a:r>
              <a:rPr lang="ko-KR" altLang="en-US" dirty="0"/>
              <a:t>정도로 평균 응답시간 </a:t>
            </a:r>
            <a:r>
              <a:rPr lang="en-US" altLang="ko-KR" dirty="0"/>
              <a:t>0.624</a:t>
            </a:r>
            <a:r>
              <a:rPr lang="ko-KR" altLang="en-US" dirty="0"/>
              <a:t>초로 측정되었습니다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547240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자원관리 조회는 </a:t>
            </a:r>
            <a:r>
              <a:rPr lang="en-US" altLang="ko-KR" dirty="0" err="1"/>
              <a:t>cpu</a:t>
            </a:r>
            <a:r>
              <a:rPr lang="ko-KR" altLang="en-US" dirty="0"/>
              <a:t>사용량이 약 </a:t>
            </a:r>
            <a:r>
              <a:rPr lang="en-US" altLang="ko-KR" dirty="0"/>
              <a:t>22%</a:t>
            </a:r>
            <a:r>
              <a:rPr lang="ko-KR" altLang="en-US" dirty="0"/>
              <a:t>였고 </a:t>
            </a:r>
            <a:r>
              <a:rPr lang="en-US" altLang="ko-KR" dirty="0"/>
              <a:t>memory</a:t>
            </a:r>
            <a:r>
              <a:rPr lang="ko-KR" altLang="en-US" dirty="0"/>
              <a:t>사용량은 </a:t>
            </a:r>
            <a:r>
              <a:rPr lang="en-US" altLang="ko-KR" dirty="0"/>
              <a:t>2.6G</a:t>
            </a:r>
            <a:r>
              <a:rPr lang="ko-KR" altLang="en-US" dirty="0"/>
              <a:t>정도로 평균 응답시간 </a:t>
            </a:r>
            <a:r>
              <a:rPr lang="en-US" altLang="ko-KR" dirty="0"/>
              <a:t>0.334</a:t>
            </a:r>
            <a:r>
              <a:rPr lang="ko-KR" altLang="en-US" dirty="0"/>
              <a:t>초로 측정되었습니다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자원관리 등록은 </a:t>
            </a:r>
            <a:r>
              <a:rPr lang="en-US" altLang="ko-KR" dirty="0" err="1"/>
              <a:t>cpu</a:t>
            </a:r>
            <a:r>
              <a:rPr lang="ko-KR" altLang="en-US" dirty="0"/>
              <a:t>사용량이 약 </a:t>
            </a:r>
            <a:r>
              <a:rPr lang="en-US" altLang="ko-KR" dirty="0"/>
              <a:t>64%</a:t>
            </a:r>
            <a:r>
              <a:rPr lang="ko-KR" altLang="en-US" dirty="0"/>
              <a:t>였고</a:t>
            </a:r>
            <a:r>
              <a:rPr lang="en-US" altLang="ko-KR" dirty="0"/>
              <a:t> memory</a:t>
            </a:r>
            <a:r>
              <a:rPr lang="ko-KR" altLang="en-US" dirty="0"/>
              <a:t>사용량은 </a:t>
            </a:r>
            <a:r>
              <a:rPr lang="en-US" altLang="ko-KR" dirty="0"/>
              <a:t>2.7G</a:t>
            </a:r>
            <a:r>
              <a:rPr lang="ko-KR" altLang="en-US" dirty="0"/>
              <a:t>정도로 평균 응답시간 </a:t>
            </a:r>
            <a:r>
              <a:rPr lang="en-US" altLang="ko-KR" dirty="0"/>
              <a:t>0.568</a:t>
            </a:r>
            <a:r>
              <a:rPr lang="ko-KR" altLang="en-US" dirty="0"/>
              <a:t>초로 측정되었습니다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144455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전자결재 조회는 </a:t>
            </a:r>
            <a:r>
              <a:rPr lang="en-US" altLang="ko-KR" dirty="0" err="1"/>
              <a:t>cpu</a:t>
            </a:r>
            <a:r>
              <a:rPr lang="ko-KR" altLang="en-US" dirty="0"/>
              <a:t>사용량이 약 </a:t>
            </a:r>
            <a:r>
              <a:rPr lang="en-US" altLang="ko-KR" dirty="0"/>
              <a:t>34%</a:t>
            </a:r>
            <a:r>
              <a:rPr lang="ko-KR" altLang="en-US" dirty="0"/>
              <a:t>였고 </a:t>
            </a:r>
            <a:r>
              <a:rPr lang="en-US" altLang="ko-KR" dirty="0"/>
              <a:t>memory</a:t>
            </a:r>
            <a:r>
              <a:rPr lang="ko-KR" altLang="en-US" dirty="0"/>
              <a:t>사용량은 </a:t>
            </a:r>
            <a:r>
              <a:rPr lang="en-US" altLang="ko-KR" dirty="0"/>
              <a:t>2.7G</a:t>
            </a:r>
            <a:r>
              <a:rPr lang="ko-KR" altLang="en-US" dirty="0"/>
              <a:t>정도로 평균 응답시간 </a:t>
            </a:r>
            <a:r>
              <a:rPr lang="en-US" altLang="ko-KR" dirty="0"/>
              <a:t>0.456</a:t>
            </a:r>
            <a:r>
              <a:rPr lang="ko-KR" altLang="en-US" dirty="0"/>
              <a:t>초로 측정되었습니다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전자결재 등록은 </a:t>
            </a:r>
            <a:r>
              <a:rPr lang="en-US" altLang="ko-KR" dirty="0" err="1"/>
              <a:t>cpu</a:t>
            </a:r>
            <a:r>
              <a:rPr lang="ko-KR" altLang="en-US" dirty="0"/>
              <a:t>사용량이 약 </a:t>
            </a:r>
            <a:r>
              <a:rPr lang="en-US" altLang="ko-KR" dirty="0"/>
              <a:t>94%</a:t>
            </a:r>
            <a:r>
              <a:rPr lang="ko-KR" altLang="en-US" dirty="0"/>
              <a:t>였고</a:t>
            </a:r>
            <a:r>
              <a:rPr lang="en-US" altLang="ko-KR" dirty="0"/>
              <a:t> memory</a:t>
            </a:r>
            <a:r>
              <a:rPr lang="ko-KR" altLang="en-US" dirty="0"/>
              <a:t>사용량은 </a:t>
            </a:r>
            <a:r>
              <a:rPr lang="en-US" altLang="ko-KR" dirty="0"/>
              <a:t>2.7G</a:t>
            </a:r>
            <a:r>
              <a:rPr lang="ko-KR" altLang="en-US" dirty="0"/>
              <a:t>정도로 평균 응답시간 </a:t>
            </a:r>
            <a:r>
              <a:rPr lang="en-US" altLang="ko-KR" dirty="0"/>
              <a:t>3.443</a:t>
            </a:r>
            <a:r>
              <a:rPr lang="ko-KR" altLang="en-US" dirty="0"/>
              <a:t>초로 측정되었습니다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782365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일정관리 조회 </a:t>
            </a:r>
            <a:r>
              <a:rPr lang="en-US" altLang="ko-KR" dirty="0" err="1"/>
              <a:t>cpu</a:t>
            </a:r>
            <a:r>
              <a:rPr lang="ko-KR" altLang="en-US" dirty="0"/>
              <a:t>사용량 </a:t>
            </a:r>
            <a:r>
              <a:rPr lang="en-US" altLang="ko-KR" dirty="0"/>
              <a:t>37.8%, </a:t>
            </a:r>
            <a:r>
              <a:rPr lang="ko-KR" altLang="en-US" dirty="0"/>
              <a:t> </a:t>
            </a:r>
            <a:r>
              <a:rPr lang="en-US" altLang="ko-KR" dirty="0"/>
              <a:t>memory</a:t>
            </a:r>
            <a:r>
              <a:rPr lang="ko-KR" altLang="en-US" dirty="0"/>
              <a:t>사용량 </a:t>
            </a:r>
            <a:r>
              <a:rPr lang="en-US" altLang="ko-KR" dirty="0"/>
              <a:t>2.57G</a:t>
            </a:r>
            <a:r>
              <a:rPr lang="ko-KR" altLang="en-US" dirty="0"/>
              <a:t> </a:t>
            </a:r>
            <a:r>
              <a:rPr lang="en-US" altLang="ko-KR" dirty="0"/>
              <a:t>,</a:t>
            </a:r>
            <a:r>
              <a:rPr lang="ko-KR" altLang="en-US" dirty="0"/>
              <a:t> 쓰레드 평균속도 </a:t>
            </a:r>
            <a:r>
              <a:rPr lang="en-US" altLang="ko-KR" dirty="0"/>
              <a:t>0.488</a:t>
            </a:r>
            <a:r>
              <a:rPr lang="ko-KR" altLang="en-US" dirty="0"/>
              <a:t>초</a:t>
            </a:r>
            <a:endParaRPr lang="en-US" altLang="ko-KR" dirty="0"/>
          </a:p>
          <a:p>
            <a:r>
              <a:rPr lang="ko-KR" altLang="en-US" dirty="0"/>
              <a:t>일정관리 등록 </a:t>
            </a:r>
            <a:r>
              <a:rPr lang="en-US" altLang="ko-KR" dirty="0" err="1"/>
              <a:t>cpu</a:t>
            </a:r>
            <a:r>
              <a:rPr lang="ko-KR" altLang="en-US" dirty="0"/>
              <a:t>사용량 </a:t>
            </a:r>
            <a:r>
              <a:rPr lang="en-US" altLang="ko-KR" dirty="0"/>
              <a:t>37.6% memory</a:t>
            </a:r>
            <a:r>
              <a:rPr lang="ko-KR" altLang="en-US" dirty="0"/>
              <a:t>사용량 </a:t>
            </a:r>
            <a:r>
              <a:rPr lang="en-US" altLang="ko-KR" dirty="0"/>
              <a:t>2.6G</a:t>
            </a:r>
            <a:r>
              <a:rPr lang="ko-KR" altLang="en-US" dirty="0"/>
              <a:t> </a:t>
            </a:r>
            <a:r>
              <a:rPr lang="en-US" altLang="ko-KR" dirty="0"/>
              <a:t>,</a:t>
            </a:r>
            <a:r>
              <a:rPr lang="ko-KR" altLang="en-US" dirty="0"/>
              <a:t>쓰레드 평균속도 </a:t>
            </a:r>
            <a:r>
              <a:rPr lang="en-US" altLang="ko-KR" dirty="0"/>
              <a:t>0.513</a:t>
            </a:r>
            <a:r>
              <a:rPr lang="ko-KR" altLang="en-US" dirty="0"/>
              <a:t>초</a:t>
            </a:r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05491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Local</a:t>
            </a:r>
            <a:r>
              <a:rPr lang="ko-KR" altLang="en-US" dirty="0"/>
              <a:t> </a:t>
            </a:r>
            <a:r>
              <a:rPr lang="en-US" altLang="ko-KR" dirty="0" err="1"/>
              <a:t>virtualbox</a:t>
            </a:r>
            <a:r>
              <a:rPr lang="ko-KR" altLang="en-US" dirty="0"/>
              <a:t>에서 표준 모듈로 테스트를 진행하였고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가상유저 </a:t>
            </a:r>
            <a:r>
              <a:rPr lang="en-US" altLang="ko-KR" dirty="0"/>
              <a:t>10</a:t>
            </a:r>
            <a:r>
              <a:rPr lang="ko-KR" altLang="en-US" dirty="0"/>
              <a:t>명이 동시에 한번 기능을 테스트할 때 성능에 평균응답시간 입니다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92369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자바렐에서의</a:t>
            </a:r>
            <a:r>
              <a:rPr lang="ko-KR" altLang="en-US" dirty="0"/>
              <a:t> 실행</a:t>
            </a:r>
            <a:br>
              <a:rPr lang="en-US" altLang="ko-KR" dirty="0"/>
            </a:br>
            <a:r>
              <a:rPr lang="ko-KR" altLang="en-US" dirty="0"/>
              <a:t>로컬에서 실행할 경우 </a:t>
            </a:r>
            <a:r>
              <a:rPr lang="en-US" altLang="ko-KR" dirty="0"/>
              <a:t>50</a:t>
            </a:r>
            <a:r>
              <a:rPr lang="ko-KR" altLang="en-US" dirty="0"/>
              <a:t>명으로 테스트시에 </a:t>
            </a:r>
            <a:r>
              <a:rPr lang="en-US" altLang="ko-KR" dirty="0" err="1"/>
              <a:t>cpu</a:t>
            </a:r>
            <a:r>
              <a:rPr lang="ko-KR" altLang="en-US" dirty="0"/>
              <a:t>사용률이 </a:t>
            </a:r>
            <a:r>
              <a:rPr lang="en-US" altLang="ko-KR" dirty="0"/>
              <a:t>100</a:t>
            </a:r>
            <a:r>
              <a:rPr lang="ko-KR" altLang="en-US" dirty="0"/>
              <a:t>프로가 넘어가서 제대로 테스트가 되지 않음 </a:t>
            </a:r>
            <a:endParaRPr lang="en-US" altLang="ko-KR" dirty="0"/>
          </a:p>
          <a:p>
            <a:endParaRPr lang="en-US" altLang="ko-KR" dirty="0"/>
          </a:p>
          <a:p>
            <a:br>
              <a:rPr lang="en-US" altLang="ko-KR" dirty="0"/>
            </a:br>
            <a:r>
              <a:rPr lang="ko-KR" altLang="en-US" dirty="0" err="1"/>
              <a:t>코어갯수</a:t>
            </a:r>
            <a:r>
              <a:rPr lang="ko-KR" altLang="en-US" dirty="0"/>
              <a:t>  </a:t>
            </a:r>
            <a:r>
              <a:rPr lang="en-US" altLang="ko-KR" dirty="0"/>
              <a:t>: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$ cat /proc/</a:t>
            </a:r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cpuinfo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 | grep 'core id'</a:t>
            </a:r>
            <a:br>
              <a:rPr lang="en-US" altLang="ko-KR" sz="1200" b="0" i="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</a:b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프로세스 개수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: cat /proc/</a:t>
            </a:r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cpuinfo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 | grep processor | </a:t>
            </a:r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wc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 -l</a:t>
            </a:r>
            <a:br>
              <a:rPr lang="en-US" altLang="ko-KR" dirty="0"/>
            </a:b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342402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전자결재 조회는 </a:t>
            </a:r>
            <a:r>
              <a:rPr lang="en-US" altLang="ko-KR" dirty="0" err="1"/>
              <a:t>cpu</a:t>
            </a:r>
            <a:r>
              <a:rPr lang="ko-KR" altLang="en-US" dirty="0"/>
              <a:t>사용량이 약 </a:t>
            </a:r>
            <a:r>
              <a:rPr lang="en-US" altLang="ko-KR" dirty="0"/>
              <a:t>48%</a:t>
            </a:r>
            <a:r>
              <a:rPr lang="ko-KR" altLang="en-US" dirty="0"/>
              <a:t>였고 </a:t>
            </a:r>
            <a:r>
              <a:rPr lang="en-US" altLang="ko-KR" dirty="0"/>
              <a:t>memory</a:t>
            </a:r>
            <a:r>
              <a:rPr lang="ko-KR" altLang="en-US" dirty="0"/>
              <a:t>사용량은 </a:t>
            </a:r>
            <a:r>
              <a:rPr lang="en-US" altLang="ko-KR" dirty="0"/>
              <a:t>9.6G</a:t>
            </a:r>
            <a:r>
              <a:rPr lang="ko-KR" altLang="en-US" dirty="0"/>
              <a:t>정도로 평균 응답시간 </a:t>
            </a:r>
            <a:r>
              <a:rPr lang="en-US" altLang="ko-KR" dirty="0"/>
              <a:t>1.144</a:t>
            </a:r>
            <a:r>
              <a:rPr lang="ko-KR" altLang="en-US" dirty="0"/>
              <a:t>초로 측정되었습니다</a:t>
            </a:r>
            <a:r>
              <a:rPr lang="en-US" altLang="ko-KR" dirty="0"/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전자결재 등록은 </a:t>
            </a:r>
            <a:r>
              <a:rPr lang="en-US" altLang="ko-KR" dirty="0" err="1"/>
              <a:t>cpu</a:t>
            </a:r>
            <a:r>
              <a:rPr lang="ko-KR" altLang="en-US" dirty="0"/>
              <a:t>사용량이 약 </a:t>
            </a:r>
            <a:r>
              <a:rPr lang="en-US" altLang="ko-KR" dirty="0"/>
              <a:t>90%</a:t>
            </a:r>
            <a:r>
              <a:rPr lang="ko-KR" altLang="en-US" dirty="0"/>
              <a:t>였고 </a:t>
            </a:r>
            <a:r>
              <a:rPr lang="en-US" altLang="ko-KR" dirty="0"/>
              <a:t>memory</a:t>
            </a:r>
            <a:r>
              <a:rPr lang="ko-KR" altLang="en-US" dirty="0"/>
              <a:t>사용량은 </a:t>
            </a:r>
            <a:r>
              <a:rPr lang="en-US" altLang="ko-KR" dirty="0"/>
              <a:t>9.6G</a:t>
            </a:r>
            <a:r>
              <a:rPr lang="ko-KR" altLang="en-US" dirty="0"/>
              <a:t>정도로 평균 응답시간 </a:t>
            </a:r>
            <a:r>
              <a:rPr lang="en-US" altLang="ko-KR" dirty="0"/>
              <a:t>6.354</a:t>
            </a:r>
            <a:r>
              <a:rPr lang="ko-KR" altLang="en-US" dirty="0"/>
              <a:t>초로 측정되었습니다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628673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910782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감사합니다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79392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914399" y="2130425"/>
            <a:ext cx="10363199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799" y="3886200"/>
            <a:ext cx="8534399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7A7C4-C82A-4D21-9AB0-F0C5A1D3EF09}" type="datetime1">
              <a:rPr lang="ko-KR" altLang="en-US" smtClean="0"/>
              <a:pPr/>
              <a:t>2021-02-03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7A7C4-C82A-4D21-9AB0-F0C5A1D3EF09}" type="datetimeFigureOut">
              <a:rPr lang="ko-KR" altLang="en-US" smtClean="0"/>
              <a:pPr/>
              <a:t>2021-02-03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7A7C4-C82A-4D21-9AB0-F0C5A1D3EF09}" type="datetimeFigureOut">
              <a:rPr lang="ko-KR" altLang="en-US" smtClean="0"/>
              <a:pPr/>
              <a:t>2021-02-03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63083" y="4406900"/>
            <a:ext cx="10363199" cy="1362075"/>
          </a:xfrm>
        </p:spPr>
        <p:txBody>
          <a:bodyPr anchor="t"/>
          <a:lstStyle>
            <a:lvl1pPr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3" y="2906713"/>
            <a:ext cx="10363198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7A7C4-C82A-4D21-9AB0-F0C5A1D3EF09}" type="datetimeFigureOut">
              <a:rPr lang="ko-KR" altLang="en-US" smtClean="0"/>
              <a:pPr/>
              <a:t>2021-02-03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7A7C4-C82A-4D21-9AB0-F0C5A1D3EF09}" type="datetimeFigureOut">
              <a:rPr lang="ko-KR" altLang="en-US" smtClean="0"/>
              <a:pPr/>
              <a:t>2021-02-03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7A7C4-C82A-4D21-9AB0-F0C5A1D3EF09}" type="datetimeFigureOut">
              <a:rPr lang="ko-KR" altLang="en-US" smtClean="0"/>
              <a:pPr/>
              <a:t>2021-02-03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표 개체 틀 2"/>
          <p:cNvSpPr>
            <a:spLocks noGrp="1"/>
          </p:cNvSpPr>
          <p:nvPr>
            <p:ph type="tbl" sz="quarter" idx="1"/>
          </p:nvPr>
        </p:nvSpPr>
        <p:spPr>
          <a:xfrm>
            <a:off x="608037" y="1643063"/>
            <a:ext cx="10972799" cy="45252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ko-KR" altLang="en-US"/>
              <a:t>표를 추가하려면 아이콘을 클릭하십시오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7A7C4-C82A-4D21-9AB0-F0C5A1D3EF09}" type="datetimeFigureOut">
              <a:rPr lang="ko-KR" altLang="en-US" smtClean="0"/>
              <a:pPr/>
              <a:t>2021-02-03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내용 4개" type="fourObj" preserve="1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328" y="1599540"/>
            <a:ext cx="5382407" cy="219509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4846" y="1599540"/>
            <a:ext cx="5382407" cy="219509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half" idx="3"/>
          </p:nvPr>
        </p:nvSpPr>
        <p:spPr>
          <a:xfrm>
            <a:off x="607766" y="3982577"/>
            <a:ext cx="5382407" cy="219509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half" idx="4"/>
          </p:nvPr>
        </p:nvSpPr>
        <p:spPr>
          <a:xfrm>
            <a:off x="6193284" y="3982577"/>
            <a:ext cx="5382407" cy="219509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10" name="날짜 개체 틀 3"/>
          <p:cNvSpPr>
            <a:spLocks noGrp="1"/>
          </p:cNvSpPr>
          <p:nvPr>
            <p:ph type="dt" sz="half" idx="10"/>
          </p:nvPr>
        </p:nvSpPr>
        <p:spPr>
          <a:xfrm>
            <a:off x="836481" y="6353597"/>
            <a:ext cx="2742649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ctr">
            <a:noAutofit/>
          </a:bodyPr>
          <a:lstStyle>
            <a:lvl1pPr marL="0" lvl="0" indent="0" algn="l" defTabSz="58846888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rgbClr val="8C8C8C">
                    <a:alpha val="100000"/>
                  </a:srgbClr>
                </a:solidFill>
                <a:latin typeface="맑은 고딕"/>
                <a:ea typeface="맑은 고딕"/>
              </a:defRPr>
            </a:lvl1pPr>
          </a:lstStyle>
          <a:p>
            <a:pPr marL="0" lvl="0" indent="0" algn="l" defTabSz="58846888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fld id="{D8D7A7C4-C82A-4D21-9AB0-F0C5A1D3EF09}" type="datetime1">
              <a:rPr kumimoji="1" lang="ko-KR" altLang="en-US" sz="1200" b="0" i="0" baseline="0">
                <a:solidFill>
                  <a:srgbClr val="8C8C8C">
                    <a:alpha val="100000"/>
                  </a:srgbClr>
                </a:solidFill>
                <a:latin typeface="맑은 고딕"/>
                <a:ea typeface="맑은 고딕"/>
                <a:cs typeface="+mn-cs"/>
              </a:rPr>
              <a:pPr marL="0" lvl="0" indent="0" algn="l" defTabSz="58846888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2021-02-03</a:t>
            </a:fld>
            <a:endParaRPr kumimoji="1" lang="ko-KR" altLang="en-US" sz="1200" b="0" i="0" baseline="0">
              <a:solidFill>
                <a:srgbClr val="8C8C8C">
                  <a:alpha val="100000"/>
                </a:srgbClr>
              </a:solidFill>
              <a:latin typeface="맑은 고딕"/>
              <a:ea typeface="맑은 고딕"/>
              <a:cs typeface="+mn-cs"/>
            </a:endParaRPr>
          </a:p>
        </p:txBody>
      </p:sp>
      <p:sp>
        <p:nvSpPr>
          <p:cNvPr id="11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6276" y="6353597"/>
            <a:ext cx="4114030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ctr">
            <a:noAutofit/>
          </a:bodyPr>
          <a:lstStyle>
            <a:lvl1pPr marL="0" lvl="0" indent="0" algn="ctr" defTabSz="58846888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rgbClr val="8C8C8C">
                    <a:alpha val="100000"/>
                  </a:srgbClr>
                </a:solidFill>
                <a:latin typeface="맑은 고딕"/>
                <a:ea typeface="맑은 고딕"/>
              </a:defRPr>
            </a:lvl1pPr>
          </a:lstStyle>
          <a:p>
            <a:pPr marL="0" lvl="0" indent="0" algn="ctr" defTabSz="58846888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endParaRPr kumimoji="1" lang="ko-KR" altLang="en-US" sz="1200" b="0" i="0" baseline="0">
              <a:solidFill>
                <a:srgbClr val="8C8C8C">
                  <a:alpha val="100000"/>
                </a:srgbClr>
              </a:solidFill>
              <a:latin typeface="맑은 고딕"/>
              <a:ea typeface="맑은 고딕"/>
              <a:cs typeface="+mn-cs"/>
            </a:endParaRPr>
          </a:p>
        </p:txBody>
      </p:sp>
      <p:sp>
        <p:nvSpPr>
          <p:cNvPr id="12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607452" y="6353597"/>
            <a:ext cx="2742705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ctr">
            <a:noAutofit/>
          </a:bodyPr>
          <a:lstStyle>
            <a:lvl1pPr marL="0" lvl="0" indent="0" algn="r" defTabSz="58846888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rgbClr val="8C8C8C">
                    <a:alpha val="100000"/>
                  </a:srgbClr>
                </a:solidFill>
                <a:latin typeface="맑은 고딕"/>
                <a:ea typeface="맑은 고딕"/>
              </a:defRPr>
            </a:lvl1pPr>
          </a:lstStyle>
          <a:p>
            <a:pPr marL="0" lvl="0" indent="0" algn="r" defTabSz="58846888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fld id="{6E5B49E5-4D33-4FC4-BDBC-E8E78B06EFD9}" type="slidenum">
              <a:rPr kumimoji="1" lang="ko-KR" altLang="en-US" sz="1200" b="0" i="0" baseline="0">
                <a:solidFill>
                  <a:srgbClr val="8C8C8C">
                    <a:alpha val="100000"/>
                  </a:srgbClr>
                </a:solidFill>
                <a:latin typeface="맑은 고딕"/>
                <a:ea typeface="맑은 고딕"/>
              </a:rPr>
              <a:pPr marL="0" lvl="0" indent="0" algn="r" defTabSz="58846888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‹#›</a:t>
            </a:fld>
            <a:endParaRPr kumimoji="1" lang="ko-KR" altLang="en-US" sz="1200" b="0" i="0">
              <a:solidFill>
                <a:srgbClr val="8C8C8C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그림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199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199" cy="4114800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그림을 추가하려면 아이콘을 클릭하십시오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199" cy="804862"/>
          </a:xfrm>
        </p:spPr>
        <p:txBody>
          <a:bodyPr/>
          <a:lstStyle>
            <a:lvl1pPr>
              <a:defRPr sz="1411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10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7A7C4-C82A-4D21-9AB0-F0C5A1D3EF09}" type="datetimeFigureOut">
              <a:rPr lang="ko-KR" altLang="en-US" smtClean="0"/>
              <a:pPr/>
              <a:t>2021-02-03</a:t>
            </a:fld>
            <a:endParaRPr lang="ko-KR" altLang="en-US"/>
          </a:p>
        </p:txBody>
      </p:sp>
      <p:sp>
        <p:nvSpPr>
          <p:cNvPr id="11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2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-12314" y="2130425"/>
            <a:ext cx="121920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7A7C4-C82A-4D21-9AB0-F0C5A1D3EF09}" type="datetimeFigureOut">
              <a:rPr lang="ko-KR" altLang="en-US" smtClean="0"/>
              <a:pPr/>
              <a:t>2021-02-03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 preserve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599" y="274638"/>
            <a:ext cx="10972799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"/>
          </p:nvPr>
        </p:nvSpPr>
        <p:spPr>
          <a:xfrm>
            <a:off x="2859322" y="2196090"/>
            <a:ext cx="6475199" cy="3240000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ko-KR" altLang="en-US"/>
              <a:t>첫째 목차</a:t>
            </a:r>
          </a:p>
          <a:p>
            <a:pPr lvl="0"/>
            <a:r>
              <a:rPr lang="ko-KR" altLang="en-US"/>
              <a:t>둘째 목차</a:t>
            </a:r>
          </a:p>
          <a:p>
            <a:pPr lvl="0"/>
            <a:r>
              <a:rPr lang="ko-KR" altLang="en-US"/>
              <a:t>셋째 목차</a:t>
            </a:r>
          </a:p>
          <a:p>
            <a:pPr lvl="0"/>
            <a:r>
              <a:rPr lang="ko-KR" altLang="en-US"/>
              <a:t>넷째 목차</a:t>
            </a:r>
          </a:p>
          <a:p>
            <a:pPr lvl="0"/>
            <a:r>
              <a:rPr lang="ko-KR" altLang="en-US"/>
              <a:t>다섯째 목차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7A7C4-C82A-4D21-9AB0-F0C5A1D3EF09}" type="datetimeFigureOut">
              <a:rPr lang="ko-KR" altLang="en-US" smtClean="0"/>
              <a:pPr/>
              <a:t>2021-02-03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839199" y="274638"/>
            <a:ext cx="2743199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본문 개체 틀 2"/>
          <p:cNvSpPr>
            <a:spLocks noGrp="1"/>
          </p:cNvSpPr>
          <p:nvPr>
            <p:ph type="body" orient="vert" idx="1"/>
          </p:nvPr>
        </p:nvSpPr>
        <p:spPr>
          <a:xfrm>
            <a:off x="609599" y="274638"/>
            <a:ext cx="8026399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7A7C4-C82A-4D21-9AB0-F0C5A1D3EF09}" type="datetimeFigureOut">
              <a:rPr lang="ko-KR" altLang="en-US" smtClean="0"/>
              <a:pPr/>
              <a:t>2021-02-03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914399" y="2130425"/>
            <a:ext cx="10363199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799" y="3886200"/>
            <a:ext cx="8534399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7A7C4-C82A-4D21-9AB0-F0C5A1D3EF09}" type="datetime1">
              <a:rPr lang="ko-KR" altLang="en-US" smtClean="0"/>
              <a:pPr/>
              <a:t>2021-02-03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7A7C4-C82A-4D21-9AB0-F0C5A1D3EF09}" type="datetimeFigureOut">
              <a:rPr lang="ko-KR" altLang="en-US" smtClean="0"/>
              <a:pPr/>
              <a:t>2021-02-03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7A7C4-C82A-4D21-9AB0-F0C5A1D3EF09}" type="datetimeFigureOut">
              <a:rPr lang="ko-KR" altLang="en-US" smtClean="0"/>
              <a:pPr/>
              <a:t>2021-02-03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63083" y="4406900"/>
            <a:ext cx="10363199" cy="1362075"/>
          </a:xfrm>
        </p:spPr>
        <p:txBody>
          <a:bodyPr anchor="t"/>
          <a:lstStyle>
            <a:lvl1pPr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3" y="2906713"/>
            <a:ext cx="10363198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7A7C4-C82A-4D21-9AB0-F0C5A1D3EF09}" type="datetimeFigureOut">
              <a:rPr lang="ko-KR" altLang="en-US" smtClean="0"/>
              <a:pPr/>
              <a:t>2021-02-03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7A7C4-C82A-4D21-9AB0-F0C5A1D3EF09}" type="datetimeFigureOut">
              <a:rPr lang="ko-KR" altLang="en-US" smtClean="0"/>
              <a:pPr/>
              <a:t>2021-02-03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7A7C4-C82A-4D21-9AB0-F0C5A1D3EF09}" type="datetimeFigureOut">
              <a:rPr lang="ko-KR" altLang="en-US" smtClean="0"/>
              <a:pPr/>
              <a:t>2021-02-03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표 개체 틀 2"/>
          <p:cNvSpPr>
            <a:spLocks noGrp="1"/>
          </p:cNvSpPr>
          <p:nvPr>
            <p:ph type="tbl" sz="quarter" idx="1"/>
          </p:nvPr>
        </p:nvSpPr>
        <p:spPr>
          <a:xfrm>
            <a:off x="608037" y="1643063"/>
            <a:ext cx="10972799" cy="45252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ko-KR" altLang="en-US"/>
              <a:t>표를 추가하려면 아이콘을 클릭하십시오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7A7C4-C82A-4D21-9AB0-F0C5A1D3EF09}" type="datetimeFigureOut">
              <a:rPr lang="ko-KR" altLang="en-US" smtClean="0"/>
              <a:pPr/>
              <a:t>2021-02-03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내용 4개" type="fourObj" preserve="1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328" y="1599540"/>
            <a:ext cx="5382407" cy="219509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4846" y="1599540"/>
            <a:ext cx="5382407" cy="219509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half" idx="3"/>
          </p:nvPr>
        </p:nvSpPr>
        <p:spPr>
          <a:xfrm>
            <a:off x="607766" y="3982577"/>
            <a:ext cx="5382407" cy="219509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half" idx="4"/>
          </p:nvPr>
        </p:nvSpPr>
        <p:spPr>
          <a:xfrm>
            <a:off x="6193284" y="3982577"/>
            <a:ext cx="5382407" cy="219509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10" name="날짜 개체 틀 3"/>
          <p:cNvSpPr>
            <a:spLocks noGrp="1"/>
          </p:cNvSpPr>
          <p:nvPr>
            <p:ph type="dt" sz="half" idx="10"/>
          </p:nvPr>
        </p:nvSpPr>
        <p:spPr>
          <a:xfrm>
            <a:off x="836481" y="6353597"/>
            <a:ext cx="2742649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ctr">
            <a:noAutofit/>
          </a:bodyPr>
          <a:lstStyle>
            <a:lvl1pPr marL="0" lvl="0" indent="0" algn="l" defTabSz="58846888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rgbClr val="8C8C8C">
                    <a:alpha val="100000"/>
                  </a:srgbClr>
                </a:solidFill>
                <a:latin typeface="맑은 고딕"/>
                <a:ea typeface="맑은 고딕"/>
              </a:defRPr>
            </a:lvl1pPr>
          </a:lstStyle>
          <a:p>
            <a:pPr marL="0" lvl="0" indent="0" algn="l" defTabSz="58846888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fld id="{D8D7A7C4-C82A-4D21-9AB0-F0C5A1D3EF09}" type="datetime1">
              <a:rPr kumimoji="1" lang="ko-KR" altLang="en-US" sz="1200" b="0" i="0" baseline="0">
                <a:solidFill>
                  <a:srgbClr val="8C8C8C">
                    <a:alpha val="100000"/>
                  </a:srgbClr>
                </a:solidFill>
                <a:latin typeface="맑은 고딕"/>
                <a:ea typeface="맑은 고딕"/>
                <a:cs typeface="+mn-cs"/>
              </a:rPr>
              <a:pPr marL="0" lvl="0" indent="0" algn="l" defTabSz="58846888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2021-02-03</a:t>
            </a:fld>
            <a:endParaRPr kumimoji="1" lang="ko-KR" altLang="en-US" sz="1200" b="0" i="0" baseline="0">
              <a:solidFill>
                <a:srgbClr val="8C8C8C">
                  <a:alpha val="100000"/>
                </a:srgbClr>
              </a:solidFill>
              <a:latin typeface="맑은 고딕"/>
              <a:ea typeface="맑은 고딕"/>
              <a:cs typeface="+mn-cs"/>
            </a:endParaRPr>
          </a:p>
        </p:txBody>
      </p:sp>
      <p:sp>
        <p:nvSpPr>
          <p:cNvPr id="11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6276" y="6353597"/>
            <a:ext cx="4114030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ctr">
            <a:noAutofit/>
          </a:bodyPr>
          <a:lstStyle>
            <a:lvl1pPr marL="0" lvl="0" indent="0" algn="ctr" defTabSz="58846888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rgbClr val="8C8C8C">
                    <a:alpha val="100000"/>
                  </a:srgbClr>
                </a:solidFill>
                <a:latin typeface="맑은 고딕"/>
                <a:ea typeface="맑은 고딕"/>
              </a:defRPr>
            </a:lvl1pPr>
          </a:lstStyle>
          <a:p>
            <a:pPr marL="0" lvl="0" indent="0" algn="ctr" defTabSz="58846888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endParaRPr kumimoji="1" lang="ko-KR" altLang="en-US" sz="1200" b="0" i="0" baseline="0">
              <a:solidFill>
                <a:srgbClr val="8C8C8C">
                  <a:alpha val="100000"/>
                </a:srgbClr>
              </a:solidFill>
              <a:latin typeface="맑은 고딕"/>
              <a:ea typeface="맑은 고딕"/>
              <a:cs typeface="+mn-cs"/>
            </a:endParaRPr>
          </a:p>
        </p:txBody>
      </p:sp>
      <p:sp>
        <p:nvSpPr>
          <p:cNvPr id="12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607452" y="6353597"/>
            <a:ext cx="2742705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ctr">
            <a:noAutofit/>
          </a:bodyPr>
          <a:lstStyle>
            <a:lvl1pPr marL="0" lvl="0" indent="0" algn="r" defTabSz="58846888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rgbClr val="8C8C8C">
                    <a:alpha val="100000"/>
                  </a:srgbClr>
                </a:solidFill>
                <a:latin typeface="맑은 고딕"/>
                <a:ea typeface="맑은 고딕"/>
              </a:defRPr>
            </a:lvl1pPr>
          </a:lstStyle>
          <a:p>
            <a:pPr marL="0" lvl="0" indent="0" algn="r" defTabSz="58846888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fld id="{DAE40BD1-1F0D-473B-B22D-07E932808860}" type="slidenum">
              <a:rPr kumimoji="1" lang="ko-KR" altLang="en-US" sz="1200" b="0" i="0" baseline="0">
                <a:solidFill>
                  <a:srgbClr val="8C8C8C">
                    <a:alpha val="100000"/>
                  </a:srgbClr>
                </a:solidFill>
                <a:latin typeface="맑은 고딕"/>
                <a:ea typeface="맑은 고딕"/>
              </a:rPr>
              <a:pPr marL="0" lvl="0" indent="0" algn="r" defTabSz="58846888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‹#›</a:t>
            </a:fld>
            <a:endParaRPr kumimoji="1" lang="ko-KR" altLang="en-US" sz="1200" b="0" i="0">
              <a:solidFill>
                <a:srgbClr val="8C8C8C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그림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199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199" cy="4114800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그림을 추가하려면 아이콘을 클릭하십시오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199" cy="804862"/>
          </a:xfrm>
        </p:spPr>
        <p:txBody>
          <a:bodyPr/>
          <a:lstStyle>
            <a:lvl1pPr>
              <a:defRPr sz="1411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10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7A7C4-C82A-4D21-9AB0-F0C5A1D3EF09}" type="datetimeFigureOut">
              <a:rPr lang="ko-KR" altLang="en-US" smtClean="0"/>
              <a:pPr/>
              <a:t>2021-02-03</a:t>
            </a:fld>
            <a:endParaRPr lang="ko-KR" altLang="en-US"/>
          </a:p>
        </p:txBody>
      </p:sp>
      <p:sp>
        <p:nvSpPr>
          <p:cNvPr id="11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2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-12314" y="2130425"/>
            <a:ext cx="121920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7A7C4-C82A-4D21-9AB0-F0C5A1D3EF09}" type="datetimeFigureOut">
              <a:rPr lang="ko-KR" altLang="en-US" smtClean="0"/>
              <a:pPr/>
              <a:t>2021-02-03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 preserve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599" y="274638"/>
            <a:ext cx="10972799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"/>
          </p:nvPr>
        </p:nvSpPr>
        <p:spPr>
          <a:xfrm>
            <a:off x="2859322" y="2196090"/>
            <a:ext cx="6475199" cy="3240000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ko-KR" altLang="en-US"/>
              <a:t>첫째 목차</a:t>
            </a:r>
          </a:p>
          <a:p>
            <a:pPr lvl="0"/>
            <a:r>
              <a:rPr lang="ko-KR" altLang="en-US"/>
              <a:t>둘째 목차</a:t>
            </a:r>
          </a:p>
          <a:p>
            <a:pPr lvl="0"/>
            <a:r>
              <a:rPr lang="ko-KR" altLang="en-US"/>
              <a:t>셋째 목차</a:t>
            </a:r>
          </a:p>
          <a:p>
            <a:pPr lvl="0"/>
            <a:r>
              <a:rPr lang="ko-KR" altLang="en-US"/>
              <a:t>넷째 목차</a:t>
            </a:r>
          </a:p>
          <a:p>
            <a:pPr lvl="0"/>
            <a:r>
              <a:rPr lang="ko-KR" altLang="en-US"/>
              <a:t>다섯째 목차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7A7C4-C82A-4D21-9AB0-F0C5A1D3EF09}" type="datetimeFigureOut">
              <a:rPr lang="ko-KR" altLang="en-US" smtClean="0"/>
              <a:pPr/>
              <a:t>2021-02-03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839199" y="274638"/>
            <a:ext cx="2743199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본문 개체 틀 2"/>
          <p:cNvSpPr>
            <a:spLocks noGrp="1"/>
          </p:cNvSpPr>
          <p:nvPr>
            <p:ph type="body" orient="vert" idx="1"/>
          </p:nvPr>
        </p:nvSpPr>
        <p:spPr>
          <a:xfrm>
            <a:off x="609599" y="274638"/>
            <a:ext cx="8026399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7A7C4-C82A-4D21-9AB0-F0C5A1D3EF09}" type="datetimeFigureOut">
              <a:rPr lang="ko-KR" altLang="en-US" smtClean="0"/>
              <a:pPr/>
              <a:t>2021-02-03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09328" y="274524"/>
            <a:ext cx="10967924" cy="1142528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328" y="1599540"/>
            <a:ext cx="10967924" cy="4524097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6481" y="6353597"/>
            <a:ext cx="2742649" cy="36504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ctr">
            <a:noAutofit/>
          </a:bodyPr>
          <a:lstStyle>
            <a:lvl1pPr marL="0" lvl="0" indent="0" algn="l" defTabSz="58846888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rgbClr val="8C8C8C">
                    <a:alpha val="100000"/>
                  </a:srgbClr>
                </a:solidFill>
                <a:latin typeface="맑은 고딕"/>
                <a:ea typeface="맑은 고딕"/>
              </a:defRPr>
            </a:lvl1pPr>
          </a:lstStyle>
          <a:p>
            <a:pPr marL="0" lvl="0" indent="0" algn="l" defTabSz="58846888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fld id="{D422D86A-5F52-4165-8473-F1B836277586}" type="datetime1">
              <a:rPr kumimoji="1" lang="ko-KR" altLang="en-US" sz="1200" b="0" i="0" baseline="0">
                <a:solidFill>
                  <a:srgbClr val="8C8C8C">
                    <a:alpha val="100000"/>
                  </a:srgbClr>
                </a:solidFill>
                <a:latin typeface="맑은 고딕"/>
                <a:ea typeface="맑은 고딕"/>
                <a:cs typeface="+mn-cs"/>
              </a:rPr>
              <a:pPr marL="0" lvl="0" indent="0" algn="l" defTabSz="58846888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2021-02-03</a:t>
            </a:fld>
            <a:endParaRPr kumimoji="1" lang="ko-KR" altLang="en-US" sz="1200" b="0" i="0" baseline="0">
              <a:solidFill>
                <a:srgbClr val="8C8C8C">
                  <a:alpha val="100000"/>
                </a:srgbClr>
              </a:solidFill>
              <a:latin typeface="맑은 고딕"/>
              <a:ea typeface="맑은 고딕"/>
              <a:cs typeface="+mn-cs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6276" y="6353597"/>
            <a:ext cx="4114030" cy="36504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ctr">
            <a:noAutofit/>
          </a:bodyPr>
          <a:lstStyle>
            <a:lvl1pPr marL="0" lvl="0" indent="0" algn="ctr" defTabSz="58846888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rgbClr val="8C8C8C">
                    <a:alpha val="100000"/>
                  </a:srgbClr>
                </a:solidFill>
                <a:latin typeface="맑은 고딕"/>
                <a:ea typeface="맑은 고딕"/>
              </a:defRPr>
            </a:lvl1pPr>
          </a:lstStyle>
          <a:p>
            <a:pPr marL="0" lvl="0" indent="0" algn="ctr" defTabSz="58846888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endParaRPr kumimoji="1" lang="ko-KR" altLang="en-US" sz="1200" b="0" i="0" baseline="0">
              <a:solidFill>
                <a:srgbClr val="8C8C8C">
                  <a:alpha val="100000"/>
                </a:srgbClr>
              </a:solidFill>
              <a:latin typeface="맑은 고딕"/>
              <a:ea typeface="맑은 고딕"/>
              <a:cs typeface="+mn-cs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07452" y="6353597"/>
            <a:ext cx="2742705" cy="36504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ctr">
            <a:noAutofit/>
          </a:bodyPr>
          <a:lstStyle>
            <a:lvl1pPr marL="0" lvl="0" indent="0" algn="r" defTabSz="58846888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rgbClr val="8C8C8C">
                    <a:alpha val="100000"/>
                  </a:srgbClr>
                </a:solidFill>
                <a:latin typeface="맑은 고딕"/>
                <a:ea typeface="맑은 고딕"/>
              </a:defRPr>
            </a:lvl1pPr>
          </a:lstStyle>
          <a:p>
            <a:pPr marL="0" lvl="0" indent="0" algn="r" defTabSz="58846888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fld id="{67CBC9AC-DE31-4BA3-B0BD-96C8A3926CB9}" type="slidenum">
              <a:rPr kumimoji="1" lang="ko-KR" altLang="en-US" sz="1200" b="0" i="0" baseline="0">
                <a:solidFill>
                  <a:srgbClr val="8C8C8C">
                    <a:alpha val="100000"/>
                  </a:srgbClr>
                </a:solidFill>
                <a:latin typeface="맑은 고딕"/>
                <a:ea typeface="맑은 고딕"/>
                <a:cs typeface="+mn-cs"/>
              </a:rPr>
              <a:pPr marL="0" lvl="0" indent="0" algn="r" defTabSz="58846888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‹#›</a:t>
            </a:fld>
            <a:endParaRPr kumimoji="1" lang="ko-KR" altLang="en-US" sz="1200" b="0" i="0">
              <a:solidFill>
                <a:srgbClr val="8C8C8C">
                  <a:alpha val="100000"/>
                </a:srgbClr>
              </a:solidFill>
              <a:latin typeface="맑은 고딕"/>
              <a:ea typeface="맑은 고딕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</p:sldLayoutIdLst>
  <p:transition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rtl="0" eaLnBrk="1" latinLnBrk="1" hangingPunct="1">
        <a:defRPr>
          <a:solidFill>
            <a:schemeClr val="tx2"/>
          </a:solidFill>
        </a:defRPr>
      </a:lvl2pPr>
      <a:lvl3pPr rtl="0" eaLnBrk="1" latinLnBrk="1" hangingPunct="1">
        <a:defRPr>
          <a:solidFill>
            <a:schemeClr val="tx2"/>
          </a:solidFill>
        </a:defRPr>
      </a:lvl3pPr>
      <a:lvl4pPr rtl="0" eaLnBrk="1" latinLnBrk="1" hangingPunct="1">
        <a:defRPr>
          <a:solidFill>
            <a:schemeClr val="tx2"/>
          </a:solidFill>
        </a:defRPr>
      </a:lvl4pPr>
      <a:lvl5pPr rtl="0" eaLnBrk="1" latinLnBrk="1" hangingPunct="1">
        <a:defRPr>
          <a:solidFill>
            <a:schemeClr val="tx2"/>
          </a:solidFill>
        </a:defRPr>
      </a:lvl5pPr>
      <a:lvl6pPr rtl="0" eaLnBrk="1" latinLnBrk="1" hangingPunct="1">
        <a:defRPr>
          <a:solidFill>
            <a:schemeClr val="tx2"/>
          </a:solidFill>
        </a:defRPr>
      </a:lvl6pPr>
      <a:lvl7pPr rtl="0" eaLnBrk="1" latinLnBrk="1" hangingPunct="1">
        <a:defRPr>
          <a:solidFill>
            <a:schemeClr val="tx2"/>
          </a:solidFill>
        </a:defRPr>
      </a:lvl7pPr>
      <a:lvl8pPr rtl="0" eaLnBrk="1" latinLnBrk="1" hangingPunct="1">
        <a:defRPr>
          <a:solidFill>
            <a:schemeClr val="tx2"/>
          </a:solidFill>
        </a:defRPr>
      </a:lvl8pPr>
      <a:lvl9pPr rtl="0"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6481" y="363483"/>
            <a:ext cx="10513677" cy="1325331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ctr">
            <a:spAutoFit/>
          </a:bodyPr>
          <a:lstStyle/>
          <a:p>
            <a:pPr marL="0" lvl="0" indent="0" algn="ctr" defTabSz="58846888" rtl="0" eaLnBrk="1" latinLnBrk="1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0" lang="ko-KR" altLang="en-US" sz="4400" b="0" i="0" baseline="0">
                <a:solidFill>
                  <a:schemeClr val="tx2"/>
                </a:solidFill>
                <a:latin typeface="Arial"/>
                <a:ea typeface="Arial"/>
                <a:sym typeface="Arial"/>
              </a:rPr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6481" y="1823725"/>
            <a:ext cx="10513677" cy="4350529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spAutoFit/>
          </a:bodyPr>
          <a:lstStyle/>
          <a:p>
            <a:pPr marL="0" lvl="0" indent="0" algn="l" defTabSz="58846888" rtl="0" eaLnBrk="1" latinLnBrk="1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/>
              <a:buChar char="•"/>
              <a:defRPr/>
            </a:pPr>
            <a:r>
              <a:rPr kumimoji="0" lang="ko-KR" altLang="en-US" sz="3200" b="0" i="0" baseline="0">
                <a:solidFill>
                  <a:schemeClr val="tx1"/>
                </a:solidFill>
                <a:latin typeface="Arial"/>
                <a:ea typeface="Arial"/>
                <a:sym typeface="Arial"/>
              </a:rPr>
              <a:t>마스터 텍스트 스타일 편집</a:t>
            </a:r>
          </a:p>
          <a:p>
            <a:pPr marL="0" lvl="0" indent="0" algn="l" defTabSz="58846888" rtl="0" eaLnBrk="1" latinLnBrk="1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/>
              <a:buChar char="•"/>
              <a:defRPr/>
            </a:pPr>
            <a:r>
              <a:rPr kumimoji="0" lang="ko-KR" altLang="en-US" sz="3200" b="0" i="0" baseline="0">
                <a:solidFill>
                  <a:schemeClr val="tx1"/>
                </a:solidFill>
                <a:latin typeface="Arial"/>
                <a:ea typeface="Arial"/>
                <a:sym typeface="Arial"/>
              </a:rPr>
              <a:t>둘째 수준</a:t>
            </a:r>
          </a:p>
          <a:p>
            <a:pPr marL="0" lvl="0" indent="0" algn="l" defTabSz="58846888" rtl="0" eaLnBrk="1" latinLnBrk="1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/>
              <a:buChar char="•"/>
              <a:defRPr/>
            </a:pPr>
            <a:r>
              <a:rPr kumimoji="0" lang="ko-KR" altLang="en-US" sz="3200" b="0" i="0" baseline="0">
                <a:solidFill>
                  <a:schemeClr val="tx1"/>
                </a:solidFill>
                <a:latin typeface="Arial"/>
                <a:ea typeface="Arial"/>
                <a:sym typeface="Arial"/>
              </a:rPr>
              <a:t>셋째 수준</a:t>
            </a:r>
          </a:p>
          <a:p>
            <a:pPr marL="0" lvl="0" indent="0" algn="l" defTabSz="58846888" rtl="0" eaLnBrk="1" latinLnBrk="1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/>
              <a:buChar char="•"/>
              <a:defRPr/>
            </a:pPr>
            <a:r>
              <a:rPr kumimoji="0" lang="ko-KR" altLang="en-US" sz="3200" b="0" i="0" baseline="0">
                <a:solidFill>
                  <a:schemeClr val="tx1"/>
                </a:solidFill>
                <a:latin typeface="Arial"/>
                <a:ea typeface="Arial"/>
                <a:sym typeface="Arial"/>
              </a:rPr>
              <a:t>넷째 수준</a:t>
            </a:r>
          </a:p>
          <a:p>
            <a:pPr marL="0" lvl="0" indent="0" algn="l" defTabSz="58846888" rtl="0" eaLnBrk="1" latinLnBrk="1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/>
              <a:buChar char="•"/>
              <a:defRPr/>
            </a:pPr>
            <a:r>
              <a:rPr kumimoji="0" lang="ko-KR" altLang="en-US" sz="3200" b="0" i="0" baseline="0">
                <a:solidFill>
                  <a:schemeClr val="tx1"/>
                </a:solidFill>
                <a:latin typeface="Arial"/>
                <a:ea typeface="Arial"/>
                <a:sym typeface="Arial"/>
              </a:rPr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6481" y="6353597"/>
            <a:ext cx="2742649" cy="36504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ctr">
            <a:noAutofit/>
          </a:bodyPr>
          <a:lstStyle>
            <a:lvl1pPr marL="0" lvl="0" indent="0" algn="l" defTabSz="58846888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rgbClr val="8C8C8C">
                    <a:alpha val="100000"/>
                  </a:srgbClr>
                </a:solidFill>
                <a:latin typeface="맑은 고딕"/>
                <a:ea typeface="맑은 고딕"/>
              </a:defRPr>
            </a:lvl1pPr>
          </a:lstStyle>
          <a:p>
            <a:pPr marL="0" lvl="0" indent="0" algn="l" defTabSz="58846888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fld id="{D422D86A-5F52-4165-8473-F1B836277586}" type="datetime1">
              <a:rPr kumimoji="1" lang="ko-KR" altLang="en-US" sz="1200" b="0" i="0" baseline="0">
                <a:solidFill>
                  <a:srgbClr val="8C8C8C">
                    <a:alpha val="100000"/>
                  </a:srgbClr>
                </a:solidFill>
                <a:latin typeface="맑은 고딕"/>
                <a:ea typeface="맑은 고딕"/>
                <a:cs typeface="+mn-cs"/>
              </a:rPr>
              <a:pPr marL="0" lvl="0" indent="0" algn="l" defTabSz="58846888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2021-02-03</a:t>
            </a:fld>
            <a:endParaRPr kumimoji="1" lang="ko-KR" altLang="en-US" sz="1200" b="0" i="0" baseline="0">
              <a:solidFill>
                <a:srgbClr val="8C8C8C">
                  <a:alpha val="100000"/>
                </a:srgbClr>
              </a:solidFill>
              <a:latin typeface="맑은 고딕"/>
              <a:ea typeface="맑은 고딕"/>
              <a:cs typeface="+mn-cs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6276" y="6353597"/>
            <a:ext cx="4114030" cy="36504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ctr">
            <a:noAutofit/>
          </a:bodyPr>
          <a:lstStyle>
            <a:lvl1pPr marL="0" lvl="0" indent="0" algn="ctr" defTabSz="58846888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rgbClr val="8C8C8C">
                    <a:alpha val="100000"/>
                  </a:srgbClr>
                </a:solidFill>
                <a:latin typeface="맑은 고딕"/>
                <a:ea typeface="맑은 고딕"/>
              </a:defRPr>
            </a:lvl1pPr>
          </a:lstStyle>
          <a:p>
            <a:pPr marL="0" lvl="0" indent="0" algn="ctr" defTabSz="58846888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endParaRPr kumimoji="1" lang="ko-KR" altLang="en-US" sz="1200" b="0" i="0" baseline="0">
              <a:solidFill>
                <a:srgbClr val="8C8C8C">
                  <a:alpha val="100000"/>
                </a:srgbClr>
              </a:solidFill>
              <a:latin typeface="맑은 고딕"/>
              <a:ea typeface="맑은 고딕"/>
              <a:cs typeface="+mn-cs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07452" y="6353597"/>
            <a:ext cx="2742705" cy="36504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ctr">
            <a:noAutofit/>
          </a:bodyPr>
          <a:lstStyle>
            <a:lvl1pPr marL="0" lvl="0" indent="0" algn="r" defTabSz="58846888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rgbClr val="8C8C8C">
                    <a:alpha val="100000"/>
                  </a:srgbClr>
                </a:solidFill>
                <a:latin typeface="맑은 고딕"/>
                <a:ea typeface="맑은 고딕"/>
              </a:defRPr>
            </a:lvl1pPr>
          </a:lstStyle>
          <a:p>
            <a:pPr marL="0" lvl="0" indent="0" algn="r" defTabSz="58846888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fld id="{FB8DFAB1-9140-475C-847C-C68D473171BD}" type="slidenum">
              <a:rPr kumimoji="1" lang="ko-KR" altLang="en-US" sz="1200" b="0" i="0" baseline="0">
                <a:solidFill>
                  <a:srgbClr val="8C8C8C">
                    <a:alpha val="100000"/>
                  </a:srgbClr>
                </a:solidFill>
                <a:latin typeface="맑은 고딕"/>
                <a:ea typeface="맑은 고딕"/>
                <a:cs typeface="+mn-cs"/>
              </a:rPr>
              <a:pPr marL="0" lvl="0" indent="0" algn="r" defTabSz="58846888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‹#›</a:t>
            </a:fld>
            <a:endParaRPr kumimoji="1" lang="ko-KR" altLang="en-US" sz="1200" b="0" i="0">
              <a:solidFill>
                <a:srgbClr val="8C8C8C">
                  <a:alpha val="100000"/>
                </a:srgbClr>
              </a:solidFill>
              <a:latin typeface="맑은 고딕"/>
              <a:ea typeface="맑은 고딕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31" r:id="rId2"/>
    <p:sldLayoutId id="2147483732" r:id="rId3"/>
    <p:sldLayoutId id="2147483733" r:id="rId4"/>
    <p:sldLayoutId id="2147483734" r:id="rId5"/>
    <p:sldLayoutId id="2147483735" r:id="rId6"/>
    <p:sldLayoutId id="2147483736" r:id="rId7"/>
    <p:sldLayoutId id="2147483737" r:id="rId8"/>
    <p:sldLayoutId id="2147483738" r:id="rId9"/>
    <p:sldLayoutId id="2147483739" r:id="rId10"/>
    <p:sldLayoutId id="2147483740" r:id="rId11"/>
    <p:sldLayoutId id="2147483741" r:id="rId12"/>
  </p:sldLayoutIdLst>
  <p:transition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rtl="0" eaLnBrk="1" latinLnBrk="1" hangingPunct="1">
        <a:defRPr>
          <a:solidFill>
            <a:schemeClr val="tx2"/>
          </a:solidFill>
        </a:defRPr>
      </a:lvl2pPr>
      <a:lvl3pPr rtl="0" eaLnBrk="1" latinLnBrk="1" hangingPunct="1">
        <a:defRPr>
          <a:solidFill>
            <a:schemeClr val="tx2"/>
          </a:solidFill>
        </a:defRPr>
      </a:lvl3pPr>
      <a:lvl4pPr rtl="0" eaLnBrk="1" latinLnBrk="1" hangingPunct="1">
        <a:defRPr>
          <a:solidFill>
            <a:schemeClr val="tx2"/>
          </a:solidFill>
        </a:defRPr>
      </a:lvl4pPr>
      <a:lvl5pPr rtl="0" eaLnBrk="1" latinLnBrk="1" hangingPunct="1">
        <a:defRPr>
          <a:solidFill>
            <a:schemeClr val="tx2"/>
          </a:solidFill>
        </a:defRPr>
      </a:lvl5pPr>
      <a:lvl6pPr rtl="0" eaLnBrk="1" latinLnBrk="1" hangingPunct="1">
        <a:defRPr>
          <a:solidFill>
            <a:schemeClr val="tx2"/>
          </a:solidFill>
        </a:defRPr>
      </a:lvl6pPr>
      <a:lvl7pPr rtl="0" eaLnBrk="1" latinLnBrk="1" hangingPunct="1">
        <a:defRPr>
          <a:solidFill>
            <a:schemeClr val="tx2"/>
          </a:solidFill>
        </a:defRPr>
      </a:lvl7pPr>
      <a:lvl8pPr rtl="0" eaLnBrk="1" latinLnBrk="1" hangingPunct="1">
        <a:defRPr>
          <a:solidFill>
            <a:schemeClr val="tx2"/>
          </a:solidFill>
        </a:defRPr>
      </a:lvl8pPr>
      <a:lvl9pPr rtl="0"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jmeter.apache.org/usermanual/best-practices.html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hyperlink" Target="https://jmeter.apache.org/download_jmeter.cgi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jmeter.apache.org/download_jmeter.cgi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6" Type="http://schemas.openxmlformats.org/officeDocument/2006/relationships/chart" Target="../charts/chart4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6" Type="http://schemas.openxmlformats.org/officeDocument/2006/relationships/chart" Target="../charts/chart8.xml"/><Relationship Id="rId5" Type="http://schemas.openxmlformats.org/officeDocument/2006/relationships/chart" Target="../charts/chart7.xml"/><Relationship Id="rId4" Type="http://schemas.openxmlformats.org/officeDocument/2006/relationships/chart" Target="../charts/char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Relationship Id="rId6" Type="http://schemas.openxmlformats.org/officeDocument/2006/relationships/chart" Target="../charts/chart12.xml"/><Relationship Id="rId5" Type="http://schemas.openxmlformats.org/officeDocument/2006/relationships/chart" Target="../charts/chart11.xml"/><Relationship Id="rId4" Type="http://schemas.openxmlformats.org/officeDocument/2006/relationships/chart" Target="../charts/chart10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3.xm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Relationship Id="rId6" Type="http://schemas.openxmlformats.org/officeDocument/2006/relationships/chart" Target="../charts/chart16.xml"/><Relationship Id="rId5" Type="http://schemas.openxmlformats.org/officeDocument/2006/relationships/chart" Target="../charts/chart15.xml"/><Relationship Id="rId4" Type="http://schemas.openxmlformats.org/officeDocument/2006/relationships/chart" Target="../charts/chart1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hyperlink" Target="mailto:jmocha@127.0.0.1" TargetMode="Externa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5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8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8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8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61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8.xml"/><Relationship Id="rId6" Type="http://schemas.openxmlformats.org/officeDocument/2006/relationships/hyperlink" Target="mailto:jmocha@127.0.0.1" TargetMode="External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68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8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7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3F5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TextBox 4099"/>
          <p:cNvSpPr txBox="1"/>
          <p:nvPr/>
        </p:nvSpPr>
        <p:spPr>
          <a:xfrm>
            <a:off x="3358540" y="2707764"/>
            <a:ext cx="5469503" cy="75554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/>
          <a:p>
            <a:pPr marL="0" lvl="0" indent="0" algn="ctr" defTabSz="58846888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0" lang="en-US" altLang="ko-KR" sz="4400" b="1" i="0" baseline="0" dirty="0">
                <a:solidFill>
                  <a:srgbClr val="FFFFFF">
                    <a:alpha val="100000"/>
                  </a:srgbClr>
                </a:solidFill>
                <a:latin typeface="맑은 고딕"/>
                <a:ea typeface="맑은 고딕"/>
              </a:rPr>
              <a:t>JMETER</a:t>
            </a:r>
            <a:endParaRPr kumimoji="0" lang="ko-KR" altLang="en-US" sz="4400" b="1" i="0" dirty="0">
              <a:solidFill>
                <a:srgbClr val="FFFFFF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4101" name="TextBox 4100"/>
          <p:cNvSpPr txBox="1"/>
          <p:nvPr/>
        </p:nvSpPr>
        <p:spPr>
          <a:xfrm>
            <a:off x="4725121" y="4168006"/>
            <a:ext cx="2736342" cy="339649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/>
          <a:p>
            <a:pPr marL="0" lvl="0" indent="0" algn="dist" defTabSz="58846888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0" lang="ko-KR" altLang="en-US" sz="1600" b="1" i="0" baseline="0" dirty="0">
                <a:solidFill>
                  <a:srgbClr val="FFFFFF">
                    <a:alpha val="100000"/>
                  </a:srgbClr>
                </a:solidFill>
                <a:latin typeface="맑은 고딕"/>
                <a:ea typeface="맑은 고딕"/>
              </a:rPr>
              <a:t>발표자 서 한 별</a:t>
            </a:r>
            <a:r>
              <a:rPr kumimoji="0" lang="en-US" altLang="ko-KR" sz="1600" b="1" i="0" baseline="0" dirty="0">
                <a:solidFill>
                  <a:srgbClr val="FFFFFF">
                    <a:alpha val="100000"/>
                  </a:srgbClr>
                </a:solidFill>
                <a:latin typeface="맑은 고딕"/>
                <a:ea typeface="맑은 고딕"/>
              </a:rPr>
              <a:t>, </a:t>
            </a:r>
            <a:r>
              <a:rPr lang="ko-KR" altLang="en-US" sz="1600" b="1" dirty="0">
                <a:solidFill>
                  <a:srgbClr val="FFFFFF">
                    <a:alpha val="100000"/>
                  </a:srgbClr>
                </a:solidFill>
                <a:latin typeface="맑은 고딕"/>
                <a:ea typeface="맑은 고딕"/>
              </a:rPr>
              <a:t>이 종 우</a:t>
            </a:r>
            <a:endParaRPr lang="en-US" altLang="ko-KR" sz="1600" b="1" dirty="0">
              <a:solidFill>
                <a:srgbClr val="FFFFFF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4102" name="TextBox 4101"/>
          <p:cNvSpPr txBox="1"/>
          <p:nvPr/>
        </p:nvSpPr>
        <p:spPr>
          <a:xfrm>
            <a:off x="4006135" y="2276071"/>
            <a:ext cx="4255304" cy="292037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/>
          <a:p>
            <a:pPr marL="0" lvl="0" indent="0" algn="dist" defTabSz="58846888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0" lang="ko-KR" altLang="en-US" sz="1400" b="1" i="0" dirty="0" err="1">
                <a:solidFill>
                  <a:srgbClr val="222A35">
                    <a:alpha val="100000"/>
                  </a:srgbClr>
                </a:solidFill>
                <a:latin typeface="맑은 고딕"/>
                <a:ea typeface="맑은 고딕"/>
              </a:rPr>
              <a:t>성능분석툴</a:t>
            </a:r>
            <a:endParaRPr kumimoji="0" lang="ko-KR" altLang="en-US" sz="1400" b="1" i="0" dirty="0">
              <a:solidFill>
                <a:srgbClr val="222A35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3F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5" name="TextBox 5124"/>
          <p:cNvSpPr txBox="1"/>
          <p:nvPr/>
        </p:nvSpPr>
        <p:spPr>
          <a:xfrm>
            <a:off x="1845941" y="547569"/>
            <a:ext cx="4175932" cy="449219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/>
          <a:p>
            <a:pPr marL="0" lvl="0" indent="0" algn="l" defTabSz="58846888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0" lang="ko-KR" altLang="en-US" sz="2400" b="1" i="0" baseline="0" dirty="0">
                <a:solidFill>
                  <a:schemeClr val="accent2">
                    <a:lumMod val="40000"/>
                    <a:lumOff val="60000"/>
                  </a:schemeClr>
                </a:solidFill>
                <a:latin typeface="맑은 고딕"/>
                <a:ea typeface="맑은 고딕"/>
              </a:rPr>
              <a:t>CONTENTS</a:t>
            </a:r>
            <a:endParaRPr kumimoji="0" lang="ko-KR" altLang="en-US" sz="2400" b="1" i="0" dirty="0">
              <a:solidFill>
                <a:schemeClr val="accent2">
                  <a:lumMod val="40000"/>
                  <a:lumOff val="60000"/>
                </a:schemeClr>
              </a:solidFill>
              <a:latin typeface="맑은 고딕"/>
              <a:ea typeface="맑은 고딕"/>
            </a:endParaRPr>
          </a:p>
        </p:txBody>
      </p:sp>
      <p:sp>
        <p:nvSpPr>
          <p:cNvPr id="5126" name="TextBox 5125"/>
          <p:cNvSpPr txBox="1"/>
          <p:nvPr/>
        </p:nvSpPr>
        <p:spPr>
          <a:xfrm>
            <a:off x="1515799" y="1692893"/>
            <a:ext cx="9155639" cy="90156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/>
          <a:p>
            <a:pPr marL="0" lvl="0" indent="0" algn="l" defTabSz="58846888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5400" b="0" i="0" baseline="0" dirty="0">
                <a:solidFill>
                  <a:schemeClr val="accent2">
                    <a:lumMod val="40000"/>
                    <a:lumOff val="60000"/>
                  </a:schemeClr>
                </a:solidFill>
                <a:latin typeface="HY헤드라인M"/>
                <a:ea typeface="HY헤드라인M"/>
              </a:rPr>
              <a:t>01     02     03     04     05</a:t>
            </a:r>
            <a:endParaRPr kumimoji="1" lang="ko-KR" altLang="en-US" sz="5400" b="0" i="0" dirty="0">
              <a:solidFill>
                <a:schemeClr val="accent2">
                  <a:lumMod val="40000"/>
                  <a:lumOff val="60000"/>
                </a:schemeClr>
              </a:solidFill>
              <a:latin typeface="HY헤드라인M"/>
              <a:ea typeface="HY헤드라인M"/>
            </a:endParaRPr>
          </a:p>
        </p:txBody>
      </p:sp>
      <p:cxnSp>
        <p:nvCxnSpPr>
          <p:cNvPr id="5127" name="직선 연결선 5126"/>
          <p:cNvCxnSpPr/>
          <p:nvPr/>
        </p:nvCxnSpPr>
        <p:spPr>
          <a:xfrm>
            <a:off x="1348766" y="2700122"/>
            <a:ext cx="1150734" cy="0"/>
          </a:xfrm>
          <a:prstGeom prst="line">
            <a:avLst/>
          </a:prstGeom>
          <a:ln w="6363" cap="flat" cmpd="sng" algn="ctr">
            <a:solidFill>
              <a:srgbClr val="FFFFFF"/>
            </a:solidFill>
            <a:prstDash val="solid"/>
            <a:miter/>
          </a:ln>
        </p:spPr>
      </p:cxnSp>
      <p:cxnSp>
        <p:nvCxnSpPr>
          <p:cNvPr id="5128" name="직선 연결선 5127"/>
          <p:cNvCxnSpPr/>
          <p:nvPr/>
        </p:nvCxnSpPr>
        <p:spPr>
          <a:xfrm>
            <a:off x="3254985" y="2707763"/>
            <a:ext cx="1152352" cy="0"/>
          </a:xfrm>
          <a:prstGeom prst="line">
            <a:avLst/>
          </a:prstGeom>
          <a:ln w="6363" cap="flat" cmpd="sng" algn="ctr">
            <a:solidFill>
              <a:srgbClr val="FFFFFF"/>
            </a:solidFill>
            <a:prstDash val="solid"/>
            <a:miter/>
          </a:ln>
        </p:spPr>
      </p:cxnSp>
      <p:cxnSp>
        <p:nvCxnSpPr>
          <p:cNvPr id="5129" name="직선 연결선 5128"/>
          <p:cNvCxnSpPr/>
          <p:nvPr/>
        </p:nvCxnSpPr>
        <p:spPr>
          <a:xfrm>
            <a:off x="5327223" y="2707763"/>
            <a:ext cx="1150734" cy="0"/>
          </a:xfrm>
          <a:prstGeom prst="line">
            <a:avLst/>
          </a:prstGeom>
          <a:ln w="6363" cap="flat" cmpd="sng" algn="ctr">
            <a:solidFill>
              <a:srgbClr val="FFFFFF"/>
            </a:solidFill>
            <a:prstDash val="solid"/>
            <a:miter/>
          </a:ln>
        </p:spPr>
      </p:cxnSp>
      <p:cxnSp>
        <p:nvCxnSpPr>
          <p:cNvPr id="5130" name="직선 연결선 5129"/>
          <p:cNvCxnSpPr/>
          <p:nvPr/>
        </p:nvCxnSpPr>
        <p:spPr>
          <a:xfrm>
            <a:off x="7172607" y="2707764"/>
            <a:ext cx="1152296" cy="0"/>
          </a:xfrm>
          <a:prstGeom prst="line">
            <a:avLst/>
          </a:prstGeom>
          <a:ln w="6363" cap="flat" cmpd="sng" algn="ctr">
            <a:solidFill>
              <a:srgbClr val="FFFFFF"/>
            </a:solidFill>
            <a:prstDash val="solid"/>
            <a:miter/>
          </a:ln>
        </p:spPr>
      </p:cxnSp>
      <p:cxnSp>
        <p:nvCxnSpPr>
          <p:cNvPr id="5131" name="직선 연결선 5130"/>
          <p:cNvCxnSpPr/>
          <p:nvPr/>
        </p:nvCxnSpPr>
        <p:spPr>
          <a:xfrm>
            <a:off x="9262807" y="2707763"/>
            <a:ext cx="1150734" cy="0"/>
          </a:xfrm>
          <a:prstGeom prst="line">
            <a:avLst/>
          </a:prstGeom>
          <a:ln w="6363" cap="flat" cmpd="sng" algn="ctr">
            <a:solidFill>
              <a:srgbClr val="FFFFFF"/>
            </a:solidFill>
            <a:prstDash val="solid"/>
            <a:miter/>
          </a:ln>
        </p:spPr>
      </p:cxnSp>
      <p:sp>
        <p:nvSpPr>
          <p:cNvPr id="5132" name="TextBox 5131"/>
          <p:cNvSpPr txBox="1"/>
          <p:nvPr/>
        </p:nvSpPr>
        <p:spPr>
          <a:xfrm>
            <a:off x="1056796" y="2814256"/>
            <a:ext cx="1653218" cy="36822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/>
          <a:p>
            <a:pPr marL="0" lvl="0" indent="0" algn="ctr" defTabSz="58846888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0" lang="ko-KR" altLang="en-US" sz="1800" b="1" i="0" baseline="0">
                <a:solidFill>
                  <a:schemeClr val="accent2">
                    <a:lumMod val="40000"/>
                    <a:lumOff val="60000"/>
                  </a:schemeClr>
                </a:solidFill>
                <a:latin typeface="맑은 고딕"/>
                <a:ea typeface="맑은 고딕"/>
              </a:rPr>
              <a:t>성능테스트란</a:t>
            </a:r>
            <a:endParaRPr kumimoji="0" lang="ko-KR" altLang="en-US" sz="1800" b="1" i="0" dirty="0">
              <a:solidFill>
                <a:schemeClr val="accent2">
                  <a:lumMod val="40000"/>
                  <a:lumOff val="60000"/>
                </a:schemeClr>
              </a:solidFill>
              <a:latin typeface="맑은 고딕"/>
              <a:ea typeface="맑은 고딕"/>
            </a:endParaRPr>
          </a:p>
        </p:txBody>
      </p:sp>
      <p:sp>
        <p:nvSpPr>
          <p:cNvPr id="5144" name="TextBox 5143"/>
          <p:cNvSpPr txBox="1"/>
          <p:nvPr/>
        </p:nvSpPr>
        <p:spPr>
          <a:xfrm>
            <a:off x="2924994" y="2811228"/>
            <a:ext cx="1798985" cy="36822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/>
          <a:p>
            <a:pPr marL="0" lvl="0" indent="0" algn="ctr" defTabSz="58846888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ko-KR" altLang="en-US" b="1" dirty="0">
                <a:solidFill>
                  <a:schemeClr val="accent2">
                    <a:lumMod val="40000"/>
                    <a:lumOff val="60000"/>
                  </a:schemeClr>
                </a:solidFill>
                <a:ea typeface="맑은 고딕"/>
              </a:rPr>
              <a:t>설치하기</a:t>
            </a:r>
            <a:endParaRPr kumimoji="0" lang="ko-KR" altLang="en-US" sz="1800" b="1" i="0" dirty="0">
              <a:solidFill>
                <a:schemeClr val="accent2">
                  <a:lumMod val="40000"/>
                  <a:lumOff val="60000"/>
                </a:schemeClr>
              </a:solidFill>
              <a:ea typeface="맑은 고딕"/>
            </a:endParaRPr>
          </a:p>
        </p:txBody>
      </p:sp>
      <p:sp>
        <p:nvSpPr>
          <p:cNvPr id="5145" name="TextBox 5144"/>
          <p:cNvSpPr txBox="1"/>
          <p:nvPr/>
        </p:nvSpPr>
        <p:spPr>
          <a:xfrm>
            <a:off x="5003098" y="2821897"/>
            <a:ext cx="1798984" cy="36822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/>
          <a:p>
            <a:pPr marL="0" lvl="0" indent="0" algn="ctr" defTabSz="58846888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0" lang="ko-KR" altLang="en-US" sz="1800" b="1" i="0" dirty="0">
                <a:solidFill>
                  <a:schemeClr val="accent2">
                    <a:lumMod val="40000"/>
                    <a:lumOff val="60000"/>
                  </a:schemeClr>
                </a:solidFill>
                <a:ea typeface="맑은 고딕"/>
              </a:rPr>
              <a:t>테스트계획저장</a:t>
            </a:r>
          </a:p>
        </p:txBody>
      </p:sp>
      <p:sp>
        <p:nvSpPr>
          <p:cNvPr id="5146" name="TextBox 5145"/>
          <p:cNvSpPr txBox="1"/>
          <p:nvPr/>
        </p:nvSpPr>
        <p:spPr>
          <a:xfrm>
            <a:off x="6892799" y="2857339"/>
            <a:ext cx="1871338" cy="369791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/>
          <a:p>
            <a:pPr marL="0" lvl="0" indent="0" algn="ctr" defTabSz="58846888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ko-KR" altLang="en-US" b="1" dirty="0">
                <a:solidFill>
                  <a:schemeClr val="accent2">
                    <a:lumMod val="40000"/>
                    <a:lumOff val="60000"/>
                  </a:schemeClr>
                </a:solidFill>
                <a:ea typeface="맑은 고딕"/>
              </a:rPr>
              <a:t>계산</a:t>
            </a:r>
            <a:endParaRPr kumimoji="0" lang="en-US" altLang="ko-KR" sz="1800" b="1" i="0" baseline="0" dirty="0">
              <a:solidFill>
                <a:schemeClr val="accent2">
                  <a:lumMod val="40000"/>
                  <a:lumOff val="60000"/>
                </a:schemeClr>
              </a:solidFill>
              <a:ea typeface="맑은 고딕"/>
            </a:endParaRPr>
          </a:p>
        </p:txBody>
      </p:sp>
      <p:sp>
        <p:nvSpPr>
          <p:cNvPr id="5147" name="TextBox 5146"/>
          <p:cNvSpPr txBox="1"/>
          <p:nvPr/>
        </p:nvSpPr>
        <p:spPr>
          <a:xfrm>
            <a:off x="8854854" y="2830477"/>
            <a:ext cx="2496736" cy="36822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/>
          <a:p>
            <a:pPr marL="0" lvl="0" indent="0" algn="ctr" defTabSz="58846888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0" lang="ko-KR" altLang="en-US" sz="1800" b="1" i="0" baseline="0" dirty="0" err="1">
                <a:solidFill>
                  <a:schemeClr val="accent2">
                    <a:lumMod val="40000"/>
                    <a:lumOff val="60000"/>
                  </a:schemeClr>
                </a:solidFill>
                <a:ea typeface="맑은 고딕"/>
              </a:rPr>
              <a:t>모둘별</a:t>
            </a:r>
            <a:r>
              <a:rPr kumimoji="0" lang="ko-KR" altLang="en-US" sz="1800" b="1" i="0" baseline="0" dirty="0">
                <a:solidFill>
                  <a:schemeClr val="accent2">
                    <a:lumMod val="40000"/>
                    <a:lumOff val="60000"/>
                  </a:schemeClr>
                </a:solidFill>
                <a:ea typeface="맑은 고딕"/>
              </a:rPr>
              <a:t> 성능 분석 결과</a:t>
            </a:r>
            <a:endParaRPr kumimoji="0" lang="ko-KR" altLang="en-US" sz="1800" b="1" i="0" dirty="0">
              <a:solidFill>
                <a:schemeClr val="accent2">
                  <a:lumMod val="40000"/>
                  <a:lumOff val="60000"/>
                </a:schemeClr>
              </a:solidFill>
              <a:ea typeface="맑은 고딕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84544E9-9D90-4E6B-8EDB-0C0158C6D5B1}"/>
              </a:ext>
            </a:extLst>
          </p:cNvPr>
          <p:cNvSpPr txBox="1"/>
          <p:nvPr/>
        </p:nvSpPr>
        <p:spPr>
          <a:xfrm>
            <a:off x="4653079" y="6122590"/>
            <a:ext cx="8711950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사용자 매뉴얼 </a:t>
            </a:r>
            <a:r>
              <a:rPr lang="en-US" altLang="ko-KR" dirty="0">
                <a:solidFill>
                  <a:schemeClr val="bg1"/>
                </a:solidFill>
              </a:rPr>
              <a:t>: https://jmeter.apache.org/usermanual/get-started.html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AD3D48-9B6A-46F2-84F4-C209DEE1255E}"/>
              </a:ext>
            </a:extLst>
          </p:cNvPr>
          <p:cNvSpPr txBox="1"/>
          <p:nvPr/>
        </p:nvSpPr>
        <p:spPr>
          <a:xfrm>
            <a:off x="1132793" y="3282920"/>
            <a:ext cx="1582679" cy="646331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</a:rPr>
              <a:t>01_1   </a:t>
            </a:r>
            <a:r>
              <a:rPr lang="en-US" altLang="ko-KR" sz="1200" dirty="0" err="1">
                <a:solidFill>
                  <a:schemeClr val="bg1"/>
                </a:solidFill>
              </a:rPr>
              <a:t>Jmeter</a:t>
            </a:r>
            <a:r>
              <a:rPr lang="ko-KR" altLang="en-US" sz="1200" dirty="0">
                <a:solidFill>
                  <a:schemeClr val="bg1"/>
                </a:solidFill>
              </a:rPr>
              <a:t>란</a:t>
            </a:r>
            <a:br>
              <a:rPr lang="en-US" altLang="ko-KR" sz="1200" dirty="0">
                <a:solidFill>
                  <a:schemeClr val="bg1"/>
                </a:solidFill>
              </a:rPr>
            </a:br>
            <a:r>
              <a:rPr lang="en-US" altLang="ko-KR" sz="1200" dirty="0">
                <a:solidFill>
                  <a:schemeClr val="bg1"/>
                </a:solidFill>
              </a:rPr>
              <a:t>01_2   </a:t>
            </a:r>
            <a:r>
              <a:rPr lang="ko-KR" altLang="en-US" sz="1200" dirty="0">
                <a:solidFill>
                  <a:schemeClr val="bg1"/>
                </a:solidFill>
              </a:rPr>
              <a:t>개요</a:t>
            </a:r>
            <a:br>
              <a:rPr lang="en-US" altLang="ko-KR" sz="1200" dirty="0">
                <a:solidFill>
                  <a:schemeClr val="bg1"/>
                </a:solidFill>
              </a:rPr>
            </a:b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0141934-ADE6-4AA7-BDD2-5DF7E9C0BD4A}"/>
              </a:ext>
            </a:extLst>
          </p:cNvPr>
          <p:cNvSpPr txBox="1"/>
          <p:nvPr/>
        </p:nvSpPr>
        <p:spPr>
          <a:xfrm>
            <a:off x="3044263" y="3282920"/>
            <a:ext cx="1798985" cy="646331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</a:rPr>
              <a:t>02_1   </a:t>
            </a:r>
            <a:r>
              <a:rPr lang="ko-KR" altLang="en-US" sz="1200" dirty="0">
                <a:solidFill>
                  <a:schemeClr val="bg1"/>
                </a:solidFill>
              </a:rPr>
              <a:t>설치사이트</a:t>
            </a:r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02_2   </a:t>
            </a:r>
            <a:r>
              <a:rPr lang="ko-KR" altLang="en-US" sz="1200" dirty="0">
                <a:solidFill>
                  <a:schemeClr val="bg1"/>
                </a:solidFill>
              </a:rPr>
              <a:t>설치 후 사전 작업</a:t>
            </a:r>
            <a:br>
              <a:rPr lang="en-US" altLang="ko-KR" sz="1200" dirty="0">
                <a:solidFill>
                  <a:schemeClr val="bg1"/>
                </a:solidFill>
              </a:rPr>
            </a:b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E283A1F-3959-434C-BB22-87A49F106B0E}"/>
              </a:ext>
            </a:extLst>
          </p:cNvPr>
          <p:cNvSpPr txBox="1"/>
          <p:nvPr/>
        </p:nvSpPr>
        <p:spPr>
          <a:xfrm>
            <a:off x="5023631" y="3282920"/>
            <a:ext cx="2207213" cy="193899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</a:rPr>
              <a:t>03_1   GUI </a:t>
            </a:r>
            <a:r>
              <a:rPr lang="ko-KR" altLang="en-US" sz="1200" dirty="0">
                <a:solidFill>
                  <a:schemeClr val="bg1"/>
                </a:solidFill>
              </a:rPr>
              <a:t>테스트 툴 실행</a:t>
            </a:r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03_2   </a:t>
            </a:r>
            <a:r>
              <a:rPr lang="ko-KR" altLang="en-US" sz="1200" dirty="0">
                <a:solidFill>
                  <a:schemeClr val="bg1"/>
                </a:solidFill>
              </a:rPr>
              <a:t>쓰레드 그룹 생성</a:t>
            </a:r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03_3   http </a:t>
            </a:r>
            <a:r>
              <a:rPr lang="ko-KR" altLang="en-US" sz="1200" dirty="0">
                <a:solidFill>
                  <a:schemeClr val="bg1"/>
                </a:solidFill>
              </a:rPr>
              <a:t>테스트 스크립트</a:t>
            </a:r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            </a:t>
            </a:r>
            <a:r>
              <a:rPr lang="ko-KR" altLang="en-US" sz="1200" dirty="0">
                <a:solidFill>
                  <a:schemeClr val="bg1"/>
                </a:solidFill>
              </a:rPr>
              <a:t>레코더 추가</a:t>
            </a:r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03_4   Proxy</a:t>
            </a:r>
            <a:r>
              <a:rPr lang="ko-KR" altLang="en-US" sz="1200" dirty="0">
                <a:solidFill>
                  <a:schemeClr val="bg1"/>
                </a:solidFill>
              </a:rPr>
              <a:t>서버 설정</a:t>
            </a:r>
            <a:r>
              <a:rPr lang="en-US" altLang="ko-KR" sz="1200" dirty="0">
                <a:solidFill>
                  <a:schemeClr val="bg1"/>
                </a:solidFill>
              </a:rPr>
              <a:t>_IE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03_5   Proxy</a:t>
            </a:r>
            <a:r>
              <a:rPr lang="ko-KR" altLang="en-US" sz="1200" dirty="0">
                <a:solidFill>
                  <a:schemeClr val="bg1"/>
                </a:solidFill>
              </a:rPr>
              <a:t>서버 설정</a:t>
            </a:r>
            <a:r>
              <a:rPr lang="en-US" altLang="ko-KR" sz="1200" dirty="0">
                <a:solidFill>
                  <a:schemeClr val="bg1"/>
                </a:solidFill>
              </a:rPr>
              <a:t>_Chrome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03_6   </a:t>
            </a:r>
            <a:r>
              <a:rPr lang="ko-KR" altLang="en-US" sz="1200" dirty="0">
                <a:solidFill>
                  <a:schemeClr val="bg1"/>
                </a:solidFill>
              </a:rPr>
              <a:t>테스트 </a:t>
            </a:r>
            <a:r>
              <a:rPr lang="ko-KR" altLang="en-US" sz="1200" dirty="0" err="1">
                <a:solidFill>
                  <a:schemeClr val="bg1"/>
                </a:solidFill>
              </a:rPr>
              <a:t>시난리오</a:t>
            </a:r>
            <a:r>
              <a:rPr lang="ko-KR" altLang="en-US" sz="1200" dirty="0">
                <a:solidFill>
                  <a:schemeClr val="bg1"/>
                </a:solidFill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</a:rPr>
              <a:t>레코딩</a:t>
            </a:r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03_7   </a:t>
            </a:r>
            <a:r>
              <a:rPr lang="ko-KR" altLang="en-US" sz="1200" dirty="0">
                <a:solidFill>
                  <a:schemeClr val="bg1"/>
                </a:solidFill>
              </a:rPr>
              <a:t>필요 </a:t>
            </a:r>
            <a:r>
              <a:rPr lang="en-US" altLang="ko-KR" sz="1200" dirty="0" err="1">
                <a:solidFill>
                  <a:schemeClr val="bg1"/>
                </a:solidFill>
              </a:rPr>
              <a:t>url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ko-KR" altLang="en-US" sz="1200" dirty="0">
                <a:solidFill>
                  <a:schemeClr val="bg1"/>
                </a:solidFill>
              </a:rPr>
              <a:t>선택</a:t>
            </a:r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03_8   </a:t>
            </a:r>
            <a:r>
              <a:rPr lang="ko-KR" altLang="en-US" sz="1200" dirty="0">
                <a:solidFill>
                  <a:schemeClr val="bg1"/>
                </a:solidFill>
              </a:rPr>
              <a:t>테스트 계획 저장</a:t>
            </a:r>
            <a:br>
              <a:rPr lang="en-US" altLang="ko-KR" sz="1200" dirty="0">
                <a:solidFill>
                  <a:schemeClr val="bg1"/>
                </a:solidFill>
              </a:rPr>
            </a:b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10CFFA3-43BF-41C2-88A3-A8CA53CB18D3}"/>
              </a:ext>
            </a:extLst>
          </p:cNvPr>
          <p:cNvSpPr txBox="1"/>
          <p:nvPr/>
        </p:nvSpPr>
        <p:spPr>
          <a:xfrm>
            <a:off x="7228978" y="3321419"/>
            <a:ext cx="2207213" cy="1384995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</a:rPr>
              <a:t>04_1   </a:t>
            </a:r>
            <a:r>
              <a:rPr lang="ko-KR" altLang="en-US" sz="1200" dirty="0">
                <a:solidFill>
                  <a:schemeClr val="bg1"/>
                </a:solidFill>
              </a:rPr>
              <a:t>서버 성능 기록</a:t>
            </a:r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04_2   </a:t>
            </a:r>
            <a:r>
              <a:rPr lang="ko-KR" altLang="en-US" sz="1200" dirty="0">
                <a:solidFill>
                  <a:schemeClr val="bg1"/>
                </a:solidFill>
              </a:rPr>
              <a:t>테스트 실행</a:t>
            </a:r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04_3   </a:t>
            </a:r>
            <a:r>
              <a:rPr lang="ko-KR" altLang="en-US" sz="1200" dirty="0">
                <a:solidFill>
                  <a:schemeClr val="bg1"/>
                </a:solidFill>
              </a:rPr>
              <a:t>테스트 실행 결과</a:t>
            </a:r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04_4   </a:t>
            </a:r>
            <a:r>
              <a:rPr lang="ko-KR" altLang="en-US" sz="1200" dirty="0">
                <a:solidFill>
                  <a:schemeClr val="bg1"/>
                </a:solidFill>
              </a:rPr>
              <a:t>스레드 별 속도 측정</a:t>
            </a:r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           (cal.sh)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04_5   </a:t>
            </a:r>
            <a:r>
              <a:rPr lang="ko-KR" altLang="en-US" sz="1200" dirty="0">
                <a:solidFill>
                  <a:schemeClr val="bg1"/>
                </a:solidFill>
              </a:rPr>
              <a:t>결과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ko-KR" altLang="en-US" sz="1200" dirty="0">
                <a:solidFill>
                  <a:schemeClr val="bg1"/>
                </a:solidFill>
              </a:rPr>
              <a:t>파일 분석</a:t>
            </a:r>
            <a:br>
              <a:rPr lang="en-US" altLang="ko-KR" sz="1200" dirty="0">
                <a:solidFill>
                  <a:schemeClr val="bg1"/>
                </a:solidFill>
              </a:rPr>
            </a:b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7F687F1-F558-4685-B20D-4AFBE6BC02AD}"/>
              </a:ext>
            </a:extLst>
          </p:cNvPr>
          <p:cNvSpPr txBox="1"/>
          <p:nvPr/>
        </p:nvSpPr>
        <p:spPr>
          <a:xfrm>
            <a:off x="9231333" y="3292752"/>
            <a:ext cx="2207213" cy="230832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</a:rPr>
              <a:t>05_1   </a:t>
            </a:r>
            <a:r>
              <a:rPr lang="ko-KR" altLang="en-US" sz="1200" dirty="0">
                <a:solidFill>
                  <a:schemeClr val="bg1"/>
                </a:solidFill>
              </a:rPr>
              <a:t>테스트실행환경</a:t>
            </a:r>
            <a:br>
              <a:rPr lang="en-US" altLang="ko-KR" sz="1200" dirty="0">
                <a:solidFill>
                  <a:schemeClr val="bg1"/>
                </a:solidFill>
              </a:rPr>
            </a:br>
            <a:r>
              <a:rPr lang="en-US" altLang="ko-KR" sz="1200" dirty="0">
                <a:solidFill>
                  <a:schemeClr val="bg1"/>
                </a:solidFill>
              </a:rPr>
              <a:t>05_2   </a:t>
            </a:r>
            <a:r>
              <a:rPr lang="ko-KR" altLang="en-US" sz="1200" dirty="0">
                <a:solidFill>
                  <a:schemeClr val="bg1"/>
                </a:solidFill>
              </a:rPr>
              <a:t>게시판</a:t>
            </a:r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05_3   </a:t>
            </a:r>
            <a:r>
              <a:rPr lang="ko-KR" altLang="en-US" sz="1200" dirty="0">
                <a:solidFill>
                  <a:schemeClr val="bg1"/>
                </a:solidFill>
              </a:rPr>
              <a:t>자원관리</a:t>
            </a:r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05_4   </a:t>
            </a:r>
            <a:r>
              <a:rPr lang="ko-KR" altLang="en-US" sz="1200" dirty="0">
                <a:solidFill>
                  <a:schemeClr val="bg1"/>
                </a:solidFill>
              </a:rPr>
              <a:t>전자결재</a:t>
            </a:r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05_5   </a:t>
            </a:r>
            <a:r>
              <a:rPr lang="ko-KR" altLang="en-US" sz="1200" dirty="0">
                <a:solidFill>
                  <a:schemeClr val="bg1"/>
                </a:solidFill>
              </a:rPr>
              <a:t>일정관리</a:t>
            </a:r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05_6   </a:t>
            </a:r>
            <a:r>
              <a:rPr lang="ko-KR" altLang="en-US" sz="1200" dirty="0">
                <a:solidFill>
                  <a:schemeClr val="bg1"/>
                </a:solidFill>
              </a:rPr>
              <a:t>동일 부하 에 따른 결과</a:t>
            </a:r>
            <a:br>
              <a:rPr lang="en-US" altLang="ko-KR" sz="1200" dirty="0">
                <a:solidFill>
                  <a:schemeClr val="bg1"/>
                </a:solidFill>
              </a:rPr>
            </a:br>
            <a:r>
              <a:rPr lang="en-US" altLang="ko-KR" sz="1200" dirty="0">
                <a:solidFill>
                  <a:schemeClr val="bg1"/>
                </a:solidFill>
              </a:rPr>
              <a:t>05_7   </a:t>
            </a:r>
            <a:r>
              <a:rPr lang="ko-KR" altLang="en-US" sz="1200" dirty="0">
                <a:solidFill>
                  <a:schemeClr val="bg1"/>
                </a:solidFill>
              </a:rPr>
              <a:t>테스트실행환경</a:t>
            </a:r>
            <a:r>
              <a:rPr lang="en-US" altLang="ko-KR" sz="1200" dirty="0">
                <a:solidFill>
                  <a:schemeClr val="bg1"/>
                </a:solidFill>
              </a:rPr>
              <a:t>_</a:t>
            </a:r>
            <a:r>
              <a:rPr lang="en-US" altLang="ko-KR" sz="1200" dirty="0" err="1">
                <a:solidFill>
                  <a:schemeClr val="bg1"/>
                </a:solidFill>
              </a:rPr>
              <a:t>Javarel</a:t>
            </a:r>
            <a:br>
              <a:rPr lang="en-US" altLang="ko-KR" sz="1200" dirty="0">
                <a:solidFill>
                  <a:schemeClr val="bg1"/>
                </a:solidFill>
              </a:rPr>
            </a:br>
            <a:r>
              <a:rPr lang="en-US" altLang="ko-KR" sz="1200" dirty="0">
                <a:solidFill>
                  <a:schemeClr val="bg1"/>
                </a:solidFill>
              </a:rPr>
              <a:t>05_8   </a:t>
            </a:r>
            <a:r>
              <a:rPr lang="ko-KR" altLang="en-US" sz="1200" dirty="0">
                <a:solidFill>
                  <a:schemeClr val="bg1"/>
                </a:solidFill>
              </a:rPr>
              <a:t>전자결재</a:t>
            </a:r>
            <a:r>
              <a:rPr lang="en-US" altLang="ko-KR" sz="1200" dirty="0">
                <a:solidFill>
                  <a:schemeClr val="bg1"/>
                </a:solidFill>
              </a:rPr>
              <a:t>_</a:t>
            </a:r>
            <a:r>
              <a:rPr lang="en-US" altLang="ko-KR" sz="1200" dirty="0" err="1">
                <a:solidFill>
                  <a:schemeClr val="bg1"/>
                </a:solidFill>
              </a:rPr>
              <a:t>Javarel</a:t>
            </a:r>
            <a:endParaRPr lang="en-US" altLang="ko-KR" sz="1200" dirty="0">
              <a:solidFill>
                <a:schemeClr val="bg1"/>
              </a:solidFill>
            </a:endParaRPr>
          </a:p>
          <a:p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ko-KR" altLang="en-US" sz="1200" dirty="0">
                <a:solidFill>
                  <a:schemeClr val="bg1"/>
                </a:solidFill>
              </a:rPr>
              <a:t>예제파일 </a:t>
            </a:r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 - </a:t>
            </a:r>
            <a:r>
              <a:rPr lang="ko-KR" altLang="en-US" sz="1200" dirty="0">
                <a:solidFill>
                  <a:schemeClr val="bg1"/>
                </a:solidFill>
              </a:rPr>
              <a:t>로그인 </a:t>
            </a:r>
            <a:r>
              <a:rPr lang="en-US" altLang="ko-KR" sz="1200" dirty="0">
                <a:solidFill>
                  <a:schemeClr val="bg1"/>
                </a:solidFill>
              </a:rPr>
              <a:t>-&gt; </a:t>
            </a:r>
            <a:r>
              <a:rPr lang="ko-KR" altLang="en-US" sz="1200" dirty="0">
                <a:solidFill>
                  <a:schemeClr val="bg1"/>
                </a:solidFill>
              </a:rPr>
              <a:t>포탈</a:t>
            </a:r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 - </a:t>
            </a:r>
            <a:r>
              <a:rPr lang="ko-KR" altLang="en-US" sz="1200" dirty="0">
                <a:solidFill>
                  <a:schemeClr val="bg1"/>
                </a:solidFill>
              </a:rPr>
              <a:t>포탈 </a:t>
            </a:r>
            <a:r>
              <a:rPr lang="en-US" altLang="ko-KR" sz="1200" dirty="0">
                <a:solidFill>
                  <a:schemeClr val="bg1"/>
                </a:solidFill>
              </a:rPr>
              <a:t>-&gt; </a:t>
            </a:r>
            <a:r>
              <a:rPr lang="ko-KR" altLang="en-US" sz="1200" dirty="0">
                <a:solidFill>
                  <a:schemeClr val="bg1"/>
                </a:solidFill>
              </a:rPr>
              <a:t>전자결재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D5FDE7D-13F8-4469-B02A-F1D931EF37BC}"/>
              </a:ext>
            </a:extLst>
          </p:cNvPr>
          <p:cNvSpPr txBox="1"/>
          <p:nvPr/>
        </p:nvSpPr>
        <p:spPr>
          <a:xfrm>
            <a:off x="760159" y="504708"/>
            <a:ext cx="4897836" cy="461665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01_1   JMeter</a:t>
            </a:r>
            <a:r>
              <a:rPr lang="ko-KR" altLang="en-US" sz="2400" dirty="0"/>
              <a:t>란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6FF7F2C-E60C-456C-A4A6-9D13488732D2}"/>
              </a:ext>
            </a:extLst>
          </p:cNvPr>
          <p:cNvSpPr txBox="1"/>
          <p:nvPr/>
        </p:nvSpPr>
        <p:spPr>
          <a:xfrm>
            <a:off x="437768" y="5333842"/>
            <a:ext cx="10732023" cy="92333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dirty="0"/>
              <a:t>Apache JMeter Documentation(</a:t>
            </a:r>
            <a:r>
              <a:rPr lang="en-US" altLang="ko-KR" u="sng" dirty="0">
                <a:hlinkClick r:id="rId3"/>
              </a:rPr>
              <a:t>https://jmeter.apache.org/usermanual/best-practices.html</a:t>
            </a:r>
            <a:r>
              <a:rPr lang="en-US" altLang="ko-KR" dirty="0"/>
              <a:t>) </a:t>
            </a:r>
            <a:r>
              <a:rPr lang="ko-KR" altLang="en-US" dirty="0"/>
              <a:t>에서는 </a:t>
            </a:r>
            <a:r>
              <a:rPr lang="en-US" altLang="ko-KR" dirty="0"/>
              <a:t>CPU/Memory</a:t>
            </a:r>
            <a:r>
              <a:rPr lang="ko-KR" altLang="en-US" dirty="0"/>
              <a:t>에 적합하게 부하를 줄 것을 권고하고</a:t>
            </a:r>
            <a:r>
              <a:rPr lang="en-US" altLang="ko-KR" dirty="0"/>
              <a:t> </a:t>
            </a:r>
            <a:r>
              <a:rPr lang="ko-KR" altLang="en-US" dirty="0"/>
              <a:t>있으며</a:t>
            </a:r>
            <a:r>
              <a:rPr lang="en-US" altLang="ko-KR" dirty="0"/>
              <a:t>,  Thread </a:t>
            </a:r>
            <a:r>
              <a:rPr lang="ko-KR" altLang="en-US" dirty="0"/>
              <a:t>수를 고정시키고 </a:t>
            </a:r>
            <a:r>
              <a:rPr lang="en-US" altLang="ko-KR" dirty="0"/>
              <a:t>Ramp-Up Period </a:t>
            </a:r>
            <a:r>
              <a:rPr lang="ko-KR" altLang="en-US" dirty="0"/>
              <a:t>수치를 조정하며 적절한 수치를 찾을 것을 권고하고 있습니다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F36843-9D97-44A9-BF3F-03F69DB63B21}"/>
              </a:ext>
            </a:extLst>
          </p:cNvPr>
          <p:cNvSpPr txBox="1"/>
          <p:nvPr/>
        </p:nvSpPr>
        <p:spPr>
          <a:xfrm>
            <a:off x="760159" y="1338629"/>
            <a:ext cx="10087242" cy="3970318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dirty="0"/>
              <a:t>Apache </a:t>
            </a:r>
            <a:r>
              <a:rPr lang="ko-KR" altLang="en-US" dirty="0"/>
              <a:t>에서 개발된 기능 수행 테스트와 성능 측정을 위한 스트레스 테스트 도구 오픈소스 이다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JVM </a:t>
            </a:r>
            <a:r>
              <a:rPr lang="ko-KR" altLang="en-US" dirty="0"/>
              <a:t>이 설치돼 있는 어떤 환경에서도 구동이 가능하며 데스크톱 환경을 제공하기 때문에 직관적인 인터페이스를 통해 쉽게 사용 할 수 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Apache JMeter</a:t>
            </a:r>
            <a:r>
              <a:rPr lang="ko-KR" altLang="en-US" dirty="0"/>
              <a:t>는 웹 서비스를 비롯하여 파일</a:t>
            </a:r>
            <a:r>
              <a:rPr lang="en-US" altLang="ko-KR" dirty="0"/>
              <a:t>, </a:t>
            </a:r>
            <a:r>
              <a:rPr lang="ko-KR" altLang="en-US" dirty="0" err="1"/>
              <a:t>서블릿</a:t>
            </a:r>
            <a:r>
              <a:rPr lang="en-US" altLang="ko-KR" dirty="0"/>
              <a:t>, Perl </a:t>
            </a:r>
            <a:r>
              <a:rPr lang="ko-KR" altLang="en-US" dirty="0"/>
              <a:t>스크립트</a:t>
            </a:r>
            <a:r>
              <a:rPr lang="en-US" altLang="ko-KR" dirty="0"/>
              <a:t>, Java </a:t>
            </a:r>
            <a:r>
              <a:rPr lang="ko-KR" altLang="en-US" dirty="0"/>
              <a:t>객체</a:t>
            </a:r>
            <a:r>
              <a:rPr lang="en-US" altLang="ko-KR" dirty="0"/>
              <a:t>, </a:t>
            </a:r>
            <a:r>
              <a:rPr lang="ko-KR" altLang="en-US" dirty="0"/>
              <a:t>데이터베이스와 쿼리</a:t>
            </a:r>
            <a:r>
              <a:rPr lang="en-US" altLang="ko-KR" dirty="0"/>
              <a:t>, FTP </a:t>
            </a:r>
            <a:r>
              <a:rPr lang="ko-KR" altLang="en-US" dirty="0"/>
              <a:t>서버 등 동적</a:t>
            </a:r>
            <a:r>
              <a:rPr lang="en-US" altLang="ko-KR" dirty="0"/>
              <a:t>, </a:t>
            </a:r>
            <a:r>
              <a:rPr lang="ko-KR" altLang="en-US" dirty="0"/>
              <a:t>정적인 모든 자원을 테스트 할 수 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Apache JMeter</a:t>
            </a:r>
            <a:r>
              <a:rPr lang="ko-KR" altLang="en-US" dirty="0"/>
              <a:t>를 이용하면 서버나 네트웍</a:t>
            </a:r>
            <a:r>
              <a:rPr lang="en-US" altLang="ko-KR" dirty="0"/>
              <a:t>, </a:t>
            </a:r>
            <a:r>
              <a:rPr lang="ko-KR" altLang="en-US" dirty="0"/>
              <a:t>객체에 대한 부하를 시뮬레이션 할 수 있고 다양한 부하 조건에서의 종합적인 성능을 분석 할 수 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서버나 스크립트 등에 대한 동시 다발적인 부하 테스트를 하고 그 성능 분석 결과를 보기 쉽게 도표로 그릴 수도 있다</a:t>
            </a:r>
          </a:p>
          <a:p>
            <a:endParaRPr lang="ko-KR" altLang="en-US" dirty="0"/>
          </a:p>
        </p:txBody>
      </p:sp>
      <p:pic>
        <p:nvPicPr>
          <p:cNvPr id="1028" name="Picture 4" descr="https://blog.kakaocdn.net/dn/bGmnrV/btqVdNLHEtR/jnQAI9M5PbH8nDy2WJ7CQk/img.jpg">
            <a:extLst>
              <a:ext uri="{FF2B5EF4-FFF2-40B4-BE49-F238E27FC236}">
                <a16:creationId xmlns:a16="http://schemas.microsoft.com/office/drawing/2014/main" id="{0DA11B2E-86FC-42AA-8F18-A71A2495AE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4834" y="93909"/>
            <a:ext cx="2281223" cy="1283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2656928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직사각형 58">
            <a:extLst>
              <a:ext uri="{FF2B5EF4-FFF2-40B4-BE49-F238E27FC236}">
                <a16:creationId xmlns:a16="http://schemas.microsoft.com/office/drawing/2014/main" id="{AC34E151-AAD0-4859-B446-169970CF3AC7}"/>
              </a:ext>
            </a:extLst>
          </p:cNvPr>
          <p:cNvSpPr/>
          <p:nvPr/>
        </p:nvSpPr>
        <p:spPr>
          <a:xfrm>
            <a:off x="7822267" y="978494"/>
            <a:ext cx="3103528" cy="530313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7CBC2F50-6B97-49A6-B89E-90893FDDBD5A}"/>
              </a:ext>
            </a:extLst>
          </p:cNvPr>
          <p:cNvSpPr/>
          <p:nvPr/>
        </p:nvSpPr>
        <p:spPr>
          <a:xfrm>
            <a:off x="4229867" y="978493"/>
            <a:ext cx="3103528" cy="530313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6750AF40-EBF8-4A31-9F68-5F8E92B00423}"/>
              </a:ext>
            </a:extLst>
          </p:cNvPr>
          <p:cNvSpPr/>
          <p:nvPr/>
        </p:nvSpPr>
        <p:spPr>
          <a:xfrm>
            <a:off x="737555" y="989755"/>
            <a:ext cx="3103528" cy="530313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44" name="TextBox 5143"/>
          <p:cNvSpPr txBox="1"/>
          <p:nvPr/>
        </p:nvSpPr>
        <p:spPr>
          <a:xfrm>
            <a:off x="1299799" y="1058344"/>
            <a:ext cx="1798985" cy="36822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/>
          <a:p>
            <a:pPr marL="0" lvl="0" indent="0" algn="ctr" defTabSz="58846888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0" lang="ko-KR" altLang="en-US" sz="1800" b="1" i="0" dirty="0">
                <a:ea typeface="맑은 고딕"/>
              </a:rPr>
              <a:t>테스트계획생성</a:t>
            </a:r>
          </a:p>
        </p:txBody>
      </p:sp>
      <p:sp>
        <p:nvSpPr>
          <p:cNvPr id="5145" name="TextBox 5144"/>
          <p:cNvSpPr txBox="1"/>
          <p:nvPr/>
        </p:nvSpPr>
        <p:spPr>
          <a:xfrm>
            <a:off x="4884703" y="1058344"/>
            <a:ext cx="1655436" cy="36822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/>
          <a:p>
            <a:pPr marL="0" lvl="0" indent="0" algn="ctr" defTabSz="58846888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0" lang="ko-KR" altLang="en-US" sz="1800" b="1" i="0" dirty="0">
                <a:ea typeface="맑은 고딕"/>
              </a:rPr>
              <a:t>실행</a:t>
            </a:r>
          </a:p>
        </p:txBody>
      </p:sp>
      <p:sp>
        <p:nvSpPr>
          <p:cNvPr id="5146" name="TextBox 5145"/>
          <p:cNvSpPr txBox="1"/>
          <p:nvPr/>
        </p:nvSpPr>
        <p:spPr>
          <a:xfrm>
            <a:off x="8438362" y="1056781"/>
            <a:ext cx="1871338" cy="369791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/>
          <a:p>
            <a:pPr marL="0" lvl="0" indent="0" algn="ctr" defTabSz="58846888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ko-KR" altLang="en-US" b="1" dirty="0">
                <a:ea typeface="맑은 고딕"/>
              </a:rPr>
              <a:t>계산</a:t>
            </a:r>
            <a:endParaRPr kumimoji="0" lang="en-US" altLang="ko-KR" sz="1800" b="1" i="0" baseline="0" dirty="0">
              <a:ea typeface="맑은 고딕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2F3253-15B5-4A22-89D3-DF0F463561D8}"/>
              </a:ext>
            </a:extLst>
          </p:cNvPr>
          <p:cNvSpPr txBox="1"/>
          <p:nvPr/>
        </p:nvSpPr>
        <p:spPr>
          <a:xfrm>
            <a:off x="299294" y="1618933"/>
            <a:ext cx="3745987" cy="52322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 err="1"/>
              <a:t>Jmeter.properties</a:t>
            </a:r>
            <a:br>
              <a:rPr lang="en-US" altLang="ko-KR" sz="1400" dirty="0"/>
            </a:br>
            <a:r>
              <a:rPr lang="en-US" altLang="ko-KR" sz="1400" dirty="0"/>
              <a:t>(</a:t>
            </a:r>
            <a:r>
              <a:rPr lang="en-US" altLang="ko-KR" sz="1400" dirty="0" err="1"/>
              <a:t>CookieManager.save.cookies</a:t>
            </a:r>
            <a:r>
              <a:rPr lang="en-US" altLang="ko-KR" sz="1400" dirty="0"/>
              <a:t> = true)</a:t>
            </a:r>
            <a:endParaRPr lang="ko-KR" altLang="en-US" sz="1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4F2D819-0C88-4352-8B0D-22289DFC256F}"/>
              </a:ext>
            </a:extLst>
          </p:cNvPr>
          <p:cNvSpPr txBox="1"/>
          <p:nvPr/>
        </p:nvSpPr>
        <p:spPr>
          <a:xfrm>
            <a:off x="1506479" y="2373715"/>
            <a:ext cx="1331616" cy="307777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Jmeter.sh</a:t>
            </a:r>
            <a:r>
              <a:rPr lang="ko-KR" altLang="en-US" sz="1400" dirty="0"/>
              <a:t> 실행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4D69041-0A44-4230-9F00-E7B75436E98E}"/>
              </a:ext>
            </a:extLst>
          </p:cNvPr>
          <p:cNvSpPr txBox="1"/>
          <p:nvPr/>
        </p:nvSpPr>
        <p:spPr>
          <a:xfrm>
            <a:off x="1410935" y="2845830"/>
            <a:ext cx="1522703" cy="307777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쓰레드 정보 입력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AFC20E4-15FD-4DC2-B3B1-B76CD37E4509}"/>
              </a:ext>
            </a:extLst>
          </p:cNvPr>
          <p:cNvSpPr txBox="1"/>
          <p:nvPr/>
        </p:nvSpPr>
        <p:spPr>
          <a:xfrm>
            <a:off x="547988" y="3395971"/>
            <a:ext cx="3248596" cy="52322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/>
              <a:t>Http</a:t>
            </a:r>
            <a:r>
              <a:rPr lang="ko-KR" altLang="en-US" sz="1400" dirty="0"/>
              <a:t>테스트 스크립트 레코더 추가</a:t>
            </a:r>
            <a:br>
              <a:rPr lang="en-US" altLang="ko-KR" sz="1400" dirty="0"/>
            </a:br>
            <a:r>
              <a:rPr lang="en-US" altLang="ko-KR" sz="1400" dirty="0"/>
              <a:t>(</a:t>
            </a:r>
            <a:r>
              <a:rPr lang="ko-KR" altLang="en-US" sz="1400" dirty="0"/>
              <a:t>포트번호</a:t>
            </a:r>
            <a:r>
              <a:rPr lang="en-US" altLang="ko-KR" sz="1400" dirty="0"/>
              <a:t>, </a:t>
            </a:r>
            <a:r>
              <a:rPr lang="ko-KR" altLang="en-US" sz="1400" dirty="0"/>
              <a:t>테스트계획</a:t>
            </a:r>
            <a:r>
              <a:rPr lang="en-US" altLang="ko-KR" sz="1400" dirty="0"/>
              <a:t>, Redirect </a:t>
            </a:r>
            <a:r>
              <a:rPr lang="ko-KR" altLang="en-US" sz="1400" dirty="0"/>
              <a:t>설정</a:t>
            </a:r>
            <a:r>
              <a:rPr lang="en-US" altLang="ko-KR" sz="1400" dirty="0"/>
              <a:t>)</a:t>
            </a:r>
            <a:endParaRPr lang="ko-KR" altLang="en-US" sz="1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4B9A73A-2D99-477F-8936-9601E8DCA204}"/>
              </a:ext>
            </a:extLst>
          </p:cNvPr>
          <p:cNvSpPr txBox="1"/>
          <p:nvPr/>
        </p:nvSpPr>
        <p:spPr>
          <a:xfrm>
            <a:off x="1292333" y="4078891"/>
            <a:ext cx="1759905" cy="307777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테스트 사이트 접속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31CF308-40C5-4202-AE13-AA56A6023C2E}"/>
              </a:ext>
            </a:extLst>
          </p:cNvPr>
          <p:cNvSpPr txBox="1"/>
          <p:nvPr/>
        </p:nvSpPr>
        <p:spPr>
          <a:xfrm>
            <a:off x="1591001" y="4607221"/>
            <a:ext cx="1162568" cy="307777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프록시 설정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6A19FA7-6D57-46D3-9488-6BB6D5E7B9A9}"/>
              </a:ext>
            </a:extLst>
          </p:cNvPr>
          <p:cNvSpPr txBox="1"/>
          <p:nvPr/>
        </p:nvSpPr>
        <p:spPr>
          <a:xfrm>
            <a:off x="1591001" y="5135551"/>
            <a:ext cx="1162568" cy="307777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레코더 실행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363F74-FAC6-4588-A8F4-78CE0DA5DBBA}"/>
              </a:ext>
            </a:extLst>
          </p:cNvPr>
          <p:cNvSpPr txBox="1"/>
          <p:nvPr/>
        </p:nvSpPr>
        <p:spPr>
          <a:xfrm>
            <a:off x="717403" y="5668224"/>
            <a:ext cx="2895628" cy="307777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불필요한 </a:t>
            </a:r>
            <a:r>
              <a:rPr lang="en-US" altLang="ko-KR" sz="1400" dirty="0" err="1"/>
              <a:t>Url</a:t>
            </a:r>
            <a:r>
              <a:rPr lang="en-US" altLang="ko-KR" sz="1400" dirty="0"/>
              <a:t> </a:t>
            </a:r>
            <a:r>
              <a:rPr lang="ko-KR" altLang="en-US" sz="1400" dirty="0"/>
              <a:t>제거 후 </a:t>
            </a:r>
            <a:r>
              <a:rPr lang="en-US" altLang="ko-KR" sz="1400" dirty="0" err="1"/>
              <a:t>jmx</a:t>
            </a:r>
            <a:r>
              <a:rPr lang="en-US" altLang="ko-KR" sz="1400" dirty="0"/>
              <a:t> </a:t>
            </a:r>
            <a:r>
              <a:rPr lang="ko-KR" altLang="en-US" sz="1400" dirty="0"/>
              <a:t>파일 저장</a:t>
            </a:r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3BC13DC0-7613-4106-B9D1-E19839DCB1DA}"/>
              </a:ext>
            </a:extLst>
          </p:cNvPr>
          <p:cNvCxnSpPr>
            <a:cxnSpLocks/>
            <a:stCxn id="3" idx="2"/>
            <a:endCxn id="16" idx="0"/>
          </p:cNvCxnSpPr>
          <p:nvPr/>
        </p:nvCxnSpPr>
        <p:spPr>
          <a:xfrm flipH="1">
            <a:off x="2172287" y="2142153"/>
            <a:ext cx="1" cy="2315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E261C59C-6656-4357-910A-273AF9CAB3BC}"/>
              </a:ext>
            </a:extLst>
          </p:cNvPr>
          <p:cNvCxnSpPr>
            <a:stCxn id="16" idx="2"/>
            <a:endCxn id="17" idx="0"/>
          </p:cNvCxnSpPr>
          <p:nvPr/>
        </p:nvCxnSpPr>
        <p:spPr>
          <a:xfrm>
            <a:off x="2172287" y="2681492"/>
            <a:ext cx="0" cy="1643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C253A103-008C-405A-93E2-EF31E5A3488E}"/>
              </a:ext>
            </a:extLst>
          </p:cNvPr>
          <p:cNvCxnSpPr>
            <a:stCxn id="17" idx="2"/>
            <a:endCxn id="18" idx="0"/>
          </p:cNvCxnSpPr>
          <p:nvPr/>
        </p:nvCxnSpPr>
        <p:spPr>
          <a:xfrm flipH="1">
            <a:off x="2172286" y="3153607"/>
            <a:ext cx="1" cy="2423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3E9D8A0E-4AAB-4BF7-A188-BE328A8ED57A}"/>
              </a:ext>
            </a:extLst>
          </p:cNvPr>
          <p:cNvCxnSpPr>
            <a:stCxn id="18" idx="2"/>
            <a:endCxn id="19" idx="0"/>
          </p:cNvCxnSpPr>
          <p:nvPr/>
        </p:nvCxnSpPr>
        <p:spPr>
          <a:xfrm>
            <a:off x="2172286" y="3919191"/>
            <a:ext cx="0" cy="1597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EFD92462-2975-4D25-890B-FCF585002B5A}"/>
              </a:ext>
            </a:extLst>
          </p:cNvPr>
          <p:cNvCxnSpPr>
            <a:stCxn id="19" idx="2"/>
            <a:endCxn id="20" idx="0"/>
          </p:cNvCxnSpPr>
          <p:nvPr/>
        </p:nvCxnSpPr>
        <p:spPr>
          <a:xfrm flipH="1">
            <a:off x="2172285" y="4386668"/>
            <a:ext cx="1" cy="2205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0A0FBE86-7CA7-4CCD-BAE1-8399BF850AB6}"/>
              </a:ext>
            </a:extLst>
          </p:cNvPr>
          <p:cNvCxnSpPr>
            <a:stCxn id="20" idx="2"/>
            <a:endCxn id="21" idx="0"/>
          </p:cNvCxnSpPr>
          <p:nvPr/>
        </p:nvCxnSpPr>
        <p:spPr>
          <a:xfrm>
            <a:off x="2172285" y="4914998"/>
            <a:ext cx="0" cy="2205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E2F44417-8036-4B72-BE5B-51BC8A419FA1}"/>
              </a:ext>
            </a:extLst>
          </p:cNvPr>
          <p:cNvCxnSpPr>
            <a:stCxn id="21" idx="2"/>
            <a:endCxn id="22" idx="0"/>
          </p:cNvCxnSpPr>
          <p:nvPr/>
        </p:nvCxnSpPr>
        <p:spPr>
          <a:xfrm flipH="1">
            <a:off x="2165217" y="5443328"/>
            <a:ext cx="7068" cy="2248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F92D54A7-AF2E-41BF-A1A2-3794BDCAE299}"/>
              </a:ext>
            </a:extLst>
          </p:cNvPr>
          <p:cNvSpPr txBox="1"/>
          <p:nvPr/>
        </p:nvSpPr>
        <p:spPr>
          <a:xfrm>
            <a:off x="4911857" y="1655390"/>
            <a:ext cx="1655436" cy="307777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/>
              <a:t>해당 서버에 접속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55C431E-DFA5-40F8-83D3-4F173CBC43B9}"/>
              </a:ext>
            </a:extLst>
          </p:cNvPr>
          <p:cNvSpPr txBox="1"/>
          <p:nvPr/>
        </p:nvSpPr>
        <p:spPr>
          <a:xfrm>
            <a:off x="4353775" y="2240441"/>
            <a:ext cx="2771599" cy="52322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/>
              <a:t>해당 서버 </a:t>
            </a:r>
            <a:r>
              <a:rPr lang="en-US" altLang="ko-KR" sz="1400" dirty="0" err="1"/>
              <a:t>cpu</a:t>
            </a:r>
            <a:r>
              <a:rPr lang="en-US" altLang="ko-KR" sz="1400" dirty="0"/>
              <a:t>, memory </a:t>
            </a:r>
            <a:r>
              <a:rPr lang="ko-KR" altLang="en-US" sz="1400" dirty="0"/>
              <a:t>상태 기록</a:t>
            </a:r>
            <a:br>
              <a:rPr lang="en-US" altLang="ko-KR" sz="1400" dirty="0"/>
            </a:br>
            <a:r>
              <a:rPr lang="en-US" altLang="ko-KR" sz="1400" dirty="0"/>
              <a:t>(</a:t>
            </a:r>
            <a:r>
              <a:rPr lang="en-US" altLang="ko-KR" sz="1400" dirty="0" err="1"/>
              <a:t>dstat</a:t>
            </a:r>
            <a:r>
              <a:rPr lang="en-US" altLang="ko-KR" sz="1400" dirty="0"/>
              <a:t> –output </a:t>
            </a:r>
            <a:r>
              <a:rPr lang="ko-KR" altLang="en-US" sz="1400" dirty="0"/>
              <a:t>파일경로 </a:t>
            </a:r>
            <a:r>
              <a:rPr lang="en-US" altLang="ko-KR" sz="1400" dirty="0"/>
              <a:t>–</a:t>
            </a:r>
            <a:r>
              <a:rPr lang="en-US" altLang="ko-KR" sz="1400" dirty="0" err="1"/>
              <a:t>cdnpmrt</a:t>
            </a:r>
            <a:r>
              <a:rPr lang="en-US" altLang="ko-KR" sz="1400" dirty="0"/>
              <a:t>)</a:t>
            </a:r>
            <a:endParaRPr lang="ko-KR" altLang="en-US" sz="14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5A9AD01-513D-4960-8F50-147B75949DB9}"/>
              </a:ext>
            </a:extLst>
          </p:cNvPr>
          <p:cNvSpPr txBox="1"/>
          <p:nvPr/>
        </p:nvSpPr>
        <p:spPr>
          <a:xfrm>
            <a:off x="4353775" y="3051753"/>
            <a:ext cx="2771599" cy="1169551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/>
              <a:t>테스트 실행</a:t>
            </a:r>
            <a:endParaRPr lang="en-US" altLang="ko-KR" sz="1400" dirty="0"/>
          </a:p>
          <a:p>
            <a:pPr algn="ctr"/>
            <a:r>
              <a:rPr lang="en-US" altLang="ko-KR" sz="1400" dirty="0"/>
              <a:t>(path/jmeter.sh –n –t </a:t>
            </a:r>
            <a:r>
              <a:rPr lang="en-US" altLang="ko-KR" sz="1400" dirty="0" err="1"/>
              <a:t>jmx</a:t>
            </a:r>
            <a:r>
              <a:rPr lang="ko-KR" altLang="en-US" sz="1400" dirty="0"/>
              <a:t>파일경로</a:t>
            </a:r>
            <a:br>
              <a:rPr lang="en-US" altLang="ko-KR" sz="1400" dirty="0"/>
            </a:br>
            <a:r>
              <a:rPr lang="en-US" altLang="ko-KR" sz="1400" dirty="0"/>
              <a:t>-j run.log </a:t>
            </a:r>
            <a:r>
              <a:rPr lang="ko-KR" altLang="en-US" sz="1400" dirty="0"/>
              <a:t>파일을 만들 경로</a:t>
            </a:r>
            <a:endParaRPr lang="en-US" altLang="ko-KR" sz="1400" dirty="0"/>
          </a:p>
          <a:p>
            <a:pPr algn="ctr"/>
            <a:r>
              <a:rPr lang="en-US" altLang="ko-KR" sz="1400" dirty="0"/>
              <a:t>-l </a:t>
            </a:r>
            <a:r>
              <a:rPr lang="en-US" altLang="ko-KR" sz="1400" dirty="0" err="1"/>
              <a:t>result.jtl</a:t>
            </a:r>
            <a:r>
              <a:rPr lang="en-US" altLang="ko-KR" sz="1400" dirty="0"/>
              <a:t> </a:t>
            </a:r>
            <a:r>
              <a:rPr lang="ko-KR" altLang="en-US" sz="1400" dirty="0"/>
              <a:t>파일을 만들 경로</a:t>
            </a:r>
            <a:endParaRPr lang="en-US" altLang="ko-KR" sz="1400" dirty="0"/>
          </a:p>
          <a:p>
            <a:pPr algn="ctr"/>
            <a:r>
              <a:rPr lang="en-US" altLang="ko-KR" sz="1400" dirty="0"/>
              <a:t>-e –o html </a:t>
            </a:r>
            <a:r>
              <a:rPr lang="ko-KR" altLang="en-US" sz="1400" dirty="0"/>
              <a:t>파일을 만들 경로</a:t>
            </a:r>
          </a:p>
        </p:txBody>
      </p: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B1B004FB-BC21-4132-9AB3-9CD0AFBC4A90}"/>
              </a:ext>
            </a:extLst>
          </p:cNvPr>
          <p:cNvCxnSpPr>
            <a:stCxn id="50" idx="2"/>
            <a:endCxn id="51" idx="0"/>
          </p:cNvCxnSpPr>
          <p:nvPr/>
        </p:nvCxnSpPr>
        <p:spPr>
          <a:xfrm>
            <a:off x="5739575" y="1963167"/>
            <a:ext cx="0" cy="2772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9DA3F853-1D3B-43FC-80E5-26A9B38EB0FA}"/>
              </a:ext>
            </a:extLst>
          </p:cNvPr>
          <p:cNvCxnSpPr>
            <a:cxnSpLocks/>
            <a:endCxn id="52" idx="0"/>
          </p:cNvCxnSpPr>
          <p:nvPr/>
        </p:nvCxnSpPr>
        <p:spPr>
          <a:xfrm>
            <a:off x="5739575" y="2823223"/>
            <a:ext cx="0" cy="2285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B5E57115-A705-4F26-ABD0-9F5A01FCAE94}"/>
              </a:ext>
            </a:extLst>
          </p:cNvPr>
          <p:cNvSpPr txBox="1"/>
          <p:nvPr/>
        </p:nvSpPr>
        <p:spPr>
          <a:xfrm>
            <a:off x="8178931" y="1563409"/>
            <a:ext cx="2390200" cy="52322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/>
              <a:t>Cal.sh</a:t>
            </a:r>
            <a:r>
              <a:rPr lang="ko-KR" altLang="en-US" sz="1400" dirty="0"/>
              <a:t> 파일 받기</a:t>
            </a:r>
            <a:br>
              <a:rPr lang="en-US" altLang="ko-KR" sz="1400" dirty="0"/>
            </a:br>
            <a:r>
              <a:rPr lang="en-US" altLang="ko-KR" sz="1400" dirty="0"/>
              <a:t>(</a:t>
            </a:r>
            <a:r>
              <a:rPr lang="ko-KR" altLang="en-US" sz="1400" dirty="0"/>
              <a:t>표준 </a:t>
            </a:r>
            <a:r>
              <a:rPr lang="en-US" altLang="ko-KR" sz="1400" dirty="0"/>
              <a:t>&gt; </a:t>
            </a:r>
            <a:r>
              <a:rPr lang="en-US" altLang="ko-KR" sz="1400" dirty="0" err="1"/>
              <a:t>Jmeter</a:t>
            </a:r>
            <a:r>
              <a:rPr lang="en-US" altLang="ko-KR" sz="1400" dirty="0"/>
              <a:t>&gt; Cal.sh</a:t>
            </a:r>
            <a:r>
              <a:rPr lang="ko-KR" altLang="en-US" sz="1400" dirty="0"/>
              <a:t>파일</a:t>
            </a:r>
            <a:r>
              <a:rPr lang="en-US" altLang="ko-KR" sz="1400" dirty="0"/>
              <a:t>)</a:t>
            </a:r>
            <a:endParaRPr lang="ko-KR" altLang="en-US" sz="140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A5AA4C8-4010-4F56-BE7A-911FD830F8EB}"/>
              </a:ext>
            </a:extLst>
          </p:cNvPr>
          <p:cNvSpPr txBox="1"/>
          <p:nvPr/>
        </p:nvSpPr>
        <p:spPr>
          <a:xfrm>
            <a:off x="8178931" y="2302209"/>
            <a:ext cx="2390200" cy="307777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 err="1"/>
              <a:t>리눅스서버에서</a:t>
            </a:r>
            <a:r>
              <a:rPr lang="ko-KR" altLang="en-US" sz="1400" dirty="0"/>
              <a:t> </a:t>
            </a:r>
            <a:r>
              <a:rPr lang="en-US" altLang="ko-KR" sz="1400" dirty="0"/>
              <a:t>Cal.sh </a:t>
            </a:r>
            <a:r>
              <a:rPr lang="ko-KR" altLang="en-US" sz="1400" dirty="0"/>
              <a:t>실행</a:t>
            </a:r>
          </a:p>
        </p:txBody>
      </p:sp>
      <p:cxnSp>
        <p:nvCxnSpPr>
          <p:cNvPr id="65" name="직선 화살표 연결선 64">
            <a:extLst>
              <a:ext uri="{FF2B5EF4-FFF2-40B4-BE49-F238E27FC236}">
                <a16:creationId xmlns:a16="http://schemas.microsoft.com/office/drawing/2014/main" id="{19D03D39-DFCD-4096-876A-C3B85CD36328}"/>
              </a:ext>
            </a:extLst>
          </p:cNvPr>
          <p:cNvCxnSpPr>
            <a:cxnSpLocks/>
            <a:stCxn id="60" idx="2"/>
            <a:endCxn id="64" idx="0"/>
          </p:cNvCxnSpPr>
          <p:nvPr/>
        </p:nvCxnSpPr>
        <p:spPr>
          <a:xfrm>
            <a:off x="9374031" y="2086629"/>
            <a:ext cx="0" cy="2155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59E1DC7E-02AD-43DB-9DB4-50357DF3ECA9}"/>
              </a:ext>
            </a:extLst>
          </p:cNvPr>
          <p:cNvSpPr txBox="1"/>
          <p:nvPr/>
        </p:nvSpPr>
        <p:spPr>
          <a:xfrm>
            <a:off x="8177719" y="2855578"/>
            <a:ext cx="2390200" cy="73866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 err="1"/>
              <a:t>실행시</a:t>
            </a:r>
            <a:r>
              <a:rPr lang="ko-KR" altLang="en-US" sz="1400" dirty="0"/>
              <a:t> 에러발생 한다면</a:t>
            </a:r>
            <a:endParaRPr lang="en-US" altLang="ko-KR" sz="1400" dirty="0"/>
          </a:p>
          <a:p>
            <a:pPr algn="ctr"/>
            <a:r>
              <a:rPr lang="en-US" altLang="ko-KR" sz="1400" dirty="0"/>
              <a:t>Vim –b ./cal.sh</a:t>
            </a:r>
          </a:p>
          <a:p>
            <a:pPr algn="ctr"/>
            <a:r>
              <a:rPr lang="en-US" altLang="ko-KR" sz="1400" dirty="0"/>
              <a:t>:%s/^M//g </a:t>
            </a:r>
            <a:r>
              <a:rPr lang="ko-KR" altLang="en-US" sz="1400" dirty="0"/>
              <a:t>을 통해 </a:t>
            </a:r>
            <a:r>
              <a:rPr lang="en-US" altLang="ko-KR" sz="1400" dirty="0"/>
              <a:t>^M</a:t>
            </a:r>
            <a:r>
              <a:rPr lang="ko-KR" altLang="en-US" sz="1400" dirty="0"/>
              <a:t>삭제</a:t>
            </a:r>
          </a:p>
        </p:txBody>
      </p:sp>
      <p:cxnSp>
        <p:nvCxnSpPr>
          <p:cNvPr id="70" name="직선 화살표 연결선 69">
            <a:extLst>
              <a:ext uri="{FF2B5EF4-FFF2-40B4-BE49-F238E27FC236}">
                <a16:creationId xmlns:a16="http://schemas.microsoft.com/office/drawing/2014/main" id="{7278531A-919B-45E2-83E3-CA241B826772}"/>
              </a:ext>
            </a:extLst>
          </p:cNvPr>
          <p:cNvCxnSpPr>
            <a:cxnSpLocks/>
            <a:endCxn id="69" idx="0"/>
          </p:cNvCxnSpPr>
          <p:nvPr/>
        </p:nvCxnSpPr>
        <p:spPr>
          <a:xfrm>
            <a:off x="9372819" y="2609849"/>
            <a:ext cx="0" cy="2457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C9C027D5-6492-4D49-BF6B-6FD89A65C10B}"/>
              </a:ext>
            </a:extLst>
          </p:cNvPr>
          <p:cNvSpPr txBox="1"/>
          <p:nvPr/>
        </p:nvSpPr>
        <p:spPr>
          <a:xfrm>
            <a:off x="4359368" y="4509396"/>
            <a:ext cx="2771599" cy="52322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 err="1"/>
              <a:t>Dstat</a:t>
            </a:r>
            <a:r>
              <a:rPr lang="ko-KR" altLang="en-US" sz="1400" dirty="0"/>
              <a:t>로 기록되고 있던 실행 정지</a:t>
            </a:r>
            <a:endParaRPr lang="en-US" altLang="ko-KR" sz="1400" dirty="0"/>
          </a:p>
          <a:p>
            <a:pPr algn="ctr"/>
            <a:r>
              <a:rPr lang="en-US" altLang="ko-KR" sz="1400" dirty="0"/>
              <a:t>(Ctrl + c)</a:t>
            </a:r>
            <a:endParaRPr lang="ko-KR" altLang="en-US" sz="1400" dirty="0"/>
          </a:p>
        </p:txBody>
      </p:sp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EE2535DD-FC33-4A98-A52D-EE0E90B8145D}"/>
              </a:ext>
            </a:extLst>
          </p:cNvPr>
          <p:cNvCxnSpPr>
            <a:cxnSpLocks/>
            <a:stCxn id="52" idx="2"/>
            <a:endCxn id="72" idx="0"/>
          </p:cNvCxnSpPr>
          <p:nvPr/>
        </p:nvCxnSpPr>
        <p:spPr>
          <a:xfrm>
            <a:off x="5739575" y="4221304"/>
            <a:ext cx="5593" cy="2880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직선 화살표 연결선 80">
            <a:extLst>
              <a:ext uri="{FF2B5EF4-FFF2-40B4-BE49-F238E27FC236}">
                <a16:creationId xmlns:a16="http://schemas.microsoft.com/office/drawing/2014/main" id="{F79368A6-7B5C-4A36-BB1B-90916277866E}"/>
              </a:ext>
            </a:extLst>
          </p:cNvPr>
          <p:cNvCxnSpPr>
            <a:cxnSpLocks/>
            <a:stCxn id="69" idx="2"/>
          </p:cNvCxnSpPr>
          <p:nvPr/>
        </p:nvCxnSpPr>
        <p:spPr>
          <a:xfrm>
            <a:off x="9372819" y="3594242"/>
            <a:ext cx="0" cy="2455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ECCE599A-9C89-44F7-8755-34558C87A35E}"/>
              </a:ext>
            </a:extLst>
          </p:cNvPr>
          <p:cNvSpPr txBox="1"/>
          <p:nvPr/>
        </p:nvSpPr>
        <p:spPr>
          <a:xfrm>
            <a:off x="8177719" y="3845152"/>
            <a:ext cx="2390200" cy="307777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/>
              <a:t>Cal.sh </a:t>
            </a:r>
            <a:r>
              <a:rPr lang="ko-KR" altLang="en-US" sz="1400" dirty="0"/>
              <a:t>재실행</a:t>
            </a:r>
          </a:p>
        </p:txBody>
      </p:sp>
      <p:cxnSp>
        <p:nvCxnSpPr>
          <p:cNvPr id="86" name="직선 화살표 연결선 85">
            <a:extLst>
              <a:ext uri="{FF2B5EF4-FFF2-40B4-BE49-F238E27FC236}">
                <a16:creationId xmlns:a16="http://schemas.microsoft.com/office/drawing/2014/main" id="{8147A131-227F-46CD-B625-FDBD4192FF35}"/>
              </a:ext>
            </a:extLst>
          </p:cNvPr>
          <p:cNvCxnSpPr>
            <a:cxnSpLocks/>
            <a:stCxn id="84" idx="2"/>
          </p:cNvCxnSpPr>
          <p:nvPr/>
        </p:nvCxnSpPr>
        <p:spPr>
          <a:xfrm>
            <a:off x="9372819" y="4152929"/>
            <a:ext cx="0" cy="2337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6A081658-F977-469D-98F6-C2A40BEF07D9}"/>
              </a:ext>
            </a:extLst>
          </p:cNvPr>
          <p:cNvSpPr txBox="1"/>
          <p:nvPr/>
        </p:nvSpPr>
        <p:spPr>
          <a:xfrm>
            <a:off x="8275690" y="4393538"/>
            <a:ext cx="2277382" cy="954107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/>
              <a:t>Result.log.csv </a:t>
            </a:r>
            <a:r>
              <a:rPr lang="ko-KR" altLang="en-US" sz="1400" dirty="0"/>
              <a:t>파일 생성됨</a:t>
            </a:r>
            <a:br>
              <a:rPr lang="en-US" altLang="ko-KR" sz="1400" dirty="0"/>
            </a:br>
            <a:r>
              <a:rPr lang="en-US" altLang="ko-KR" sz="1400" dirty="0"/>
              <a:t>(</a:t>
            </a:r>
            <a:r>
              <a:rPr lang="ko-KR" altLang="en-US" sz="1400" dirty="0"/>
              <a:t>스레드 시작시간</a:t>
            </a:r>
            <a:r>
              <a:rPr lang="en-US" altLang="ko-KR" sz="1400" dirty="0"/>
              <a:t>, </a:t>
            </a:r>
            <a:r>
              <a:rPr lang="ko-KR" altLang="en-US" sz="1400" dirty="0" err="1"/>
              <a:t>끝시간</a:t>
            </a:r>
            <a:r>
              <a:rPr lang="en-US" altLang="ko-KR" sz="1400" dirty="0"/>
              <a:t>, </a:t>
            </a:r>
            <a:r>
              <a:rPr lang="ko-KR" altLang="en-US" sz="1400" dirty="0"/>
              <a:t>평균 응답시간</a:t>
            </a:r>
            <a:r>
              <a:rPr lang="en-US" altLang="ko-KR" sz="1400" dirty="0"/>
              <a:t>, </a:t>
            </a:r>
            <a:r>
              <a:rPr lang="ko-KR" altLang="en-US" sz="1400" dirty="0" err="1"/>
              <a:t>스레드별</a:t>
            </a:r>
            <a:r>
              <a:rPr lang="ko-KR" altLang="en-US" sz="1400" dirty="0"/>
              <a:t> 응답시간 추출</a:t>
            </a:r>
            <a:r>
              <a:rPr lang="en-US" altLang="ko-KR" sz="1400" dirty="0"/>
              <a:t>)</a:t>
            </a:r>
            <a:endParaRPr lang="ko-KR" altLang="en-US" sz="1400" dirty="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7A33A767-C12E-4B2E-8590-19F9424592B1}"/>
              </a:ext>
            </a:extLst>
          </p:cNvPr>
          <p:cNvSpPr txBox="1"/>
          <p:nvPr/>
        </p:nvSpPr>
        <p:spPr>
          <a:xfrm>
            <a:off x="4548887" y="5236966"/>
            <a:ext cx="2390200" cy="738664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/>
              <a:t>Log.csv</a:t>
            </a:r>
            <a:r>
              <a:rPr lang="ko-KR" altLang="en-US" sz="1400" dirty="0"/>
              <a:t> 파일 생성됨</a:t>
            </a:r>
            <a:br>
              <a:rPr lang="en-US" altLang="ko-KR" sz="1400" dirty="0"/>
            </a:br>
            <a:r>
              <a:rPr lang="ko-KR" altLang="en-US" sz="1400" dirty="0"/>
              <a:t>서버 시간별 메모리</a:t>
            </a:r>
            <a:r>
              <a:rPr lang="en-US" altLang="ko-KR" sz="1400" dirty="0"/>
              <a:t>, </a:t>
            </a:r>
            <a:r>
              <a:rPr lang="en-US" altLang="ko-KR" sz="1400" dirty="0" err="1"/>
              <a:t>cpu</a:t>
            </a:r>
            <a:r>
              <a:rPr lang="en-US" altLang="ko-KR" sz="1400" dirty="0"/>
              <a:t> </a:t>
            </a:r>
            <a:r>
              <a:rPr lang="ko-KR" altLang="en-US" sz="1400" dirty="0"/>
              <a:t>점유율 추출</a:t>
            </a:r>
          </a:p>
        </p:txBody>
      </p:sp>
      <p:cxnSp>
        <p:nvCxnSpPr>
          <p:cNvPr id="91" name="직선 화살표 연결선 90">
            <a:extLst>
              <a:ext uri="{FF2B5EF4-FFF2-40B4-BE49-F238E27FC236}">
                <a16:creationId xmlns:a16="http://schemas.microsoft.com/office/drawing/2014/main" id="{AD1A51BD-C08E-4DFB-936B-FCC07C65E565}"/>
              </a:ext>
            </a:extLst>
          </p:cNvPr>
          <p:cNvCxnSpPr>
            <a:cxnSpLocks/>
            <a:endCxn id="90" idx="0"/>
          </p:cNvCxnSpPr>
          <p:nvPr/>
        </p:nvCxnSpPr>
        <p:spPr>
          <a:xfrm>
            <a:off x="5743987" y="4957475"/>
            <a:ext cx="0" cy="2794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자유형: 도형 77">
            <a:extLst>
              <a:ext uri="{FF2B5EF4-FFF2-40B4-BE49-F238E27FC236}">
                <a16:creationId xmlns:a16="http://schemas.microsoft.com/office/drawing/2014/main" id="{46E86024-02BD-4429-9980-D3AD74BCA664}"/>
              </a:ext>
            </a:extLst>
          </p:cNvPr>
          <p:cNvSpPr/>
          <p:nvPr/>
        </p:nvSpPr>
        <p:spPr>
          <a:xfrm>
            <a:off x="6982619" y="5354515"/>
            <a:ext cx="2390200" cy="485205"/>
          </a:xfrm>
          <a:custGeom>
            <a:avLst/>
            <a:gdLst>
              <a:gd name="connsiteX0" fmla="*/ 3646583 w 3646583"/>
              <a:gd name="connsiteY0" fmla="*/ 0 h 1113787"/>
              <a:gd name="connsiteX1" fmla="*/ 2192357 w 3646583"/>
              <a:gd name="connsiteY1" fmla="*/ 1079653 h 1113787"/>
              <a:gd name="connsiteX2" fmla="*/ 0 w 3646583"/>
              <a:gd name="connsiteY2" fmla="*/ 848298 h 11137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646583" h="1113787">
                <a:moveTo>
                  <a:pt x="3646583" y="0"/>
                </a:moveTo>
                <a:cubicBezTo>
                  <a:pt x="3223352" y="469135"/>
                  <a:pt x="2800121" y="938270"/>
                  <a:pt x="2192357" y="1079653"/>
                </a:cubicBezTo>
                <a:cubicBezTo>
                  <a:pt x="1584593" y="1221036"/>
                  <a:pt x="367229" y="879513"/>
                  <a:pt x="0" y="848298"/>
                </a:cubicBezTo>
              </a:path>
            </a:pathLst>
          </a:cu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696342D-68E3-4577-809E-7292BAA1E23F}"/>
              </a:ext>
            </a:extLst>
          </p:cNvPr>
          <p:cNvSpPr txBox="1"/>
          <p:nvPr/>
        </p:nvSpPr>
        <p:spPr>
          <a:xfrm>
            <a:off x="7840008" y="5869052"/>
            <a:ext cx="1104967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ko-KR" altLang="en-US"/>
              <a:t>결과도출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64757B3-14E6-4FC0-BCA3-55F1F14BC299}"/>
              </a:ext>
            </a:extLst>
          </p:cNvPr>
          <p:cNvSpPr txBox="1"/>
          <p:nvPr/>
        </p:nvSpPr>
        <p:spPr>
          <a:xfrm>
            <a:off x="649866" y="512923"/>
            <a:ext cx="4897836" cy="461665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01_2   </a:t>
            </a:r>
            <a:r>
              <a:rPr lang="ko-KR" altLang="en-US" sz="2400" dirty="0"/>
              <a:t>개요</a:t>
            </a:r>
          </a:p>
        </p:txBody>
      </p:sp>
    </p:spTree>
    <p:extLst>
      <p:ext uri="{BB962C8B-B14F-4D97-AF65-F5344CB8AC3E}">
        <p14:creationId xmlns:p14="http://schemas.microsoft.com/office/powerpoint/2010/main" val="657437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F397845F-0002-471C-897B-0324C74EF8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173" y="990514"/>
            <a:ext cx="7690079" cy="4807155"/>
          </a:xfrm>
          <a:prstGeom prst="rect">
            <a:avLst/>
          </a:prstGeom>
        </p:spPr>
      </p:pic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8836ADE3-1388-4694-AD22-9A008B8582BA}"/>
              </a:ext>
            </a:extLst>
          </p:cNvPr>
          <p:cNvSpPr/>
          <p:nvPr/>
        </p:nvSpPr>
        <p:spPr>
          <a:xfrm>
            <a:off x="1483891" y="5084033"/>
            <a:ext cx="2088783" cy="646331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81F6AE-D5FC-4632-9DF0-EAA8B4E29B16}"/>
              </a:ext>
            </a:extLst>
          </p:cNvPr>
          <p:cNvSpPr txBox="1"/>
          <p:nvPr/>
        </p:nvSpPr>
        <p:spPr>
          <a:xfrm>
            <a:off x="3572674" y="5084032"/>
            <a:ext cx="1008378" cy="584775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Linux</a:t>
            </a:r>
          </a:p>
          <a:p>
            <a:r>
              <a:rPr lang="en-US" altLang="ko-KR" sz="1600" dirty="0"/>
              <a:t>window</a:t>
            </a:r>
            <a:endParaRPr lang="ko-KR" altLang="en-US" sz="16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29B1B0-0400-4859-A164-63E1D05F0D19}"/>
              </a:ext>
            </a:extLst>
          </p:cNvPr>
          <p:cNvSpPr txBox="1"/>
          <p:nvPr/>
        </p:nvSpPr>
        <p:spPr>
          <a:xfrm>
            <a:off x="982029" y="5948357"/>
            <a:ext cx="11236212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u="sng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https://jmeter.apache.org/download_jmeter.cgi</a:t>
            </a:r>
            <a:r>
              <a:rPr lang="en-US" altLang="ko-KR" dirty="0"/>
              <a:t> </a:t>
            </a:r>
            <a:r>
              <a:rPr lang="ko-KR" altLang="ko-KR" dirty="0"/>
              <a:t> 접속 후 </a:t>
            </a:r>
            <a:r>
              <a:rPr lang="en-US" altLang="ko-KR" dirty="0"/>
              <a:t>Binaries</a:t>
            </a:r>
            <a:r>
              <a:rPr lang="ko-KR" altLang="ko-KR" dirty="0"/>
              <a:t>에서 </a:t>
            </a:r>
            <a:r>
              <a:rPr lang="ko-KR" altLang="en-US" dirty="0"/>
              <a:t>테스트하는 </a:t>
            </a:r>
            <a:r>
              <a:rPr lang="en-US" altLang="ko-KR" dirty="0"/>
              <a:t>OS</a:t>
            </a:r>
            <a:r>
              <a:rPr lang="ko-KR" altLang="en-US" dirty="0"/>
              <a:t>에 따라</a:t>
            </a:r>
            <a:r>
              <a:rPr lang="ko-KR" altLang="ko-KR" dirty="0"/>
              <a:t> 다운 받은 후 압축</a:t>
            </a:r>
            <a:r>
              <a:rPr lang="ko-KR" altLang="en-US" dirty="0"/>
              <a:t>해제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E7F26F-1CD8-4BE3-9B71-047FA798C862}"/>
              </a:ext>
            </a:extLst>
          </p:cNvPr>
          <p:cNvSpPr txBox="1"/>
          <p:nvPr/>
        </p:nvSpPr>
        <p:spPr>
          <a:xfrm>
            <a:off x="649866" y="512923"/>
            <a:ext cx="4897836" cy="461665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sz="2400"/>
              <a:t>02_1   </a:t>
            </a:r>
            <a:r>
              <a:rPr lang="ko-KR" altLang="en-US" sz="2400" dirty="0"/>
              <a:t>설치사이트</a:t>
            </a:r>
          </a:p>
        </p:txBody>
      </p:sp>
    </p:spTree>
    <p:extLst>
      <p:ext uri="{BB962C8B-B14F-4D97-AF65-F5344CB8AC3E}">
        <p14:creationId xmlns:p14="http://schemas.microsoft.com/office/powerpoint/2010/main" val="351414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76B7138A-2DB5-4BC8-B11B-766AD4434F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03" y="1294842"/>
            <a:ext cx="12187238" cy="4265139"/>
          </a:xfrm>
          <a:prstGeom prst="rect">
            <a:avLst/>
          </a:prstGeom>
        </p:spPr>
      </p:pic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4AC21E5D-03A6-4053-92D7-40E83E4F1B5C}"/>
              </a:ext>
            </a:extLst>
          </p:cNvPr>
          <p:cNvSpPr/>
          <p:nvPr/>
        </p:nvSpPr>
        <p:spPr>
          <a:xfrm>
            <a:off x="6093619" y="4579844"/>
            <a:ext cx="5623764" cy="216081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4F6721-7D5F-4316-AD4D-488A75B85459}"/>
              </a:ext>
            </a:extLst>
          </p:cNvPr>
          <p:cNvSpPr txBox="1"/>
          <p:nvPr/>
        </p:nvSpPr>
        <p:spPr>
          <a:xfrm>
            <a:off x="8254429" y="5876330"/>
            <a:ext cx="3963812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ko-KR" altLang="en-US" dirty="0"/>
              <a:t>로그인 쿠키 값을 보존하기 위한 설정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E1D78D-5E9A-4A1D-97A7-5C9367A0CF86}"/>
              </a:ext>
            </a:extLst>
          </p:cNvPr>
          <p:cNvSpPr txBox="1"/>
          <p:nvPr/>
        </p:nvSpPr>
        <p:spPr>
          <a:xfrm>
            <a:off x="649866" y="512923"/>
            <a:ext cx="4897836" cy="461665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02_2   </a:t>
            </a:r>
            <a:r>
              <a:rPr lang="ko-KR" altLang="en-US" sz="2400" dirty="0"/>
              <a:t>설치 후 사전작업</a:t>
            </a:r>
          </a:p>
        </p:txBody>
      </p:sp>
    </p:spTree>
    <p:extLst>
      <p:ext uri="{BB962C8B-B14F-4D97-AF65-F5344CB8AC3E}">
        <p14:creationId xmlns:p14="http://schemas.microsoft.com/office/powerpoint/2010/main" val="2843037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629B1B0-0400-4859-A164-63E1D05F0D19}"/>
              </a:ext>
            </a:extLst>
          </p:cNvPr>
          <p:cNvSpPr txBox="1"/>
          <p:nvPr/>
        </p:nvSpPr>
        <p:spPr>
          <a:xfrm>
            <a:off x="331459" y="5372141"/>
            <a:ext cx="10371888" cy="646331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u="sng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https://jmeter.apache.org/download_jmeter.cgi</a:t>
            </a:r>
            <a:r>
              <a:rPr lang="en-US" altLang="ko-KR" dirty="0">
                <a:solidFill>
                  <a:schemeClr val="bg1"/>
                </a:solidFill>
              </a:rPr>
              <a:t> </a:t>
            </a:r>
            <a:r>
              <a:rPr lang="ko-KR" altLang="ko-KR" dirty="0">
                <a:solidFill>
                  <a:schemeClr val="bg1"/>
                </a:solidFill>
              </a:rPr>
              <a:t>에 접속 후 </a:t>
            </a:r>
            <a:r>
              <a:rPr lang="en-US" altLang="ko-KR" dirty="0">
                <a:solidFill>
                  <a:schemeClr val="bg1"/>
                </a:solidFill>
              </a:rPr>
              <a:t>Binaries</a:t>
            </a:r>
            <a:r>
              <a:rPr lang="ko-KR" altLang="ko-KR" dirty="0">
                <a:solidFill>
                  <a:schemeClr val="bg1"/>
                </a:solidFill>
              </a:rPr>
              <a:t>에서 원하는 형태로 다운 받은 후 압축을 풀어 줍니다</a:t>
            </a:r>
            <a:r>
              <a:rPr lang="en-US" altLang="ko-KR" dirty="0">
                <a:solidFill>
                  <a:schemeClr val="bg1"/>
                </a:solidFill>
              </a:rPr>
              <a:t>.</a:t>
            </a:r>
            <a:endParaRPr lang="ko-KR" altLang="en-US" dirty="0">
              <a:solidFill>
                <a:schemeClr val="bg1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8FFEE7D-B4AA-4B4D-AE73-C0EFCE916EE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760" t="12108"/>
          <a:stretch/>
        </p:blipFill>
        <p:spPr>
          <a:xfrm>
            <a:off x="649866" y="960772"/>
            <a:ext cx="8882758" cy="2452824"/>
          </a:xfrm>
          <a:prstGeom prst="rect">
            <a:avLst/>
          </a:prstGeom>
        </p:spPr>
      </p:pic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FE108A91-73EA-465B-8EA0-1B0185DD1FA6}"/>
              </a:ext>
            </a:extLst>
          </p:cNvPr>
          <p:cNvSpPr/>
          <p:nvPr/>
        </p:nvSpPr>
        <p:spPr>
          <a:xfrm>
            <a:off x="2317908" y="2721484"/>
            <a:ext cx="6398989" cy="182881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38A481-CD54-4B6D-9C6D-75CEFD05405A}"/>
              </a:ext>
            </a:extLst>
          </p:cNvPr>
          <p:cNvSpPr txBox="1"/>
          <p:nvPr/>
        </p:nvSpPr>
        <p:spPr>
          <a:xfrm>
            <a:off x="8711932" y="2804033"/>
            <a:ext cx="2652991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2</a:t>
            </a:r>
            <a:r>
              <a:rPr lang="en-US" altLang="ko-KR" dirty="0"/>
              <a:t>. </a:t>
            </a:r>
            <a:r>
              <a:rPr lang="ko-KR" altLang="en-US" dirty="0"/>
              <a:t>리눅스 환경에서 실행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9129A2-7B21-428E-8C74-3245BF073F3F}"/>
              </a:ext>
            </a:extLst>
          </p:cNvPr>
          <p:cNvSpPr txBox="1"/>
          <p:nvPr/>
        </p:nvSpPr>
        <p:spPr>
          <a:xfrm>
            <a:off x="649866" y="512923"/>
            <a:ext cx="4897836" cy="461665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03_1   GUI </a:t>
            </a:r>
            <a:r>
              <a:rPr lang="ko-KR" altLang="en-US" sz="2400" dirty="0"/>
              <a:t>테스트 툴 실행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13953090-72D0-4993-B4DA-E270D65A90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0733" y="3571466"/>
            <a:ext cx="9851517" cy="300621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B1B9A1A-4AFE-4CBE-A741-87BAE03D8D7B}"/>
              </a:ext>
            </a:extLst>
          </p:cNvPr>
          <p:cNvSpPr txBox="1"/>
          <p:nvPr/>
        </p:nvSpPr>
        <p:spPr>
          <a:xfrm>
            <a:off x="6833892" y="4626421"/>
            <a:ext cx="4100978" cy="64633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GUI</a:t>
            </a:r>
            <a:r>
              <a:rPr lang="ko-KR" altLang="en-US" dirty="0"/>
              <a:t>툴에서는 테스트그룹생성</a:t>
            </a:r>
            <a:r>
              <a:rPr lang="en-US" altLang="ko-KR" dirty="0"/>
              <a:t>, </a:t>
            </a:r>
            <a:br>
              <a:rPr lang="en-US" altLang="ko-KR" dirty="0"/>
            </a:br>
            <a:r>
              <a:rPr lang="en-US" altLang="ko-KR" dirty="0"/>
              <a:t>CLI</a:t>
            </a:r>
            <a:r>
              <a:rPr lang="ko-KR" altLang="en-US" dirty="0"/>
              <a:t>에서 테스트를 실행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E5AF0902-9F4D-4947-9128-8685E502AB94}"/>
              </a:ext>
            </a:extLst>
          </p:cNvPr>
          <p:cNvSpPr/>
          <p:nvPr/>
        </p:nvSpPr>
        <p:spPr>
          <a:xfrm>
            <a:off x="2317908" y="2909611"/>
            <a:ext cx="6398989" cy="182881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D2D1130-B0EC-4B72-8E86-EFBF402E62A7}"/>
              </a:ext>
            </a:extLst>
          </p:cNvPr>
          <p:cNvSpPr txBox="1"/>
          <p:nvPr/>
        </p:nvSpPr>
        <p:spPr>
          <a:xfrm>
            <a:off x="8711932" y="2560097"/>
            <a:ext cx="2652991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1</a:t>
            </a:r>
            <a:r>
              <a:rPr lang="en-US" altLang="ko-KR" dirty="0"/>
              <a:t>. </a:t>
            </a:r>
            <a:r>
              <a:rPr lang="ko-KR" altLang="en-US" dirty="0"/>
              <a:t>윈도우 환경에서 실행</a:t>
            </a:r>
          </a:p>
        </p:txBody>
      </p:sp>
    </p:spTree>
    <p:extLst>
      <p:ext uri="{BB962C8B-B14F-4D97-AF65-F5344CB8AC3E}">
        <p14:creationId xmlns:p14="http://schemas.microsoft.com/office/powerpoint/2010/main" val="642300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596045B6-BBD9-4E85-AB5A-21A1D5B98CAA}"/>
              </a:ext>
            </a:extLst>
          </p:cNvPr>
          <p:cNvSpPr txBox="1"/>
          <p:nvPr/>
        </p:nvSpPr>
        <p:spPr>
          <a:xfrm>
            <a:off x="259432" y="5308901"/>
            <a:ext cx="11927806" cy="1538883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1) </a:t>
            </a:r>
            <a:r>
              <a:rPr lang="ko-KR" altLang="en-US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쓰레드들의 수</a:t>
            </a:r>
            <a:r>
              <a:rPr lang="en-US" altLang="ko-KR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사용자 수</a:t>
            </a:r>
            <a:r>
              <a:rPr lang="en-US" altLang="ko-KR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스레드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가상 유저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의 수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2) Ramp-up </a:t>
            </a:r>
            <a:r>
              <a:rPr lang="ko-KR" altLang="en-US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시간</a:t>
            </a:r>
            <a:r>
              <a:rPr lang="en-US" altLang="ko-KR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단위</a:t>
            </a:r>
            <a:r>
              <a:rPr lang="en-US" altLang="ko-KR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초</a:t>
            </a:r>
            <a:r>
              <a:rPr lang="en-US" altLang="ko-KR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몇 초 안에 위에 설정된 스레드를 모두 실행 시키는지를 의미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(0 :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스레드 동시 실행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b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     (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사용자 증가 시간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사용자를 서서히 증가시킬 때 사용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endParaRPr lang="en-US" altLang="ko-KR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3)</a:t>
            </a:r>
            <a:r>
              <a:rPr lang="ko-KR" altLang="en-US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루프 카운트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한 스레드 당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sampler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로 있는 테스트 시나리오를 몇 번 돌릴지 결정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7B8195BC-3480-43BF-8853-5477432DADC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6814"/>
          <a:stretch/>
        </p:blipFill>
        <p:spPr>
          <a:xfrm>
            <a:off x="4797133" y="251644"/>
            <a:ext cx="7202410" cy="1858482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27B771C3-4C9F-4FF6-8648-FA849410F8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3143" y="2260743"/>
            <a:ext cx="9535856" cy="2942223"/>
          </a:xfrm>
          <a:prstGeom prst="rect">
            <a:avLst/>
          </a:prstGeom>
        </p:spPr>
      </p:pic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4EB54C58-949A-4701-9D48-A727C003ADC3}"/>
              </a:ext>
            </a:extLst>
          </p:cNvPr>
          <p:cNvSpPr/>
          <p:nvPr/>
        </p:nvSpPr>
        <p:spPr>
          <a:xfrm>
            <a:off x="6309700" y="4231988"/>
            <a:ext cx="5551736" cy="97097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B0BAC4-2FC4-487D-84A3-C239A59DB8BF}"/>
              </a:ext>
            </a:extLst>
          </p:cNvPr>
          <p:cNvSpPr txBox="1"/>
          <p:nvPr/>
        </p:nvSpPr>
        <p:spPr>
          <a:xfrm>
            <a:off x="10127131" y="1715396"/>
            <a:ext cx="2160810" cy="366123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ko-KR" altLang="en-US"/>
              <a:t>쓰레드 그룹 추가</a:t>
            </a:r>
          </a:p>
        </p:txBody>
      </p:sp>
      <p:sp>
        <p:nvSpPr>
          <p:cNvPr id="10" name="화살표: 아래쪽 9">
            <a:extLst>
              <a:ext uri="{FF2B5EF4-FFF2-40B4-BE49-F238E27FC236}">
                <a16:creationId xmlns:a16="http://schemas.microsoft.com/office/drawing/2014/main" id="{77794626-7F19-4891-B39A-754329530F1B}"/>
              </a:ext>
            </a:extLst>
          </p:cNvPr>
          <p:cNvSpPr/>
          <p:nvPr/>
        </p:nvSpPr>
        <p:spPr>
          <a:xfrm>
            <a:off x="7546714" y="2052911"/>
            <a:ext cx="563661" cy="366123"/>
          </a:xfrm>
          <a:prstGeom prst="downArrow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69F8D3B-2195-4483-9F6C-81865582AD19}"/>
              </a:ext>
            </a:extLst>
          </p:cNvPr>
          <p:cNvSpPr txBox="1"/>
          <p:nvPr/>
        </p:nvSpPr>
        <p:spPr>
          <a:xfrm>
            <a:off x="649866" y="512923"/>
            <a:ext cx="4897836" cy="461665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03_2   </a:t>
            </a:r>
            <a:r>
              <a:rPr lang="ko-KR" altLang="en-US" sz="2400" dirty="0"/>
              <a:t>쓰레드 그룹 생성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054144-C2D3-4384-B638-27C9638BC149}"/>
              </a:ext>
            </a:extLst>
          </p:cNvPr>
          <p:cNvSpPr txBox="1"/>
          <p:nvPr/>
        </p:nvSpPr>
        <p:spPr>
          <a:xfrm>
            <a:off x="5971708" y="4126053"/>
            <a:ext cx="406821" cy="92333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dirty="0"/>
              <a:t>1)</a:t>
            </a:r>
          </a:p>
          <a:p>
            <a:r>
              <a:rPr lang="en-US" altLang="ko-KR" dirty="0"/>
              <a:t>2)</a:t>
            </a:r>
          </a:p>
          <a:p>
            <a:r>
              <a:rPr lang="en-US" altLang="ko-KR" dirty="0"/>
              <a:t>3)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17095E-08AB-465D-B5AD-4909AC4C211B}"/>
              </a:ext>
            </a:extLst>
          </p:cNvPr>
          <p:cNvSpPr txBox="1"/>
          <p:nvPr/>
        </p:nvSpPr>
        <p:spPr>
          <a:xfrm>
            <a:off x="4519746" y="408402"/>
            <a:ext cx="360135" cy="366715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1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4A2250F-1D8B-4A91-974E-3D1E1D57ADF4}"/>
              </a:ext>
            </a:extLst>
          </p:cNvPr>
          <p:cNvSpPr txBox="1"/>
          <p:nvPr/>
        </p:nvSpPr>
        <p:spPr>
          <a:xfrm>
            <a:off x="5814983" y="2932903"/>
            <a:ext cx="360135" cy="366715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2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5670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8EDFA794-BB6B-414E-AF6B-4AAF62B443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513" y="934171"/>
            <a:ext cx="7372350" cy="194472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0B4C1F3-5D98-4779-8552-6E7CCC93265C}"/>
              </a:ext>
            </a:extLst>
          </p:cNvPr>
          <p:cNvSpPr txBox="1"/>
          <p:nvPr/>
        </p:nvSpPr>
        <p:spPr>
          <a:xfrm>
            <a:off x="7029970" y="2202953"/>
            <a:ext cx="2579932" cy="369332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dirty="0"/>
              <a:t>스크립트 레코더 추가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F782FC8-3C44-4B4A-B420-0C5021C569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427412"/>
            <a:ext cx="12187238" cy="3336990"/>
          </a:xfrm>
          <a:prstGeom prst="rect">
            <a:avLst/>
          </a:prstGeom>
        </p:spPr>
      </p:pic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471BE289-9E64-45DD-B735-FB676620E7AB}"/>
              </a:ext>
            </a:extLst>
          </p:cNvPr>
          <p:cNvSpPr/>
          <p:nvPr/>
        </p:nvSpPr>
        <p:spPr>
          <a:xfrm>
            <a:off x="3356593" y="4672384"/>
            <a:ext cx="2305322" cy="236756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833CD4AF-C3D2-4C78-BB8C-E0B27DB1FAFD}"/>
              </a:ext>
            </a:extLst>
          </p:cNvPr>
          <p:cNvSpPr/>
          <p:nvPr/>
        </p:nvSpPr>
        <p:spPr>
          <a:xfrm>
            <a:off x="6439930" y="5114095"/>
            <a:ext cx="5633735" cy="229966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0ED7F444-08E8-42CC-A901-0DE7FA0277A3}"/>
              </a:ext>
            </a:extLst>
          </p:cNvPr>
          <p:cNvSpPr/>
          <p:nvPr/>
        </p:nvSpPr>
        <p:spPr>
          <a:xfrm>
            <a:off x="9831859" y="6490451"/>
            <a:ext cx="1994062" cy="270565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화살표: 아래쪽 11">
            <a:extLst>
              <a:ext uri="{FF2B5EF4-FFF2-40B4-BE49-F238E27FC236}">
                <a16:creationId xmlns:a16="http://schemas.microsoft.com/office/drawing/2014/main" id="{CE58744C-40E8-42D0-824C-094999711294}"/>
              </a:ext>
            </a:extLst>
          </p:cNvPr>
          <p:cNvSpPr/>
          <p:nvPr/>
        </p:nvSpPr>
        <p:spPr>
          <a:xfrm>
            <a:off x="6203312" y="3327631"/>
            <a:ext cx="563661" cy="366123"/>
          </a:xfrm>
          <a:prstGeom prst="downArrow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158009-A91E-4FB8-A25D-0A24794A181A}"/>
              </a:ext>
            </a:extLst>
          </p:cNvPr>
          <p:cNvSpPr txBox="1"/>
          <p:nvPr/>
        </p:nvSpPr>
        <p:spPr>
          <a:xfrm>
            <a:off x="835647" y="2846033"/>
            <a:ext cx="9147429" cy="369332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dirty="0"/>
              <a:t>요청 </a:t>
            </a:r>
            <a:r>
              <a:rPr lang="en-US" altLang="ko-KR" dirty="0"/>
              <a:t>URL</a:t>
            </a:r>
            <a:r>
              <a:rPr lang="ko-KR" altLang="en-US" dirty="0"/>
              <a:t> 수집을 위한 </a:t>
            </a:r>
            <a:r>
              <a:rPr lang="en-US" altLang="ko-KR" dirty="0"/>
              <a:t>Recording</a:t>
            </a:r>
            <a:r>
              <a:rPr lang="ko-KR" altLang="en-US" dirty="0"/>
              <a:t>을 설정 하기 위하여 </a:t>
            </a:r>
            <a:r>
              <a:rPr lang="en-US" altLang="ko-KR" dirty="0"/>
              <a:t>HTTP </a:t>
            </a:r>
            <a:r>
              <a:rPr lang="ko-KR" altLang="en-US" dirty="0"/>
              <a:t>테스트 스크립트 레코더 추가</a:t>
            </a:r>
            <a:endParaRPr lang="en-US" altLang="ko-KR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1F5CE6-468C-4A61-BE74-AB0C76A6FBBF}"/>
              </a:ext>
            </a:extLst>
          </p:cNvPr>
          <p:cNvSpPr txBox="1"/>
          <p:nvPr/>
        </p:nvSpPr>
        <p:spPr>
          <a:xfrm>
            <a:off x="82338" y="4298574"/>
            <a:ext cx="3086392" cy="86177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포트설정</a:t>
            </a:r>
            <a:endParaRPr lang="en-US" altLang="ko-KR" sz="1600" dirty="0"/>
          </a:p>
          <a:p>
            <a:r>
              <a:rPr lang="ko-KR" altLang="en-US" sz="1600" dirty="0"/>
              <a:t>테스트계획 </a:t>
            </a:r>
            <a:r>
              <a:rPr lang="en-US" altLang="ko-KR" sz="1600" dirty="0"/>
              <a:t>&gt; </a:t>
            </a:r>
            <a:r>
              <a:rPr lang="ko-KR" altLang="en-US" sz="1600" dirty="0" err="1"/>
              <a:t>쓰레드그룹</a:t>
            </a:r>
            <a:endParaRPr lang="en-US" altLang="ko-KR" sz="1600" dirty="0"/>
          </a:p>
          <a:p>
            <a:r>
              <a:rPr lang="en-US" altLang="ko-KR" sz="1600" dirty="0"/>
              <a:t>Redirect</a:t>
            </a:r>
            <a:r>
              <a:rPr lang="ko-KR" altLang="en-US" sz="1600" dirty="0"/>
              <a:t>들을 따라가기 체크 해제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2989E94-6C90-4610-9E60-7D73F746FDE8}"/>
              </a:ext>
            </a:extLst>
          </p:cNvPr>
          <p:cNvSpPr txBox="1"/>
          <p:nvPr/>
        </p:nvSpPr>
        <p:spPr>
          <a:xfrm>
            <a:off x="649866" y="512923"/>
            <a:ext cx="5947942" cy="461665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03_3   http </a:t>
            </a:r>
            <a:r>
              <a:rPr lang="ko-KR" altLang="en-US" sz="2400" dirty="0"/>
              <a:t>테스트 스크립트 레코더 추가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1931EBB-CE97-48A3-85D2-809186BC0FD6}"/>
              </a:ext>
            </a:extLst>
          </p:cNvPr>
          <p:cNvSpPr txBox="1"/>
          <p:nvPr/>
        </p:nvSpPr>
        <p:spPr>
          <a:xfrm>
            <a:off x="649866" y="1451297"/>
            <a:ext cx="360135" cy="366715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1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3421729-0F61-4A56-B9F2-389F9FEC79B3}"/>
              </a:ext>
            </a:extLst>
          </p:cNvPr>
          <p:cNvSpPr txBox="1"/>
          <p:nvPr/>
        </p:nvSpPr>
        <p:spPr>
          <a:xfrm>
            <a:off x="3263702" y="4314976"/>
            <a:ext cx="360135" cy="366715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2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35CA7AB-8088-4F60-ABA0-7E487A94643B}"/>
              </a:ext>
            </a:extLst>
          </p:cNvPr>
          <p:cNvSpPr txBox="1"/>
          <p:nvPr/>
        </p:nvSpPr>
        <p:spPr>
          <a:xfrm>
            <a:off x="6203312" y="4824714"/>
            <a:ext cx="360135" cy="366715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3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A26B39B-82B7-4FB2-8869-9651BFB16690}"/>
              </a:ext>
            </a:extLst>
          </p:cNvPr>
          <p:cNvSpPr txBox="1"/>
          <p:nvPr/>
        </p:nvSpPr>
        <p:spPr>
          <a:xfrm>
            <a:off x="9586573" y="6265431"/>
            <a:ext cx="360135" cy="366715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4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81211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6CF7B826-BBB7-4573-AD64-163BB54223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247" y="766994"/>
            <a:ext cx="11850754" cy="5934903"/>
          </a:xfrm>
          <a:prstGeom prst="rect">
            <a:avLst/>
          </a:prstGeom>
        </p:spPr>
      </p:pic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B9DAB13A-860B-4210-B1F7-F1092E24B157}"/>
              </a:ext>
            </a:extLst>
          </p:cNvPr>
          <p:cNvSpPr/>
          <p:nvPr/>
        </p:nvSpPr>
        <p:spPr>
          <a:xfrm>
            <a:off x="9321771" y="4664934"/>
            <a:ext cx="1152432" cy="28810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7104017B-902C-4C73-A15D-BD3B942353D5}"/>
              </a:ext>
            </a:extLst>
          </p:cNvPr>
          <p:cNvSpPr/>
          <p:nvPr/>
        </p:nvSpPr>
        <p:spPr>
          <a:xfrm>
            <a:off x="8169339" y="1077234"/>
            <a:ext cx="517252" cy="261395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F679D025-AE73-49DC-B2CD-964FFA39B267}"/>
              </a:ext>
            </a:extLst>
          </p:cNvPr>
          <p:cNvSpPr/>
          <p:nvPr/>
        </p:nvSpPr>
        <p:spPr>
          <a:xfrm>
            <a:off x="11592934" y="938512"/>
            <a:ext cx="262845" cy="261395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EE2D75D-D599-47BE-887A-086B7233740E}"/>
              </a:ext>
            </a:extLst>
          </p:cNvPr>
          <p:cNvSpPr txBox="1"/>
          <p:nvPr/>
        </p:nvSpPr>
        <p:spPr>
          <a:xfrm>
            <a:off x="7943689" y="830575"/>
            <a:ext cx="316784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u="sng" dirty="0">
                <a:solidFill>
                  <a:srgbClr val="FF0000"/>
                </a:solidFill>
              </a:rPr>
              <a:t>2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A519A19-6973-48D8-8BC1-5E823CF47D3A}"/>
              </a:ext>
            </a:extLst>
          </p:cNvPr>
          <p:cNvSpPr txBox="1"/>
          <p:nvPr/>
        </p:nvSpPr>
        <p:spPr>
          <a:xfrm>
            <a:off x="10292593" y="4246525"/>
            <a:ext cx="316784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u="sng" dirty="0">
                <a:solidFill>
                  <a:srgbClr val="FF0000"/>
                </a:solidFill>
              </a:rPr>
              <a:t>3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0D21285-BD97-4FF4-89DF-EB7CF5F93FD7}"/>
              </a:ext>
            </a:extLst>
          </p:cNvPr>
          <p:cNvSpPr txBox="1"/>
          <p:nvPr/>
        </p:nvSpPr>
        <p:spPr>
          <a:xfrm>
            <a:off x="8551801" y="2949306"/>
            <a:ext cx="445641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u="sng" dirty="0">
                <a:solidFill>
                  <a:srgbClr val="FF0000"/>
                </a:solidFill>
              </a:rPr>
              <a:t>4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4B7AA66-26D5-4428-BF0B-00A7D667ECCB}"/>
              </a:ext>
            </a:extLst>
          </p:cNvPr>
          <p:cNvSpPr txBox="1"/>
          <p:nvPr/>
        </p:nvSpPr>
        <p:spPr>
          <a:xfrm>
            <a:off x="649866" y="512923"/>
            <a:ext cx="5947942" cy="461665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03_4   Proxy</a:t>
            </a:r>
            <a:r>
              <a:rPr lang="ko-KR" altLang="en-US" sz="2400" dirty="0"/>
              <a:t>서버 설정 </a:t>
            </a:r>
            <a:r>
              <a:rPr lang="en-US" altLang="ko-KR" sz="2400" dirty="0"/>
              <a:t>_IE</a:t>
            </a:r>
            <a:endParaRPr lang="ko-KR" altLang="en-US" sz="2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0981E0A-564F-425E-AE06-AAA01B5B5DEE}"/>
              </a:ext>
            </a:extLst>
          </p:cNvPr>
          <p:cNvSpPr txBox="1"/>
          <p:nvPr/>
        </p:nvSpPr>
        <p:spPr>
          <a:xfrm>
            <a:off x="11241016" y="607873"/>
            <a:ext cx="360135" cy="366715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1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186D528C-974D-440A-823E-B713421F231B}"/>
              </a:ext>
            </a:extLst>
          </p:cNvPr>
          <p:cNvSpPr/>
          <p:nvPr/>
        </p:nvSpPr>
        <p:spPr>
          <a:xfrm>
            <a:off x="5150958" y="2995250"/>
            <a:ext cx="3967796" cy="2160809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89093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54B1F0B8-F0B6-42B2-AC3E-354454FC20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596" y="906467"/>
            <a:ext cx="2734335" cy="5547789"/>
          </a:xfrm>
          <a:prstGeom prst="rect">
            <a:avLst/>
          </a:prstGeom>
        </p:spPr>
      </p:pic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66ED22C2-4796-4B75-B6F6-F4DE2E94570C}"/>
              </a:ext>
            </a:extLst>
          </p:cNvPr>
          <p:cNvSpPr/>
          <p:nvPr/>
        </p:nvSpPr>
        <p:spPr>
          <a:xfrm>
            <a:off x="915434" y="5109297"/>
            <a:ext cx="528889" cy="273253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F679D025-AE73-49DC-B2CD-964FFA39B267}"/>
              </a:ext>
            </a:extLst>
          </p:cNvPr>
          <p:cNvSpPr/>
          <p:nvPr/>
        </p:nvSpPr>
        <p:spPr>
          <a:xfrm>
            <a:off x="483395" y="3912170"/>
            <a:ext cx="486080" cy="28810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A0B5146F-5FEC-4131-8CF5-28FAC80CAD8E}"/>
              </a:ext>
            </a:extLst>
          </p:cNvPr>
          <p:cNvCxnSpPr>
            <a:cxnSpLocks/>
            <a:endCxn id="14" idx="0"/>
          </p:cNvCxnSpPr>
          <p:nvPr/>
        </p:nvCxnSpPr>
        <p:spPr>
          <a:xfrm>
            <a:off x="726435" y="4200278"/>
            <a:ext cx="453444" cy="90901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B7E74CDF-08A1-486E-9D85-DE2639C0BAF7}"/>
              </a:ext>
            </a:extLst>
          </p:cNvPr>
          <p:cNvSpPr/>
          <p:nvPr/>
        </p:nvSpPr>
        <p:spPr>
          <a:xfrm>
            <a:off x="3429931" y="3047846"/>
            <a:ext cx="1296486" cy="1008378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476E7365-C2BB-4D35-95EF-D27C5A270C8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4278"/>
          <a:stretch/>
        </p:blipFill>
        <p:spPr>
          <a:xfrm>
            <a:off x="5030743" y="906467"/>
            <a:ext cx="6897063" cy="1860237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17CA0756-2E53-447A-B50B-831477667D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1360" y="2746587"/>
            <a:ext cx="4658375" cy="4108237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3F7E0530-CFBF-4A0D-8C54-93F2B89B33C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6223" y="5904265"/>
            <a:ext cx="3448531" cy="895475"/>
          </a:xfrm>
          <a:prstGeom prst="rect">
            <a:avLst/>
          </a:prstGeom>
        </p:spPr>
      </p:pic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C1FA1AB8-893F-40D2-A7BA-E0D267358521}"/>
              </a:ext>
            </a:extLst>
          </p:cNvPr>
          <p:cNvSpPr/>
          <p:nvPr/>
        </p:nvSpPr>
        <p:spPr>
          <a:xfrm>
            <a:off x="11289106" y="2246787"/>
            <a:ext cx="486080" cy="28810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A3DE4FD0-DE5A-4F0B-B33F-3E9AA2B1EBAA}"/>
              </a:ext>
            </a:extLst>
          </p:cNvPr>
          <p:cNvSpPr/>
          <p:nvPr/>
        </p:nvSpPr>
        <p:spPr>
          <a:xfrm>
            <a:off x="5157679" y="3707945"/>
            <a:ext cx="1368102" cy="40134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1757162E-808C-4805-AB01-B920D052A5F6}"/>
              </a:ext>
            </a:extLst>
          </p:cNvPr>
          <p:cNvSpPr/>
          <p:nvPr/>
        </p:nvSpPr>
        <p:spPr>
          <a:xfrm>
            <a:off x="8630495" y="6398392"/>
            <a:ext cx="992448" cy="40134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D66C59D3-764F-4D35-BB95-EA086B2A695C}"/>
              </a:ext>
            </a:extLst>
          </p:cNvPr>
          <p:cNvSpPr/>
          <p:nvPr/>
        </p:nvSpPr>
        <p:spPr>
          <a:xfrm>
            <a:off x="5142861" y="6031492"/>
            <a:ext cx="2823459" cy="800193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4403D37-D40D-4A03-9E91-E02589B3ADE1}"/>
              </a:ext>
            </a:extLst>
          </p:cNvPr>
          <p:cNvSpPr txBox="1"/>
          <p:nvPr/>
        </p:nvSpPr>
        <p:spPr>
          <a:xfrm>
            <a:off x="166611" y="3687077"/>
            <a:ext cx="316784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u="sng" dirty="0">
                <a:solidFill>
                  <a:srgbClr val="FF0000"/>
                </a:solidFill>
              </a:rPr>
              <a:t>1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D8A3ACB-F9BB-4E56-BA4E-C2724ECD1784}"/>
              </a:ext>
            </a:extLst>
          </p:cNvPr>
          <p:cNvSpPr txBox="1"/>
          <p:nvPr/>
        </p:nvSpPr>
        <p:spPr>
          <a:xfrm>
            <a:off x="1382524" y="4801871"/>
            <a:ext cx="316784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u="sng" dirty="0">
                <a:solidFill>
                  <a:srgbClr val="FF0000"/>
                </a:solidFill>
              </a:rPr>
              <a:t>2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479C839-E770-4EAC-9809-6556B2E43DBC}"/>
              </a:ext>
            </a:extLst>
          </p:cNvPr>
          <p:cNvSpPr txBox="1"/>
          <p:nvPr/>
        </p:nvSpPr>
        <p:spPr>
          <a:xfrm>
            <a:off x="10972322" y="2040234"/>
            <a:ext cx="316784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u="sng" dirty="0">
                <a:solidFill>
                  <a:srgbClr val="FF0000"/>
                </a:solidFill>
              </a:rPr>
              <a:t>3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7738900-3883-461D-94B8-0149A6AA0096}"/>
              </a:ext>
            </a:extLst>
          </p:cNvPr>
          <p:cNvSpPr txBox="1"/>
          <p:nvPr/>
        </p:nvSpPr>
        <p:spPr>
          <a:xfrm>
            <a:off x="4764576" y="3924627"/>
            <a:ext cx="316784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u="sng" dirty="0">
                <a:solidFill>
                  <a:srgbClr val="FF0000"/>
                </a:solidFill>
              </a:rPr>
              <a:t>4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CB6EC4B-80C0-4B96-8EF7-1DB3BEE3D847}"/>
              </a:ext>
            </a:extLst>
          </p:cNvPr>
          <p:cNvSpPr txBox="1"/>
          <p:nvPr/>
        </p:nvSpPr>
        <p:spPr>
          <a:xfrm>
            <a:off x="4766361" y="5753257"/>
            <a:ext cx="316784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u="sng" dirty="0">
                <a:solidFill>
                  <a:srgbClr val="FF0000"/>
                </a:solidFill>
              </a:rPr>
              <a:t>5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35C283F-E4CA-41AF-8D6F-32BB13EC9E45}"/>
              </a:ext>
            </a:extLst>
          </p:cNvPr>
          <p:cNvSpPr txBox="1"/>
          <p:nvPr/>
        </p:nvSpPr>
        <p:spPr>
          <a:xfrm>
            <a:off x="8377851" y="6122589"/>
            <a:ext cx="316784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u="sng" dirty="0">
                <a:solidFill>
                  <a:srgbClr val="FF0000"/>
                </a:solidFill>
              </a:rPr>
              <a:t>6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B17E954-FEBB-4E98-BDDE-1A8EA97E88C7}"/>
              </a:ext>
            </a:extLst>
          </p:cNvPr>
          <p:cNvSpPr txBox="1"/>
          <p:nvPr/>
        </p:nvSpPr>
        <p:spPr>
          <a:xfrm>
            <a:off x="649866" y="512923"/>
            <a:ext cx="5947942" cy="461665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03_5 Proxy</a:t>
            </a:r>
            <a:r>
              <a:rPr lang="ko-KR" altLang="en-US" sz="2400" dirty="0"/>
              <a:t>서버 설정 </a:t>
            </a:r>
            <a:r>
              <a:rPr lang="en-US" altLang="ko-KR" sz="2400" dirty="0"/>
              <a:t>_Chrome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544701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D0D64C03-5C3A-4C13-949D-AA2750D82E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817" y="960105"/>
            <a:ext cx="12187238" cy="2892914"/>
          </a:xfrm>
          <a:prstGeom prst="rect">
            <a:avLst/>
          </a:prstGeom>
        </p:spPr>
      </p:pic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022BA441-2E64-4153-9A3A-A938E809DB02}"/>
              </a:ext>
            </a:extLst>
          </p:cNvPr>
          <p:cNvSpPr/>
          <p:nvPr/>
        </p:nvSpPr>
        <p:spPr>
          <a:xfrm>
            <a:off x="6451583" y="2202952"/>
            <a:ext cx="630779" cy="214831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26165AF-A787-4E14-BA99-9364D54667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141" y="4057030"/>
            <a:ext cx="3931802" cy="183769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328865F-EC53-40F9-BEF2-BE7233121743}"/>
              </a:ext>
            </a:extLst>
          </p:cNvPr>
          <p:cNvSpPr txBox="1"/>
          <p:nvPr/>
        </p:nvSpPr>
        <p:spPr>
          <a:xfrm>
            <a:off x="361140" y="5933289"/>
            <a:ext cx="4075857" cy="646331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dirty="0"/>
              <a:t>7</a:t>
            </a:r>
            <a:r>
              <a:rPr lang="ko-KR" altLang="en-US" dirty="0"/>
              <a:t>일동안 사설 인증서가 만들어 졌다는 </a:t>
            </a:r>
            <a:r>
              <a:rPr lang="ko-KR" altLang="en-US" dirty="0" err="1"/>
              <a:t>알림창</a:t>
            </a:r>
            <a:endParaRPr lang="ko-KR" altLang="en-US" dirty="0"/>
          </a:p>
        </p:txBody>
      </p:sp>
      <p:sp>
        <p:nvSpPr>
          <p:cNvPr id="9" name="화살표: 아래쪽 8">
            <a:extLst>
              <a:ext uri="{FF2B5EF4-FFF2-40B4-BE49-F238E27FC236}">
                <a16:creationId xmlns:a16="http://schemas.microsoft.com/office/drawing/2014/main" id="{B0BD5E2E-F244-4602-9A53-44C6916350C6}"/>
              </a:ext>
            </a:extLst>
          </p:cNvPr>
          <p:cNvSpPr/>
          <p:nvPr/>
        </p:nvSpPr>
        <p:spPr>
          <a:xfrm>
            <a:off x="2492269" y="3643493"/>
            <a:ext cx="576216" cy="413537"/>
          </a:xfrm>
          <a:prstGeom prst="downArrow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화살표: 오른쪽 9">
            <a:extLst>
              <a:ext uri="{FF2B5EF4-FFF2-40B4-BE49-F238E27FC236}">
                <a16:creationId xmlns:a16="http://schemas.microsoft.com/office/drawing/2014/main" id="{BC603B22-E748-4041-B663-FEB2ABF5A0BD}"/>
              </a:ext>
            </a:extLst>
          </p:cNvPr>
          <p:cNvSpPr/>
          <p:nvPr/>
        </p:nvSpPr>
        <p:spPr>
          <a:xfrm>
            <a:off x="4292943" y="4767825"/>
            <a:ext cx="432163" cy="388235"/>
          </a:xfrm>
          <a:prstGeom prst="rightArrow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612A8D41-7103-4DFE-8E60-6F38B645F0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5106" y="4127429"/>
            <a:ext cx="7306695" cy="1829055"/>
          </a:xfrm>
          <a:prstGeom prst="rect">
            <a:avLst/>
          </a:prstGeom>
        </p:spPr>
      </p:pic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7B74ED97-D93F-4CFC-9648-AA3A4ADEB097}"/>
              </a:ext>
            </a:extLst>
          </p:cNvPr>
          <p:cNvSpPr/>
          <p:nvPr/>
        </p:nvSpPr>
        <p:spPr>
          <a:xfrm>
            <a:off x="2083678" y="5599548"/>
            <a:ext cx="630779" cy="33106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C7392938-64BB-41F7-A0FD-001DCC0C74C0}"/>
              </a:ext>
            </a:extLst>
          </p:cNvPr>
          <p:cNvSpPr/>
          <p:nvPr/>
        </p:nvSpPr>
        <p:spPr>
          <a:xfrm>
            <a:off x="4841879" y="4990530"/>
            <a:ext cx="630779" cy="33106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8B90D58-ED63-4D5A-83B9-244C379C9B3C}"/>
              </a:ext>
            </a:extLst>
          </p:cNvPr>
          <p:cNvSpPr txBox="1"/>
          <p:nvPr/>
        </p:nvSpPr>
        <p:spPr>
          <a:xfrm>
            <a:off x="5589430" y="5956484"/>
            <a:ext cx="5318515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ko-KR" altLang="en-US" dirty="0"/>
              <a:t>테스트 시나리오 대로 동작 이후 중지버튼 클릭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A6FF425-084A-4EF9-AF11-B9C29D408043}"/>
              </a:ext>
            </a:extLst>
          </p:cNvPr>
          <p:cNvSpPr txBox="1"/>
          <p:nvPr/>
        </p:nvSpPr>
        <p:spPr>
          <a:xfrm>
            <a:off x="649866" y="512923"/>
            <a:ext cx="5947942" cy="461665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sz="2400"/>
              <a:t>03_6 </a:t>
            </a:r>
            <a:r>
              <a:rPr lang="ko-KR" altLang="en-US" sz="2400" dirty="0"/>
              <a:t>테스트 시나리오 </a:t>
            </a:r>
            <a:r>
              <a:rPr lang="ko-KR" altLang="en-US" sz="2400" dirty="0" err="1"/>
              <a:t>레코딩</a:t>
            </a:r>
            <a:endParaRPr lang="ko-KR" altLang="en-US" sz="2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F1DE8C7-9A47-4D42-B557-C98D09E49AC7}"/>
              </a:ext>
            </a:extLst>
          </p:cNvPr>
          <p:cNvSpPr txBox="1"/>
          <p:nvPr/>
        </p:nvSpPr>
        <p:spPr>
          <a:xfrm>
            <a:off x="6134799" y="2018286"/>
            <a:ext cx="316784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u="sng" dirty="0">
                <a:solidFill>
                  <a:srgbClr val="FF0000"/>
                </a:solidFill>
              </a:rPr>
              <a:t>1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60C92E-86D5-4C96-ABFA-9D0ECCC50E3C}"/>
              </a:ext>
            </a:extLst>
          </p:cNvPr>
          <p:cNvSpPr txBox="1"/>
          <p:nvPr/>
        </p:nvSpPr>
        <p:spPr>
          <a:xfrm>
            <a:off x="61351" y="4018461"/>
            <a:ext cx="316784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u="sng" dirty="0">
                <a:solidFill>
                  <a:srgbClr val="FF0000"/>
                </a:solidFill>
              </a:rPr>
              <a:t>2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95DF2CA-10B0-4A6C-93C6-BA6B0B9AB9A7}"/>
              </a:ext>
            </a:extLst>
          </p:cNvPr>
          <p:cNvSpPr txBox="1"/>
          <p:nvPr/>
        </p:nvSpPr>
        <p:spPr>
          <a:xfrm>
            <a:off x="2700120" y="5553600"/>
            <a:ext cx="316784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u="sng" dirty="0">
                <a:solidFill>
                  <a:srgbClr val="FF0000"/>
                </a:solidFill>
              </a:rPr>
              <a:t>3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E58ACC1-C111-4242-9166-5B41617CB86D}"/>
              </a:ext>
            </a:extLst>
          </p:cNvPr>
          <p:cNvSpPr txBox="1"/>
          <p:nvPr/>
        </p:nvSpPr>
        <p:spPr>
          <a:xfrm>
            <a:off x="5096243" y="5317776"/>
            <a:ext cx="316784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u="sng" dirty="0">
                <a:solidFill>
                  <a:srgbClr val="FF0000"/>
                </a:solidFill>
              </a:rPr>
              <a:t>4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8101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9F70141-FB82-4D0F-B0EF-254C663917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08272"/>
            <a:ext cx="12187238" cy="3490467"/>
          </a:xfrm>
          <a:prstGeom prst="rect">
            <a:avLst/>
          </a:prstGeom>
        </p:spPr>
      </p:pic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7477A060-8BBA-448C-AEEE-CF9621B5FBC5}"/>
              </a:ext>
            </a:extLst>
          </p:cNvPr>
          <p:cNvSpPr/>
          <p:nvPr/>
        </p:nvSpPr>
        <p:spPr>
          <a:xfrm>
            <a:off x="5301322" y="2472548"/>
            <a:ext cx="4753782" cy="26171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C6F60DC2-F3FD-45EC-B524-173B9CA8FB0D}"/>
              </a:ext>
            </a:extLst>
          </p:cNvPr>
          <p:cNvSpPr/>
          <p:nvPr/>
        </p:nvSpPr>
        <p:spPr>
          <a:xfrm>
            <a:off x="3140512" y="2865303"/>
            <a:ext cx="1296486" cy="26171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EE38D263-5433-4EC0-8506-CD3B6A6E78A9}"/>
              </a:ext>
            </a:extLst>
          </p:cNvPr>
          <p:cNvSpPr/>
          <p:nvPr/>
        </p:nvSpPr>
        <p:spPr>
          <a:xfrm>
            <a:off x="3140512" y="2472548"/>
            <a:ext cx="2160810" cy="26171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7AAEF9EB-8419-4BAA-85E1-52D4C4DEE6F1}"/>
              </a:ext>
            </a:extLst>
          </p:cNvPr>
          <p:cNvSpPr/>
          <p:nvPr/>
        </p:nvSpPr>
        <p:spPr>
          <a:xfrm>
            <a:off x="3140512" y="3344700"/>
            <a:ext cx="9046726" cy="1307681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3424D5-A9CC-475B-B716-3EE4B00CE563}"/>
              </a:ext>
            </a:extLst>
          </p:cNvPr>
          <p:cNvSpPr txBox="1"/>
          <p:nvPr/>
        </p:nvSpPr>
        <p:spPr>
          <a:xfrm>
            <a:off x="1916053" y="5074836"/>
            <a:ext cx="8643240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url</a:t>
            </a:r>
            <a:r>
              <a:rPr lang="en-US" altLang="ko-KR" dirty="0"/>
              <a:t> </a:t>
            </a:r>
            <a:r>
              <a:rPr lang="ko-KR" altLang="en-US" dirty="0"/>
              <a:t>클릭  </a:t>
            </a:r>
            <a:r>
              <a:rPr lang="en-US" altLang="ko-KR" dirty="0"/>
              <a:t>-&gt;  </a:t>
            </a:r>
            <a:r>
              <a:rPr lang="ko-KR" altLang="en-US" dirty="0"/>
              <a:t>서버이름</a:t>
            </a:r>
            <a:r>
              <a:rPr lang="en-US" altLang="ko-KR" dirty="0"/>
              <a:t>,  </a:t>
            </a:r>
            <a:r>
              <a:rPr lang="ko-KR" altLang="en-US" dirty="0"/>
              <a:t>프로토콜</a:t>
            </a:r>
            <a:r>
              <a:rPr lang="en-US" altLang="ko-KR" dirty="0"/>
              <a:t>,  </a:t>
            </a:r>
            <a:r>
              <a:rPr lang="ko-KR" altLang="en-US" dirty="0" err="1"/>
              <a:t>매서드</a:t>
            </a:r>
            <a:r>
              <a:rPr lang="ko-KR" altLang="en-US" dirty="0"/>
              <a:t> 방식</a:t>
            </a:r>
            <a:r>
              <a:rPr lang="en-US" altLang="ko-KR" dirty="0"/>
              <a:t>,  </a:t>
            </a:r>
            <a:r>
              <a:rPr lang="ko-KR" altLang="en-US" dirty="0"/>
              <a:t>주소</a:t>
            </a:r>
            <a:r>
              <a:rPr lang="en-US" altLang="ko-KR" dirty="0"/>
              <a:t>,  </a:t>
            </a:r>
            <a:r>
              <a:rPr lang="ko-KR" altLang="en-US" dirty="0"/>
              <a:t>파라미터 정보 조회 가능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6542D4ED-B99D-426C-8759-B8E9691E5132}"/>
              </a:ext>
            </a:extLst>
          </p:cNvPr>
          <p:cNvSpPr/>
          <p:nvPr/>
        </p:nvSpPr>
        <p:spPr>
          <a:xfrm>
            <a:off x="4653079" y="2865302"/>
            <a:ext cx="6050268" cy="26171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AFA4A4AE-D1B8-455D-8AB0-BBC1A624332C}"/>
              </a:ext>
            </a:extLst>
          </p:cNvPr>
          <p:cNvSpPr/>
          <p:nvPr/>
        </p:nvSpPr>
        <p:spPr>
          <a:xfrm>
            <a:off x="187405" y="2291508"/>
            <a:ext cx="1728648" cy="18104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B236B1B-5CB0-4DA1-98C8-55343E79F207}"/>
              </a:ext>
            </a:extLst>
          </p:cNvPr>
          <p:cNvSpPr txBox="1"/>
          <p:nvPr/>
        </p:nvSpPr>
        <p:spPr>
          <a:xfrm>
            <a:off x="649866" y="512923"/>
            <a:ext cx="5947942" cy="461665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03_7 </a:t>
            </a:r>
            <a:r>
              <a:rPr lang="ko-KR" altLang="en-US" sz="2400" dirty="0"/>
              <a:t>필요 </a:t>
            </a:r>
            <a:r>
              <a:rPr lang="en-US" altLang="ko-KR" sz="2400" dirty="0" err="1"/>
              <a:t>url</a:t>
            </a:r>
            <a:r>
              <a:rPr lang="en-US" altLang="ko-KR" sz="2400" dirty="0"/>
              <a:t> </a:t>
            </a:r>
            <a:r>
              <a:rPr lang="ko-KR" altLang="en-US" sz="2400" dirty="0"/>
              <a:t>선택</a:t>
            </a:r>
          </a:p>
        </p:txBody>
      </p:sp>
    </p:spTree>
    <p:extLst>
      <p:ext uri="{BB962C8B-B14F-4D97-AF65-F5344CB8AC3E}">
        <p14:creationId xmlns:p14="http://schemas.microsoft.com/office/powerpoint/2010/main" val="2639970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0433C9D9-FE74-4978-A726-DECD9C81AFBB}"/>
              </a:ext>
            </a:extLst>
          </p:cNvPr>
          <p:cNvSpPr/>
          <p:nvPr/>
        </p:nvSpPr>
        <p:spPr>
          <a:xfrm>
            <a:off x="5445376" y="3103290"/>
            <a:ext cx="864324" cy="648243"/>
          </a:xfrm>
          <a:prstGeom prst="rightArrow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758889A8-9BE3-44BF-8EE5-7C11B8F3BB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486" y="1303888"/>
            <a:ext cx="4609728" cy="5203827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2CF96A88-8776-449C-9CCC-7F2ADFD22D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4942" y="2088559"/>
            <a:ext cx="3629532" cy="285142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23B703A-6C3A-47AE-BEDD-83F924B8BC50}"/>
              </a:ext>
            </a:extLst>
          </p:cNvPr>
          <p:cNvSpPr txBox="1"/>
          <p:nvPr/>
        </p:nvSpPr>
        <p:spPr>
          <a:xfrm>
            <a:off x="4436998" y="4363763"/>
            <a:ext cx="3953427" cy="92333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dirty="0"/>
              <a:t>Delete key</a:t>
            </a:r>
            <a:r>
              <a:rPr lang="ko-KR" altLang="en-US" dirty="0"/>
              <a:t> 로 삭제가능</a:t>
            </a:r>
            <a:br>
              <a:rPr lang="en-US" altLang="ko-KR" dirty="0"/>
            </a:br>
            <a:r>
              <a:rPr lang="ko-KR" altLang="en-US" dirty="0"/>
              <a:t>주로 캐시가 되는 </a:t>
            </a:r>
            <a:r>
              <a:rPr lang="en-US" altLang="ko-KR" dirty="0" err="1"/>
              <a:t>js</a:t>
            </a:r>
            <a:r>
              <a:rPr lang="en-US" altLang="ko-KR" dirty="0"/>
              <a:t>, </a:t>
            </a:r>
            <a:r>
              <a:rPr lang="en-US" altLang="ko-KR" dirty="0" err="1"/>
              <a:t>css</a:t>
            </a:r>
            <a:r>
              <a:rPr lang="en-US" altLang="ko-KR" dirty="0"/>
              <a:t>, </a:t>
            </a:r>
            <a:r>
              <a:rPr lang="ko-KR" altLang="en-US" dirty="0"/>
              <a:t>이미지 파일등의 파일 제거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E8561C-8B50-4351-B559-DF26DA2C7790}"/>
              </a:ext>
            </a:extLst>
          </p:cNvPr>
          <p:cNvSpPr txBox="1"/>
          <p:nvPr/>
        </p:nvSpPr>
        <p:spPr>
          <a:xfrm>
            <a:off x="649866" y="512923"/>
            <a:ext cx="5947942" cy="461665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03_7 </a:t>
            </a:r>
            <a:r>
              <a:rPr lang="ko-KR" altLang="en-US" sz="2400" dirty="0"/>
              <a:t>필요 </a:t>
            </a:r>
            <a:r>
              <a:rPr lang="en-US" altLang="ko-KR" sz="2400" dirty="0" err="1"/>
              <a:t>url</a:t>
            </a:r>
            <a:r>
              <a:rPr lang="en-US" altLang="ko-KR" sz="2400" dirty="0"/>
              <a:t> </a:t>
            </a:r>
            <a:r>
              <a:rPr lang="ko-KR" altLang="en-US" sz="2400" dirty="0"/>
              <a:t>선택</a:t>
            </a:r>
          </a:p>
        </p:txBody>
      </p:sp>
    </p:spTree>
    <p:extLst>
      <p:ext uri="{BB962C8B-B14F-4D97-AF65-F5344CB8AC3E}">
        <p14:creationId xmlns:p14="http://schemas.microsoft.com/office/powerpoint/2010/main" val="2529501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764ECA09-B924-4336-A9D5-92174989D3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540" y="974588"/>
            <a:ext cx="8907118" cy="3317148"/>
          </a:xfrm>
          <a:prstGeom prst="rect">
            <a:avLst/>
          </a:prstGeom>
        </p:spPr>
      </p:pic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26B1C426-E73A-425F-9A1A-A9A9846B32A1}"/>
              </a:ext>
            </a:extLst>
          </p:cNvPr>
          <p:cNvSpPr/>
          <p:nvPr/>
        </p:nvSpPr>
        <p:spPr>
          <a:xfrm>
            <a:off x="1555918" y="1359662"/>
            <a:ext cx="288108" cy="33106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43C80B7-5BFE-4F36-9F6F-FBE39E6CB7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6863" y="4461027"/>
            <a:ext cx="7954485" cy="2038635"/>
          </a:xfrm>
          <a:prstGeom prst="rect">
            <a:avLst/>
          </a:prstGeom>
        </p:spPr>
      </p:pic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42CF0DB1-64BC-40D8-B072-1D519C242308}"/>
              </a:ext>
            </a:extLst>
          </p:cNvPr>
          <p:cNvSpPr/>
          <p:nvPr/>
        </p:nvSpPr>
        <p:spPr>
          <a:xfrm>
            <a:off x="5701598" y="5640636"/>
            <a:ext cx="5744927" cy="24929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화살표: 아래쪽 4">
            <a:extLst>
              <a:ext uri="{FF2B5EF4-FFF2-40B4-BE49-F238E27FC236}">
                <a16:creationId xmlns:a16="http://schemas.microsoft.com/office/drawing/2014/main" id="{4EC6D434-E3E2-4925-86E2-45D808E9B77E}"/>
              </a:ext>
            </a:extLst>
          </p:cNvPr>
          <p:cNvSpPr/>
          <p:nvPr/>
        </p:nvSpPr>
        <p:spPr>
          <a:xfrm>
            <a:off x="6093619" y="4268893"/>
            <a:ext cx="504189" cy="384268"/>
          </a:xfrm>
          <a:prstGeom prst="downArrow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F0A62D-C07E-4359-B897-D4905FEE2FA3}"/>
              </a:ext>
            </a:extLst>
          </p:cNvPr>
          <p:cNvSpPr txBox="1"/>
          <p:nvPr/>
        </p:nvSpPr>
        <p:spPr>
          <a:xfrm>
            <a:off x="6766973" y="4332042"/>
            <a:ext cx="3673377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ko-KR" altLang="en-US" dirty="0"/>
              <a:t>테스트 계획 저장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9A64751-3209-4D6E-9174-18B5D0C9E723}"/>
              </a:ext>
            </a:extLst>
          </p:cNvPr>
          <p:cNvSpPr txBox="1"/>
          <p:nvPr/>
        </p:nvSpPr>
        <p:spPr>
          <a:xfrm>
            <a:off x="649866" y="512923"/>
            <a:ext cx="5947942" cy="461665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03_8 </a:t>
            </a:r>
            <a:r>
              <a:rPr lang="ko-KR" altLang="en-US" sz="2400" dirty="0"/>
              <a:t>테스트 계획 저장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9BD2F0-A84B-45F0-B2DB-6CF430D2F7C7}"/>
              </a:ext>
            </a:extLst>
          </p:cNvPr>
          <p:cNvSpPr txBox="1"/>
          <p:nvPr/>
        </p:nvSpPr>
        <p:spPr>
          <a:xfrm>
            <a:off x="1527242" y="1022125"/>
            <a:ext cx="316784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u="sng" dirty="0">
                <a:solidFill>
                  <a:srgbClr val="FF0000"/>
                </a:solidFill>
              </a:rPr>
              <a:t>1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565301B-B9C8-4D1F-8513-A85D524BAD47}"/>
              </a:ext>
            </a:extLst>
          </p:cNvPr>
          <p:cNvSpPr txBox="1"/>
          <p:nvPr/>
        </p:nvSpPr>
        <p:spPr>
          <a:xfrm>
            <a:off x="5483059" y="1596791"/>
            <a:ext cx="316784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u="sng" dirty="0">
                <a:solidFill>
                  <a:srgbClr val="FF0000"/>
                </a:solidFill>
              </a:rPr>
              <a:t>2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0666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99BC0A1-00A0-49EA-8B5D-4B17B3BBB8E8}"/>
              </a:ext>
            </a:extLst>
          </p:cNvPr>
          <p:cNvSpPr txBox="1"/>
          <p:nvPr/>
        </p:nvSpPr>
        <p:spPr>
          <a:xfrm>
            <a:off x="6921929" y="1936745"/>
            <a:ext cx="3817431" cy="646331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dirty="0" err="1">
                <a:solidFill>
                  <a:srgbClr val="FF0000"/>
                </a:solidFill>
              </a:rPr>
              <a:t>dstat</a:t>
            </a:r>
            <a:r>
              <a:rPr lang="en-US" altLang="ko-KR" dirty="0">
                <a:solidFill>
                  <a:srgbClr val="FF0000"/>
                </a:solidFill>
              </a:rPr>
              <a:t> --output </a:t>
            </a:r>
            <a:r>
              <a:rPr lang="ko-KR" altLang="en-US" dirty="0">
                <a:solidFill>
                  <a:srgbClr val="FF0000"/>
                </a:solidFill>
              </a:rPr>
              <a:t>파일경로 </a:t>
            </a:r>
            <a:r>
              <a:rPr lang="en-US" altLang="ko-KR" dirty="0">
                <a:solidFill>
                  <a:srgbClr val="FF0000"/>
                </a:solidFill>
              </a:rPr>
              <a:t>–</a:t>
            </a:r>
            <a:r>
              <a:rPr lang="en-US" altLang="ko-KR" dirty="0" err="1">
                <a:solidFill>
                  <a:srgbClr val="FF0000"/>
                </a:solidFill>
              </a:rPr>
              <a:t>cdnpmrt</a:t>
            </a:r>
            <a:endParaRPr lang="en-US" altLang="ko-KR" dirty="0">
              <a:solidFill>
                <a:srgbClr val="FF0000"/>
              </a:solidFill>
            </a:endParaRPr>
          </a:p>
          <a:p>
            <a:r>
              <a:rPr lang="ko-KR" altLang="en-US" dirty="0"/>
              <a:t>설치 </a:t>
            </a:r>
            <a:r>
              <a:rPr lang="en-US" altLang="ko-KR" dirty="0"/>
              <a:t>: yum install </a:t>
            </a:r>
            <a:r>
              <a:rPr lang="en-US" altLang="ko-KR" dirty="0" err="1"/>
              <a:t>dstat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1CCAD1-5078-415F-BE9F-E1E7022DFC6C}"/>
              </a:ext>
            </a:extLst>
          </p:cNvPr>
          <p:cNvSpPr txBox="1"/>
          <p:nvPr/>
        </p:nvSpPr>
        <p:spPr>
          <a:xfrm>
            <a:off x="6453753" y="2827247"/>
            <a:ext cx="5906215" cy="1200329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dirty="0"/>
              <a:t>C : </a:t>
            </a:r>
            <a:r>
              <a:rPr lang="en-US" altLang="ko-KR" dirty="0" err="1"/>
              <a:t>cpu</a:t>
            </a:r>
            <a:r>
              <a:rPr lang="en-US" altLang="ko-KR" dirty="0"/>
              <a:t> </a:t>
            </a:r>
            <a:r>
              <a:rPr lang="ko-KR" altLang="en-US" dirty="0"/>
              <a:t>상태 모니터링             </a:t>
            </a:r>
            <a:r>
              <a:rPr lang="en-US" altLang="ko-KR" dirty="0"/>
              <a:t>p : process</a:t>
            </a:r>
            <a:r>
              <a:rPr lang="ko-KR" altLang="en-US" dirty="0"/>
              <a:t>상태 모니터링</a:t>
            </a:r>
            <a:endParaRPr lang="en-US" altLang="ko-KR" dirty="0"/>
          </a:p>
          <a:p>
            <a:r>
              <a:rPr lang="en-US" altLang="ko-KR" dirty="0"/>
              <a:t>D: </a:t>
            </a:r>
            <a:r>
              <a:rPr lang="ko-KR" altLang="en-US" dirty="0"/>
              <a:t>디스크별 모니터링             </a:t>
            </a:r>
            <a:r>
              <a:rPr lang="en-US" altLang="ko-KR" dirty="0"/>
              <a:t>m : memory</a:t>
            </a:r>
            <a:r>
              <a:rPr lang="ko-KR" altLang="en-US" dirty="0"/>
              <a:t> 상태 모니터링</a:t>
            </a:r>
            <a:endParaRPr lang="en-US" altLang="ko-KR" dirty="0"/>
          </a:p>
          <a:p>
            <a:r>
              <a:rPr lang="en-US" altLang="ko-KR" dirty="0"/>
              <a:t>N: network </a:t>
            </a:r>
            <a:r>
              <a:rPr lang="ko-KR" altLang="en-US" dirty="0"/>
              <a:t>상태 모니터링      </a:t>
            </a:r>
            <a:r>
              <a:rPr lang="en-US" altLang="ko-KR" dirty="0"/>
              <a:t>t : </a:t>
            </a:r>
            <a:r>
              <a:rPr lang="ko-KR" altLang="en-US" dirty="0"/>
              <a:t>아웃풋 주기와 카운터</a:t>
            </a:r>
            <a:r>
              <a:rPr lang="en-US" altLang="ko-KR" dirty="0"/>
              <a:t> </a:t>
            </a:r>
          </a:p>
          <a:p>
            <a:r>
              <a:rPr lang="en-US" altLang="ko-KR" dirty="0"/>
              <a:t>R:</a:t>
            </a:r>
            <a:r>
              <a:rPr lang="ko-KR" altLang="en-US" dirty="0"/>
              <a:t> 디스플레이 </a:t>
            </a:r>
            <a:r>
              <a:rPr lang="en-US" altLang="ko-KR" dirty="0"/>
              <a:t>I/O </a:t>
            </a:r>
            <a:r>
              <a:rPr lang="ko-KR" altLang="en-US" dirty="0"/>
              <a:t>통계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C30821E-7989-4C7D-9C53-EB39699154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870" y="3192481"/>
            <a:ext cx="5804548" cy="3153547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C79E44A5-EA2F-4E48-943C-809CED4D8A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684" y="1321803"/>
            <a:ext cx="5829277" cy="1876217"/>
          </a:xfrm>
          <a:prstGeom prst="rect">
            <a:avLst/>
          </a:prstGeom>
        </p:spPr>
      </p:pic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BF1201A7-3298-40C6-A5BD-853BE87F6699}"/>
              </a:ext>
            </a:extLst>
          </p:cNvPr>
          <p:cNvSpPr/>
          <p:nvPr/>
        </p:nvSpPr>
        <p:spPr>
          <a:xfrm>
            <a:off x="528684" y="2943183"/>
            <a:ext cx="5921255" cy="24929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DEB1BC1-DDB6-4324-9A62-159EC47515FF}"/>
              </a:ext>
            </a:extLst>
          </p:cNvPr>
          <p:cNvSpPr txBox="1"/>
          <p:nvPr/>
        </p:nvSpPr>
        <p:spPr>
          <a:xfrm>
            <a:off x="649866" y="512923"/>
            <a:ext cx="5947942" cy="461665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04_1 </a:t>
            </a:r>
            <a:r>
              <a:rPr lang="ko-KR" altLang="en-US" sz="2400" dirty="0"/>
              <a:t>서버 성능 기록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333D2F-4BDD-45D8-8F05-C41A8B076112}"/>
              </a:ext>
            </a:extLst>
          </p:cNvPr>
          <p:cNvSpPr txBox="1"/>
          <p:nvPr/>
        </p:nvSpPr>
        <p:spPr>
          <a:xfrm>
            <a:off x="6779359" y="4446088"/>
            <a:ext cx="5255001" cy="646331"/>
          </a:xfrm>
          <a:prstGeom prst="rect">
            <a:avLst/>
          </a:prstGeom>
          <a:ln>
            <a:solidFill>
              <a:srgbClr val="333F4F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Ex) </a:t>
            </a:r>
          </a:p>
          <a:p>
            <a:r>
              <a:rPr lang="en-US" altLang="ko-KR"/>
              <a:t>dstat --output ~/TestLog</a:t>
            </a:r>
            <a:r>
              <a:rPr lang="en-US" altLang="ko-KR" dirty="0"/>
              <a:t>/ezFlowTest0001.</a:t>
            </a:r>
            <a:r>
              <a:rPr lang="en-US" altLang="ko-KR"/>
              <a:t>csv -</a:t>
            </a:r>
            <a:r>
              <a:rPr lang="en-US" altLang="ko-KR" dirty="0" err="1"/>
              <a:t>cdnpmrt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7BC8862-F288-4486-9592-348CE9FCB0A8}"/>
              </a:ext>
            </a:extLst>
          </p:cNvPr>
          <p:cNvSpPr txBox="1"/>
          <p:nvPr/>
        </p:nvSpPr>
        <p:spPr>
          <a:xfrm>
            <a:off x="6794006" y="5494989"/>
            <a:ext cx="5255001" cy="923330"/>
          </a:xfrm>
          <a:prstGeom prst="rect">
            <a:avLst/>
          </a:prstGeom>
          <a:ln>
            <a:solidFill>
              <a:srgbClr val="333F4F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dirty="0"/>
              <a:t>주의사항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성능 모니터링은 테스트 종료 후 종료한다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[</a:t>
            </a:r>
            <a:r>
              <a:rPr lang="ko-KR" altLang="en-US" dirty="0" err="1"/>
              <a:t>종료명령어</a:t>
            </a:r>
            <a:r>
              <a:rPr lang="ko-KR" altLang="en-US" dirty="0"/>
              <a:t> </a:t>
            </a:r>
            <a:r>
              <a:rPr lang="en-US" altLang="ko-KR" dirty="0"/>
              <a:t>: Ctrl + c ]  04_2</a:t>
            </a:r>
            <a:r>
              <a:rPr lang="ko-KR" altLang="en-US" dirty="0"/>
              <a:t> 실행 후 종료</a:t>
            </a:r>
          </a:p>
        </p:txBody>
      </p:sp>
    </p:spTree>
    <p:extLst>
      <p:ext uri="{BB962C8B-B14F-4D97-AF65-F5344CB8AC3E}">
        <p14:creationId xmlns:p14="http://schemas.microsoft.com/office/powerpoint/2010/main" val="3103372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B1824A25-0030-4781-BA2E-1A07E2CF0F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003" y="1724848"/>
            <a:ext cx="6225618" cy="461705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DEB1BC1-DDB6-4324-9A62-159EC47515FF}"/>
              </a:ext>
            </a:extLst>
          </p:cNvPr>
          <p:cNvSpPr txBox="1"/>
          <p:nvPr/>
        </p:nvSpPr>
        <p:spPr>
          <a:xfrm>
            <a:off x="649866" y="512923"/>
            <a:ext cx="5947942" cy="461665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04_2 </a:t>
            </a:r>
            <a:r>
              <a:rPr lang="ko-KR" altLang="en-US" sz="2400" dirty="0"/>
              <a:t>테스트 실행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B4637780-404D-452B-B3C7-20B3256FB1D9}"/>
              </a:ext>
            </a:extLst>
          </p:cNvPr>
          <p:cNvSpPr/>
          <p:nvPr/>
        </p:nvSpPr>
        <p:spPr>
          <a:xfrm>
            <a:off x="277830" y="3795684"/>
            <a:ext cx="6252791" cy="36933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4C5A1DD-8E92-41B4-A323-55D049FDA919}"/>
              </a:ext>
            </a:extLst>
          </p:cNvPr>
          <p:cNvSpPr txBox="1"/>
          <p:nvPr/>
        </p:nvSpPr>
        <p:spPr>
          <a:xfrm>
            <a:off x="6480620" y="3122165"/>
            <a:ext cx="8355132" cy="92333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Jmeter</a:t>
            </a:r>
            <a:r>
              <a:rPr lang="en-US" altLang="ko-KR" dirty="0"/>
              <a:t> </a:t>
            </a:r>
            <a:r>
              <a:rPr lang="ko-KR" altLang="en-US" dirty="0"/>
              <a:t>명령어 옵션</a:t>
            </a:r>
            <a:endParaRPr lang="en-US" altLang="ko-KR" dirty="0"/>
          </a:p>
          <a:p>
            <a:r>
              <a:rPr lang="ko-KR" altLang="en-US" dirty="0"/>
              <a:t>  </a:t>
            </a:r>
            <a:r>
              <a:rPr lang="en-US" altLang="ko-KR" dirty="0"/>
              <a:t>-n : Non-</a:t>
            </a:r>
            <a:r>
              <a:rPr lang="en-US" altLang="ko-KR" dirty="0" err="1"/>
              <a:t>Gui</a:t>
            </a:r>
            <a:r>
              <a:rPr lang="en-US" altLang="ko-KR" dirty="0"/>
              <a:t> </a:t>
            </a:r>
            <a:r>
              <a:rPr lang="ko-KR" altLang="en-US" dirty="0"/>
              <a:t>모드로 수행   </a:t>
            </a:r>
            <a:r>
              <a:rPr lang="en-US" altLang="ko-KR" dirty="0"/>
              <a:t>-t :  </a:t>
            </a:r>
            <a:r>
              <a:rPr lang="ko-KR" altLang="en-US" dirty="0"/>
              <a:t>스크립트 파일 </a:t>
            </a:r>
            <a:r>
              <a:rPr lang="en-US" altLang="ko-KR" dirty="0"/>
              <a:t>(</a:t>
            </a:r>
            <a:r>
              <a:rPr lang="en-US" altLang="ko-KR" dirty="0" err="1"/>
              <a:t>jmx</a:t>
            </a:r>
            <a:r>
              <a:rPr lang="en-US" altLang="ko-KR" dirty="0"/>
              <a:t> </a:t>
            </a:r>
            <a:r>
              <a:rPr lang="ko-KR" altLang="en-US" dirty="0"/>
              <a:t>파일</a:t>
            </a:r>
            <a:r>
              <a:rPr lang="en-US" altLang="ko-KR" dirty="0"/>
              <a:t>)</a:t>
            </a:r>
            <a:br>
              <a:rPr lang="ko-KR" altLang="en-US" dirty="0"/>
            </a:br>
            <a:r>
              <a:rPr lang="ko-KR" altLang="en-US" dirty="0"/>
              <a:t>  </a:t>
            </a:r>
            <a:r>
              <a:rPr lang="en-US" altLang="ko-KR" dirty="0"/>
              <a:t>-l  : </a:t>
            </a:r>
            <a:r>
              <a:rPr lang="ko-KR" altLang="en-US" dirty="0"/>
              <a:t>테스트 결과 파일          </a:t>
            </a:r>
            <a:r>
              <a:rPr lang="en-US" altLang="ko-KR" dirty="0"/>
              <a:t>-j : </a:t>
            </a:r>
            <a:r>
              <a:rPr lang="ko-KR" altLang="en-US" dirty="0"/>
              <a:t>로그 파일 지정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28FEAE8-72A4-48CB-804D-B32D0FF996C0}"/>
              </a:ext>
            </a:extLst>
          </p:cNvPr>
          <p:cNvSpPr txBox="1"/>
          <p:nvPr/>
        </p:nvSpPr>
        <p:spPr>
          <a:xfrm>
            <a:off x="152501" y="1052353"/>
            <a:ext cx="11882236" cy="369332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./jmeter.sh </a:t>
            </a:r>
            <a:r>
              <a:rPr lang="en-US" altLang="ko-KR" dirty="0">
                <a:solidFill>
                  <a:srgbClr val="FF0000"/>
                </a:solidFill>
              </a:rPr>
              <a:t>–n –t </a:t>
            </a:r>
            <a:r>
              <a:rPr lang="en-US" altLang="ko-KR" dirty="0"/>
              <a:t>./ViewBoard2.jmx </a:t>
            </a:r>
            <a:r>
              <a:rPr lang="en-US" altLang="ko-KR" dirty="0">
                <a:solidFill>
                  <a:srgbClr val="FF0000"/>
                </a:solidFill>
              </a:rPr>
              <a:t>–j</a:t>
            </a:r>
            <a:r>
              <a:rPr lang="en-US" altLang="ko-KR" dirty="0"/>
              <a:t>  /d/</a:t>
            </a:r>
            <a:r>
              <a:rPr lang="en-US" altLang="ko-KR" dirty="0" err="1"/>
              <a:t>Jmeter</a:t>
            </a:r>
            <a:r>
              <a:rPr lang="en-US" altLang="ko-KR" dirty="0"/>
              <a:t>/output/run.log </a:t>
            </a:r>
            <a:r>
              <a:rPr lang="en-US" altLang="ko-KR" dirty="0">
                <a:solidFill>
                  <a:srgbClr val="FF0000"/>
                </a:solidFill>
              </a:rPr>
              <a:t>–l</a:t>
            </a:r>
            <a:r>
              <a:rPr lang="en-US" altLang="ko-KR" dirty="0"/>
              <a:t>  /d/</a:t>
            </a:r>
            <a:r>
              <a:rPr lang="en-US" altLang="ko-KR" dirty="0" err="1"/>
              <a:t>Jmeter</a:t>
            </a:r>
            <a:r>
              <a:rPr lang="en-US" altLang="ko-KR" dirty="0"/>
              <a:t>/output/</a:t>
            </a:r>
            <a:r>
              <a:rPr lang="en-US" altLang="ko-KR" dirty="0" err="1"/>
              <a:t>result.jtl</a:t>
            </a:r>
            <a:r>
              <a:rPr lang="en-US" altLang="ko-KR" dirty="0"/>
              <a:t> </a:t>
            </a:r>
            <a:r>
              <a:rPr lang="en-US" altLang="ko-KR" dirty="0">
                <a:solidFill>
                  <a:srgbClr val="FF0000"/>
                </a:solidFill>
              </a:rPr>
              <a:t>–e –o</a:t>
            </a:r>
            <a:r>
              <a:rPr lang="en-US" altLang="ko-KR" dirty="0"/>
              <a:t>  /d/</a:t>
            </a:r>
            <a:r>
              <a:rPr lang="en-US" altLang="ko-KR" dirty="0" err="1"/>
              <a:t>Jmeter</a:t>
            </a:r>
            <a:r>
              <a:rPr lang="en-US" altLang="ko-KR" dirty="0"/>
              <a:t>/output/html</a:t>
            </a:r>
            <a:endParaRPr lang="ko-KR" altLang="en-US" dirty="0"/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1A2495F4-BC46-4512-B077-7F57A8FE1F85}"/>
              </a:ext>
            </a:extLst>
          </p:cNvPr>
          <p:cNvCxnSpPr>
            <a:cxnSpLocks/>
          </p:cNvCxnSpPr>
          <p:nvPr/>
        </p:nvCxnSpPr>
        <p:spPr>
          <a:xfrm flipH="1" flipV="1">
            <a:off x="6813889" y="1482683"/>
            <a:ext cx="269958" cy="17042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6A9F0B56-7BB1-45C4-8DE7-ECA71775003E}"/>
              </a:ext>
            </a:extLst>
          </p:cNvPr>
          <p:cNvSpPr/>
          <p:nvPr/>
        </p:nvSpPr>
        <p:spPr>
          <a:xfrm>
            <a:off x="305002" y="5588221"/>
            <a:ext cx="1178889" cy="214251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5B331E64-4813-44CC-A28C-BFE06161B9EA}"/>
              </a:ext>
            </a:extLst>
          </p:cNvPr>
          <p:cNvCxnSpPr>
            <a:cxnSpLocks/>
          </p:cNvCxnSpPr>
          <p:nvPr/>
        </p:nvCxnSpPr>
        <p:spPr>
          <a:xfrm>
            <a:off x="1513454" y="5695346"/>
            <a:ext cx="5570393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A84C15C8-9AD9-49DD-ACDB-1F8941529FF8}"/>
              </a:ext>
            </a:extLst>
          </p:cNvPr>
          <p:cNvSpPr txBox="1"/>
          <p:nvPr/>
        </p:nvSpPr>
        <p:spPr>
          <a:xfrm>
            <a:off x="7130644" y="5510680"/>
            <a:ext cx="2746101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ko-KR" altLang="en-US"/>
              <a:t>종료 시점을 알리는 문구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20986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03B8935-FA79-4B25-9454-F556EBA906D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379"/>
          <a:stretch/>
        </p:blipFill>
        <p:spPr>
          <a:xfrm>
            <a:off x="619567" y="1266602"/>
            <a:ext cx="7973538" cy="2067793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8EC4E20-CF8C-4FA3-A1FF-1A2E84D2BA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53793" y="3189173"/>
            <a:ext cx="12187238" cy="3577064"/>
          </a:xfrm>
          <a:prstGeom prst="rect">
            <a:avLst/>
          </a:prstGeom>
        </p:spPr>
      </p:pic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D4B1A6D7-889A-4581-98F0-AD82C3631D56}"/>
              </a:ext>
            </a:extLst>
          </p:cNvPr>
          <p:cNvCxnSpPr/>
          <p:nvPr/>
        </p:nvCxnSpPr>
        <p:spPr>
          <a:xfrm>
            <a:off x="2708350" y="2830206"/>
            <a:ext cx="0" cy="100837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7F887781-DA11-45E5-AC95-B1402FFC30B1}"/>
              </a:ext>
            </a:extLst>
          </p:cNvPr>
          <p:cNvSpPr/>
          <p:nvPr/>
        </p:nvSpPr>
        <p:spPr>
          <a:xfrm>
            <a:off x="2276188" y="2635115"/>
            <a:ext cx="720270" cy="195091"/>
          </a:xfrm>
          <a:prstGeom prst="rect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DDF75D9-4708-41BA-9791-A9DFEE05BD29}"/>
              </a:ext>
            </a:extLst>
          </p:cNvPr>
          <p:cNvSpPr txBox="1"/>
          <p:nvPr/>
        </p:nvSpPr>
        <p:spPr>
          <a:xfrm>
            <a:off x="649866" y="512923"/>
            <a:ext cx="5947942" cy="461665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04_3 </a:t>
            </a:r>
            <a:r>
              <a:rPr lang="ko-KR" altLang="en-US" sz="2400" dirty="0"/>
              <a:t>테스트 실행 결과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4163A3AF-C992-4F75-9182-83C8639D5A97}"/>
              </a:ext>
            </a:extLst>
          </p:cNvPr>
          <p:cNvSpPr/>
          <p:nvPr/>
        </p:nvSpPr>
        <p:spPr>
          <a:xfrm>
            <a:off x="5085242" y="4219709"/>
            <a:ext cx="588446" cy="187038"/>
          </a:xfrm>
          <a:prstGeom prst="round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E13226FF-0098-4A7B-BDEB-C9DED91439FA}"/>
              </a:ext>
            </a:extLst>
          </p:cNvPr>
          <p:cNvSpPr/>
          <p:nvPr/>
        </p:nvSpPr>
        <p:spPr>
          <a:xfrm>
            <a:off x="4457281" y="4395978"/>
            <a:ext cx="401158" cy="677037"/>
          </a:xfrm>
          <a:prstGeom prst="round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7943806A-5748-4A8C-85A9-2B2BA095DB5C}"/>
              </a:ext>
            </a:extLst>
          </p:cNvPr>
          <p:cNvSpPr/>
          <p:nvPr/>
        </p:nvSpPr>
        <p:spPr>
          <a:xfrm>
            <a:off x="1497916" y="4185991"/>
            <a:ext cx="396985" cy="198722"/>
          </a:xfrm>
          <a:prstGeom prst="round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DD3B4AD8-6236-4455-B5F7-82A2AEA78F0C}"/>
              </a:ext>
            </a:extLst>
          </p:cNvPr>
          <p:cNvSpPr/>
          <p:nvPr/>
        </p:nvSpPr>
        <p:spPr>
          <a:xfrm>
            <a:off x="5676271" y="4239239"/>
            <a:ext cx="938648" cy="16750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92C2AF50-BB11-487D-A057-88095BC18261}"/>
              </a:ext>
            </a:extLst>
          </p:cNvPr>
          <p:cNvSpPr/>
          <p:nvPr/>
        </p:nvSpPr>
        <p:spPr>
          <a:xfrm>
            <a:off x="1414789" y="4416175"/>
            <a:ext cx="1570782" cy="677037"/>
          </a:xfrm>
          <a:prstGeom prst="round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A2CC24-1E0A-4362-979D-D86FF460B359}"/>
              </a:ext>
            </a:extLst>
          </p:cNvPr>
          <p:cNvSpPr txBox="1"/>
          <p:nvPr/>
        </p:nvSpPr>
        <p:spPr>
          <a:xfrm>
            <a:off x="8627951" y="2411065"/>
            <a:ext cx="3302800" cy="92333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dirty="0"/>
              <a:t>Label : </a:t>
            </a:r>
            <a:r>
              <a:rPr lang="ko-KR" altLang="en-US" dirty="0"/>
              <a:t>요청 </a:t>
            </a:r>
            <a:r>
              <a:rPr lang="en-US" altLang="ko-KR" dirty="0" err="1"/>
              <a:t>url</a:t>
            </a:r>
            <a:endParaRPr lang="en-US" altLang="ko-KR" dirty="0"/>
          </a:p>
          <a:p>
            <a:r>
              <a:rPr lang="en-US" altLang="ko-KR" dirty="0"/>
              <a:t>Success : </a:t>
            </a:r>
            <a:r>
              <a:rPr lang="ko-KR" altLang="en-US" dirty="0"/>
              <a:t>성공여부</a:t>
            </a:r>
            <a:endParaRPr lang="en-US" altLang="ko-KR" dirty="0"/>
          </a:p>
          <a:p>
            <a:r>
              <a:rPr lang="en-US" altLang="ko-KR" dirty="0" err="1"/>
              <a:t>failureMessage</a:t>
            </a:r>
            <a:r>
              <a:rPr lang="en-US" altLang="ko-KR" dirty="0"/>
              <a:t> : </a:t>
            </a:r>
            <a:r>
              <a:rPr lang="ko-KR" altLang="en-US" dirty="0"/>
              <a:t>실패 </a:t>
            </a:r>
            <a:r>
              <a:rPr lang="ko-KR" altLang="en-US" dirty="0" err="1"/>
              <a:t>메세지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77938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49D89F0-625C-4258-ACA6-CBFFBB309ED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84702"/>
          <a:stretch/>
        </p:blipFill>
        <p:spPr>
          <a:xfrm>
            <a:off x="434779" y="5971097"/>
            <a:ext cx="7592485" cy="37598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E41D0B0-078E-45FE-A38F-7D07AC47FC17}"/>
              </a:ext>
            </a:extLst>
          </p:cNvPr>
          <p:cNvSpPr txBox="1"/>
          <p:nvPr/>
        </p:nvSpPr>
        <p:spPr>
          <a:xfrm>
            <a:off x="8326456" y="4075655"/>
            <a:ext cx="3675994" cy="120032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jmeter</a:t>
            </a:r>
            <a:r>
              <a:rPr lang="ko-KR" altLang="ko-KR" dirty="0"/>
              <a:t>에서 각 스레드</a:t>
            </a:r>
            <a:r>
              <a:rPr lang="en-US" altLang="ko-KR" dirty="0"/>
              <a:t>(</a:t>
            </a:r>
            <a:r>
              <a:rPr lang="ko-KR" altLang="ko-KR" dirty="0"/>
              <a:t>유저</a:t>
            </a:r>
            <a:r>
              <a:rPr lang="en-US" altLang="ko-KR" dirty="0"/>
              <a:t>)</a:t>
            </a:r>
            <a:r>
              <a:rPr lang="ko-KR" altLang="ko-KR" dirty="0"/>
              <a:t>당 요청 시나리오를 수행하기까지의 걸리는 평균 시간을 계산해 주지 않아 만들어진 쉘 스크립트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B635B4C-EA09-45DD-99D7-52B2CDC03319}"/>
              </a:ext>
            </a:extLst>
          </p:cNvPr>
          <p:cNvSpPr txBox="1"/>
          <p:nvPr/>
        </p:nvSpPr>
        <p:spPr>
          <a:xfrm>
            <a:off x="7822267" y="5556548"/>
            <a:ext cx="3675994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dirty="0"/>
              <a:t>윈도우와</a:t>
            </a:r>
            <a:r>
              <a:rPr lang="en-US" altLang="ko-KR" dirty="0"/>
              <a:t>, </a:t>
            </a:r>
            <a:r>
              <a:rPr lang="ko-KR" altLang="en-US" dirty="0"/>
              <a:t>리눅스에서</a:t>
            </a:r>
            <a:br>
              <a:rPr lang="en-US" altLang="ko-KR" dirty="0"/>
            </a:br>
            <a:r>
              <a:rPr lang="ko-KR" altLang="en-US" dirty="0" err="1"/>
              <a:t>개행</a:t>
            </a:r>
            <a:r>
              <a:rPr lang="ko-KR" altLang="en-US" dirty="0"/>
              <a:t> 문자가 달라서 발생하는 오류</a:t>
            </a: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CA9DF1C3-6DEB-4C47-9641-C27494F5F323}"/>
              </a:ext>
            </a:extLst>
          </p:cNvPr>
          <p:cNvCxnSpPr>
            <a:cxnSpLocks/>
            <a:endCxn id="12" idx="1"/>
          </p:cNvCxnSpPr>
          <p:nvPr/>
        </p:nvCxnSpPr>
        <p:spPr>
          <a:xfrm flipV="1">
            <a:off x="5805511" y="5879714"/>
            <a:ext cx="2016756" cy="277000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E115522-7231-4288-AED4-9C8775DD6EAC}"/>
              </a:ext>
            </a:extLst>
          </p:cNvPr>
          <p:cNvSpPr txBox="1"/>
          <p:nvPr/>
        </p:nvSpPr>
        <p:spPr>
          <a:xfrm>
            <a:off x="8470510" y="6347084"/>
            <a:ext cx="3716728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0070C0"/>
                </a:solidFill>
              </a:rPr>
              <a:t>Vim –b cal.sh</a:t>
            </a:r>
            <a:r>
              <a:rPr lang="ko-KR" altLang="en-US" dirty="0"/>
              <a:t>로 </a:t>
            </a:r>
            <a:r>
              <a:rPr lang="en-US" altLang="ko-KR" dirty="0" err="1"/>
              <a:t>cal</a:t>
            </a:r>
            <a:r>
              <a:rPr lang="ko-KR" altLang="en-US" dirty="0"/>
              <a:t>파일을 열어준다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1D8510C-E2DB-4E0B-A34C-6D226AE535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945" y="980175"/>
            <a:ext cx="7563906" cy="26492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5B63F85B-AB9A-4409-9E2E-CCA2182BF9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779" y="3930140"/>
            <a:ext cx="6192114" cy="1238423"/>
          </a:xfrm>
          <a:prstGeom prst="rect">
            <a:avLst/>
          </a:prstGeom>
        </p:spPr>
      </p:pic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CE322E5E-21E7-492D-AC63-007520F30234}"/>
              </a:ext>
            </a:extLst>
          </p:cNvPr>
          <p:cNvCxnSpPr>
            <a:cxnSpLocks/>
            <a:endCxn id="2" idx="1"/>
          </p:cNvCxnSpPr>
          <p:nvPr/>
        </p:nvCxnSpPr>
        <p:spPr>
          <a:xfrm>
            <a:off x="5805511" y="4675820"/>
            <a:ext cx="2520945" cy="0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D1CC4A6D-F1AE-4011-A740-E631324E2856}"/>
              </a:ext>
            </a:extLst>
          </p:cNvPr>
          <p:cNvSpPr txBox="1"/>
          <p:nvPr/>
        </p:nvSpPr>
        <p:spPr>
          <a:xfrm>
            <a:off x="649866" y="512923"/>
            <a:ext cx="5947942" cy="461665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04_4 </a:t>
            </a:r>
            <a:r>
              <a:rPr lang="ko-KR" altLang="en-US" sz="2400" dirty="0" err="1"/>
              <a:t>스레드별</a:t>
            </a:r>
            <a:r>
              <a:rPr lang="ko-KR" altLang="en-US" sz="2400" dirty="0"/>
              <a:t> 속도 측정</a:t>
            </a:r>
            <a:r>
              <a:rPr lang="en-US" altLang="ko-KR" sz="2400" dirty="0"/>
              <a:t>(cal.sh)</a:t>
            </a:r>
            <a:endParaRPr lang="ko-KR" altLang="en-US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F83930-0D50-47ED-9230-588E32747E44}"/>
              </a:ext>
            </a:extLst>
          </p:cNvPr>
          <p:cNvSpPr txBox="1"/>
          <p:nvPr/>
        </p:nvSpPr>
        <p:spPr>
          <a:xfrm>
            <a:off x="117995" y="804745"/>
            <a:ext cx="316784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u="sng" dirty="0">
                <a:solidFill>
                  <a:srgbClr val="FF0000"/>
                </a:solidFill>
              </a:rPr>
              <a:t>1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BC21AB-872B-49A7-AA73-D20762BFF5CD}"/>
              </a:ext>
            </a:extLst>
          </p:cNvPr>
          <p:cNvSpPr txBox="1"/>
          <p:nvPr/>
        </p:nvSpPr>
        <p:spPr>
          <a:xfrm>
            <a:off x="184788" y="3779178"/>
            <a:ext cx="316784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u="sng" dirty="0">
                <a:solidFill>
                  <a:srgbClr val="FF0000"/>
                </a:solidFill>
              </a:rPr>
              <a:t>2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2189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8B8377BB-6C5F-4187-AF55-96DE84CBAB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718" y="1042787"/>
            <a:ext cx="7716327" cy="5299115"/>
          </a:xfrm>
          <a:prstGeom prst="rect">
            <a:avLst/>
          </a:prstGeom>
        </p:spPr>
      </p:pic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F69DC691-74D1-4B50-8304-0BB60CB8E953}"/>
              </a:ext>
            </a:extLst>
          </p:cNvPr>
          <p:cNvSpPr/>
          <p:nvPr/>
        </p:nvSpPr>
        <p:spPr>
          <a:xfrm>
            <a:off x="411718" y="6431071"/>
            <a:ext cx="1288254" cy="18306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566FA4-6FDD-4D36-AF2F-003195E1F209}"/>
              </a:ext>
            </a:extLst>
          </p:cNvPr>
          <p:cNvSpPr txBox="1"/>
          <p:nvPr/>
        </p:nvSpPr>
        <p:spPr>
          <a:xfrm>
            <a:off x="8470510" y="1410656"/>
            <a:ext cx="2809053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dirty="0"/>
              <a:t>:%s/</a:t>
            </a:r>
            <a:r>
              <a:rPr lang="en-US" altLang="ko-KR" dirty="0">
                <a:solidFill>
                  <a:srgbClr val="0070C0"/>
                </a:solidFill>
              </a:rPr>
              <a:t>^M</a:t>
            </a:r>
            <a:r>
              <a:rPr lang="en-US" altLang="ko-KR" dirty="0"/>
              <a:t>//g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0C879C-A4D8-4B8E-BD4E-BAD5310011B9}"/>
              </a:ext>
            </a:extLst>
          </p:cNvPr>
          <p:cNvSpPr txBox="1"/>
          <p:nvPr/>
        </p:nvSpPr>
        <p:spPr>
          <a:xfrm>
            <a:off x="8410609" y="1998878"/>
            <a:ext cx="3601353" cy="3693319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0070C0"/>
                </a:solidFill>
              </a:rPr>
              <a:t>:</a:t>
            </a:r>
            <a:r>
              <a:rPr lang="en-US" altLang="ko-KR" dirty="0"/>
              <a:t> </a:t>
            </a:r>
          </a:p>
          <a:p>
            <a:r>
              <a:rPr lang="ko-KR" altLang="en-US" dirty="0"/>
              <a:t>명령모드로 진입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>
                <a:solidFill>
                  <a:srgbClr val="0070C0"/>
                </a:solidFill>
              </a:rPr>
              <a:t>%</a:t>
            </a:r>
          </a:p>
          <a:p>
            <a:r>
              <a:rPr lang="ko-KR" altLang="en-US" dirty="0"/>
              <a:t>전체를 의미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>
                <a:solidFill>
                  <a:srgbClr val="0070C0"/>
                </a:solidFill>
              </a:rPr>
              <a:t>s/</a:t>
            </a:r>
            <a:r>
              <a:rPr lang="ko-KR" altLang="en-US" dirty="0" err="1">
                <a:solidFill>
                  <a:srgbClr val="0070C0"/>
                </a:solidFill>
              </a:rPr>
              <a:t>피대체어</a:t>
            </a:r>
            <a:r>
              <a:rPr lang="en-US" altLang="ko-KR" dirty="0">
                <a:solidFill>
                  <a:srgbClr val="0070C0"/>
                </a:solidFill>
              </a:rPr>
              <a:t>/</a:t>
            </a:r>
            <a:r>
              <a:rPr lang="ko-KR" altLang="en-US" dirty="0" err="1">
                <a:solidFill>
                  <a:srgbClr val="0070C0"/>
                </a:solidFill>
              </a:rPr>
              <a:t>대체어</a:t>
            </a:r>
            <a:r>
              <a:rPr lang="en-US" altLang="ko-KR" dirty="0">
                <a:solidFill>
                  <a:srgbClr val="0070C0"/>
                </a:solidFill>
              </a:rPr>
              <a:t>/ </a:t>
            </a:r>
          </a:p>
          <a:p>
            <a:r>
              <a:rPr lang="ko-KR" altLang="en-US" dirty="0" err="1"/>
              <a:t>피대체어를</a:t>
            </a:r>
            <a:r>
              <a:rPr lang="ko-KR" altLang="en-US" dirty="0"/>
              <a:t> 대체어로 바꿈을 의미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>
                <a:solidFill>
                  <a:srgbClr val="0070C0"/>
                </a:solidFill>
              </a:rPr>
              <a:t>g</a:t>
            </a:r>
            <a:r>
              <a:rPr lang="en-US" altLang="ko-KR" dirty="0"/>
              <a:t> </a:t>
            </a:r>
          </a:p>
          <a:p>
            <a:r>
              <a:rPr lang="en-US" altLang="ko-KR" dirty="0"/>
              <a:t>global</a:t>
            </a:r>
            <a:r>
              <a:rPr lang="ko-KR" altLang="en-US" dirty="0"/>
              <a:t>의 약자로 각 라인에서 해당 문자열이 나올 때마다 모두 바꿈을 의미</a:t>
            </a:r>
            <a:endParaRPr lang="en-US" altLang="ko-KR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127B10-C79E-42F7-8E68-9BEBF7DA5992}"/>
              </a:ext>
            </a:extLst>
          </p:cNvPr>
          <p:cNvSpPr txBox="1"/>
          <p:nvPr/>
        </p:nvSpPr>
        <p:spPr>
          <a:xfrm>
            <a:off x="8751479" y="793296"/>
            <a:ext cx="1224459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dirty="0"/>
              <a:t> </a:t>
            </a:r>
            <a:r>
              <a:rPr lang="en-US" altLang="ko-KR" dirty="0" err="1">
                <a:solidFill>
                  <a:srgbClr val="0070C0"/>
                </a:solidFill>
              </a:rPr>
              <a:t>Ctrl+V</a:t>
            </a:r>
            <a:r>
              <a:rPr lang="en-US" altLang="ko-KR" dirty="0">
                <a:solidFill>
                  <a:srgbClr val="0070C0"/>
                </a:solidFill>
              </a:rPr>
              <a:t> M</a:t>
            </a:r>
            <a:endParaRPr lang="ko-KR" altLang="en-US" dirty="0">
              <a:solidFill>
                <a:srgbClr val="0070C0"/>
              </a:solidFill>
            </a:endParaRPr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988FB468-4A68-4529-8220-0F457D06437D}"/>
              </a:ext>
            </a:extLst>
          </p:cNvPr>
          <p:cNvCxnSpPr>
            <a:cxnSpLocks/>
          </p:cNvCxnSpPr>
          <p:nvPr/>
        </p:nvCxnSpPr>
        <p:spPr>
          <a:xfrm>
            <a:off x="9191143" y="1162628"/>
            <a:ext cx="0" cy="2218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3D2A8DA-1C25-4CAB-8707-FAB9EBFCDA38}"/>
              </a:ext>
            </a:extLst>
          </p:cNvPr>
          <p:cNvSpPr txBox="1"/>
          <p:nvPr/>
        </p:nvSpPr>
        <p:spPr>
          <a:xfrm>
            <a:off x="649866" y="512923"/>
            <a:ext cx="5947942" cy="461665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04_4 </a:t>
            </a:r>
            <a:r>
              <a:rPr lang="ko-KR" altLang="en-US" sz="2400" dirty="0" err="1"/>
              <a:t>스레드별</a:t>
            </a:r>
            <a:r>
              <a:rPr lang="ko-KR" altLang="en-US" sz="2400" dirty="0"/>
              <a:t> 속도 측정</a:t>
            </a:r>
            <a:r>
              <a:rPr lang="en-US" altLang="ko-KR" sz="2400" dirty="0"/>
              <a:t>(cal.sh)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95576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3CBF7934-E893-4F0F-9C01-5A24F43AE3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23" y="1156976"/>
            <a:ext cx="6858957" cy="2429214"/>
          </a:xfrm>
          <a:prstGeom prst="rect">
            <a:avLst/>
          </a:prstGeom>
        </p:spPr>
      </p:pic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F69DC691-74D1-4B50-8304-0BB60CB8E953}"/>
              </a:ext>
            </a:extLst>
          </p:cNvPr>
          <p:cNvSpPr/>
          <p:nvPr/>
        </p:nvSpPr>
        <p:spPr>
          <a:xfrm>
            <a:off x="4758037" y="3211331"/>
            <a:ext cx="1599899" cy="144054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5C1CA277-AA5F-45DC-99F9-287C308CA80A}"/>
              </a:ext>
            </a:extLst>
          </p:cNvPr>
          <p:cNvSpPr/>
          <p:nvPr/>
        </p:nvSpPr>
        <p:spPr>
          <a:xfrm>
            <a:off x="3954489" y="1989058"/>
            <a:ext cx="1288254" cy="18306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7FDB140-DACD-41A7-9BF9-639CD547F3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23" y="4089110"/>
            <a:ext cx="7297168" cy="2133898"/>
          </a:xfrm>
          <a:prstGeom prst="rect">
            <a:avLst/>
          </a:prstGeom>
        </p:spPr>
      </p:pic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8786ADBB-EF23-4E64-A612-4313D3BDAC25}"/>
              </a:ext>
            </a:extLst>
          </p:cNvPr>
          <p:cNvSpPr/>
          <p:nvPr/>
        </p:nvSpPr>
        <p:spPr>
          <a:xfrm>
            <a:off x="4800033" y="4980134"/>
            <a:ext cx="2188138" cy="175925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FB0AF6-B0F9-4B84-9B8A-0E3197114EAD}"/>
              </a:ext>
            </a:extLst>
          </p:cNvPr>
          <p:cNvSpPr txBox="1"/>
          <p:nvPr/>
        </p:nvSpPr>
        <p:spPr>
          <a:xfrm>
            <a:off x="7246051" y="2303559"/>
            <a:ext cx="3889458" cy="923330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Cal.sh </a:t>
            </a:r>
            <a:r>
              <a:rPr lang="ko-KR" altLang="en-US" dirty="0"/>
              <a:t>를 한 계산 결과 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평균 응답 속도</a:t>
            </a:r>
            <a:r>
              <a:rPr lang="en-US" altLang="ko-KR" dirty="0"/>
              <a:t>, </a:t>
            </a:r>
            <a:r>
              <a:rPr lang="ko-KR" altLang="en-US" dirty="0"/>
              <a:t>시작시간</a:t>
            </a:r>
            <a:r>
              <a:rPr lang="en-US" altLang="ko-KR" dirty="0"/>
              <a:t>, </a:t>
            </a:r>
            <a:r>
              <a:rPr lang="ko-KR" altLang="en-US" dirty="0"/>
              <a:t>끝 시간  을 알 수 있음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9244A03-5972-44C5-98F3-86ACCD842998}"/>
              </a:ext>
            </a:extLst>
          </p:cNvPr>
          <p:cNvSpPr txBox="1"/>
          <p:nvPr/>
        </p:nvSpPr>
        <p:spPr>
          <a:xfrm>
            <a:off x="7893838" y="4832894"/>
            <a:ext cx="3889458" cy="646331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dstat</a:t>
            </a:r>
            <a:r>
              <a:rPr lang="en-US" altLang="ko-KR" dirty="0"/>
              <a:t> </a:t>
            </a:r>
            <a:r>
              <a:rPr lang="ko-KR" altLang="en-US" dirty="0"/>
              <a:t>한 결과</a:t>
            </a:r>
            <a:br>
              <a:rPr lang="en-US" altLang="ko-KR" dirty="0"/>
            </a:br>
            <a:r>
              <a:rPr lang="en-US" altLang="ko-KR" dirty="0" err="1"/>
              <a:t>cpu</a:t>
            </a:r>
            <a:r>
              <a:rPr lang="en-US" altLang="ko-KR" dirty="0"/>
              <a:t>, memory </a:t>
            </a:r>
            <a:r>
              <a:rPr lang="ko-KR" altLang="en-US" dirty="0"/>
              <a:t>사용량 알 수 있음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E530185-3291-45BA-BB1A-5866D82E76EB}"/>
              </a:ext>
            </a:extLst>
          </p:cNvPr>
          <p:cNvSpPr txBox="1"/>
          <p:nvPr/>
        </p:nvSpPr>
        <p:spPr>
          <a:xfrm>
            <a:off x="649866" y="512923"/>
            <a:ext cx="5947942" cy="461665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04_4 </a:t>
            </a:r>
            <a:r>
              <a:rPr lang="ko-KR" altLang="en-US" sz="2400" dirty="0" err="1"/>
              <a:t>스레드별</a:t>
            </a:r>
            <a:r>
              <a:rPr lang="ko-KR" altLang="en-US" sz="2400" dirty="0"/>
              <a:t> 속도 측정</a:t>
            </a:r>
            <a:r>
              <a:rPr lang="en-US" altLang="ko-KR" sz="2400" dirty="0"/>
              <a:t>(cal.sh)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261320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B556072B-F990-4884-950A-467A9DAA4F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621" y="1171918"/>
            <a:ext cx="4572638" cy="315321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D94B065B-ED4C-4B3D-9CC5-DCA2E00958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755" y="4858511"/>
            <a:ext cx="12187238" cy="1996314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40C56968-7975-4325-8952-757E570D70F9}"/>
              </a:ext>
            </a:extLst>
          </p:cNvPr>
          <p:cNvSpPr/>
          <p:nvPr/>
        </p:nvSpPr>
        <p:spPr>
          <a:xfrm>
            <a:off x="763621" y="3355386"/>
            <a:ext cx="2376891" cy="401112"/>
          </a:xfrm>
          <a:prstGeom prst="rect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101020C-517C-440A-A344-BA75EAB735E3}"/>
              </a:ext>
            </a:extLst>
          </p:cNvPr>
          <p:cNvSpPr/>
          <p:nvPr/>
        </p:nvSpPr>
        <p:spPr>
          <a:xfrm>
            <a:off x="11227809" y="5788278"/>
            <a:ext cx="1111083" cy="359134"/>
          </a:xfrm>
          <a:prstGeom prst="rect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545B1D8-5CD4-4B8D-A2F5-9757629C1AFD}"/>
              </a:ext>
            </a:extLst>
          </p:cNvPr>
          <p:cNvSpPr/>
          <p:nvPr/>
        </p:nvSpPr>
        <p:spPr>
          <a:xfrm>
            <a:off x="308257" y="5808475"/>
            <a:ext cx="1111083" cy="359134"/>
          </a:xfrm>
          <a:prstGeom prst="rect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D9591FE-F589-4DDC-9421-7247E691BBCC}"/>
              </a:ext>
            </a:extLst>
          </p:cNvPr>
          <p:cNvSpPr/>
          <p:nvPr/>
        </p:nvSpPr>
        <p:spPr>
          <a:xfrm>
            <a:off x="7261737" y="5821328"/>
            <a:ext cx="1221251" cy="326084"/>
          </a:xfrm>
          <a:prstGeom prst="rect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5AB40CB-DA97-4599-BAB7-9D9B9DBC78A8}"/>
              </a:ext>
            </a:extLst>
          </p:cNvPr>
          <p:cNvSpPr txBox="1"/>
          <p:nvPr/>
        </p:nvSpPr>
        <p:spPr>
          <a:xfrm>
            <a:off x="6225772" y="3443385"/>
            <a:ext cx="5568011" cy="646331"/>
          </a:xfrm>
          <a:prstGeom prst="rect">
            <a:avLst/>
          </a:prstGeom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 err="1">
                <a:solidFill>
                  <a:srgbClr val="FF0000"/>
                </a:solidFill>
              </a:rPr>
              <a:t>Usr</a:t>
            </a:r>
            <a:r>
              <a:rPr lang="en-US" altLang="ko-KR" dirty="0"/>
              <a:t>(</a:t>
            </a:r>
            <a:r>
              <a:rPr lang="ko-KR" altLang="en-US" dirty="0" err="1"/>
              <a:t>사용자사용률</a:t>
            </a:r>
            <a:r>
              <a:rPr lang="en-US" altLang="ko-KR" dirty="0"/>
              <a:t>) + </a:t>
            </a:r>
            <a:r>
              <a:rPr lang="en-US" altLang="ko-KR" dirty="0">
                <a:solidFill>
                  <a:srgbClr val="FF0000"/>
                </a:solidFill>
              </a:rPr>
              <a:t>sys</a:t>
            </a:r>
            <a:r>
              <a:rPr lang="en-US" altLang="ko-KR" dirty="0"/>
              <a:t>(</a:t>
            </a:r>
            <a:r>
              <a:rPr lang="ko-KR" altLang="en-US" dirty="0" err="1"/>
              <a:t>시스템사용률</a:t>
            </a:r>
            <a:r>
              <a:rPr lang="en-US" altLang="ko-KR" dirty="0"/>
              <a:t>) : </a:t>
            </a:r>
            <a:r>
              <a:rPr lang="en-US" altLang="ko-KR" dirty="0" err="1">
                <a:solidFill>
                  <a:srgbClr val="FF0000"/>
                </a:solidFill>
              </a:rPr>
              <a:t>cpu</a:t>
            </a:r>
            <a:r>
              <a:rPr lang="en-US" altLang="ko-KR" dirty="0"/>
              <a:t> </a:t>
            </a:r>
            <a:r>
              <a:rPr lang="ko-KR" altLang="en-US" dirty="0"/>
              <a:t>사용률</a:t>
            </a:r>
            <a:endParaRPr lang="en-US" altLang="ko-KR" dirty="0"/>
          </a:p>
          <a:p>
            <a:r>
              <a:rPr lang="en-US" altLang="ko-KR" dirty="0">
                <a:solidFill>
                  <a:srgbClr val="FF0000"/>
                </a:solidFill>
              </a:rPr>
              <a:t>Used</a:t>
            </a:r>
            <a:r>
              <a:rPr lang="en-US" altLang="ko-KR" dirty="0"/>
              <a:t> : </a:t>
            </a:r>
            <a:r>
              <a:rPr lang="en-US" altLang="ko-KR" dirty="0">
                <a:solidFill>
                  <a:srgbClr val="FF0000"/>
                </a:solidFill>
              </a:rPr>
              <a:t>Memory</a:t>
            </a:r>
            <a:r>
              <a:rPr lang="ko-KR" altLang="en-US" dirty="0"/>
              <a:t>사용률 </a:t>
            </a: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ADE1CC06-5BAB-45EC-9D64-C85BD3FE8476}"/>
              </a:ext>
            </a:extLst>
          </p:cNvPr>
          <p:cNvCxnSpPr>
            <a:endCxn id="12" idx="0"/>
          </p:cNvCxnSpPr>
          <p:nvPr/>
        </p:nvCxnSpPr>
        <p:spPr>
          <a:xfrm>
            <a:off x="3140512" y="3571466"/>
            <a:ext cx="8642839" cy="221681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C943E06-E728-42F2-82EE-D0CDA1E0F48C}"/>
              </a:ext>
            </a:extLst>
          </p:cNvPr>
          <p:cNvSpPr txBox="1"/>
          <p:nvPr/>
        </p:nvSpPr>
        <p:spPr>
          <a:xfrm>
            <a:off x="2810795" y="881881"/>
            <a:ext cx="2664999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UnixTime</a:t>
            </a:r>
            <a:endParaRPr lang="en-US" altLang="ko-KR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9EAE93D-DBC6-4862-8832-0B66F4CCCAAE}"/>
              </a:ext>
            </a:extLst>
          </p:cNvPr>
          <p:cNvSpPr txBox="1"/>
          <p:nvPr/>
        </p:nvSpPr>
        <p:spPr>
          <a:xfrm>
            <a:off x="649866" y="512923"/>
            <a:ext cx="5947942" cy="461665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04_5 </a:t>
            </a:r>
            <a:r>
              <a:rPr lang="ko-KR" altLang="en-US" sz="2400" dirty="0"/>
              <a:t>결과파일 분석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2FBF52D2-F582-4C29-A908-F753403CBF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7808" y="625057"/>
            <a:ext cx="5096586" cy="2135477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C00A3703-A3E8-470F-B5DE-1A978A65EAFE}"/>
              </a:ext>
            </a:extLst>
          </p:cNvPr>
          <p:cNvSpPr/>
          <p:nvPr/>
        </p:nvSpPr>
        <p:spPr>
          <a:xfrm>
            <a:off x="763620" y="3355386"/>
            <a:ext cx="2376891" cy="815909"/>
          </a:xfrm>
          <a:prstGeom prst="rect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4159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A6B0370B-B3B6-449D-9205-02F87E9DF758}"/>
              </a:ext>
            </a:extLst>
          </p:cNvPr>
          <p:cNvSpPr txBox="1"/>
          <p:nvPr/>
        </p:nvSpPr>
        <p:spPr>
          <a:xfrm>
            <a:off x="649866" y="512923"/>
            <a:ext cx="5947942" cy="461665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05_1   </a:t>
            </a:r>
            <a:r>
              <a:rPr lang="ko-KR" altLang="en-US" sz="2400" dirty="0"/>
              <a:t>테스트 실행 환경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F48E0335-6341-4C3D-93A7-8B39E295D0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5270879"/>
              </p:ext>
            </p:extLst>
          </p:nvPr>
        </p:nvGraphicFramePr>
        <p:xfrm>
          <a:off x="979702" y="1745585"/>
          <a:ext cx="9147432" cy="11044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6776">
                  <a:extLst>
                    <a:ext uri="{9D8B030D-6E8A-4147-A177-3AD203B41FA5}">
                      <a16:colId xmlns:a16="http://schemas.microsoft.com/office/drawing/2014/main" val="3726592299"/>
                    </a:ext>
                  </a:extLst>
                </a:gridCol>
                <a:gridCol w="1306776">
                  <a:extLst>
                    <a:ext uri="{9D8B030D-6E8A-4147-A177-3AD203B41FA5}">
                      <a16:colId xmlns:a16="http://schemas.microsoft.com/office/drawing/2014/main" val="1544988205"/>
                    </a:ext>
                  </a:extLst>
                </a:gridCol>
                <a:gridCol w="1306776">
                  <a:extLst>
                    <a:ext uri="{9D8B030D-6E8A-4147-A177-3AD203B41FA5}">
                      <a16:colId xmlns:a16="http://schemas.microsoft.com/office/drawing/2014/main" val="1157773191"/>
                    </a:ext>
                  </a:extLst>
                </a:gridCol>
                <a:gridCol w="1306776">
                  <a:extLst>
                    <a:ext uri="{9D8B030D-6E8A-4147-A177-3AD203B41FA5}">
                      <a16:colId xmlns:a16="http://schemas.microsoft.com/office/drawing/2014/main" val="76528430"/>
                    </a:ext>
                  </a:extLst>
                </a:gridCol>
                <a:gridCol w="1306776">
                  <a:extLst>
                    <a:ext uri="{9D8B030D-6E8A-4147-A177-3AD203B41FA5}">
                      <a16:colId xmlns:a16="http://schemas.microsoft.com/office/drawing/2014/main" val="3479595231"/>
                    </a:ext>
                  </a:extLst>
                </a:gridCol>
                <a:gridCol w="1306776">
                  <a:extLst>
                    <a:ext uri="{9D8B030D-6E8A-4147-A177-3AD203B41FA5}">
                      <a16:colId xmlns:a16="http://schemas.microsoft.com/office/drawing/2014/main" val="2324700564"/>
                    </a:ext>
                  </a:extLst>
                </a:gridCol>
                <a:gridCol w="1306776">
                  <a:extLst>
                    <a:ext uri="{9D8B030D-6E8A-4147-A177-3AD203B41FA5}">
                      <a16:colId xmlns:a16="http://schemas.microsoft.com/office/drawing/2014/main" val="5341684"/>
                    </a:ext>
                  </a:extLst>
                </a:gridCol>
              </a:tblGrid>
              <a:tr h="432162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total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used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free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shared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Buff/cache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available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0264754"/>
                  </a:ext>
                </a:extLst>
              </a:tr>
              <a:tr h="67225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Mem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4.7G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702M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3.3G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18M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670M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3.7G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590975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D345E88-7DB3-4E95-BD08-E9BFB94C326A}"/>
              </a:ext>
            </a:extLst>
          </p:cNvPr>
          <p:cNvSpPr txBox="1"/>
          <p:nvPr/>
        </p:nvSpPr>
        <p:spPr>
          <a:xfrm>
            <a:off x="979702" y="1281414"/>
            <a:ext cx="4969863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ko-KR" altLang="en-US" dirty="0"/>
              <a:t>메모리정보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1D05230-9E3D-43F5-A4A9-450445FFC7DA}"/>
              </a:ext>
            </a:extLst>
          </p:cNvPr>
          <p:cNvSpPr txBox="1"/>
          <p:nvPr/>
        </p:nvSpPr>
        <p:spPr>
          <a:xfrm>
            <a:off x="955916" y="3787537"/>
            <a:ext cx="4969863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Cpu</a:t>
            </a:r>
            <a:r>
              <a:rPr lang="en-US" altLang="ko-KR" dirty="0"/>
              <a:t> </a:t>
            </a:r>
            <a:r>
              <a:rPr lang="ko-KR" altLang="en-US" dirty="0"/>
              <a:t>정보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7ED38443-8BFB-4058-AC26-9B7922B93F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8591226"/>
              </p:ext>
            </p:extLst>
          </p:nvPr>
        </p:nvGraphicFramePr>
        <p:xfrm>
          <a:off x="985304" y="4219709"/>
          <a:ext cx="914183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9532">
                  <a:extLst>
                    <a:ext uri="{9D8B030D-6E8A-4147-A177-3AD203B41FA5}">
                      <a16:colId xmlns:a16="http://schemas.microsoft.com/office/drawing/2014/main" val="3723442865"/>
                    </a:ext>
                  </a:extLst>
                </a:gridCol>
                <a:gridCol w="6122298">
                  <a:extLst>
                    <a:ext uri="{9D8B030D-6E8A-4147-A177-3AD203B41FA5}">
                      <a16:colId xmlns:a16="http://schemas.microsoft.com/office/drawing/2014/main" val="34561030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39156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Mocel</a:t>
                      </a:r>
                      <a:r>
                        <a:rPr lang="en-US" altLang="ko-KR" dirty="0"/>
                        <a:t> name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Intel® Core™ I5-8265U CPU @ 1.60GHz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53760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프로세스 </a:t>
                      </a:r>
                      <a:r>
                        <a:rPr lang="ko-KR" altLang="en-US" dirty="0" err="1"/>
                        <a:t>갯수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2676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코어 </a:t>
                      </a:r>
                      <a:r>
                        <a:rPr lang="ko-KR" altLang="en-US" dirty="0" err="1"/>
                        <a:t>갯수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54985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3760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90BC90C6-CBB3-4F79-AE1B-0CF619ADC9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5563374"/>
              </p:ext>
            </p:extLst>
          </p:nvPr>
        </p:nvGraphicFramePr>
        <p:xfrm>
          <a:off x="1483891" y="1112533"/>
          <a:ext cx="10227835" cy="51777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38768">
                  <a:extLst>
                    <a:ext uri="{9D8B030D-6E8A-4147-A177-3AD203B41FA5}">
                      <a16:colId xmlns:a16="http://schemas.microsoft.com/office/drawing/2014/main" val="2273514963"/>
                    </a:ext>
                  </a:extLst>
                </a:gridCol>
                <a:gridCol w="2951173">
                  <a:extLst>
                    <a:ext uri="{9D8B030D-6E8A-4147-A177-3AD203B41FA5}">
                      <a16:colId xmlns:a16="http://schemas.microsoft.com/office/drawing/2014/main" val="3359991740"/>
                    </a:ext>
                  </a:extLst>
                </a:gridCol>
                <a:gridCol w="3033254">
                  <a:extLst>
                    <a:ext uri="{9D8B030D-6E8A-4147-A177-3AD203B41FA5}">
                      <a16:colId xmlns:a16="http://schemas.microsoft.com/office/drawing/2014/main" val="858836916"/>
                    </a:ext>
                  </a:extLst>
                </a:gridCol>
                <a:gridCol w="1704640">
                  <a:extLst>
                    <a:ext uri="{9D8B030D-6E8A-4147-A177-3AD203B41FA5}">
                      <a16:colId xmlns:a16="http://schemas.microsoft.com/office/drawing/2014/main" val="2897433461"/>
                    </a:ext>
                  </a:extLst>
                </a:gridCol>
              </a:tblGrid>
              <a:tr h="605781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Cpu</a:t>
                      </a:r>
                      <a:r>
                        <a:rPr lang="en-US" altLang="ko-KR" dirty="0"/>
                        <a:t> </a:t>
                      </a:r>
                      <a:r>
                        <a:rPr lang="ko-KR" altLang="en-US" dirty="0"/>
                        <a:t>사용량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메모리 사용량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부하정보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148810"/>
                  </a:ext>
                </a:extLst>
              </a:tr>
              <a:tr h="225907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게시판 조회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쓰레드 수 </a:t>
                      </a:r>
                      <a:r>
                        <a:rPr lang="en-US" altLang="ko-KR" dirty="0"/>
                        <a:t>: 10</a:t>
                      </a:r>
                    </a:p>
                    <a:p>
                      <a:pPr latinLnBrk="1"/>
                      <a:r>
                        <a:rPr lang="en-US" altLang="ko-KR" dirty="0"/>
                        <a:t>Ramp-up : 0</a:t>
                      </a:r>
                    </a:p>
                    <a:p>
                      <a:pPr latinLnBrk="1"/>
                      <a:r>
                        <a:rPr lang="en-US" altLang="ko-KR" dirty="0"/>
                        <a:t>Loop : 1</a:t>
                      </a:r>
                    </a:p>
                    <a:p>
                      <a:pPr latinLnBrk="1"/>
                      <a:endParaRPr lang="en-US" altLang="ko-KR" dirty="0"/>
                    </a:p>
                    <a:p>
                      <a:pPr latinLnBrk="1"/>
                      <a:r>
                        <a:rPr lang="en-US" altLang="ko-KR" dirty="0"/>
                        <a:t>10</a:t>
                      </a:r>
                      <a:r>
                        <a:rPr lang="ko-KR" altLang="en-US" dirty="0"/>
                        <a:t>명이 동시에 한번 </a:t>
                      </a:r>
                      <a:r>
                        <a:rPr lang="ko-KR" altLang="en-US" dirty="0" err="1"/>
                        <a:t>클릭하였을때를</a:t>
                      </a:r>
                      <a:r>
                        <a:rPr lang="ko-KR" altLang="en-US" dirty="0"/>
                        <a:t> 가정</a:t>
                      </a:r>
                      <a:endParaRPr lang="en-US" altLang="ko-KR" dirty="0"/>
                    </a:p>
                    <a:p>
                      <a:pPr latinLnBrk="1"/>
                      <a:r>
                        <a:rPr lang="en-US" altLang="ko-KR" dirty="0"/>
                        <a:t>-&gt; </a:t>
                      </a:r>
                      <a:r>
                        <a:rPr lang="ko-KR" altLang="en-US" dirty="0"/>
                        <a:t>평균 </a:t>
                      </a:r>
                      <a:r>
                        <a:rPr lang="en-US" altLang="ko-KR" dirty="0"/>
                        <a:t>0.574</a:t>
                      </a:r>
                      <a:r>
                        <a:rPr lang="ko-KR" altLang="en-US" dirty="0"/>
                        <a:t>초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0878924"/>
                  </a:ext>
                </a:extLst>
              </a:tr>
              <a:tr h="225907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게시판 등록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쓰레드 수 </a:t>
                      </a:r>
                      <a:r>
                        <a:rPr lang="en-US" altLang="ko-KR" dirty="0"/>
                        <a:t>: 10</a:t>
                      </a:r>
                    </a:p>
                    <a:p>
                      <a:pPr latinLnBrk="1"/>
                      <a:r>
                        <a:rPr lang="en-US" altLang="ko-KR" dirty="0"/>
                        <a:t>Ramp-up : 0</a:t>
                      </a:r>
                    </a:p>
                    <a:p>
                      <a:pPr latinLnBrk="1"/>
                      <a:r>
                        <a:rPr lang="en-US" altLang="ko-KR" dirty="0"/>
                        <a:t>Loop : 1</a:t>
                      </a:r>
                    </a:p>
                    <a:p>
                      <a:pPr latinLnBrk="1"/>
                      <a:endParaRPr lang="en-US" altLang="ko-KR" dirty="0"/>
                    </a:p>
                    <a:p>
                      <a:pPr latinLnBrk="1"/>
                      <a:r>
                        <a:rPr lang="en-US" altLang="ko-KR" dirty="0"/>
                        <a:t>10</a:t>
                      </a:r>
                      <a:r>
                        <a:rPr lang="ko-KR" altLang="en-US" dirty="0"/>
                        <a:t>명이 동시에 한번 등록 </a:t>
                      </a:r>
                      <a:r>
                        <a:rPr lang="ko-KR" altLang="en-US" dirty="0" err="1"/>
                        <a:t>하였을때를</a:t>
                      </a:r>
                      <a:r>
                        <a:rPr lang="ko-KR" altLang="en-US" dirty="0"/>
                        <a:t> 가정</a:t>
                      </a:r>
                      <a:endParaRPr lang="en-US" altLang="ko-KR" dirty="0"/>
                    </a:p>
                    <a:p>
                      <a:pPr latinLnBrk="1"/>
                      <a:r>
                        <a:rPr lang="en-US" altLang="ko-KR" dirty="0"/>
                        <a:t>-&gt; </a:t>
                      </a:r>
                      <a:r>
                        <a:rPr lang="ko-KR" altLang="en-US" dirty="0"/>
                        <a:t>평균 </a:t>
                      </a:r>
                      <a:r>
                        <a:rPr lang="en-US" altLang="ko-KR" dirty="0"/>
                        <a:t>0.624</a:t>
                      </a:r>
                      <a:r>
                        <a:rPr lang="ko-KR" altLang="en-US" dirty="0"/>
                        <a:t>초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2122191"/>
                  </a:ext>
                </a:extLst>
              </a:tr>
            </a:tbl>
          </a:graphicData>
        </a:graphic>
      </p:graphicFrame>
      <p:graphicFrame>
        <p:nvGraphicFramePr>
          <p:cNvPr id="8" name="차트 7">
            <a:extLst>
              <a:ext uri="{FF2B5EF4-FFF2-40B4-BE49-F238E27FC236}">
                <a16:creationId xmlns:a16="http://schemas.microsoft.com/office/drawing/2014/main" id="{01DCE147-870E-46C5-B380-5A75A30F5B6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85857065"/>
              </p:ext>
            </p:extLst>
          </p:nvPr>
        </p:nvGraphicFramePr>
        <p:xfrm>
          <a:off x="4060666" y="4165616"/>
          <a:ext cx="2809053" cy="16668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직사각형 8">
            <a:extLst>
              <a:ext uri="{FF2B5EF4-FFF2-40B4-BE49-F238E27FC236}">
                <a16:creationId xmlns:a16="http://schemas.microsoft.com/office/drawing/2014/main" id="{C687495D-83CD-46BC-9160-B7DE7F656389}"/>
              </a:ext>
            </a:extLst>
          </p:cNvPr>
          <p:cNvSpPr/>
          <p:nvPr/>
        </p:nvSpPr>
        <p:spPr>
          <a:xfrm>
            <a:off x="5976724" y="4763384"/>
            <a:ext cx="542925" cy="847725"/>
          </a:xfrm>
          <a:prstGeom prst="rect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>
            <a:lvl1pPr marL="0" indent="0">
              <a:defRPr sz="11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ko-KR" altLang="en-US" sz="1100"/>
          </a:p>
        </p:txBody>
      </p:sp>
      <p:graphicFrame>
        <p:nvGraphicFramePr>
          <p:cNvPr id="11" name="차트 10">
            <a:extLst>
              <a:ext uri="{FF2B5EF4-FFF2-40B4-BE49-F238E27FC236}">
                <a16:creationId xmlns:a16="http://schemas.microsoft.com/office/drawing/2014/main" id="{D76ADCF7-6436-42CD-835E-26EFF2779C8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52808432"/>
              </p:ext>
            </p:extLst>
          </p:nvPr>
        </p:nvGraphicFramePr>
        <p:xfrm>
          <a:off x="7246051" y="4147682"/>
          <a:ext cx="2263555" cy="17145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" name="직사각형 11">
            <a:extLst>
              <a:ext uri="{FF2B5EF4-FFF2-40B4-BE49-F238E27FC236}">
                <a16:creationId xmlns:a16="http://schemas.microsoft.com/office/drawing/2014/main" id="{31313EB3-1F2B-483E-9D1E-E33981684448}"/>
              </a:ext>
            </a:extLst>
          </p:cNvPr>
          <p:cNvSpPr/>
          <p:nvPr/>
        </p:nvSpPr>
        <p:spPr>
          <a:xfrm>
            <a:off x="8933391" y="4649054"/>
            <a:ext cx="288108" cy="936351"/>
          </a:xfrm>
          <a:prstGeom prst="rect">
            <a:avLst/>
          </a:prstGeom>
          <a:noFill/>
          <a:ln w="38100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>
            <a:lvl1pPr marL="0" indent="0">
              <a:defRPr sz="11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ko-KR" altLang="en-US" sz="1100"/>
          </a:p>
        </p:txBody>
      </p:sp>
      <p:graphicFrame>
        <p:nvGraphicFramePr>
          <p:cNvPr id="13" name="차트 12">
            <a:extLst>
              <a:ext uri="{FF2B5EF4-FFF2-40B4-BE49-F238E27FC236}">
                <a16:creationId xmlns:a16="http://schemas.microsoft.com/office/drawing/2014/main" id="{AB51B459-479F-4D68-BC77-4FDF9961371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24691040"/>
              </p:ext>
            </p:extLst>
          </p:nvPr>
        </p:nvGraphicFramePr>
        <p:xfrm>
          <a:off x="4157689" y="2114653"/>
          <a:ext cx="2712030" cy="1638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4" name="직사각형 13">
            <a:extLst>
              <a:ext uri="{FF2B5EF4-FFF2-40B4-BE49-F238E27FC236}">
                <a16:creationId xmlns:a16="http://schemas.microsoft.com/office/drawing/2014/main" id="{C687495D-83CD-46BC-9160-B7DE7F656389}"/>
              </a:ext>
            </a:extLst>
          </p:cNvPr>
          <p:cNvSpPr/>
          <p:nvPr/>
        </p:nvSpPr>
        <p:spPr>
          <a:xfrm>
            <a:off x="4941187" y="2638527"/>
            <a:ext cx="576216" cy="847725"/>
          </a:xfrm>
          <a:prstGeom prst="rect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>
            <a:lvl1pPr marL="0" indent="0">
              <a:defRPr sz="11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ko-KR" altLang="en-US" sz="1100"/>
          </a:p>
        </p:txBody>
      </p:sp>
      <p:graphicFrame>
        <p:nvGraphicFramePr>
          <p:cNvPr id="15" name="차트 14">
            <a:extLst>
              <a:ext uri="{FF2B5EF4-FFF2-40B4-BE49-F238E27FC236}">
                <a16:creationId xmlns:a16="http://schemas.microsoft.com/office/drawing/2014/main" id="{B044FB38-C531-4370-8000-7420D442177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89299281"/>
              </p:ext>
            </p:extLst>
          </p:nvPr>
        </p:nvGraphicFramePr>
        <p:xfrm>
          <a:off x="7174819" y="2131166"/>
          <a:ext cx="2520149" cy="16859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6" name="직사각형 15">
            <a:extLst>
              <a:ext uri="{FF2B5EF4-FFF2-40B4-BE49-F238E27FC236}">
                <a16:creationId xmlns:a16="http://schemas.microsoft.com/office/drawing/2014/main" id="{31313EB3-1F2B-483E-9D1E-E33981684448}"/>
              </a:ext>
            </a:extLst>
          </p:cNvPr>
          <p:cNvSpPr/>
          <p:nvPr/>
        </p:nvSpPr>
        <p:spPr>
          <a:xfrm>
            <a:off x="8254430" y="2635991"/>
            <a:ext cx="432161" cy="847725"/>
          </a:xfrm>
          <a:prstGeom prst="rect">
            <a:avLst/>
          </a:prstGeom>
          <a:noFill/>
          <a:ln w="38100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>
            <a:lvl1pPr marL="0" indent="0">
              <a:defRPr sz="11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ko-KR" altLang="en-US" sz="11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6B0370B-B3B6-449D-9205-02F87E9DF758}"/>
              </a:ext>
            </a:extLst>
          </p:cNvPr>
          <p:cNvSpPr txBox="1"/>
          <p:nvPr/>
        </p:nvSpPr>
        <p:spPr>
          <a:xfrm>
            <a:off x="649866" y="512923"/>
            <a:ext cx="5947942" cy="461665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05_2   </a:t>
            </a:r>
            <a:r>
              <a:rPr lang="ko-KR" altLang="en-US" sz="2400" dirty="0"/>
              <a:t>게시판</a:t>
            </a:r>
          </a:p>
        </p:txBody>
      </p:sp>
    </p:spTree>
    <p:extLst>
      <p:ext uri="{BB962C8B-B14F-4D97-AF65-F5344CB8AC3E}">
        <p14:creationId xmlns:p14="http://schemas.microsoft.com/office/powerpoint/2010/main" val="717523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90BC90C6-CBB3-4F79-AE1B-0CF619ADC9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3663116"/>
              </p:ext>
            </p:extLst>
          </p:nvPr>
        </p:nvGraphicFramePr>
        <p:xfrm>
          <a:off x="1483891" y="1112533"/>
          <a:ext cx="10227835" cy="54521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38768">
                  <a:extLst>
                    <a:ext uri="{9D8B030D-6E8A-4147-A177-3AD203B41FA5}">
                      <a16:colId xmlns:a16="http://schemas.microsoft.com/office/drawing/2014/main" val="2273514963"/>
                    </a:ext>
                  </a:extLst>
                </a:gridCol>
                <a:gridCol w="2951173">
                  <a:extLst>
                    <a:ext uri="{9D8B030D-6E8A-4147-A177-3AD203B41FA5}">
                      <a16:colId xmlns:a16="http://schemas.microsoft.com/office/drawing/2014/main" val="3359991740"/>
                    </a:ext>
                  </a:extLst>
                </a:gridCol>
                <a:gridCol w="3033254">
                  <a:extLst>
                    <a:ext uri="{9D8B030D-6E8A-4147-A177-3AD203B41FA5}">
                      <a16:colId xmlns:a16="http://schemas.microsoft.com/office/drawing/2014/main" val="858836916"/>
                    </a:ext>
                  </a:extLst>
                </a:gridCol>
                <a:gridCol w="1704640">
                  <a:extLst>
                    <a:ext uri="{9D8B030D-6E8A-4147-A177-3AD203B41FA5}">
                      <a16:colId xmlns:a16="http://schemas.microsoft.com/office/drawing/2014/main" val="2897433461"/>
                    </a:ext>
                  </a:extLst>
                </a:gridCol>
              </a:tblGrid>
              <a:tr h="605781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Cpu</a:t>
                      </a:r>
                      <a:r>
                        <a:rPr lang="en-US" altLang="ko-KR" dirty="0"/>
                        <a:t> </a:t>
                      </a:r>
                      <a:r>
                        <a:rPr lang="ko-KR" altLang="en-US" dirty="0"/>
                        <a:t>사용량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메모리 사용량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부하정보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148810"/>
                  </a:ext>
                </a:extLst>
              </a:tr>
              <a:tr h="225907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자원관리 조회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쓰레드 수 </a:t>
                      </a:r>
                      <a:r>
                        <a:rPr lang="en-US" altLang="ko-KR" dirty="0"/>
                        <a:t>: 10</a:t>
                      </a:r>
                    </a:p>
                    <a:p>
                      <a:pPr latinLnBrk="1"/>
                      <a:r>
                        <a:rPr lang="en-US" altLang="ko-KR" dirty="0"/>
                        <a:t>Ramp-up : 0</a:t>
                      </a:r>
                    </a:p>
                    <a:p>
                      <a:pPr latinLnBrk="1"/>
                      <a:r>
                        <a:rPr lang="en-US" altLang="ko-KR" dirty="0"/>
                        <a:t>Loop : 1</a:t>
                      </a:r>
                    </a:p>
                    <a:p>
                      <a:pPr latinLnBrk="1"/>
                      <a:endParaRPr lang="en-US" altLang="ko-KR" dirty="0"/>
                    </a:p>
                    <a:p>
                      <a:pPr latinLnBrk="1"/>
                      <a:r>
                        <a:rPr lang="en-US" altLang="ko-KR" dirty="0"/>
                        <a:t>10</a:t>
                      </a:r>
                      <a:r>
                        <a:rPr lang="ko-KR" altLang="en-US" dirty="0"/>
                        <a:t>명이 동시에 한번 조회 </a:t>
                      </a:r>
                      <a:r>
                        <a:rPr lang="ko-KR" altLang="en-US" dirty="0" err="1"/>
                        <a:t>하였을때를</a:t>
                      </a:r>
                      <a:r>
                        <a:rPr lang="ko-KR" altLang="en-US" dirty="0"/>
                        <a:t> 가정</a:t>
                      </a:r>
                      <a:endParaRPr lang="en-US" altLang="ko-KR" dirty="0"/>
                    </a:p>
                    <a:p>
                      <a:pPr latinLnBrk="1"/>
                      <a:r>
                        <a:rPr lang="en-US" altLang="ko-KR" dirty="0"/>
                        <a:t>-&gt; </a:t>
                      </a:r>
                      <a:r>
                        <a:rPr lang="ko-KR" altLang="en-US" dirty="0"/>
                        <a:t>평균 </a:t>
                      </a:r>
                      <a:r>
                        <a:rPr lang="en-US" altLang="ko-KR" dirty="0"/>
                        <a:t>0.334</a:t>
                      </a:r>
                      <a:r>
                        <a:rPr lang="ko-KR" altLang="en-US" dirty="0"/>
                        <a:t>초</a:t>
                      </a:r>
                    </a:p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0878924"/>
                  </a:ext>
                </a:extLst>
              </a:tr>
              <a:tr h="225907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자원관리 등록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쓰레드 수 </a:t>
                      </a:r>
                      <a:r>
                        <a:rPr lang="en-US" altLang="ko-KR" dirty="0"/>
                        <a:t>: 10</a:t>
                      </a:r>
                    </a:p>
                    <a:p>
                      <a:pPr latinLnBrk="1"/>
                      <a:r>
                        <a:rPr lang="en-US" altLang="ko-KR" dirty="0"/>
                        <a:t>Ramp-up : 0</a:t>
                      </a:r>
                    </a:p>
                    <a:p>
                      <a:pPr latinLnBrk="1"/>
                      <a:r>
                        <a:rPr lang="en-US" altLang="ko-KR" dirty="0"/>
                        <a:t>Loop : 1</a:t>
                      </a:r>
                    </a:p>
                    <a:p>
                      <a:pPr latinLnBrk="1"/>
                      <a:endParaRPr lang="en-US" altLang="ko-KR" dirty="0"/>
                    </a:p>
                    <a:p>
                      <a:pPr latinLnBrk="1"/>
                      <a:r>
                        <a:rPr lang="en-US" altLang="ko-KR" dirty="0"/>
                        <a:t>10</a:t>
                      </a:r>
                      <a:r>
                        <a:rPr lang="ko-KR" altLang="en-US" dirty="0"/>
                        <a:t>명이 동시에 한번 등록 </a:t>
                      </a:r>
                      <a:r>
                        <a:rPr lang="ko-KR" altLang="en-US" dirty="0" err="1"/>
                        <a:t>하였을때를</a:t>
                      </a:r>
                      <a:r>
                        <a:rPr lang="ko-KR" altLang="en-US" dirty="0"/>
                        <a:t> 가정</a:t>
                      </a:r>
                      <a:endParaRPr lang="en-US" altLang="ko-KR" dirty="0"/>
                    </a:p>
                    <a:p>
                      <a:pPr latinLnBrk="1"/>
                      <a:r>
                        <a:rPr lang="en-US" altLang="ko-KR" dirty="0"/>
                        <a:t>-&gt; </a:t>
                      </a:r>
                      <a:r>
                        <a:rPr lang="ko-KR" altLang="en-US" dirty="0"/>
                        <a:t>평균 </a:t>
                      </a:r>
                      <a:r>
                        <a:rPr lang="en-US" altLang="ko-KR" dirty="0"/>
                        <a:t>0.568</a:t>
                      </a:r>
                      <a:r>
                        <a:rPr lang="ko-KR" altLang="en-US" dirty="0"/>
                        <a:t>초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2122191"/>
                  </a:ext>
                </a:extLst>
              </a:tr>
            </a:tbl>
          </a:graphicData>
        </a:graphic>
      </p:graphicFrame>
      <p:graphicFrame>
        <p:nvGraphicFramePr>
          <p:cNvPr id="5" name="차트 4">
            <a:extLst>
              <a:ext uri="{FF2B5EF4-FFF2-40B4-BE49-F238E27FC236}">
                <a16:creationId xmlns:a16="http://schemas.microsoft.com/office/drawing/2014/main" id="{01DCE147-870E-46C5-B380-5A75A30F5B6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36710885"/>
              </p:ext>
            </p:extLst>
          </p:nvPr>
        </p:nvGraphicFramePr>
        <p:xfrm>
          <a:off x="4148891" y="4274743"/>
          <a:ext cx="2737026" cy="16668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C687495D-83CD-46BC-9160-B7DE7F656389}"/>
              </a:ext>
            </a:extLst>
          </p:cNvPr>
          <p:cNvSpPr/>
          <p:nvPr/>
        </p:nvSpPr>
        <p:spPr>
          <a:xfrm>
            <a:off x="6179901" y="4894567"/>
            <a:ext cx="296511" cy="847725"/>
          </a:xfrm>
          <a:prstGeom prst="rect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>
            <a:lvl1pPr marL="0" indent="0">
              <a:defRPr sz="11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ko-KR" altLang="en-US" sz="1100"/>
          </a:p>
        </p:txBody>
      </p:sp>
      <p:graphicFrame>
        <p:nvGraphicFramePr>
          <p:cNvPr id="8" name="차트 7">
            <a:extLst>
              <a:ext uri="{FF2B5EF4-FFF2-40B4-BE49-F238E27FC236}">
                <a16:creationId xmlns:a16="http://schemas.microsoft.com/office/drawing/2014/main" id="{D76ADCF7-6436-42CD-835E-26EFF2779C8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95060450"/>
              </p:ext>
            </p:extLst>
          </p:nvPr>
        </p:nvGraphicFramePr>
        <p:xfrm>
          <a:off x="7264917" y="4219709"/>
          <a:ext cx="2430052" cy="17145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직사각형 8">
            <a:extLst>
              <a:ext uri="{FF2B5EF4-FFF2-40B4-BE49-F238E27FC236}">
                <a16:creationId xmlns:a16="http://schemas.microsoft.com/office/drawing/2014/main" id="{31313EB3-1F2B-483E-9D1E-E33981684448}"/>
              </a:ext>
            </a:extLst>
          </p:cNvPr>
          <p:cNvSpPr/>
          <p:nvPr/>
        </p:nvSpPr>
        <p:spPr>
          <a:xfrm>
            <a:off x="9090504" y="4816228"/>
            <a:ext cx="288569" cy="847725"/>
          </a:xfrm>
          <a:prstGeom prst="rect">
            <a:avLst/>
          </a:prstGeom>
          <a:noFill/>
          <a:ln w="38100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>
            <a:lvl1pPr marL="0" indent="0">
              <a:defRPr sz="11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ko-KR" altLang="en-US" sz="1100"/>
          </a:p>
        </p:txBody>
      </p:sp>
      <p:graphicFrame>
        <p:nvGraphicFramePr>
          <p:cNvPr id="10" name="차트 9">
            <a:extLst>
              <a:ext uri="{FF2B5EF4-FFF2-40B4-BE49-F238E27FC236}">
                <a16:creationId xmlns:a16="http://schemas.microsoft.com/office/drawing/2014/main" id="{01DCE147-870E-46C5-B380-5A75A30F5B6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84645086"/>
              </p:ext>
            </p:extLst>
          </p:nvPr>
        </p:nvGraphicFramePr>
        <p:xfrm>
          <a:off x="4148891" y="2111551"/>
          <a:ext cx="2737026" cy="16668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1" name="직사각형 10">
            <a:extLst>
              <a:ext uri="{FF2B5EF4-FFF2-40B4-BE49-F238E27FC236}">
                <a16:creationId xmlns:a16="http://schemas.microsoft.com/office/drawing/2014/main" id="{C687495D-83CD-46BC-9160-B7DE7F656389}"/>
              </a:ext>
            </a:extLst>
          </p:cNvPr>
          <p:cNvSpPr/>
          <p:nvPr/>
        </p:nvSpPr>
        <p:spPr>
          <a:xfrm>
            <a:off x="6151390" y="2667393"/>
            <a:ext cx="325022" cy="847725"/>
          </a:xfrm>
          <a:prstGeom prst="rect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>
            <a:lvl1pPr marL="0" indent="0">
              <a:defRPr sz="11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ko-KR" altLang="en-US" sz="1100"/>
          </a:p>
        </p:txBody>
      </p:sp>
      <p:graphicFrame>
        <p:nvGraphicFramePr>
          <p:cNvPr id="12" name="차트 11">
            <a:extLst>
              <a:ext uri="{FF2B5EF4-FFF2-40B4-BE49-F238E27FC236}">
                <a16:creationId xmlns:a16="http://schemas.microsoft.com/office/drawing/2014/main" id="{D76ADCF7-6436-42CD-835E-26EFF2779C8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88713964"/>
              </p:ext>
            </p:extLst>
          </p:nvPr>
        </p:nvGraphicFramePr>
        <p:xfrm>
          <a:off x="7331178" y="2003152"/>
          <a:ext cx="2502081" cy="17145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3" name="직사각형 12">
            <a:extLst>
              <a:ext uri="{FF2B5EF4-FFF2-40B4-BE49-F238E27FC236}">
                <a16:creationId xmlns:a16="http://schemas.microsoft.com/office/drawing/2014/main" id="{31313EB3-1F2B-483E-9D1E-E33981684448}"/>
              </a:ext>
            </a:extLst>
          </p:cNvPr>
          <p:cNvSpPr/>
          <p:nvPr/>
        </p:nvSpPr>
        <p:spPr>
          <a:xfrm>
            <a:off x="9230512" y="2491061"/>
            <a:ext cx="297122" cy="847725"/>
          </a:xfrm>
          <a:prstGeom prst="rect">
            <a:avLst/>
          </a:prstGeom>
          <a:noFill/>
          <a:ln w="38100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>
            <a:lvl1pPr marL="0" indent="0">
              <a:defRPr sz="11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ko-KR" altLang="en-US" sz="11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EFA0368-23E8-4DDD-A2D7-A1F9FCCEEFC2}"/>
              </a:ext>
            </a:extLst>
          </p:cNvPr>
          <p:cNvSpPr txBox="1"/>
          <p:nvPr/>
        </p:nvSpPr>
        <p:spPr>
          <a:xfrm>
            <a:off x="649866" y="512923"/>
            <a:ext cx="5947942" cy="461665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05_3   </a:t>
            </a:r>
            <a:r>
              <a:rPr lang="ko-KR" altLang="en-US" sz="2400" dirty="0"/>
              <a:t>자원관리</a:t>
            </a:r>
          </a:p>
        </p:txBody>
      </p:sp>
    </p:spTree>
    <p:extLst>
      <p:ext uri="{BB962C8B-B14F-4D97-AF65-F5344CB8AC3E}">
        <p14:creationId xmlns:p14="http://schemas.microsoft.com/office/powerpoint/2010/main" val="1943692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90BC90C6-CBB3-4F79-AE1B-0CF619ADC9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7700589"/>
              </p:ext>
            </p:extLst>
          </p:nvPr>
        </p:nvGraphicFramePr>
        <p:xfrm>
          <a:off x="1483891" y="1112533"/>
          <a:ext cx="10227835" cy="51777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38768">
                  <a:extLst>
                    <a:ext uri="{9D8B030D-6E8A-4147-A177-3AD203B41FA5}">
                      <a16:colId xmlns:a16="http://schemas.microsoft.com/office/drawing/2014/main" val="2273514963"/>
                    </a:ext>
                  </a:extLst>
                </a:gridCol>
                <a:gridCol w="2951173">
                  <a:extLst>
                    <a:ext uri="{9D8B030D-6E8A-4147-A177-3AD203B41FA5}">
                      <a16:colId xmlns:a16="http://schemas.microsoft.com/office/drawing/2014/main" val="3359991740"/>
                    </a:ext>
                  </a:extLst>
                </a:gridCol>
                <a:gridCol w="3033254">
                  <a:extLst>
                    <a:ext uri="{9D8B030D-6E8A-4147-A177-3AD203B41FA5}">
                      <a16:colId xmlns:a16="http://schemas.microsoft.com/office/drawing/2014/main" val="858836916"/>
                    </a:ext>
                  </a:extLst>
                </a:gridCol>
                <a:gridCol w="1704640">
                  <a:extLst>
                    <a:ext uri="{9D8B030D-6E8A-4147-A177-3AD203B41FA5}">
                      <a16:colId xmlns:a16="http://schemas.microsoft.com/office/drawing/2014/main" val="2897433461"/>
                    </a:ext>
                  </a:extLst>
                </a:gridCol>
              </a:tblGrid>
              <a:tr h="605781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Cpu</a:t>
                      </a:r>
                      <a:r>
                        <a:rPr lang="en-US" altLang="ko-KR" dirty="0"/>
                        <a:t> </a:t>
                      </a:r>
                      <a:r>
                        <a:rPr lang="ko-KR" altLang="en-US" dirty="0"/>
                        <a:t>사용량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메모리 사용량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부하정보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148810"/>
                  </a:ext>
                </a:extLst>
              </a:tr>
              <a:tr h="185380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전자결재 조회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쓰레드 수 </a:t>
                      </a:r>
                      <a:r>
                        <a:rPr lang="en-US" altLang="ko-KR" dirty="0"/>
                        <a:t>: 10</a:t>
                      </a:r>
                    </a:p>
                    <a:p>
                      <a:pPr latinLnBrk="1"/>
                      <a:r>
                        <a:rPr lang="en-US" altLang="ko-KR" dirty="0"/>
                        <a:t>Ramp-up : 0</a:t>
                      </a:r>
                    </a:p>
                    <a:p>
                      <a:pPr latinLnBrk="1"/>
                      <a:r>
                        <a:rPr lang="en-US" altLang="ko-KR" dirty="0"/>
                        <a:t>Loop : 1</a:t>
                      </a:r>
                    </a:p>
                    <a:p>
                      <a:pPr latinLnBrk="1"/>
                      <a:endParaRPr lang="en-US" altLang="ko-KR" dirty="0"/>
                    </a:p>
                    <a:p>
                      <a:pPr latinLnBrk="1"/>
                      <a:r>
                        <a:rPr lang="en-US" altLang="ko-KR" dirty="0"/>
                        <a:t>10</a:t>
                      </a:r>
                      <a:r>
                        <a:rPr lang="ko-KR" altLang="en-US" dirty="0"/>
                        <a:t>명이 동시에 한번 조회 </a:t>
                      </a:r>
                      <a:r>
                        <a:rPr lang="ko-KR" altLang="en-US" dirty="0" err="1"/>
                        <a:t>하였을때를</a:t>
                      </a:r>
                      <a:r>
                        <a:rPr lang="ko-KR" altLang="en-US" dirty="0"/>
                        <a:t> 가정</a:t>
                      </a:r>
                      <a:endParaRPr lang="en-US" altLang="ko-KR" dirty="0"/>
                    </a:p>
                    <a:p>
                      <a:pPr latinLnBrk="1"/>
                      <a:r>
                        <a:rPr lang="en-US" altLang="ko-KR" dirty="0"/>
                        <a:t>-&gt; </a:t>
                      </a:r>
                      <a:r>
                        <a:rPr lang="ko-KR" altLang="en-US" dirty="0"/>
                        <a:t>평균 </a:t>
                      </a:r>
                      <a:r>
                        <a:rPr lang="en-US" altLang="ko-KR" dirty="0"/>
                        <a:t>0.456</a:t>
                      </a:r>
                      <a:r>
                        <a:rPr lang="ko-KR" altLang="en-US" dirty="0"/>
                        <a:t>초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0878924"/>
                  </a:ext>
                </a:extLst>
              </a:tr>
              <a:tr h="225907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전자결재 등록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쓰레드 수 </a:t>
                      </a:r>
                      <a:r>
                        <a:rPr lang="en-US" altLang="ko-KR" sz="1600" dirty="0"/>
                        <a:t>: 10</a:t>
                      </a:r>
                    </a:p>
                    <a:p>
                      <a:pPr latinLnBrk="1"/>
                      <a:r>
                        <a:rPr lang="en-US" altLang="ko-KR" sz="1600" dirty="0"/>
                        <a:t>Ramp-up : 0</a:t>
                      </a:r>
                    </a:p>
                    <a:p>
                      <a:pPr latinLnBrk="1"/>
                      <a:r>
                        <a:rPr lang="en-US" altLang="ko-KR" sz="1600" dirty="0"/>
                        <a:t>Loop : 1</a:t>
                      </a:r>
                    </a:p>
                    <a:p>
                      <a:pPr latinLnBrk="1"/>
                      <a:endParaRPr lang="en-US" altLang="ko-KR" sz="1600" dirty="0"/>
                    </a:p>
                    <a:p>
                      <a:pPr latinLnBrk="1"/>
                      <a:r>
                        <a:rPr lang="en-US" altLang="ko-KR" sz="1600" dirty="0"/>
                        <a:t>10</a:t>
                      </a:r>
                      <a:r>
                        <a:rPr lang="ko-KR" altLang="en-US" sz="1600" dirty="0"/>
                        <a:t>명이 동시에 한번 조회 </a:t>
                      </a:r>
                      <a:r>
                        <a:rPr lang="ko-KR" altLang="en-US" sz="1600" dirty="0" err="1"/>
                        <a:t>하였을때를</a:t>
                      </a:r>
                      <a:r>
                        <a:rPr lang="ko-KR" altLang="en-US" sz="1600" dirty="0"/>
                        <a:t> 가정</a:t>
                      </a:r>
                      <a:endParaRPr lang="en-US" altLang="ko-KR" sz="1600" dirty="0"/>
                    </a:p>
                    <a:p>
                      <a:pPr latinLnBrk="1"/>
                      <a:r>
                        <a:rPr lang="en-US" altLang="ko-KR" sz="1600" dirty="0"/>
                        <a:t>-&gt; </a:t>
                      </a:r>
                      <a:r>
                        <a:rPr lang="ko-KR" altLang="en-US" sz="1600" dirty="0"/>
                        <a:t>평균 </a:t>
                      </a:r>
                      <a:r>
                        <a:rPr lang="en-US" altLang="ko-KR" sz="1600" dirty="0"/>
                        <a:t>3.443</a:t>
                      </a:r>
                      <a:r>
                        <a:rPr lang="ko-KR" altLang="en-US" sz="1600" dirty="0"/>
                        <a:t>초</a:t>
                      </a:r>
                    </a:p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2122191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8013ECC8-169A-44C6-98E8-7CA6A27211C4}"/>
              </a:ext>
            </a:extLst>
          </p:cNvPr>
          <p:cNvSpPr txBox="1"/>
          <p:nvPr/>
        </p:nvSpPr>
        <p:spPr>
          <a:xfrm>
            <a:off x="649866" y="512923"/>
            <a:ext cx="5947942" cy="461665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05_4   </a:t>
            </a:r>
            <a:r>
              <a:rPr lang="ko-KR" altLang="en-US" sz="2400" dirty="0"/>
              <a:t>전자결재</a:t>
            </a:r>
          </a:p>
        </p:txBody>
      </p:sp>
      <p:graphicFrame>
        <p:nvGraphicFramePr>
          <p:cNvPr id="11" name="차트 10">
            <a:extLst>
              <a:ext uri="{FF2B5EF4-FFF2-40B4-BE49-F238E27FC236}">
                <a16:creationId xmlns:a16="http://schemas.microsoft.com/office/drawing/2014/main" id="{ED4D3235-1878-4C92-9AF5-2C1E6D13748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41646671"/>
              </p:ext>
            </p:extLst>
          </p:nvPr>
        </p:nvGraphicFramePr>
        <p:xfrm>
          <a:off x="4076863" y="1724731"/>
          <a:ext cx="2664999" cy="17049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2" name="차트 11">
            <a:extLst>
              <a:ext uri="{FF2B5EF4-FFF2-40B4-BE49-F238E27FC236}">
                <a16:creationId xmlns:a16="http://schemas.microsoft.com/office/drawing/2014/main" id="{7EB38E30-0130-440E-9EDF-CBB9901ECC2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73852656"/>
              </p:ext>
            </p:extLst>
          </p:nvPr>
        </p:nvGraphicFramePr>
        <p:xfrm>
          <a:off x="7174024" y="1729409"/>
          <a:ext cx="2664999" cy="17907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3" name="직사각형 12">
            <a:extLst>
              <a:ext uri="{FF2B5EF4-FFF2-40B4-BE49-F238E27FC236}">
                <a16:creationId xmlns:a16="http://schemas.microsoft.com/office/drawing/2014/main" id="{31313EB3-1F2B-483E-9D1E-E33981684448}"/>
              </a:ext>
            </a:extLst>
          </p:cNvPr>
          <p:cNvSpPr/>
          <p:nvPr/>
        </p:nvSpPr>
        <p:spPr>
          <a:xfrm>
            <a:off x="8904517" y="2284593"/>
            <a:ext cx="477478" cy="847725"/>
          </a:xfrm>
          <a:prstGeom prst="rect">
            <a:avLst/>
          </a:prstGeom>
          <a:noFill/>
          <a:ln w="38100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>
            <a:lvl1pPr marL="0" indent="0">
              <a:defRPr sz="11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ko-KR" altLang="en-US" sz="1100"/>
          </a:p>
        </p:txBody>
      </p:sp>
      <p:graphicFrame>
        <p:nvGraphicFramePr>
          <p:cNvPr id="14" name="차트 13">
            <a:extLst>
              <a:ext uri="{FF2B5EF4-FFF2-40B4-BE49-F238E27FC236}">
                <a16:creationId xmlns:a16="http://schemas.microsoft.com/office/drawing/2014/main" id="{858B3C7B-47DF-4FAF-A81C-DBC688F6200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35906890"/>
              </p:ext>
            </p:extLst>
          </p:nvPr>
        </p:nvGraphicFramePr>
        <p:xfrm>
          <a:off x="4043639" y="4063173"/>
          <a:ext cx="2883959" cy="1752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5" name="직사각형 14">
            <a:extLst>
              <a:ext uri="{FF2B5EF4-FFF2-40B4-BE49-F238E27FC236}">
                <a16:creationId xmlns:a16="http://schemas.microsoft.com/office/drawing/2014/main" id="{C687495D-83CD-46BC-9160-B7DE7F656389}"/>
              </a:ext>
            </a:extLst>
          </p:cNvPr>
          <p:cNvSpPr/>
          <p:nvPr/>
        </p:nvSpPr>
        <p:spPr>
          <a:xfrm>
            <a:off x="4846320" y="4582256"/>
            <a:ext cx="1259252" cy="971550"/>
          </a:xfrm>
          <a:prstGeom prst="rect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>
            <a:lvl1pPr marL="0" indent="0">
              <a:defRPr sz="11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ko-KR" altLang="en-US" sz="1100"/>
          </a:p>
        </p:txBody>
      </p:sp>
      <p:graphicFrame>
        <p:nvGraphicFramePr>
          <p:cNvPr id="16" name="차트 15">
            <a:extLst>
              <a:ext uri="{FF2B5EF4-FFF2-40B4-BE49-F238E27FC236}">
                <a16:creationId xmlns:a16="http://schemas.microsoft.com/office/drawing/2014/main" id="{D76ADCF7-6436-42CD-835E-26EFF2779C8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67473355"/>
              </p:ext>
            </p:extLst>
          </p:nvPr>
        </p:nvGraphicFramePr>
        <p:xfrm>
          <a:off x="6927598" y="4219396"/>
          <a:ext cx="2911425" cy="17145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7" name="직사각형 16">
            <a:extLst>
              <a:ext uri="{FF2B5EF4-FFF2-40B4-BE49-F238E27FC236}">
                <a16:creationId xmlns:a16="http://schemas.microsoft.com/office/drawing/2014/main" id="{31313EB3-1F2B-483E-9D1E-E33981684448}"/>
              </a:ext>
            </a:extLst>
          </p:cNvPr>
          <p:cNvSpPr/>
          <p:nvPr/>
        </p:nvSpPr>
        <p:spPr>
          <a:xfrm>
            <a:off x="8089648" y="4800422"/>
            <a:ext cx="1029105" cy="847725"/>
          </a:xfrm>
          <a:prstGeom prst="rect">
            <a:avLst/>
          </a:prstGeom>
          <a:noFill/>
          <a:ln w="38100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>
            <a:lvl1pPr marL="0" indent="0">
              <a:defRPr sz="11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ko-KR" altLang="en-US" sz="1100"/>
          </a:p>
        </p:txBody>
      </p:sp>
    </p:spTree>
    <p:extLst>
      <p:ext uri="{BB962C8B-B14F-4D97-AF65-F5344CB8AC3E}">
        <p14:creationId xmlns:p14="http://schemas.microsoft.com/office/powerpoint/2010/main" val="1913388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90BC90C6-CBB3-4F79-AE1B-0CF619ADC9C8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483891" y="1112533"/>
          <a:ext cx="10227835" cy="5181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6621">
                  <a:extLst>
                    <a:ext uri="{9D8B030D-6E8A-4147-A177-3AD203B41FA5}">
                      <a16:colId xmlns:a16="http://schemas.microsoft.com/office/drawing/2014/main" val="2273514963"/>
                    </a:ext>
                  </a:extLst>
                </a:gridCol>
                <a:gridCol w="3833320">
                  <a:extLst>
                    <a:ext uri="{9D8B030D-6E8A-4147-A177-3AD203B41FA5}">
                      <a16:colId xmlns:a16="http://schemas.microsoft.com/office/drawing/2014/main" val="3359991740"/>
                    </a:ext>
                  </a:extLst>
                </a:gridCol>
                <a:gridCol w="3033254">
                  <a:extLst>
                    <a:ext uri="{9D8B030D-6E8A-4147-A177-3AD203B41FA5}">
                      <a16:colId xmlns:a16="http://schemas.microsoft.com/office/drawing/2014/main" val="858836916"/>
                    </a:ext>
                  </a:extLst>
                </a:gridCol>
                <a:gridCol w="1704640">
                  <a:extLst>
                    <a:ext uri="{9D8B030D-6E8A-4147-A177-3AD203B41FA5}">
                      <a16:colId xmlns:a16="http://schemas.microsoft.com/office/drawing/2014/main" val="2897433461"/>
                    </a:ext>
                  </a:extLst>
                </a:gridCol>
              </a:tblGrid>
              <a:tr h="605781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Cpu</a:t>
                      </a:r>
                      <a:r>
                        <a:rPr lang="en-US" altLang="ko-KR" dirty="0"/>
                        <a:t> </a:t>
                      </a:r>
                      <a:r>
                        <a:rPr lang="ko-KR" altLang="en-US" dirty="0"/>
                        <a:t>사용량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메모리 사용량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부하정보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148810"/>
                  </a:ext>
                </a:extLst>
              </a:tr>
              <a:tr h="225907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일정관리 조회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쓰레드 수 </a:t>
                      </a:r>
                      <a:r>
                        <a:rPr lang="en-US" altLang="ko-KR" sz="1600" dirty="0"/>
                        <a:t>: 10</a:t>
                      </a:r>
                    </a:p>
                    <a:p>
                      <a:pPr latinLnBrk="1"/>
                      <a:r>
                        <a:rPr lang="en-US" altLang="ko-KR" sz="1600" dirty="0"/>
                        <a:t>Ramp-up : 0</a:t>
                      </a:r>
                    </a:p>
                    <a:p>
                      <a:pPr latinLnBrk="1"/>
                      <a:r>
                        <a:rPr lang="en-US" altLang="ko-KR" sz="1600" dirty="0"/>
                        <a:t>Loop : 1</a:t>
                      </a:r>
                    </a:p>
                    <a:p>
                      <a:pPr latinLnBrk="1"/>
                      <a:endParaRPr lang="en-US" altLang="ko-KR" sz="1600" dirty="0"/>
                    </a:p>
                    <a:p>
                      <a:pPr latinLnBrk="1"/>
                      <a:r>
                        <a:rPr lang="en-US" altLang="ko-KR" sz="1600" dirty="0"/>
                        <a:t>10</a:t>
                      </a:r>
                      <a:r>
                        <a:rPr lang="ko-KR" altLang="en-US" sz="1600" dirty="0"/>
                        <a:t>명이 동시에 한번 </a:t>
                      </a:r>
                      <a:r>
                        <a:rPr lang="ko-KR" altLang="en-US" sz="1600" dirty="0" err="1"/>
                        <a:t>클릭하였을때를</a:t>
                      </a:r>
                      <a:r>
                        <a:rPr lang="ko-KR" altLang="en-US" sz="1600" dirty="0"/>
                        <a:t> 가정</a:t>
                      </a:r>
                      <a:endParaRPr lang="en-US" altLang="ko-KR" sz="1600" dirty="0"/>
                    </a:p>
                    <a:p>
                      <a:pPr latinLnBrk="1"/>
                      <a:r>
                        <a:rPr lang="en-US" altLang="ko-KR" sz="1600" dirty="0"/>
                        <a:t>-&gt; </a:t>
                      </a:r>
                      <a:r>
                        <a:rPr lang="ko-KR" altLang="en-US" sz="1600" dirty="0"/>
                        <a:t>평균 </a:t>
                      </a:r>
                      <a:r>
                        <a:rPr lang="en-US" altLang="ko-KR" sz="1600" dirty="0"/>
                        <a:t>0.488</a:t>
                      </a:r>
                      <a:r>
                        <a:rPr lang="ko-KR" altLang="en-US" sz="1600" dirty="0"/>
                        <a:t>초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0878924"/>
                  </a:ext>
                </a:extLst>
              </a:tr>
              <a:tr h="225907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일정관리 등록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쓰레드 수 </a:t>
                      </a:r>
                      <a:r>
                        <a:rPr lang="en-US" altLang="ko-KR" sz="1600" dirty="0"/>
                        <a:t>: 10</a:t>
                      </a:r>
                    </a:p>
                    <a:p>
                      <a:pPr latinLnBrk="1"/>
                      <a:r>
                        <a:rPr lang="en-US" altLang="ko-KR" sz="1600" dirty="0"/>
                        <a:t>Ramp-up : 0</a:t>
                      </a:r>
                    </a:p>
                    <a:p>
                      <a:pPr latinLnBrk="1"/>
                      <a:r>
                        <a:rPr lang="en-US" altLang="ko-KR" sz="1600" dirty="0"/>
                        <a:t>Loop : 1</a:t>
                      </a:r>
                    </a:p>
                    <a:p>
                      <a:pPr latinLnBrk="1"/>
                      <a:endParaRPr lang="en-US" altLang="ko-KR" sz="1600" dirty="0"/>
                    </a:p>
                    <a:p>
                      <a:pPr latinLnBrk="1"/>
                      <a:r>
                        <a:rPr lang="en-US" altLang="ko-KR" sz="1600" dirty="0"/>
                        <a:t>10</a:t>
                      </a:r>
                      <a:r>
                        <a:rPr lang="ko-KR" altLang="en-US" sz="1600" dirty="0"/>
                        <a:t>명이 동시에 한번 </a:t>
                      </a:r>
                      <a:r>
                        <a:rPr lang="ko-KR" altLang="en-US" sz="1600" dirty="0" err="1"/>
                        <a:t>클릭하였을때를</a:t>
                      </a:r>
                      <a:r>
                        <a:rPr lang="ko-KR" altLang="en-US" sz="1600" dirty="0"/>
                        <a:t> 가정</a:t>
                      </a:r>
                      <a:endParaRPr lang="en-US" altLang="ko-KR" sz="1600" dirty="0"/>
                    </a:p>
                    <a:p>
                      <a:pPr latinLnBrk="1"/>
                      <a:r>
                        <a:rPr lang="en-US" altLang="ko-KR" sz="1600" dirty="0"/>
                        <a:t>-&gt; </a:t>
                      </a:r>
                      <a:r>
                        <a:rPr lang="ko-KR" altLang="en-US" sz="1600" dirty="0"/>
                        <a:t>평균 </a:t>
                      </a:r>
                      <a:r>
                        <a:rPr lang="en-US" altLang="ko-KR" sz="1600" dirty="0"/>
                        <a:t>0.513</a:t>
                      </a:r>
                      <a:r>
                        <a:rPr lang="ko-KR" altLang="en-US" sz="1600" dirty="0"/>
                        <a:t>초</a:t>
                      </a:r>
                    </a:p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2122191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02DA6A0F-2C92-44E2-857D-2860CF1D4F92}"/>
              </a:ext>
            </a:extLst>
          </p:cNvPr>
          <p:cNvSpPr txBox="1"/>
          <p:nvPr/>
        </p:nvSpPr>
        <p:spPr>
          <a:xfrm>
            <a:off x="649866" y="512923"/>
            <a:ext cx="5947942" cy="461665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05_5   </a:t>
            </a:r>
            <a:r>
              <a:rPr lang="ko-KR" altLang="en-US" sz="2400" dirty="0"/>
              <a:t>일정 관리</a:t>
            </a:r>
          </a:p>
        </p:txBody>
      </p:sp>
      <p:graphicFrame>
        <p:nvGraphicFramePr>
          <p:cNvPr id="12" name="차트 11">
            <a:extLst>
              <a:ext uri="{FF2B5EF4-FFF2-40B4-BE49-F238E27FC236}">
                <a16:creationId xmlns:a16="http://schemas.microsoft.com/office/drawing/2014/main" id="{4AA5AB39-E8B9-4C20-86D8-D67F3075A175}"/>
              </a:ext>
            </a:extLst>
          </p:cNvPr>
          <p:cNvGraphicFramePr>
            <a:graphicFrameLocks/>
          </p:cNvGraphicFramePr>
          <p:nvPr/>
        </p:nvGraphicFramePr>
        <p:xfrm>
          <a:off x="3140512" y="1708366"/>
          <a:ext cx="3801567" cy="22340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직사각형 12">
            <a:extLst>
              <a:ext uri="{FF2B5EF4-FFF2-40B4-BE49-F238E27FC236}">
                <a16:creationId xmlns:a16="http://schemas.microsoft.com/office/drawing/2014/main" id="{604EA25C-2455-4A12-8096-6FE707BBAB9D}"/>
              </a:ext>
            </a:extLst>
          </p:cNvPr>
          <p:cNvSpPr/>
          <p:nvPr/>
        </p:nvSpPr>
        <p:spPr>
          <a:xfrm>
            <a:off x="5445376" y="2299912"/>
            <a:ext cx="360135" cy="1343581"/>
          </a:xfrm>
          <a:prstGeom prst="rect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>
            <a:lvl1pPr marL="0" indent="0">
              <a:defRPr sz="11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ko-KR" altLang="en-US" sz="1100"/>
          </a:p>
        </p:txBody>
      </p:sp>
      <p:graphicFrame>
        <p:nvGraphicFramePr>
          <p:cNvPr id="14" name="차트 13">
            <a:extLst>
              <a:ext uri="{FF2B5EF4-FFF2-40B4-BE49-F238E27FC236}">
                <a16:creationId xmlns:a16="http://schemas.microsoft.com/office/drawing/2014/main" id="{B80F650F-BD92-4EC7-80DB-4D851D76CECD}"/>
              </a:ext>
            </a:extLst>
          </p:cNvPr>
          <p:cNvGraphicFramePr>
            <a:graphicFrameLocks/>
          </p:cNvGraphicFramePr>
          <p:nvPr/>
        </p:nvGraphicFramePr>
        <p:xfrm>
          <a:off x="6998710" y="1765077"/>
          <a:ext cx="3012318" cy="22934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7" name="직사각형 16">
            <a:extLst>
              <a:ext uri="{FF2B5EF4-FFF2-40B4-BE49-F238E27FC236}">
                <a16:creationId xmlns:a16="http://schemas.microsoft.com/office/drawing/2014/main" id="{2AB19DEA-7DA2-47F1-9E49-068F848C0507}"/>
              </a:ext>
            </a:extLst>
          </p:cNvPr>
          <p:cNvSpPr/>
          <p:nvPr/>
        </p:nvSpPr>
        <p:spPr>
          <a:xfrm>
            <a:off x="8830645" y="2378470"/>
            <a:ext cx="416298" cy="1409077"/>
          </a:xfrm>
          <a:prstGeom prst="rect">
            <a:avLst/>
          </a:prstGeom>
          <a:noFill/>
          <a:ln w="38100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>
            <a:lvl1pPr marL="0" indent="0">
              <a:defRPr sz="11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ko-KR" altLang="en-US" sz="1100"/>
          </a:p>
        </p:txBody>
      </p:sp>
      <p:graphicFrame>
        <p:nvGraphicFramePr>
          <p:cNvPr id="18" name="차트 17">
            <a:extLst>
              <a:ext uri="{FF2B5EF4-FFF2-40B4-BE49-F238E27FC236}">
                <a16:creationId xmlns:a16="http://schemas.microsoft.com/office/drawing/2014/main" id="{508D6B8B-3E1E-4AD5-BE41-E4CBFC029B6E}"/>
              </a:ext>
            </a:extLst>
          </p:cNvPr>
          <p:cNvGraphicFramePr>
            <a:graphicFrameLocks/>
          </p:cNvGraphicFramePr>
          <p:nvPr/>
        </p:nvGraphicFramePr>
        <p:xfrm>
          <a:off x="3163837" y="3943029"/>
          <a:ext cx="3826649" cy="22934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20" name="차트 19">
            <a:extLst>
              <a:ext uri="{FF2B5EF4-FFF2-40B4-BE49-F238E27FC236}">
                <a16:creationId xmlns:a16="http://schemas.microsoft.com/office/drawing/2014/main" id="{83CCB1FA-EBF2-4A77-A6D3-06A48D3FEDFB}"/>
              </a:ext>
            </a:extLst>
          </p:cNvPr>
          <p:cNvGraphicFramePr>
            <a:graphicFrameLocks/>
          </p:cNvGraphicFramePr>
          <p:nvPr/>
        </p:nvGraphicFramePr>
        <p:xfrm>
          <a:off x="6940518" y="4017979"/>
          <a:ext cx="3186613" cy="22184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1" name="직사각형 20">
            <a:extLst>
              <a:ext uri="{FF2B5EF4-FFF2-40B4-BE49-F238E27FC236}">
                <a16:creationId xmlns:a16="http://schemas.microsoft.com/office/drawing/2014/main" id="{FFC83891-9657-4D2A-9B98-67E07BF93F7F}"/>
              </a:ext>
            </a:extLst>
          </p:cNvPr>
          <p:cNvSpPr/>
          <p:nvPr/>
        </p:nvSpPr>
        <p:spPr>
          <a:xfrm>
            <a:off x="8830645" y="4579844"/>
            <a:ext cx="416298" cy="1080405"/>
          </a:xfrm>
          <a:prstGeom prst="rect">
            <a:avLst/>
          </a:prstGeom>
          <a:noFill/>
          <a:ln w="38100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>
            <a:lvl1pPr marL="0" indent="0">
              <a:defRPr sz="11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ko-KR" altLang="en-US" sz="110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690191D-7CCC-4B03-8DEB-AAA9A3107408}"/>
              </a:ext>
            </a:extLst>
          </p:cNvPr>
          <p:cNvSpPr/>
          <p:nvPr/>
        </p:nvSpPr>
        <p:spPr>
          <a:xfrm>
            <a:off x="5445375" y="4533922"/>
            <a:ext cx="360135" cy="1343581"/>
          </a:xfrm>
          <a:prstGeom prst="rect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>
            <a:lvl1pPr marL="0" indent="0">
              <a:defRPr sz="11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2581423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ACAD82EC-E782-4F4B-868B-67B234FB76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2467441"/>
              </p:ext>
            </p:extLst>
          </p:nvPr>
        </p:nvGraphicFramePr>
        <p:xfrm>
          <a:off x="1267810" y="1194575"/>
          <a:ext cx="9867699" cy="47250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6757">
                  <a:extLst>
                    <a:ext uri="{9D8B030D-6E8A-4147-A177-3AD203B41FA5}">
                      <a16:colId xmlns:a16="http://schemas.microsoft.com/office/drawing/2014/main" val="2985702209"/>
                    </a:ext>
                  </a:extLst>
                </a:gridCol>
                <a:gridCol w="2737026">
                  <a:extLst>
                    <a:ext uri="{9D8B030D-6E8A-4147-A177-3AD203B41FA5}">
                      <a16:colId xmlns:a16="http://schemas.microsoft.com/office/drawing/2014/main" val="1224994926"/>
                    </a:ext>
                  </a:extLst>
                </a:gridCol>
                <a:gridCol w="5113916">
                  <a:extLst>
                    <a:ext uri="{9D8B030D-6E8A-4147-A177-3AD203B41FA5}">
                      <a16:colId xmlns:a16="http://schemas.microsoft.com/office/drawing/2014/main" val="236803727"/>
                    </a:ext>
                  </a:extLst>
                </a:gridCol>
              </a:tblGrid>
              <a:tr h="52660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기능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평균 응답 시간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초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부하정보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1951950"/>
                  </a:ext>
                </a:extLst>
              </a:tr>
              <a:tr h="52660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게시판 조회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0.574</a:t>
                      </a:r>
                      <a:endParaRPr lang="ko-KR" altLang="en-US" dirty="0"/>
                    </a:p>
                  </a:txBody>
                  <a:tcPr/>
                </a:tc>
                <a:tc rowSpan="8">
                  <a:txBody>
                    <a:bodyPr/>
                    <a:lstStyle/>
                    <a:p>
                      <a:pPr algn="ctr" latinLnBrk="1">
                        <a:lnSpc>
                          <a:spcPct val="300000"/>
                        </a:lnSpc>
                      </a:pPr>
                      <a:r>
                        <a:rPr lang="ko-KR" altLang="en-US" dirty="0" err="1"/>
                        <a:t>쓰레드수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: 10</a:t>
                      </a:r>
                    </a:p>
                    <a:p>
                      <a:pPr algn="ctr" latinLnBrk="1">
                        <a:lnSpc>
                          <a:spcPct val="300000"/>
                        </a:lnSpc>
                      </a:pPr>
                      <a:r>
                        <a:rPr lang="en-US" altLang="ko-KR" dirty="0"/>
                        <a:t>Ramp-up : 0</a:t>
                      </a:r>
                    </a:p>
                    <a:p>
                      <a:pPr algn="ctr" latinLnBrk="1">
                        <a:lnSpc>
                          <a:spcPct val="300000"/>
                        </a:lnSpc>
                      </a:pPr>
                      <a:r>
                        <a:rPr lang="en-US" altLang="ko-KR" dirty="0"/>
                        <a:t>Loop : 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3897310"/>
                  </a:ext>
                </a:extLst>
              </a:tr>
              <a:tr h="52660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게시판 등록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0.624</a:t>
                      </a:r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8637019"/>
                  </a:ext>
                </a:extLst>
              </a:tr>
              <a:tr h="52660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전자결재 조회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0.456</a:t>
                      </a:r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3536392"/>
                  </a:ext>
                </a:extLst>
              </a:tr>
              <a:tr h="52660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전자결재 등록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3.433</a:t>
                      </a:r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2632887"/>
                  </a:ext>
                </a:extLst>
              </a:tr>
              <a:tr h="52660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일정관리 조회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0.488</a:t>
                      </a:r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2991110"/>
                  </a:ext>
                </a:extLst>
              </a:tr>
              <a:tr h="52660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일정관리 등록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0.513</a:t>
                      </a:r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5421550"/>
                  </a:ext>
                </a:extLst>
              </a:tr>
              <a:tr h="51939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자원관리 조회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0.334</a:t>
                      </a:r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1640948"/>
                  </a:ext>
                </a:extLst>
              </a:tr>
              <a:tr h="51939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자원관리 등록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0.568</a:t>
                      </a:r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9838576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DA00FF8B-4D15-498F-8DCD-E7C7F6CFEB68}"/>
              </a:ext>
            </a:extLst>
          </p:cNvPr>
          <p:cNvSpPr txBox="1"/>
          <p:nvPr/>
        </p:nvSpPr>
        <p:spPr>
          <a:xfrm>
            <a:off x="649866" y="512923"/>
            <a:ext cx="5947942" cy="461665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05_6   </a:t>
            </a:r>
            <a:r>
              <a:rPr lang="ko-KR" altLang="en-US" sz="2400" dirty="0"/>
              <a:t>동일 부하에 따른 결과</a:t>
            </a:r>
          </a:p>
        </p:txBody>
      </p:sp>
    </p:spTree>
    <p:extLst>
      <p:ext uri="{BB962C8B-B14F-4D97-AF65-F5344CB8AC3E}">
        <p14:creationId xmlns:p14="http://schemas.microsoft.com/office/powerpoint/2010/main" val="1361791481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A6B0370B-B3B6-449D-9205-02F87E9DF758}"/>
              </a:ext>
            </a:extLst>
          </p:cNvPr>
          <p:cNvSpPr txBox="1"/>
          <p:nvPr/>
        </p:nvSpPr>
        <p:spPr>
          <a:xfrm>
            <a:off x="649866" y="512923"/>
            <a:ext cx="5947942" cy="461665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05_7   </a:t>
            </a:r>
            <a:r>
              <a:rPr lang="ko-KR" altLang="en-US" sz="2400" dirty="0"/>
              <a:t>테스트 실행 환경</a:t>
            </a:r>
            <a:r>
              <a:rPr lang="en-US" altLang="ko-KR" sz="2400" dirty="0"/>
              <a:t>_</a:t>
            </a:r>
            <a:r>
              <a:rPr lang="en-US" altLang="ko-KR" sz="2400" dirty="0" err="1"/>
              <a:t>javarel</a:t>
            </a:r>
            <a:endParaRPr lang="ko-KR" altLang="en-US" sz="2400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F48E0335-6341-4C3D-93A7-8B39E295D0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3900282"/>
              </p:ext>
            </p:extLst>
          </p:nvPr>
        </p:nvGraphicFramePr>
        <p:xfrm>
          <a:off x="979702" y="1745585"/>
          <a:ext cx="9147432" cy="11044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6776">
                  <a:extLst>
                    <a:ext uri="{9D8B030D-6E8A-4147-A177-3AD203B41FA5}">
                      <a16:colId xmlns:a16="http://schemas.microsoft.com/office/drawing/2014/main" val="3726592299"/>
                    </a:ext>
                  </a:extLst>
                </a:gridCol>
                <a:gridCol w="1306776">
                  <a:extLst>
                    <a:ext uri="{9D8B030D-6E8A-4147-A177-3AD203B41FA5}">
                      <a16:colId xmlns:a16="http://schemas.microsoft.com/office/drawing/2014/main" val="1544988205"/>
                    </a:ext>
                  </a:extLst>
                </a:gridCol>
                <a:gridCol w="1306776">
                  <a:extLst>
                    <a:ext uri="{9D8B030D-6E8A-4147-A177-3AD203B41FA5}">
                      <a16:colId xmlns:a16="http://schemas.microsoft.com/office/drawing/2014/main" val="1157773191"/>
                    </a:ext>
                  </a:extLst>
                </a:gridCol>
                <a:gridCol w="1306776">
                  <a:extLst>
                    <a:ext uri="{9D8B030D-6E8A-4147-A177-3AD203B41FA5}">
                      <a16:colId xmlns:a16="http://schemas.microsoft.com/office/drawing/2014/main" val="76528430"/>
                    </a:ext>
                  </a:extLst>
                </a:gridCol>
                <a:gridCol w="1306776">
                  <a:extLst>
                    <a:ext uri="{9D8B030D-6E8A-4147-A177-3AD203B41FA5}">
                      <a16:colId xmlns:a16="http://schemas.microsoft.com/office/drawing/2014/main" val="3479595231"/>
                    </a:ext>
                  </a:extLst>
                </a:gridCol>
                <a:gridCol w="1306776">
                  <a:extLst>
                    <a:ext uri="{9D8B030D-6E8A-4147-A177-3AD203B41FA5}">
                      <a16:colId xmlns:a16="http://schemas.microsoft.com/office/drawing/2014/main" val="2324700564"/>
                    </a:ext>
                  </a:extLst>
                </a:gridCol>
                <a:gridCol w="1306776">
                  <a:extLst>
                    <a:ext uri="{9D8B030D-6E8A-4147-A177-3AD203B41FA5}">
                      <a16:colId xmlns:a16="http://schemas.microsoft.com/office/drawing/2014/main" val="5341684"/>
                    </a:ext>
                  </a:extLst>
                </a:gridCol>
              </a:tblGrid>
              <a:tr h="432162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total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used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free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shared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Buff/cache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available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0264754"/>
                  </a:ext>
                </a:extLst>
              </a:tr>
              <a:tr h="67225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Mem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15G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8.6G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306M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1.2G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6.8G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5.4G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590975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D345E88-7DB3-4E95-BD08-E9BFB94C326A}"/>
              </a:ext>
            </a:extLst>
          </p:cNvPr>
          <p:cNvSpPr txBox="1"/>
          <p:nvPr/>
        </p:nvSpPr>
        <p:spPr>
          <a:xfrm>
            <a:off x="979702" y="1281414"/>
            <a:ext cx="4969863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ko-KR" altLang="en-US" dirty="0"/>
              <a:t>메모리정보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1D05230-9E3D-43F5-A4A9-450445FFC7DA}"/>
              </a:ext>
            </a:extLst>
          </p:cNvPr>
          <p:cNvSpPr txBox="1"/>
          <p:nvPr/>
        </p:nvSpPr>
        <p:spPr>
          <a:xfrm>
            <a:off x="955916" y="3787537"/>
            <a:ext cx="4969863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Cpu</a:t>
            </a:r>
            <a:r>
              <a:rPr lang="en-US" altLang="ko-KR" dirty="0"/>
              <a:t> </a:t>
            </a:r>
            <a:r>
              <a:rPr lang="ko-KR" altLang="en-US" dirty="0"/>
              <a:t>정보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7ED38443-8BFB-4058-AC26-9B7922B93F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3824640"/>
              </p:ext>
            </p:extLst>
          </p:nvPr>
        </p:nvGraphicFramePr>
        <p:xfrm>
          <a:off x="985304" y="4219709"/>
          <a:ext cx="914183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9532">
                  <a:extLst>
                    <a:ext uri="{9D8B030D-6E8A-4147-A177-3AD203B41FA5}">
                      <a16:colId xmlns:a16="http://schemas.microsoft.com/office/drawing/2014/main" val="3723442865"/>
                    </a:ext>
                  </a:extLst>
                </a:gridCol>
                <a:gridCol w="6122298">
                  <a:extLst>
                    <a:ext uri="{9D8B030D-6E8A-4147-A177-3AD203B41FA5}">
                      <a16:colId xmlns:a16="http://schemas.microsoft.com/office/drawing/2014/main" val="34561030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39156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Mocel</a:t>
                      </a:r>
                      <a:r>
                        <a:rPr lang="en-US" altLang="ko-KR" dirty="0"/>
                        <a:t> name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pt-BR" altLang="ko-K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Intel(R) Xeon(R) CPU           X5650  @ 2.67GHz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53760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프로세스 </a:t>
                      </a:r>
                      <a:r>
                        <a:rPr lang="ko-KR" altLang="en-US" dirty="0" err="1"/>
                        <a:t>갯수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2676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코어 </a:t>
                      </a:r>
                      <a:r>
                        <a:rPr lang="ko-KR" altLang="en-US" dirty="0" err="1"/>
                        <a:t>갯수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54985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3486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90BC90C6-CBB3-4F79-AE1B-0CF619ADC9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3229384"/>
              </p:ext>
            </p:extLst>
          </p:nvPr>
        </p:nvGraphicFramePr>
        <p:xfrm>
          <a:off x="1483891" y="1112533"/>
          <a:ext cx="10227835" cy="51777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38768">
                  <a:extLst>
                    <a:ext uri="{9D8B030D-6E8A-4147-A177-3AD203B41FA5}">
                      <a16:colId xmlns:a16="http://schemas.microsoft.com/office/drawing/2014/main" val="2273514963"/>
                    </a:ext>
                  </a:extLst>
                </a:gridCol>
                <a:gridCol w="2951173">
                  <a:extLst>
                    <a:ext uri="{9D8B030D-6E8A-4147-A177-3AD203B41FA5}">
                      <a16:colId xmlns:a16="http://schemas.microsoft.com/office/drawing/2014/main" val="3359991740"/>
                    </a:ext>
                  </a:extLst>
                </a:gridCol>
                <a:gridCol w="3033254">
                  <a:extLst>
                    <a:ext uri="{9D8B030D-6E8A-4147-A177-3AD203B41FA5}">
                      <a16:colId xmlns:a16="http://schemas.microsoft.com/office/drawing/2014/main" val="858836916"/>
                    </a:ext>
                  </a:extLst>
                </a:gridCol>
                <a:gridCol w="1704640">
                  <a:extLst>
                    <a:ext uri="{9D8B030D-6E8A-4147-A177-3AD203B41FA5}">
                      <a16:colId xmlns:a16="http://schemas.microsoft.com/office/drawing/2014/main" val="2897433461"/>
                    </a:ext>
                  </a:extLst>
                </a:gridCol>
              </a:tblGrid>
              <a:tr h="605781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Cpu</a:t>
                      </a:r>
                      <a:r>
                        <a:rPr lang="en-US" altLang="ko-KR" dirty="0"/>
                        <a:t> </a:t>
                      </a:r>
                      <a:r>
                        <a:rPr lang="ko-KR" altLang="en-US" dirty="0"/>
                        <a:t>사용량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메모리 사용량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부하정보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148810"/>
                  </a:ext>
                </a:extLst>
              </a:tr>
              <a:tr h="185380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전자결재 조회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쓰레드 수 </a:t>
                      </a:r>
                      <a:r>
                        <a:rPr lang="en-US" altLang="ko-KR" dirty="0"/>
                        <a:t>: 50</a:t>
                      </a:r>
                    </a:p>
                    <a:p>
                      <a:pPr latinLnBrk="1"/>
                      <a:r>
                        <a:rPr lang="en-US" altLang="ko-KR" dirty="0"/>
                        <a:t>Ramp-up : 0</a:t>
                      </a:r>
                    </a:p>
                    <a:p>
                      <a:pPr latinLnBrk="1"/>
                      <a:r>
                        <a:rPr lang="en-US" altLang="ko-KR" dirty="0"/>
                        <a:t>Loop : 1</a:t>
                      </a:r>
                    </a:p>
                    <a:p>
                      <a:pPr latinLnBrk="1"/>
                      <a:endParaRPr lang="en-US" altLang="ko-KR" dirty="0"/>
                    </a:p>
                    <a:p>
                      <a:pPr latinLnBrk="1"/>
                      <a:r>
                        <a:rPr lang="en-US" altLang="ko-KR" dirty="0"/>
                        <a:t>50</a:t>
                      </a:r>
                      <a:r>
                        <a:rPr lang="ko-KR" altLang="en-US" dirty="0"/>
                        <a:t>명이 동시에 한번 조회 </a:t>
                      </a:r>
                      <a:r>
                        <a:rPr lang="ko-KR" altLang="en-US" dirty="0" err="1"/>
                        <a:t>하였을때를</a:t>
                      </a:r>
                      <a:r>
                        <a:rPr lang="ko-KR" altLang="en-US" dirty="0"/>
                        <a:t> 가정</a:t>
                      </a:r>
                      <a:endParaRPr lang="en-US" altLang="ko-KR" dirty="0"/>
                    </a:p>
                    <a:p>
                      <a:pPr latinLnBrk="1"/>
                      <a:r>
                        <a:rPr lang="en-US" altLang="ko-KR" dirty="0"/>
                        <a:t>-&gt; </a:t>
                      </a:r>
                      <a:r>
                        <a:rPr lang="ko-KR" altLang="en-US" dirty="0"/>
                        <a:t>평균 </a:t>
                      </a:r>
                      <a:r>
                        <a:rPr lang="en-US" altLang="ko-KR" dirty="0"/>
                        <a:t>1.144</a:t>
                      </a:r>
                      <a:r>
                        <a:rPr lang="ko-KR" altLang="en-US" dirty="0"/>
                        <a:t>초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0878924"/>
                  </a:ext>
                </a:extLst>
              </a:tr>
              <a:tr h="225907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전자결재 등록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쓰레드 수 </a:t>
                      </a:r>
                      <a:r>
                        <a:rPr lang="en-US" altLang="ko-KR" sz="1600" dirty="0"/>
                        <a:t>: 50</a:t>
                      </a:r>
                    </a:p>
                    <a:p>
                      <a:pPr latinLnBrk="1"/>
                      <a:r>
                        <a:rPr lang="en-US" altLang="ko-KR" sz="1600" dirty="0"/>
                        <a:t>Ramp-up : 0</a:t>
                      </a:r>
                    </a:p>
                    <a:p>
                      <a:pPr latinLnBrk="1"/>
                      <a:r>
                        <a:rPr lang="en-US" altLang="ko-KR" sz="1600" dirty="0"/>
                        <a:t>Loop : 1</a:t>
                      </a:r>
                    </a:p>
                    <a:p>
                      <a:pPr latinLnBrk="1"/>
                      <a:endParaRPr lang="en-US" altLang="ko-KR" sz="1600" dirty="0"/>
                    </a:p>
                    <a:p>
                      <a:pPr latinLnBrk="1"/>
                      <a:r>
                        <a:rPr lang="en-US" altLang="ko-KR" sz="1600" dirty="0"/>
                        <a:t>50</a:t>
                      </a:r>
                      <a:r>
                        <a:rPr lang="ko-KR" altLang="en-US" sz="1600" dirty="0"/>
                        <a:t>명이 동시에 </a:t>
                      </a:r>
                      <a:r>
                        <a:rPr lang="ko-KR" altLang="en-US" sz="1600"/>
                        <a:t>한번 등록 </a:t>
                      </a:r>
                      <a:r>
                        <a:rPr lang="ko-KR" altLang="en-US" sz="1600" dirty="0" err="1"/>
                        <a:t>하였을때를</a:t>
                      </a:r>
                      <a:r>
                        <a:rPr lang="ko-KR" altLang="en-US" sz="1600" dirty="0"/>
                        <a:t> 가정</a:t>
                      </a:r>
                      <a:endParaRPr lang="en-US" altLang="ko-KR" sz="1600" dirty="0"/>
                    </a:p>
                    <a:p>
                      <a:pPr latinLnBrk="1"/>
                      <a:r>
                        <a:rPr lang="en-US" altLang="ko-KR" sz="1600" dirty="0"/>
                        <a:t>-&gt; </a:t>
                      </a:r>
                      <a:r>
                        <a:rPr lang="ko-KR" altLang="en-US" sz="1600" dirty="0"/>
                        <a:t>평균 </a:t>
                      </a:r>
                      <a:r>
                        <a:rPr lang="en-US" altLang="ko-KR" sz="1600" dirty="0"/>
                        <a:t>6.354</a:t>
                      </a:r>
                      <a:r>
                        <a:rPr lang="ko-KR" altLang="en-US" sz="1600" dirty="0"/>
                        <a:t> 초</a:t>
                      </a:r>
                    </a:p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2122191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8013ECC8-169A-44C6-98E8-7CA6A27211C4}"/>
              </a:ext>
            </a:extLst>
          </p:cNvPr>
          <p:cNvSpPr txBox="1"/>
          <p:nvPr/>
        </p:nvSpPr>
        <p:spPr>
          <a:xfrm>
            <a:off x="649866" y="512923"/>
            <a:ext cx="5947942" cy="461665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05_8   </a:t>
            </a:r>
            <a:r>
              <a:rPr lang="ko-KR" altLang="en-US" sz="2400" dirty="0"/>
              <a:t>전자결재</a:t>
            </a:r>
            <a:r>
              <a:rPr lang="en-US" altLang="ko-KR" sz="2400" dirty="0"/>
              <a:t>_</a:t>
            </a:r>
            <a:r>
              <a:rPr lang="en-US" altLang="ko-KR" sz="2400" dirty="0" err="1"/>
              <a:t>javarel</a:t>
            </a:r>
            <a:endParaRPr lang="ko-KR" altLang="en-US" sz="2400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D3BBE562-690B-4D29-A6AC-4C15FA2979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3639" y="1896301"/>
            <a:ext cx="2926735" cy="17907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24092139-7BE9-4B9A-9C99-01CB339428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1880" y="1896301"/>
            <a:ext cx="2587618" cy="17907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157DB8BC-14D6-4986-87F4-4BF8ACC136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48890" y="4219709"/>
            <a:ext cx="2734091" cy="1960722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A03A45B1-4FB6-4A41-82B6-A8BA9A85DF1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1880" y="4219709"/>
            <a:ext cx="2730806" cy="1960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417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4FF2BBD-E5EC-4485-91E5-461F97BE863B}"/>
              </a:ext>
            </a:extLst>
          </p:cNvPr>
          <p:cNvSpPr txBox="1"/>
          <p:nvPr/>
        </p:nvSpPr>
        <p:spPr>
          <a:xfrm>
            <a:off x="2636323" y="1914845"/>
            <a:ext cx="8643240" cy="3046988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ko-KR" altLang="en-US" sz="4800" dirty="0"/>
              <a:t>예제</a:t>
            </a:r>
            <a:r>
              <a:rPr lang="ko-KR" altLang="en-US" sz="6000" dirty="0"/>
              <a:t> </a:t>
            </a:r>
            <a:br>
              <a:rPr lang="en-US" altLang="ko-KR" sz="6000" dirty="0"/>
            </a:br>
            <a:r>
              <a:rPr lang="en-US" altLang="ko-KR" sz="6000" dirty="0"/>
              <a:t> </a:t>
            </a:r>
            <a:r>
              <a:rPr lang="en-US" altLang="ko-KR" sz="3600" dirty="0"/>
              <a:t> </a:t>
            </a:r>
          </a:p>
          <a:p>
            <a:r>
              <a:rPr lang="en-US" altLang="ko-KR" sz="3600" dirty="0"/>
              <a:t>  - </a:t>
            </a:r>
            <a:r>
              <a:rPr lang="ko-KR" altLang="en-US" sz="3600" dirty="0"/>
              <a:t>로그인 </a:t>
            </a:r>
            <a:r>
              <a:rPr lang="en-US" altLang="ko-KR" sz="3600" dirty="0"/>
              <a:t>-&gt; </a:t>
            </a:r>
            <a:r>
              <a:rPr lang="ko-KR" altLang="en-US" sz="3600" dirty="0"/>
              <a:t>포탈</a:t>
            </a:r>
            <a:endParaRPr lang="en-US" altLang="ko-KR" sz="3600" dirty="0"/>
          </a:p>
          <a:p>
            <a:r>
              <a:rPr lang="en-US" altLang="ko-KR" sz="3600" dirty="0"/>
              <a:t>  - </a:t>
            </a:r>
            <a:r>
              <a:rPr lang="ko-KR" altLang="en-US" sz="3600" dirty="0"/>
              <a:t>포탈 </a:t>
            </a:r>
            <a:r>
              <a:rPr lang="en-US" altLang="ko-KR" sz="3600" dirty="0"/>
              <a:t>-&gt; </a:t>
            </a:r>
            <a:r>
              <a:rPr lang="ko-KR" altLang="en-US" sz="3600" dirty="0"/>
              <a:t>전자결재 클릭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2B7AAC-AA5A-46EF-9F08-220534CE8977}"/>
              </a:ext>
            </a:extLst>
          </p:cNvPr>
          <p:cNvSpPr txBox="1"/>
          <p:nvPr/>
        </p:nvSpPr>
        <p:spPr>
          <a:xfrm>
            <a:off x="9262807" y="330251"/>
            <a:ext cx="2809053" cy="120032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dirty="0"/>
              <a:t>쓰레드 정보 </a:t>
            </a:r>
            <a:r>
              <a:rPr lang="en-US" altLang="ko-KR" dirty="0"/>
              <a:t> </a:t>
            </a:r>
          </a:p>
          <a:p>
            <a:r>
              <a:rPr lang="en-US" altLang="ko-KR" dirty="0"/>
              <a:t> - </a:t>
            </a:r>
            <a:r>
              <a:rPr lang="ko-KR" altLang="en-US" dirty="0"/>
              <a:t>쓰레드 수 </a:t>
            </a:r>
            <a:r>
              <a:rPr lang="en-US" altLang="ko-KR" dirty="0"/>
              <a:t>: 10</a:t>
            </a:r>
          </a:p>
          <a:p>
            <a:r>
              <a:rPr lang="en-US" altLang="ko-KR" dirty="0"/>
              <a:t> - Ramp-up period : 1</a:t>
            </a:r>
          </a:p>
          <a:p>
            <a:r>
              <a:rPr lang="en-US" altLang="ko-KR" dirty="0"/>
              <a:t> - Loop Count : 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07300506"/>
      </p:ext>
    </p:extLst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그룹 9">
            <a:extLst>
              <a:ext uri="{FF2B5EF4-FFF2-40B4-BE49-F238E27FC236}">
                <a16:creationId xmlns:a16="http://schemas.microsoft.com/office/drawing/2014/main" id="{9F08FF35-36E8-4A34-A7B1-16E29A6A0C38}"/>
              </a:ext>
            </a:extLst>
          </p:cNvPr>
          <p:cNvGrpSpPr/>
          <p:nvPr/>
        </p:nvGrpSpPr>
        <p:grpSpPr>
          <a:xfrm>
            <a:off x="403486" y="695350"/>
            <a:ext cx="10991455" cy="3164462"/>
            <a:chOff x="597891" y="762413"/>
            <a:chExt cx="10991455" cy="3164462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9D6DEB3C-7705-4731-A106-56462EAC31D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7891" y="762413"/>
              <a:ext cx="10991455" cy="3164462"/>
            </a:xfrm>
            <a:prstGeom prst="rect">
              <a:avLst/>
            </a:prstGeom>
          </p:spPr>
        </p:pic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41D938CE-4BEE-463D-8754-460E2244814B}"/>
                </a:ext>
              </a:extLst>
            </p:cNvPr>
            <p:cNvSpPr/>
            <p:nvPr/>
          </p:nvSpPr>
          <p:spPr>
            <a:xfrm>
              <a:off x="3273549" y="1587761"/>
              <a:ext cx="1133198" cy="219005"/>
            </a:xfrm>
            <a:prstGeom prst="rect">
              <a:avLst/>
            </a:prstGeom>
            <a:solidFill>
              <a:schemeClr val="accent3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E61698A4-6C9E-4AEF-ACBF-8E5CAE2256B4}"/>
              </a:ext>
            </a:extLst>
          </p:cNvPr>
          <p:cNvSpPr txBox="1"/>
          <p:nvPr/>
        </p:nvSpPr>
        <p:spPr>
          <a:xfrm>
            <a:off x="403486" y="258224"/>
            <a:ext cx="4033512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ko-KR" altLang="en-US" dirty="0"/>
              <a:t>로그인  </a:t>
            </a:r>
            <a:r>
              <a:rPr lang="en-US" altLang="ko-KR" dirty="0"/>
              <a:t>-&gt;  </a:t>
            </a:r>
            <a:r>
              <a:rPr lang="ko-KR" altLang="en-US" dirty="0"/>
              <a:t>포탈 </a:t>
            </a: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D91263CE-6BA6-4793-9EE2-90C1CA871068}"/>
              </a:ext>
            </a:extLst>
          </p:cNvPr>
          <p:cNvGrpSpPr/>
          <p:nvPr/>
        </p:nvGrpSpPr>
        <p:grpSpPr>
          <a:xfrm>
            <a:off x="2492269" y="4485835"/>
            <a:ext cx="6266349" cy="1333686"/>
            <a:chOff x="547540" y="4018317"/>
            <a:chExt cx="9078592" cy="1333686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A87DF3FA-A9B7-45C1-8B24-ADD9C383EC6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47540" y="4018317"/>
              <a:ext cx="9078592" cy="1333686"/>
            </a:xfrm>
            <a:prstGeom prst="rect">
              <a:avLst/>
            </a:prstGeom>
          </p:spPr>
        </p:pic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356A7DCE-D37B-4C0D-AC96-207633E45CE7}"/>
                </a:ext>
              </a:extLst>
            </p:cNvPr>
            <p:cNvSpPr/>
            <p:nvPr/>
          </p:nvSpPr>
          <p:spPr>
            <a:xfrm>
              <a:off x="2132134" y="4363763"/>
              <a:ext cx="1133198" cy="219005"/>
            </a:xfrm>
            <a:prstGeom prst="rect">
              <a:avLst/>
            </a:prstGeom>
            <a:solidFill>
              <a:schemeClr val="accent3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58BF4B91-2C73-462F-A751-DD92C535FF67}"/>
                </a:ext>
              </a:extLst>
            </p:cNvPr>
            <p:cNvSpPr/>
            <p:nvPr/>
          </p:nvSpPr>
          <p:spPr>
            <a:xfrm>
              <a:off x="2132134" y="4638878"/>
              <a:ext cx="1133198" cy="219005"/>
            </a:xfrm>
            <a:prstGeom prst="rect">
              <a:avLst/>
            </a:prstGeom>
            <a:solidFill>
              <a:schemeClr val="accent3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7A567D43-84F9-4D74-B959-3386D8B7BB90}"/>
                </a:ext>
              </a:extLst>
            </p:cNvPr>
            <p:cNvSpPr/>
            <p:nvPr/>
          </p:nvSpPr>
          <p:spPr>
            <a:xfrm>
              <a:off x="2132134" y="4928214"/>
              <a:ext cx="1133198" cy="219005"/>
            </a:xfrm>
            <a:prstGeom prst="rect">
              <a:avLst/>
            </a:prstGeom>
            <a:solidFill>
              <a:schemeClr val="accent3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7" name="화살표: 아래쪽 16">
            <a:extLst>
              <a:ext uri="{FF2B5EF4-FFF2-40B4-BE49-F238E27FC236}">
                <a16:creationId xmlns:a16="http://schemas.microsoft.com/office/drawing/2014/main" id="{8F836C57-69BD-4501-815B-C362A5639A78}"/>
              </a:ext>
            </a:extLst>
          </p:cNvPr>
          <p:cNvSpPr/>
          <p:nvPr/>
        </p:nvSpPr>
        <p:spPr>
          <a:xfrm>
            <a:off x="5841524" y="3990758"/>
            <a:ext cx="504189" cy="364130"/>
          </a:xfrm>
          <a:prstGeom prst="downArrow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5BB8DBC-4E37-4816-9CA0-3E4C8090988D}"/>
              </a:ext>
            </a:extLst>
          </p:cNvPr>
          <p:cNvSpPr txBox="1"/>
          <p:nvPr/>
        </p:nvSpPr>
        <p:spPr>
          <a:xfrm>
            <a:off x="8802012" y="4485835"/>
            <a:ext cx="2592972" cy="2031325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ko-KR" altLang="en-US" dirty="0"/>
              <a:t>부하정보는 </a:t>
            </a:r>
            <a:br>
              <a:rPr lang="en-US" altLang="ko-KR" dirty="0"/>
            </a:br>
            <a:r>
              <a:rPr lang="ko-KR" altLang="en-US" dirty="0"/>
              <a:t>서버 성능</a:t>
            </a:r>
            <a:r>
              <a:rPr lang="en-US" altLang="ko-KR" dirty="0"/>
              <a:t>, </a:t>
            </a:r>
            <a:r>
              <a:rPr lang="ko-KR" altLang="en-US" dirty="0"/>
              <a:t>및 요구사항에 맞추어 기입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예제는 </a:t>
            </a:r>
            <a:r>
              <a:rPr lang="en-US" altLang="ko-KR" dirty="0"/>
              <a:t>10</a:t>
            </a:r>
            <a:r>
              <a:rPr lang="ko-KR" altLang="en-US" dirty="0"/>
              <a:t>명의 가상유저가 </a:t>
            </a:r>
            <a:r>
              <a:rPr lang="en-US" altLang="ko-KR" dirty="0"/>
              <a:t>1</a:t>
            </a:r>
            <a:r>
              <a:rPr lang="ko-KR" altLang="en-US" dirty="0"/>
              <a:t>초안에 </a:t>
            </a:r>
            <a:r>
              <a:rPr lang="en-US" altLang="ko-KR" dirty="0"/>
              <a:t>1</a:t>
            </a:r>
            <a:r>
              <a:rPr lang="ko-KR" altLang="en-US" dirty="0"/>
              <a:t>번 동작 하는 예로 구성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0D4C6E-5F6F-49F9-B674-248CF0EF4517}"/>
              </a:ext>
            </a:extLst>
          </p:cNvPr>
          <p:cNvSpPr txBox="1"/>
          <p:nvPr/>
        </p:nvSpPr>
        <p:spPr>
          <a:xfrm>
            <a:off x="3977094" y="1445534"/>
            <a:ext cx="279533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EFE01C0-DCCE-4913-8C5A-360C757D1DF6}"/>
              </a:ext>
            </a:extLst>
          </p:cNvPr>
          <p:cNvSpPr txBox="1"/>
          <p:nvPr/>
        </p:nvSpPr>
        <p:spPr>
          <a:xfrm>
            <a:off x="2223934" y="4461949"/>
            <a:ext cx="279533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dirty="0"/>
              <a:t>2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7213844"/>
      </p:ext>
    </p:extLst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E61698A4-6C9E-4AEF-ACBF-8E5CAE2256B4}"/>
              </a:ext>
            </a:extLst>
          </p:cNvPr>
          <p:cNvSpPr txBox="1"/>
          <p:nvPr/>
        </p:nvSpPr>
        <p:spPr>
          <a:xfrm>
            <a:off x="403486" y="258224"/>
            <a:ext cx="4033512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ko-KR" altLang="en-US" dirty="0"/>
              <a:t>로그인  </a:t>
            </a:r>
            <a:r>
              <a:rPr lang="en-US" altLang="ko-KR" dirty="0"/>
              <a:t>-&gt;  </a:t>
            </a:r>
            <a:r>
              <a:rPr lang="ko-KR" altLang="en-US" dirty="0"/>
              <a:t>포탈 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E51123B8-206C-40F0-8CBE-BCE656D43DB5}"/>
              </a:ext>
            </a:extLst>
          </p:cNvPr>
          <p:cNvGrpSpPr/>
          <p:nvPr/>
        </p:nvGrpSpPr>
        <p:grpSpPr>
          <a:xfrm>
            <a:off x="2666082" y="784304"/>
            <a:ext cx="5877745" cy="2289073"/>
            <a:chOff x="362252" y="850231"/>
            <a:chExt cx="5877745" cy="2721235"/>
          </a:xfrm>
        </p:grpSpPr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04A9B152-39F2-4A7E-AF80-5F420630C27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2252" y="850231"/>
              <a:ext cx="5877745" cy="2721235"/>
            </a:xfrm>
            <a:prstGeom prst="rect">
              <a:avLst/>
            </a:prstGeom>
          </p:spPr>
        </p:pic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356A7DCE-D37B-4C0D-AC96-207633E45CE7}"/>
                </a:ext>
              </a:extLst>
            </p:cNvPr>
            <p:cNvSpPr/>
            <p:nvPr/>
          </p:nvSpPr>
          <p:spPr>
            <a:xfrm>
              <a:off x="4205396" y="3019118"/>
              <a:ext cx="1809814" cy="230858"/>
            </a:xfrm>
            <a:prstGeom prst="rect">
              <a:avLst/>
            </a:prstGeom>
            <a:solidFill>
              <a:schemeClr val="accent3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9449925E-999A-4B66-BD8F-2906F1D9CBE2}"/>
              </a:ext>
            </a:extLst>
          </p:cNvPr>
          <p:cNvGrpSpPr/>
          <p:nvPr/>
        </p:nvGrpSpPr>
        <p:grpSpPr>
          <a:xfrm>
            <a:off x="1232369" y="3635789"/>
            <a:ext cx="8745170" cy="2960812"/>
            <a:chOff x="61128" y="3655485"/>
            <a:chExt cx="8745170" cy="2960812"/>
          </a:xfrm>
        </p:grpSpPr>
        <p:pic>
          <p:nvPicPr>
            <p:cNvPr id="2" name="그림 1">
              <a:extLst>
                <a:ext uri="{FF2B5EF4-FFF2-40B4-BE49-F238E27FC236}">
                  <a16:creationId xmlns:a16="http://schemas.microsoft.com/office/drawing/2014/main" id="{EA2C81FA-8DBC-4AD7-ACB8-648F1F54B03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128" y="3655485"/>
              <a:ext cx="8745170" cy="2960812"/>
            </a:xfrm>
            <a:prstGeom prst="rect">
              <a:avLst/>
            </a:prstGeom>
          </p:spPr>
        </p:pic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5653A6A0-3435-4387-9EF4-26C54B8E8B61}"/>
                </a:ext>
              </a:extLst>
            </p:cNvPr>
            <p:cNvSpPr/>
            <p:nvPr/>
          </p:nvSpPr>
          <p:spPr>
            <a:xfrm>
              <a:off x="193420" y="4129985"/>
              <a:ext cx="2472662" cy="210661"/>
            </a:xfrm>
            <a:prstGeom prst="rect">
              <a:avLst/>
            </a:prstGeom>
            <a:solidFill>
              <a:schemeClr val="accent3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CE3D9475-81BD-45B1-AC7D-BBCD9E303DF1}"/>
                </a:ext>
              </a:extLst>
            </p:cNvPr>
            <p:cNvSpPr/>
            <p:nvPr/>
          </p:nvSpPr>
          <p:spPr>
            <a:xfrm>
              <a:off x="3739015" y="4678992"/>
              <a:ext cx="2472662" cy="210661"/>
            </a:xfrm>
            <a:prstGeom prst="rect">
              <a:avLst/>
            </a:prstGeom>
            <a:solidFill>
              <a:schemeClr val="accent3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D74C75DC-A9D6-46F8-9244-566B313B4CD0}"/>
                </a:ext>
              </a:extLst>
            </p:cNvPr>
            <p:cNvSpPr/>
            <p:nvPr/>
          </p:nvSpPr>
          <p:spPr>
            <a:xfrm>
              <a:off x="7560032" y="6395789"/>
              <a:ext cx="217876" cy="181282"/>
            </a:xfrm>
            <a:prstGeom prst="rect">
              <a:avLst/>
            </a:prstGeom>
            <a:solidFill>
              <a:schemeClr val="accent3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9" name="화살표: 아래쪽 18">
            <a:extLst>
              <a:ext uri="{FF2B5EF4-FFF2-40B4-BE49-F238E27FC236}">
                <a16:creationId xmlns:a16="http://schemas.microsoft.com/office/drawing/2014/main" id="{EE6CE79F-5661-4FF0-9B6B-BBD4E0621737}"/>
              </a:ext>
            </a:extLst>
          </p:cNvPr>
          <p:cNvSpPr/>
          <p:nvPr/>
        </p:nvSpPr>
        <p:spPr>
          <a:xfrm>
            <a:off x="5352859" y="3245347"/>
            <a:ext cx="504189" cy="364130"/>
          </a:xfrm>
          <a:prstGeom prst="downArrow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1620EA5-6D71-493E-89F2-DF71ADA44185}"/>
              </a:ext>
            </a:extLst>
          </p:cNvPr>
          <p:cNvSpPr txBox="1"/>
          <p:nvPr/>
        </p:nvSpPr>
        <p:spPr>
          <a:xfrm>
            <a:off x="8327180" y="2521179"/>
            <a:ext cx="279533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6926272-D9B1-4F2E-92A5-6510AA808FF3}"/>
              </a:ext>
            </a:extLst>
          </p:cNvPr>
          <p:cNvSpPr txBox="1"/>
          <p:nvPr/>
        </p:nvSpPr>
        <p:spPr>
          <a:xfrm>
            <a:off x="879216" y="4030953"/>
            <a:ext cx="279533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DFBB7CD-CB8D-4FC2-92D2-87763A198CCC}"/>
              </a:ext>
            </a:extLst>
          </p:cNvPr>
          <p:cNvSpPr txBox="1"/>
          <p:nvPr/>
        </p:nvSpPr>
        <p:spPr>
          <a:xfrm>
            <a:off x="4459278" y="4579960"/>
            <a:ext cx="279533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1990614-E788-47B1-9E5A-CBE511E67809}"/>
              </a:ext>
            </a:extLst>
          </p:cNvPr>
          <p:cNvSpPr txBox="1"/>
          <p:nvPr/>
        </p:nvSpPr>
        <p:spPr>
          <a:xfrm>
            <a:off x="8350450" y="6319619"/>
            <a:ext cx="279533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dirty="0"/>
              <a:t>6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23251676"/>
      </p:ext>
    </p:extLst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E61698A4-6C9E-4AEF-ACBF-8E5CAE2256B4}"/>
              </a:ext>
            </a:extLst>
          </p:cNvPr>
          <p:cNvSpPr txBox="1"/>
          <p:nvPr/>
        </p:nvSpPr>
        <p:spPr>
          <a:xfrm>
            <a:off x="403486" y="258224"/>
            <a:ext cx="4033512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ko-KR" altLang="en-US" dirty="0"/>
              <a:t>로그인  </a:t>
            </a:r>
            <a:r>
              <a:rPr lang="en-US" altLang="ko-KR" dirty="0"/>
              <a:t>-&gt;  </a:t>
            </a:r>
            <a:r>
              <a:rPr lang="ko-KR" altLang="en-US" dirty="0"/>
              <a:t>포탈 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DB27CE2-DB1B-4C4D-885A-955D5383DA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8350" y="566786"/>
            <a:ext cx="6122295" cy="3500976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69650130-3CBD-4979-AC12-0049E3D7AD81}"/>
              </a:ext>
            </a:extLst>
          </p:cNvPr>
          <p:cNvSpPr/>
          <p:nvPr/>
        </p:nvSpPr>
        <p:spPr>
          <a:xfrm>
            <a:off x="6309700" y="2945589"/>
            <a:ext cx="2160810" cy="432161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화살표: 아래쪽 13">
            <a:extLst>
              <a:ext uri="{FF2B5EF4-FFF2-40B4-BE49-F238E27FC236}">
                <a16:creationId xmlns:a16="http://schemas.microsoft.com/office/drawing/2014/main" id="{FF62EC1B-E398-4E11-A674-CD3A79D7094C}"/>
              </a:ext>
            </a:extLst>
          </p:cNvPr>
          <p:cNvSpPr/>
          <p:nvPr/>
        </p:nvSpPr>
        <p:spPr>
          <a:xfrm>
            <a:off x="5661457" y="4173420"/>
            <a:ext cx="504189" cy="364130"/>
          </a:xfrm>
          <a:prstGeom prst="downArrow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B133A6E-D2A3-43EF-8F73-AF3D306732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0962" y="4643208"/>
            <a:ext cx="2025178" cy="216805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D9AA43D-5546-4B39-843D-58DBDE5C72A7}"/>
              </a:ext>
            </a:extLst>
          </p:cNvPr>
          <p:cNvSpPr txBox="1"/>
          <p:nvPr/>
        </p:nvSpPr>
        <p:spPr>
          <a:xfrm>
            <a:off x="8190977" y="2606642"/>
            <a:ext cx="279533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dirty="0"/>
              <a:t>7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79FB3F-9C9F-4CDD-8265-B23A99F82AF4}"/>
              </a:ext>
            </a:extLst>
          </p:cNvPr>
          <p:cNvSpPr txBox="1"/>
          <p:nvPr/>
        </p:nvSpPr>
        <p:spPr>
          <a:xfrm>
            <a:off x="6926140" y="4643208"/>
            <a:ext cx="273361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dirty="0"/>
              <a:t>8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79612343"/>
      </p:ext>
    </p:extLst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E61698A4-6C9E-4AEF-ACBF-8E5CAE2256B4}"/>
              </a:ext>
            </a:extLst>
          </p:cNvPr>
          <p:cNvSpPr txBox="1"/>
          <p:nvPr/>
        </p:nvSpPr>
        <p:spPr>
          <a:xfrm>
            <a:off x="403486" y="258224"/>
            <a:ext cx="4033512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ko-KR" altLang="en-US" dirty="0"/>
              <a:t>로그인  </a:t>
            </a:r>
            <a:r>
              <a:rPr lang="en-US" altLang="ko-KR" dirty="0"/>
              <a:t>-&gt;  </a:t>
            </a:r>
            <a:r>
              <a:rPr lang="ko-KR" altLang="en-US" dirty="0"/>
              <a:t>포탈 </a:t>
            </a:r>
          </a:p>
        </p:txBody>
      </p:sp>
      <p:sp>
        <p:nvSpPr>
          <p:cNvPr id="3" name="화살표: 오른쪽 2">
            <a:extLst>
              <a:ext uri="{FF2B5EF4-FFF2-40B4-BE49-F238E27FC236}">
                <a16:creationId xmlns:a16="http://schemas.microsoft.com/office/drawing/2014/main" id="{43D1CCD9-F255-49B2-B0B7-B1090168CAC9}"/>
              </a:ext>
            </a:extLst>
          </p:cNvPr>
          <p:cNvSpPr/>
          <p:nvPr/>
        </p:nvSpPr>
        <p:spPr>
          <a:xfrm>
            <a:off x="5877538" y="3175317"/>
            <a:ext cx="540202" cy="504189"/>
          </a:xfrm>
          <a:prstGeom prst="rightArrow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7C09B80-A9E2-4D81-B80D-8DA2A20A4E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7540" y="2922515"/>
            <a:ext cx="5041890" cy="1009791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7830F7EC-9568-4AA7-B177-62BC7BD71D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6955" y="1554710"/>
            <a:ext cx="3629532" cy="3524742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0BDE46E8-7922-4A93-9C07-02E7FCABDC5B}"/>
              </a:ext>
            </a:extLst>
          </p:cNvPr>
          <p:cNvSpPr/>
          <p:nvPr/>
        </p:nvSpPr>
        <p:spPr>
          <a:xfrm>
            <a:off x="2708350" y="1535135"/>
            <a:ext cx="360135" cy="432161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69E36D9-0B42-43D6-B16D-D147B0EA0179}"/>
              </a:ext>
            </a:extLst>
          </p:cNvPr>
          <p:cNvSpPr/>
          <p:nvPr/>
        </p:nvSpPr>
        <p:spPr>
          <a:xfrm>
            <a:off x="8008049" y="3641733"/>
            <a:ext cx="3861381" cy="290574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82737E-7AB4-454D-B4F4-8B57BEF192C5}"/>
              </a:ext>
            </a:extLst>
          </p:cNvPr>
          <p:cNvSpPr txBox="1"/>
          <p:nvPr/>
        </p:nvSpPr>
        <p:spPr>
          <a:xfrm>
            <a:off x="2748650" y="1185378"/>
            <a:ext cx="279533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dirty="0"/>
              <a:t>9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4001767"/>
      </p:ext>
    </p:extLst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E61698A4-6C9E-4AEF-ACBF-8E5CAE2256B4}"/>
              </a:ext>
            </a:extLst>
          </p:cNvPr>
          <p:cNvSpPr txBox="1"/>
          <p:nvPr/>
        </p:nvSpPr>
        <p:spPr>
          <a:xfrm>
            <a:off x="403486" y="258224"/>
            <a:ext cx="4033512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ko-KR" altLang="en-US" dirty="0"/>
              <a:t>로그인  </a:t>
            </a:r>
            <a:r>
              <a:rPr lang="en-US" altLang="ko-KR" dirty="0"/>
              <a:t>-&gt;  </a:t>
            </a:r>
            <a:r>
              <a:rPr lang="ko-KR" altLang="en-US" dirty="0"/>
              <a:t>포탈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216C21-16E3-4DA4-8806-47FB5B8928CD}"/>
              </a:ext>
            </a:extLst>
          </p:cNvPr>
          <p:cNvSpPr txBox="1"/>
          <p:nvPr/>
        </p:nvSpPr>
        <p:spPr>
          <a:xfrm>
            <a:off x="1469683" y="3936791"/>
            <a:ext cx="3082624" cy="646331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해당 사이트의 서버 접속 후 </a:t>
            </a:r>
            <a:br>
              <a:rPr lang="en-US" altLang="ko-KR" sz="1200" dirty="0"/>
            </a:br>
            <a:r>
              <a:rPr lang="ko-KR" altLang="en-US" sz="1200" dirty="0"/>
              <a:t>서버 성능 체크 명령어 실행 </a:t>
            </a:r>
            <a:br>
              <a:rPr lang="en-US" altLang="ko-KR" sz="1200" dirty="0"/>
            </a:br>
            <a:r>
              <a:rPr lang="en-US" altLang="ko-KR" sz="1200" dirty="0"/>
              <a:t>ex)</a:t>
            </a:r>
            <a:r>
              <a:rPr lang="en-US" altLang="ko-KR" sz="1200" dirty="0" err="1"/>
              <a:t>ssh</a:t>
            </a:r>
            <a:r>
              <a:rPr lang="ko-KR" altLang="en-US" sz="1200" dirty="0"/>
              <a:t> </a:t>
            </a:r>
            <a:r>
              <a:rPr lang="en-US" altLang="ko-KR" sz="1200" dirty="0">
                <a:hlinkClick r:id="rId2"/>
              </a:rPr>
              <a:t>jmocha@127.0.0.1</a:t>
            </a:r>
            <a:r>
              <a:rPr lang="ko-KR" altLang="en-US" sz="1200" dirty="0"/>
              <a:t> </a:t>
            </a: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D8247F50-8C6C-4110-ABBD-D9CA362D9B37}"/>
              </a:ext>
            </a:extLst>
          </p:cNvPr>
          <p:cNvGrpSpPr/>
          <p:nvPr/>
        </p:nvGrpSpPr>
        <p:grpSpPr>
          <a:xfrm>
            <a:off x="152841" y="643161"/>
            <a:ext cx="11881555" cy="3232018"/>
            <a:chOff x="213514" y="1086151"/>
            <a:chExt cx="11881555" cy="3672728"/>
          </a:xfrm>
        </p:grpSpPr>
        <p:pic>
          <p:nvPicPr>
            <p:cNvPr id="2" name="그림 1">
              <a:extLst>
                <a:ext uri="{FF2B5EF4-FFF2-40B4-BE49-F238E27FC236}">
                  <a16:creationId xmlns:a16="http://schemas.microsoft.com/office/drawing/2014/main" id="{0572913A-8504-45A8-8F12-4F5F55B59EE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3514" y="1086151"/>
              <a:ext cx="5716309" cy="3672728"/>
            </a:xfrm>
            <a:prstGeom prst="rect">
              <a:avLst/>
            </a:prstGeom>
          </p:spPr>
        </p:pic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0BDE46E8-7922-4A93-9C07-02E7FCABDC5B}"/>
                </a:ext>
              </a:extLst>
            </p:cNvPr>
            <p:cNvSpPr/>
            <p:nvPr/>
          </p:nvSpPr>
          <p:spPr>
            <a:xfrm>
              <a:off x="223418" y="1266602"/>
              <a:ext cx="5706405" cy="360135"/>
            </a:xfrm>
            <a:prstGeom prst="rect">
              <a:avLst/>
            </a:prstGeom>
            <a:solidFill>
              <a:schemeClr val="accent3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9ED4ABB0-45D1-4C9B-98B7-C1832B94D1B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260882" y="1602613"/>
              <a:ext cx="5834187" cy="2629267"/>
            </a:xfrm>
            <a:prstGeom prst="rect">
              <a:avLst/>
            </a:prstGeom>
          </p:spPr>
        </p:pic>
        <p:cxnSp>
          <p:nvCxnSpPr>
            <p:cNvPr id="9" name="직선 화살표 연결선 8">
              <a:extLst>
                <a:ext uri="{FF2B5EF4-FFF2-40B4-BE49-F238E27FC236}">
                  <a16:creationId xmlns:a16="http://schemas.microsoft.com/office/drawing/2014/main" id="{2509BEBE-CB71-4FBC-9A72-43F64CD67A1B}"/>
                </a:ext>
              </a:extLst>
            </p:cNvPr>
            <p:cNvCxnSpPr>
              <a:cxnSpLocks/>
            </p:cNvCxnSpPr>
            <p:nvPr/>
          </p:nvCxnSpPr>
          <p:spPr>
            <a:xfrm>
              <a:off x="5769497" y="1482864"/>
              <a:ext cx="648243" cy="672367"/>
            </a:xfrm>
            <a:prstGeom prst="straightConnector1">
              <a:avLst/>
            </a:prstGeom>
            <a:ln w="28575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화살표 연결선 15">
              <a:extLst>
                <a:ext uri="{FF2B5EF4-FFF2-40B4-BE49-F238E27FC236}">
                  <a16:creationId xmlns:a16="http://schemas.microsoft.com/office/drawing/2014/main" id="{2584A3A3-488C-47D3-AB06-711F39E678EC}"/>
                </a:ext>
              </a:extLst>
            </p:cNvPr>
            <p:cNvCxnSpPr>
              <a:cxnSpLocks/>
              <a:endCxn id="2" idx="2"/>
            </p:cNvCxnSpPr>
            <p:nvPr/>
          </p:nvCxnSpPr>
          <p:spPr>
            <a:xfrm flipH="1">
              <a:off x="3071669" y="4147682"/>
              <a:ext cx="3598166" cy="611197"/>
            </a:xfrm>
            <a:prstGeom prst="straightConnector1">
              <a:avLst/>
            </a:prstGeom>
            <a:ln w="28575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CC834344-A0E0-4E25-A61A-A92EBC118A48}"/>
                </a:ext>
              </a:extLst>
            </p:cNvPr>
            <p:cNvSpPr/>
            <p:nvPr/>
          </p:nvSpPr>
          <p:spPr>
            <a:xfrm>
              <a:off x="6273942" y="3897311"/>
              <a:ext cx="1122786" cy="230357"/>
            </a:xfrm>
            <a:prstGeom prst="rect">
              <a:avLst/>
            </a:prstGeom>
            <a:solidFill>
              <a:schemeClr val="accent3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DAF49127-801F-47DA-8710-8D40E2B3BAA7}"/>
                </a:ext>
              </a:extLst>
            </p:cNvPr>
            <p:cNvSpPr/>
            <p:nvPr/>
          </p:nvSpPr>
          <p:spPr>
            <a:xfrm>
              <a:off x="6257417" y="2188373"/>
              <a:ext cx="5834186" cy="363571"/>
            </a:xfrm>
            <a:prstGeom prst="rect">
              <a:avLst/>
            </a:prstGeom>
            <a:solidFill>
              <a:schemeClr val="accent3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24" name="그림 23">
            <a:extLst>
              <a:ext uri="{FF2B5EF4-FFF2-40B4-BE49-F238E27FC236}">
                <a16:creationId xmlns:a16="http://schemas.microsoft.com/office/drawing/2014/main" id="{4434A484-8C8B-4750-BEFE-577EC1168E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820" y="4583122"/>
            <a:ext cx="5716309" cy="2067213"/>
          </a:xfrm>
          <a:prstGeom prst="rect">
            <a:avLst/>
          </a:prstGeom>
        </p:spPr>
      </p:pic>
      <p:sp>
        <p:nvSpPr>
          <p:cNvPr id="26" name="직사각형 25">
            <a:extLst>
              <a:ext uri="{FF2B5EF4-FFF2-40B4-BE49-F238E27FC236}">
                <a16:creationId xmlns:a16="http://schemas.microsoft.com/office/drawing/2014/main" id="{C17D8060-C340-41E9-A1CF-02B08AF08BF2}"/>
              </a:ext>
            </a:extLst>
          </p:cNvPr>
          <p:cNvSpPr/>
          <p:nvPr/>
        </p:nvSpPr>
        <p:spPr>
          <a:xfrm>
            <a:off x="162745" y="4583122"/>
            <a:ext cx="5706405" cy="180640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1990A59F-BB3B-4C0F-9B50-A115780FEDA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06781" y="4542574"/>
            <a:ext cx="6074928" cy="2148308"/>
          </a:xfrm>
          <a:prstGeom prst="rect">
            <a:avLst/>
          </a:prstGeom>
        </p:spPr>
      </p:pic>
      <p:sp>
        <p:nvSpPr>
          <p:cNvPr id="28" name="직사각형 27">
            <a:extLst>
              <a:ext uri="{FF2B5EF4-FFF2-40B4-BE49-F238E27FC236}">
                <a16:creationId xmlns:a16="http://schemas.microsoft.com/office/drawing/2014/main" id="{61904D8D-54D4-49AC-A50B-D844A4722B5D}"/>
              </a:ext>
            </a:extLst>
          </p:cNvPr>
          <p:cNvSpPr/>
          <p:nvPr/>
        </p:nvSpPr>
        <p:spPr>
          <a:xfrm>
            <a:off x="7378944" y="6092411"/>
            <a:ext cx="894723" cy="550760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순서도: 병합 28">
            <a:extLst>
              <a:ext uri="{FF2B5EF4-FFF2-40B4-BE49-F238E27FC236}">
                <a16:creationId xmlns:a16="http://schemas.microsoft.com/office/drawing/2014/main" id="{FE5138C1-693F-4A1D-8126-AF8DFCD9CF69}"/>
              </a:ext>
            </a:extLst>
          </p:cNvPr>
          <p:cNvSpPr/>
          <p:nvPr/>
        </p:nvSpPr>
        <p:spPr>
          <a:xfrm>
            <a:off x="4810079" y="4075655"/>
            <a:ext cx="347189" cy="288108"/>
          </a:xfrm>
          <a:prstGeom prst="flowChartMerge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7E0FE62-0B76-4387-B1B2-EE1F45665CFF}"/>
              </a:ext>
            </a:extLst>
          </p:cNvPr>
          <p:cNvSpPr txBox="1"/>
          <p:nvPr/>
        </p:nvSpPr>
        <p:spPr>
          <a:xfrm>
            <a:off x="5051861" y="4096446"/>
            <a:ext cx="839309" cy="276999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결과파일</a:t>
            </a:r>
          </a:p>
        </p:txBody>
      </p:sp>
      <p:sp>
        <p:nvSpPr>
          <p:cNvPr id="32" name="순서도: 병합 31">
            <a:extLst>
              <a:ext uri="{FF2B5EF4-FFF2-40B4-BE49-F238E27FC236}">
                <a16:creationId xmlns:a16="http://schemas.microsoft.com/office/drawing/2014/main" id="{EF3E8C65-52B1-474D-A8AD-C8F6575159D7}"/>
              </a:ext>
            </a:extLst>
          </p:cNvPr>
          <p:cNvSpPr/>
          <p:nvPr/>
        </p:nvSpPr>
        <p:spPr>
          <a:xfrm>
            <a:off x="11133648" y="4151439"/>
            <a:ext cx="347189" cy="288108"/>
          </a:xfrm>
          <a:prstGeom prst="flowChartMerge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16CF018-8FA9-4ADA-B91C-35D99C1E079A}"/>
              </a:ext>
            </a:extLst>
          </p:cNvPr>
          <p:cNvSpPr txBox="1"/>
          <p:nvPr/>
        </p:nvSpPr>
        <p:spPr>
          <a:xfrm>
            <a:off x="11307243" y="4183339"/>
            <a:ext cx="839309" cy="276999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결과파일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ED108CE-C755-4126-A88C-4B88E2944198}"/>
              </a:ext>
            </a:extLst>
          </p:cNvPr>
          <p:cNvSpPr txBox="1"/>
          <p:nvPr/>
        </p:nvSpPr>
        <p:spPr>
          <a:xfrm>
            <a:off x="72427" y="372695"/>
            <a:ext cx="475113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dirty="0"/>
              <a:t>10</a:t>
            </a:r>
            <a:endParaRPr lang="ko-KR" alt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3B88383-7FFD-4963-81D8-30E6E8BCE98E}"/>
              </a:ext>
            </a:extLst>
          </p:cNvPr>
          <p:cNvSpPr txBox="1"/>
          <p:nvPr/>
        </p:nvSpPr>
        <p:spPr>
          <a:xfrm>
            <a:off x="5847331" y="1521415"/>
            <a:ext cx="475113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dirty="0"/>
              <a:t>11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06327105"/>
      </p:ext>
    </p:extLst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E61698A4-6C9E-4AEF-ACBF-8E5CAE2256B4}"/>
              </a:ext>
            </a:extLst>
          </p:cNvPr>
          <p:cNvSpPr txBox="1"/>
          <p:nvPr/>
        </p:nvSpPr>
        <p:spPr>
          <a:xfrm>
            <a:off x="403486" y="258224"/>
            <a:ext cx="4033512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ko-KR" altLang="en-US" dirty="0"/>
              <a:t>로그인  </a:t>
            </a:r>
            <a:r>
              <a:rPr lang="en-US" altLang="ko-KR" dirty="0"/>
              <a:t>-&gt;  </a:t>
            </a:r>
            <a:r>
              <a:rPr lang="ko-KR" altLang="en-US" dirty="0"/>
              <a:t>포탈 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224EF2D1-56D8-4645-892C-293D2A044582}"/>
              </a:ext>
            </a:extLst>
          </p:cNvPr>
          <p:cNvGrpSpPr/>
          <p:nvPr/>
        </p:nvGrpSpPr>
        <p:grpSpPr>
          <a:xfrm>
            <a:off x="97001" y="906467"/>
            <a:ext cx="11993236" cy="2664999"/>
            <a:chOff x="162746" y="1806804"/>
            <a:chExt cx="11993236" cy="2664999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733AB8A5-56BF-4363-8BC6-4D85247C1DE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r="8495"/>
            <a:stretch/>
          </p:blipFill>
          <p:spPr>
            <a:xfrm>
              <a:off x="6753957" y="2347007"/>
              <a:ext cx="5402025" cy="1584594"/>
            </a:xfrm>
            <a:prstGeom prst="rect">
              <a:avLst/>
            </a:prstGeom>
          </p:spPr>
        </p:pic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33ABAF8B-5A97-4E83-B290-437CA98CF82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2746" y="1806804"/>
              <a:ext cx="6311879" cy="2664999"/>
            </a:xfrm>
            <a:prstGeom prst="rect">
              <a:avLst/>
            </a:prstGeom>
          </p:spPr>
        </p:pic>
        <p:sp>
          <p:nvSpPr>
            <p:cNvPr id="7" name="화살표: 왼쪽 6">
              <a:extLst>
                <a:ext uri="{FF2B5EF4-FFF2-40B4-BE49-F238E27FC236}">
                  <a16:creationId xmlns:a16="http://schemas.microsoft.com/office/drawing/2014/main" id="{4877FA20-BB15-4949-A4D9-A3482134B4A3}"/>
                </a:ext>
              </a:extLst>
            </p:cNvPr>
            <p:cNvSpPr/>
            <p:nvPr/>
          </p:nvSpPr>
          <p:spPr>
            <a:xfrm>
              <a:off x="5991626" y="2994747"/>
              <a:ext cx="720270" cy="432162"/>
            </a:xfrm>
            <a:prstGeom prst="leftArrow">
              <a:avLst/>
            </a:prstGeom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C17D8060-C340-41E9-A1CF-02B08AF08BF2}"/>
                </a:ext>
              </a:extLst>
            </p:cNvPr>
            <p:cNvSpPr/>
            <p:nvPr/>
          </p:nvSpPr>
          <p:spPr>
            <a:xfrm>
              <a:off x="5189562" y="3995562"/>
              <a:ext cx="1288356" cy="455252"/>
            </a:xfrm>
            <a:prstGeom prst="rect">
              <a:avLst/>
            </a:prstGeom>
            <a:solidFill>
              <a:schemeClr val="accent3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0" name="그림 9">
            <a:extLst>
              <a:ext uri="{FF2B5EF4-FFF2-40B4-BE49-F238E27FC236}">
                <a16:creationId xmlns:a16="http://schemas.microsoft.com/office/drawing/2014/main" id="{301423E4-7E07-455F-A258-A76E9F0487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0234" y="4119130"/>
            <a:ext cx="6315956" cy="2429214"/>
          </a:xfrm>
          <a:prstGeom prst="rect">
            <a:avLst/>
          </a:prstGeom>
        </p:spPr>
      </p:pic>
      <p:sp>
        <p:nvSpPr>
          <p:cNvPr id="13" name="화살표: 아래쪽 12">
            <a:extLst>
              <a:ext uri="{FF2B5EF4-FFF2-40B4-BE49-F238E27FC236}">
                <a16:creationId xmlns:a16="http://schemas.microsoft.com/office/drawing/2014/main" id="{DADE4E8E-2C28-4E50-8C7B-070E33C0B870}"/>
              </a:ext>
            </a:extLst>
          </p:cNvPr>
          <p:cNvSpPr/>
          <p:nvPr/>
        </p:nvSpPr>
        <p:spPr>
          <a:xfrm>
            <a:off x="6414345" y="3714515"/>
            <a:ext cx="504189" cy="289113"/>
          </a:xfrm>
          <a:prstGeom prst="downArrow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70EA8139-7696-46CE-972B-4AE41ADAACEA}"/>
              </a:ext>
            </a:extLst>
          </p:cNvPr>
          <p:cNvSpPr/>
          <p:nvPr/>
        </p:nvSpPr>
        <p:spPr>
          <a:xfrm>
            <a:off x="7246051" y="4939978"/>
            <a:ext cx="1288356" cy="239171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23DB009D-50D3-49E7-A695-71C500705928}"/>
              </a:ext>
            </a:extLst>
          </p:cNvPr>
          <p:cNvSpPr/>
          <p:nvPr/>
        </p:nvSpPr>
        <p:spPr>
          <a:xfrm>
            <a:off x="8213698" y="6191480"/>
            <a:ext cx="1536229" cy="198303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639172A-4B52-43C4-BD91-23014F5FADEA}"/>
              </a:ext>
            </a:extLst>
          </p:cNvPr>
          <p:cNvSpPr txBox="1"/>
          <p:nvPr/>
        </p:nvSpPr>
        <p:spPr>
          <a:xfrm>
            <a:off x="6320424" y="1603350"/>
            <a:ext cx="475113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dirty="0"/>
              <a:t>12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5F397BA-D55D-4C77-B40A-B97A33BB6B96}"/>
              </a:ext>
            </a:extLst>
          </p:cNvPr>
          <p:cNvSpPr txBox="1"/>
          <p:nvPr/>
        </p:nvSpPr>
        <p:spPr>
          <a:xfrm>
            <a:off x="9846190" y="4809817"/>
            <a:ext cx="475113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dirty="0"/>
              <a:t>13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12147703"/>
      </p:ext>
    </p:extLst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E61698A4-6C9E-4AEF-ACBF-8E5CAE2256B4}"/>
              </a:ext>
            </a:extLst>
          </p:cNvPr>
          <p:cNvSpPr txBox="1"/>
          <p:nvPr/>
        </p:nvSpPr>
        <p:spPr>
          <a:xfrm>
            <a:off x="403486" y="258224"/>
            <a:ext cx="4033512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ko-KR" altLang="en-US" dirty="0"/>
              <a:t>로그인  </a:t>
            </a:r>
            <a:r>
              <a:rPr lang="en-US" altLang="ko-KR" dirty="0"/>
              <a:t>-&gt;  </a:t>
            </a:r>
            <a:r>
              <a:rPr lang="ko-KR" altLang="en-US" dirty="0"/>
              <a:t>포탈 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82FC53E5-C86F-46E4-957D-10C7B31FE7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459" y="747142"/>
            <a:ext cx="9968900" cy="5378747"/>
          </a:xfrm>
          <a:prstGeom prst="rect">
            <a:avLst/>
          </a:prstGeom>
        </p:spPr>
      </p:pic>
      <p:sp>
        <p:nvSpPr>
          <p:cNvPr id="30" name="직사각형 29">
            <a:extLst>
              <a:ext uri="{FF2B5EF4-FFF2-40B4-BE49-F238E27FC236}">
                <a16:creationId xmlns:a16="http://schemas.microsoft.com/office/drawing/2014/main" id="{70EA8139-7696-46CE-972B-4AE41ADAACEA}"/>
              </a:ext>
            </a:extLst>
          </p:cNvPr>
          <p:cNvSpPr/>
          <p:nvPr/>
        </p:nvSpPr>
        <p:spPr>
          <a:xfrm>
            <a:off x="7678212" y="5588221"/>
            <a:ext cx="1368513" cy="519461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8ED10807-15A2-47E4-87CF-C92509EB4CD6}"/>
              </a:ext>
            </a:extLst>
          </p:cNvPr>
          <p:cNvCxnSpPr>
            <a:cxnSpLocks/>
            <a:stCxn id="30" idx="1"/>
          </p:cNvCxnSpPr>
          <p:nvPr/>
        </p:nvCxnSpPr>
        <p:spPr>
          <a:xfrm flipV="1">
            <a:off x="7678212" y="2923224"/>
            <a:ext cx="720271" cy="2924728"/>
          </a:xfrm>
          <a:prstGeom prst="straightConnector1">
            <a:avLst/>
          </a:prstGeom>
          <a:ln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CB52E16-EC37-4325-A2E6-101762EC0A2E}"/>
              </a:ext>
            </a:extLst>
          </p:cNvPr>
          <p:cNvSpPr/>
          <p:nvPr/>
        </p:nvSpPr>
        <p:spPr>
          <a:xfrm>
            <a:off x="504123" y="2715200"/>
            <a:ext cx="816677" cy="389244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2658C83-58A0-40AE-A25C-2506524BE3E7}"/>
              </a:ext>
            </a:extLst>
          </p:cNvPr>
          <p:cNvSpPr/>
          <p:nvPr/>
        </p:nvSpPr>
        <p:spPr>
          <a:xfrm>
            <a:off x="5229296" y="2715200"/>
            <a:ext cx="432162" cy="389244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FFF28536-B158-4EFC-A96C-6CA24B393CD4}"/>
              </a:ext>
            </a:extLst>
          </p:cNvPr>
          <p:cNvSpPr/>
          <p:nvPr/>
        </p:nvSpPr>
        <p:spPr>
          <a:xfrm>
            <a:off x="587022" y="3104444"/>
            <a:ext cx="608761" cy="1115264"/>
          </a:xfrm>
          <a:custGeom>
            <a:avLst/>
            <a:gdLst>
              <a:gd name="connsiteX0" fmla="*/ 0 w 541867"/>
              <a:gd name="connsiteY0" fmla="*/ 0 h 271038"/>
              <a:gd name="connsiteX1" fmla="*/ 282222 w 541867"/>
              <a:gd name="connsiteY1" fmla="*/ 270934 h 271038"/>
              <a:gd name="connsiteX2" fmla="*/ 541867 w 541867"/>
              <a:gd name="connsiteY2" fmla="*/ 33867 h 271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41867" h="271038">
                <a:moveTo>
                  <a:pt x="0" y="0"/>
                </a:moveTo>
                <a:cubicBezTo>
                  <a:pt x="95955" y="132645"/>
                  <a:pt x="191911" y="265290"/>
                  <a:pt x="282222" y="270934"/>
                </a:cubicBezTo>
                <a:cubicBezTo>
                  <a:pt x="372533" y="276579"/>
                  <a:pt x="485422" y="50800"/>
                  <a:pt x="541867" y="33867"/>
                </a:cubicBezTo>
              </a:path>
            </a:pathLst>
          </a:cu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A47B7E-E5A0-476F-B5CF-4849D406D13D}"/>
              </a:ext>
            </a:extLst>
          </p:cNvPr>
          <p:cNvSpPr txBox="1"/>
          <p:nvPr/>
        </p:nvSpPr>
        <p:spPr>
          <a:xfrm>
            <a:off x="455495" y="4190715"/>
            <a:ext cx="3225150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ko-KR" altLang="en-US" dirty="0"/>
              <a:t>두 컬럼 값의 합 </a:t>
            </a:r>
            <a:r>
              <a:rPr lang="en-US" altLang="ko-KR" dirty="0"/>
              <a:t>: </a:t>
            </a:r>
            <a:r>
              <a:rPr lang="en-US" altLang="ko-KR" dirty="0" err="1"/>
              <a:t>cpu</a:t>
            </a:r>
            <a:r>
              <a:rPr lang="ko-KR" altLang="en-US" dirty="0"/>
              <a:t>사용량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116B7EE-C846-4CF7-AFE2-E0CA457F6EC0}"/>
              </a:ext>
            </a:extLst>
          </p:cNvPr>
          <p:cNvSpPr txBox="1"/>
          <p:nvPr/>
        </p:nvSpPr>
        <p:spPr>
          <a:xfrm>
            <a:off x="4813197" y="4035042"/>
            <a:ext cx="3225150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ko-KR" altLang="en-US"/>
              <a:t>메모리사용량</a:t>
            </a:r>
            <a:endParaRPr lang="ko-KR" altLang="en-US" dirty="0"/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0B193FB2-2980-4A8E-AFA3-36D301883712}"/>
              </a:ext>
            </a:extLst>
          </p:cNvPr>
          <p:cNvCxnSpPr>
            <a:endCxn id="16" idx="2"/>
          </p:cNvCxnSpPr>
          <p:nvPr/>
        </p:nvCxnSpPr>
        <p:spPr>
          <a:xfrm flipV="1">
            <a:off x="5445377" y="3104444"/>
            <a:ext cx="0" cy="966613"/>
          </a:xfrm>
          <a:prstGeom prst="straightConnector1">
            <a:avLst/>
          </a:prstGeom>
          <a:ln w="19050">
            <a:solidFill>
              <a:srgbClr val="333F4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94ABB5BF-2E52-4F7E-A1BC-271DD2F47F10}"/>
              </a:ext>
            </a:extLst>
          </p:cNvPr>
          <p:cNvSpPr txBox="1"/>
          <p:nvPr/>
        </p:nvSpPr>
        <p:spPr>
          <a:xfrm>
            <a:off x="7678212" y="6200409"/>
            <a:ext cx="3025134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ko-KR" altLang="en-US" dirty="0"/>
              <a:t>평균응답시간 </a:t>
            </a:r>
            <a:r>
              <a:rPr lang="en-US" altLang="ko-KR" dirty="0"/>
              <a:t>: 1.742</a:t>
            </a:r>
            <a:r>
              <a:rPr lang="ko-KR" altLang="en-US" dirty="0"/>
              <a:t>초 </a:t>
            </a:r>
          </a:p>
        </p:txBody>
      </p:sp>
    </p:spTree>
    <p:extLst>
      <p:ext uri="{BB962C8B-B14F-4D97-AF65-F5344CB8AC3E}">
        <p14:creationId xmlns:p14="http://schemas.microsoft.com/office/powerpoint/2010/main" val="1265537496"/>
      </p:ext>
    </p:extLst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그룹 9">
            <a:extLst>
              <a:ext uri="{FF2B5EF4-FFF2-40B4-BE49-F238E27FC236}">
                <a16:creationId xmlns:a16="http://schemas.microsoft.com/office/drawing/2014/main" id="{9F08FF35-36E8-4A34-A7B1-16E29A6A0C38}"/>
              </a:ext>
            </a:extLst>
          </p:cNvPr>
          <p:cNvGrpSpPr/>
          <p:nvPr/>
        </p:nvGrpSpPr>
        <p:grpSpPr>
          <a:xfrm>
            <a:off x="403486" y="695350"/>
            <a:ext cx="10991455" cy="3164462"/>
            <a:chOff x="597891" y="762413"/>
            <a:chExt cx="10991455" cy="3164462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9D6DEB3C-7705-4731-A106-56462EAC31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97891" y="762413"/>
              <a:ext cx="10991455" cy="3164462"/>
            </a:xfrm>
            <a:prstGeom prst="rect">
              <a:avLst/>
            </a:prstGeom>
          </p:spPr>
        </p:pic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41D938CE-4BEE-463D-8754-460E2244814B}"/>
                </a:ext>
              </a:extLst>
            </p:cNvPr>
            <p:cNvSpPr/>
            <p:nvPr/>
          </p:nvSpPr>
          <p:spPr>
            <a:xfrm>
              <a:off x="3273549" y="1587761"/>
              <a:ext cx="1133198" cy="219005"/>
            </a:xfrm>
            <a:prstGeom prst="rect">
              <a:avLst/>
            </a:prstGeom>
            <a:solidFill>
              <a:schemeClr val="accent3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E61698A4-6C9E-4AEF-ACBF-8E5CAE2256B4}"/>
              </a:ext>
            </a:extLst>
          </p:cNvPr>
          <p:cNvSpPr txBox="1"/>
          <p:nvPr/>
        </p:nvSpPr>
        <p:spPr>
          <a:xfrm>
            <a:off x="403486" y="258224"/>
            <a:ext cx="4033512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ko-KR" altLang="en-US" dirty="0"/>
              <a:t>포탈 </a:t>
            </a:r>
            <a:r>
              <a:rPr lang="en-US" altLang="ko-KR" dirty="0"/>
              <a:t>-&gt; </a:t>
            </a:r>
            <a:r>
              <a:rPr lang="ko-KR" altLang="en-US" dirty="0"/>
              <a:t>전자결재 클릭</a:t>
            </a: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D91263CE-6BA6-4793-9EE2-90C1CA871068}"/>
              </a:ext>
            </a:extLst>
          </p:cNvPr>
          <p:cNvGrpSpPr/>
          <p:nvPr/>
        </p:nvGrpSpPr>
        <p:grpSpPr>
          <a:xfrm>
            <a:off x="2492269" y="4485835"/>
            <a:ext cx="6266349" cy="1333686"/>
            <a:chOff x="547540" y="4018317"/>
            <a:chExt cx="9078592" cy="1333686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A87DF3FA-A9B7-45C1-8B24-ADD9C383EC6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7540" y="4018317"/>
              <a:ext cx="9078592" cy="1333686"/>
            </a:xfrm>
            <a:prstGeom prst="rect">
              <a:avLst/>
            </a:prstGeom>
          </p:spPr>
        </p:pic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356A7DCE-D37B-4C0D-AC96-207633E45CE7}"/>
                </a:ext>
              </a:extLst>
            </p:cNvPr>
            <p:cNvSpPr/>
            <p:nvPr/>
          </p:nvSpPr>
          <p:spPr>
            <a:xfrm>
              <a:off x="2132134" y="4363763"/>
              <a:ext cx="1133198" cy="219005"/>
            </a:xfrm>
            <a:prstGeom prst="rect">
              <a:avLst/>
            </a:prstGeom>
            <a:solidFill>
              <a:schemeClr val="accent3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58BF4B91-2C73-462F-A751-DD92C535FF67}"/>
                </a:ext>
              </a:extLst>
            </p:cNvPr>
            <p:cNvSpPr/>
            <p:nvPr/>
          </p:nvSpPr>
          <p:spPr>
            <a:xfrm>
              <a:off x="2132134" y="4638878"/>
              <a:ext cx="1133198" cy="219005"/>
            </a:xfrm>
            <a:prstGeom prst="rect">
              <a:avLst/>
            </a:prstGeom>
            <a:solidFill>
              <a:schemeClr val="accent3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7A567D43-84F9-4D74-B959-3386D8B7BB90}"/>
                </a:ext>
              </a:extLst>
            </p:cNvPr>
            <p:cNvSpPr/>
            <p:nvPr/>
          </p:nvSpPr>
          <p:spPr>
            <a:xfrm>
              <a:off x="2132134" y="4928214"/>
              <a:ext cx="1133198" cy="219005"/>
            </a:xfrm>
            <a:prstGeom prst="rect">
              <a:avLst/>
            </a:prstGeom>
            <a:solidFill>
              <a:schemeClr val="accent3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7" name="화살표: 아래쪽 16">
            <a:extLst>
              <a:ext uri="{FF2B5EF4-FFF2-40B4-BE49-F238E27FC236}">
                <a16:creationId xmlns:a16="http://schemas.microsoft.com/office/drawing/2014/main" id="{8F836C57-69BD-4501-815B-C362A5639A78}"/>
              </a:ext>
            </a:extLst>
          </p:cNvPr>
          <p:cNvSpPr/>
          <p:nvPr/>
        </p:nvSpPr>
        <p:spPr>
          <a:xfrm>
            <a:off x="5841524" y="3990758"/>
            <a:ext cx="504189" cy="364130"/>
          </a:xfrm>
          <a:prstGeom prst="downArrow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5BB8DBC-4E37-4816-9CA0-3E4C8090988D}"/>
              </a:ext>
            </a:extLst>
          </p:cNvPr>
          <p:cNvSpPr txBox="1"/>
          <p:nvPr/>
        </p:nvSpPr>
        <p:spPr>
          <a:xfrm>
            <a:off x="8802012" y="4485835"/>
            <a:ext cx="2592972" cy="2031325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ko-KR" altLang="en-US" dirty="0"/>
              <a:t>부하정보는 </a:t>
            </a:r>
            <a:br>
              <a:rPr lang="en-US" altLang="ko-KR" dirty="0"/>
            </a:br>
            <a:r>
              <a:rPr lang="ko-KR" altLang="en-US" dirty="0"/>
              <a:t>서버 성능</a:t>
            </a:r>
            <a:r>
              <a:rPr lang="en-US" altLang="ko-KR" dirty="0"/>
              <a:t>, </a:t>
            </a:r>
            <a:r>
              <a:rPr lang="ko-KR" altLang="en-US" dirty="0"/>
              <a:t>및 요구사항에 맞추어 기입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예제는 </a:t>
            </a:r>
            <a:r>
              <a:rPr lang="en-US" altLang="ko-KR" dirty="0"/>
              <a:t>10</a:t>
            </a:r>
            <a:r>
              <a:rPr lang="ko-KR" altLang="en-US" dirty="0"/>
              <a:t>명의 가상유저가 </a:t>
            </a:r>
            <a:r>
              <a:rPr lang="en-US" altLang="ko-KR" dirty="0"/>
              <a:t>1</a:t>
            </a:r>
            <a:r>
              <a:rPr lang="ko-KR" altLang="en-US" dirty="0"/>
              <a:t>초안에 </a:t>
            </a:r>
            <a:r>
              <a:rPr lang="en-US" altLang="ko-KR" dirty="0"/>
              <a:t>1</a:t>
            </a:r>
            <a:r>
              <a:rPr lang="ko-KR" altLang="en-US" dirty="0"/>
              <a:t>번 동작 하는 예로 구성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0E29596-F963-4267-A21A-58BF98B4AD9B}"/>
              </a:ext>
            </a:extLst>
          </p:cNvPr>
          <p:cNvSpPr txBox="1"/>
          <p:nvPr/>
        </p:nvSpPr>
        <p:spPr>
          <a:xfrm>
            <a:off x="3977094" y="1445534"/>
            <a:ext cx="279533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1431155-FAD5-4333-84A1-C6023D3DD63C}"/>
              </a:ext>
            </a:extLst>
          </p:cNvPr>
          <p:cNvSpPr txBox="1"/>
          <p:nvPr/>
        </p:nvSpPr>
        <p:spPr>
          <a:xfrm>
            <a:off x="2223934" y="4461949"/>
            <a:ext cx="279533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dirty="0"/>
              <a:t>2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86342666"/>
      </p:ext>
    </p:extLst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>
            <a:extLst>
              <a:ext uri="{FF2B5EF4-FFF2-40B4-BE49-F238E27FC236}">
                <a16:creationId xmlns:a16="http://schemas.microsoft.com/office/drawing/2014/main" id="{E51123B8-206C-40F0-8CBE-BCE656D43DB5}"/>
              </a:ext>
            </a:extLst>
          </p:cNvPr>
          <p:cNvGrpSpPr/>
          <p:nvPr/>
        </p:nvGrpSpPr>
        <p:grpSpPr>
          <a:xfrm>
            <a:off x="2666082" y="784304"/>
            <a:ext cx="5877745" cy="2289073"/>
            <a:chOff x="362252" y="850231"/>
            <a:chExt cx="5877745" cy="2721235"/>
          </a:xfrm>
        </p:grpSpPr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04A9B152-39F2-4A7E-AF80-5F420630C27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2252" y="850231"/>
              <a:ext cx="5877745" cy="2721235"/>
            </a:xfrm>
            <a:prstGeom prst="rect">
              <a:avLst/>
            </a:prstGeom>
          </p:spPr>
        </p:pic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356A7DCE-D37B-4C0D-AC96-207633E45CE7}"/>
                </a:ext>
              </a:extLst>
            </p:cNvPr>
            <p:cNvSpPr/>
            <p:nvPr/>
          </p:nvSpPr>
          <p:spPr>
            <a:xfrm>
              <a:off x="4205396" y="3019118"/>
              <a:ext cx="1809814" cy="230858"/>
            </a:xfrm>
            <a:prstGeom prst="rect">
              <a:avLst/>
            </a:prstGeom>
            <a:solidFill>
              <a:schemeClr val="accent3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9449925E-999A-4B66-BD8F-2906F1D9CBE2}"/>
              </a:ext>
            </a:extLst>
          </p:cNvPr>
          <p:cNvGrpSpPr/>
          <p:nvPr/>
        </p:nvGrpSpPr>
        <p:grpSpPr>
          <a:xfrm>
            <a:off x="1232369" y="3635789"/>
            <a:ext cx="8745170" cy="2960812"/>
            <a:chOff x="61128" y="3655485"/>
            <a:chExt cx="8745170" cy="2960812"/>
          </a:xfrm>
        </p:grpSpPr>
        <p:pic>
          <p:nvPicPr>
            <p:cNvPr id="2" name="그림 1">
              <a:extLst>
                <a:ext uri="{FF2B5EF4-FFF2-40B4-BE49-F238E27FC236}">
                  <a16:creationId xmlns:a16="http://schemas.microsoft.com/office/drawing/2014/main" id="{EA2C81FA-8DBC-4AD7-ACB8-648F1F54B03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128" y="3655485"/>
              <a:ext cx="8745170" cy="2960812"/>
            </a:xfrm>
            <a:prstGeom prst="rect">
              <a:avLst/>
            </a:prstGeom>
          </p:spPr>
        </p:pic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5653A6A0-3435-4387-9EF4-26C54B8E8B61}"/>
                </a:ext>
              </a:extLst>
            </p:cNvPr>
            <p:cNvSpPr/>
            <p:nvPr/>
          </p:nvSpPr>
          <p:spPr>
            <a:xfrm>
              <a:off x="193420" y="4129985"/>
              <a:ext cx="2472662" cy="210661"/>
            </a:xfrm>
            <a:prstGeom prst="rect">
              <a:avLst/>
            </a:prstGeom>
            <a:solidFill>
              <a:schemeClr val="accent3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CE3D9475-81BD-45B1-AC7D-BBCD9E303DF1}"/>
                </a:ext>
              </a:extLst>
            </p:cNvPr>
            <p:cNvSpPr/>
            <p:nvPr/>
          </p:nvSpPr>
          <p:spPr>
            <a:xfrm>
              <a:off x="3739015" y="4678992"/>
              <a:ext cx="2472662" cy="210661"/>
            </a:xfrm>
            <a:prstGeom prst="rect">
              <a:avLst/>
            </a:prstGeom>
            <a:solidFill>
              <a:schemeClr val="accent3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D74C75DC-A9D6-46F8-9244-566B313B4CD0}"/>
                </a:ext>
              </a:extLst>
            </p:cNvPr>
            <p:cNvSpPr/>
            <p:nvPr/>
          </p:nvSpPr>
          <p:spPr>
            <a:xfrm>
              <a:off x="7560032" y="6395789"/>
              <a:ext cx="217876" cy="181282"/>
            </a:xfrm>
            <a:prstGeom prst="rect">
              <a:avLst/>
            </a:prstGeom>
            <a:solidFill>
              <a:schemeClr val="accent3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9" name="화살표: 아래쪽 18">
            <a:extLst>
              <a:ext uri="{FF2B5EF4-FFF2-40B4-BE49-F238E27FC236}">
                <a16:creationId xmlns:a16="http://schemas.microsoft.com/office/drawing/2014/main" id="{EE6CE79F-5661-4FF0-9B6B-BBD4E0621737}"/>
              </a:ext>
            </a:extLst>
          </p:cNvPr>
          <p:cNvSpPr/>
          <p:nvPr/>
        </p:nvSpPr>
        <p:spPr>
          <a:xfrm>
            <a:off x="5352859" y="3245347"/>
            <a:ext cx="504189" cy="364130"/>
          </a:xfrm>
          <a:prstGeom prst="downArrow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D396D03-91DB-431B-A4C1-72D298FAB541}"/>
              </a:ext>
            </a:extLst>
          </p:cNvPr>
          <p:cNvSpPr txBox="1"/>
          <p:nvPr/>
        </p:nvSpPr>
        <p:spPr>
          <a:xfrm>
            <a:off x="403486" y="258224"/>
            <a:ext cx="4033512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ko-KR" altLang="en-US" dirty="0"/>
              <a:t>포탈 </a:t>
            </a:r>
            <a:r>
              <a:rPr lang="en-US" altLang="ko-KR" dirty="0"/>
              <a:t>-&gt; </a:t>
            </a:r>
            <a:r>
              <a:rPr lang="ko-KR" altLang="en-US" dirty="0"/>
              <a:t>전자결재 클릭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DFEA7F8-C4CE-4A81-844D-7593D6629C08}"/>
              </a:ext>
            </a:extLst>
          </p:cNvPr>
          <p:cNvSpPr txBox="1"/>
          <p:nvPr/>
        </p:nvSpPr>
        <p:spPr>
          <a:xfrm>
            <a:off x="8327180" y="2521179"/>
            <a:ext cx="279533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02F3E08-656F-4883-A1D9-6A7AC23F91C3}"/>
              </a:ext>
            </a:extLst>
          </p:cNvPr>
          <p:cNvSpPr txBox="1"/>
          <p:nvPr/>
        </p:nvSpPr>
        <p:spPr>
          <a:xfrm>
            <a:off x="879216" y="4030953"/>
            <a:ext cx="279533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45AA59E-2E85-404A-888A-95776D472C6F}"/>
              </a:ext>
            </a:extLst>
          </p:cNvPr>
          <p:cNvSpPr txBox="1"/>
          <p:nvPr/>
        </p:nvSpPr>
        <p:spPr>
          <a:xfrm>
            <a:off x="4459278" y="4579960"/>
            <a:ext cx="279533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5343931-43AD-4F85-981E-B3DCE2D04248}"/>
              </a:ext>
            </a:extLst>
          </p:cNvPr>
          <p:cNvSpPr txBox="1"/>
          <p:nvPr/>
        </p:nvSpPr>
        <p:spPr>
          <a:xfrm>
            <a:off x="8350450" y="6319619"/>
            <a:ext cx="279533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dirty="0"/>
              <a:t>6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91966174"/>
      </p:ext>
    </p:extLst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화살표: 아래쪽 13">
            <a:extLst>
              <a:ext uri="{FF2B5EF4-FFF2-40B4-BE49-F238E27FC236}">
                <a16:creationId xmlns:a16="http://schemas.microsoft.com/office/drawing/2014/main" id="{FF62EC1B-E398-4E11-A674-CD3A79D7094C}"/>
              </a:ext>
            </a:extLst>
          </p:cNvPr>
          <p:cNvSpPr/>
          <p:nvPr/>
        </p:nvSpPr>
        <p:spPr>
          <a:xfrm>
            <a:off x="5841524" y="3532670"/>
            <a:ext cx="504189" cy="364130"/>
          </a:xfrm>
          <a:prstGeom prst="downArrow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E429FC-E9AD-4FF6-8F58-2C3976533D3A}"/>
              </a:ext>
            </a:extLst>
          </p:cNvPr>
          <p:cNvSpPr txBox="1"/>
          <p:nvPr/>
        </p:nvSpPr>
        <p:spPr>
          <a:xfrm>
            <a:off x="403486" y="258224"/>
            <a:ext cx="4033512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ko-KR" altLang="en-US" dirty="0"/>
              <a:t>포탈 </a:t>
            </a:r>
            <a:r>
              <a:rPr lang="en-US" altLang="ko-KR" dirty="0"/>
              <a:t>-&gt; </a:t>
            </a:r>
            <a:r>
              <a:rPr lang="ko-KR" altLang="en-US" dirty="0"/>
              <a:t>전자결재 클릭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6E111353-7EAE-488B-8ADC-28515CB1A9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8567" y="442890"/>
            <a:ext cx="6666283" cy="2905114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69650130-3CBD-4979-AC12-0049E3D7AD81}"/>
              </a:ext>
            </a:extLst>
          </p:cNvPr>
          <p:cNvSpPr/>
          <p:nvPr/>
        </p:nvSpPr>
        <p:spPr>
          <a:xfrm>
            <a:off x="6481708" y="978494"/>
            <a:ext cx="648244" cy="364130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8A57989-09F0-4918-95F7-FBE7BDEB08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4836" y="3949711"/>
            <a:ext cx="4478986" cy="277335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6B22E0E-562F-4C62-B912-A145345EA798}"/>
              </a:ext>
            </a:extLst>
          </p:cNvPr>
          <p:cNvSpPr txBox="1"/>
          <p:nvPr/>
        </p:nvSpPr>
        <p:spPr>
          <a:xfrm>
            <a:off x="6244329" y="973292"/>
            <a:ext cx="279533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dirty="0"/>
              <a:t>7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880566"/>
      </p:ext>
    </p:extLst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6EB02348-F997-4482-941A-737E3C22E56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2004"/>
          <a:stretch/>
        </p:blipFill>
        <p:spPr>
          <a:xfrm>
            <a:off x="7319663" y="2793897"/>
            <a:ext cx="4701696" cy="990738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6A60487-6842-49F9-AF92-696AE903EE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055" y="2198855"/>
            <a:ext cx="3572374" cy="2667372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0BDE46E8-7922-4A93-9C07-02E7FCABDC5B}"/>
              </a:ext>
            </a:extLst>
          </p:cNvPr>
          <p:cNvSpPr/>
          <p:nvPr/>
        </p:nvSpPr>
        <p:spPr>
          <a:xfrm>
            <a:off x="1555918" y="2198855"/>
            <a:ext cx="360135" cy="432161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69E36D9-0B42-43D6-B16D-D147B0EA0179}"/>
              </a:ext>
            </a:extLst>
          </p:cNvPr>
          <p:cNvSpPr/>
          <p:nvPr/>
        </p:nvSpPr>
        <p:spPr>
          <a:xfrm>
            <a:off x="8753172" y="3532541"/>
            <a:ext cx="2383916" cy="193944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0AB952-6DD9-49E2-B348-54C1AF8A880E}"/>
              </a:ext>
            </a:extLst>
          </p:cNvPr>
          <p:cNvSpPr txBox="1"/>
          <p:nvPr/>
        </p:nvSpPr>
        <p:spPr>
          <a:xfrm>
            <a:off x="403486" y="258224"/>
            <a:ext cx="4033512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ko-KR" altLang="en-US" dirty="0"/>
              <a:t>포탈 </a:t>
            </a:r>
            <a:r>
              <a:rPr lang="en-US" altLang="ko-KR" dirty="0"/>
              <a:t>-&gt; </a:t>
            </a:r>
            <a:r>
              <a:rPr lang="ko-KR" altLang="en-US" dirty="0"/>
              <a:t>전자결재 클릭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77C4566-FEFA-4A15-B3C7-F2B59430EE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3246" y="762960"/>
            <a:ext cx="2879600" cy="2030937"/>
          </a:xfrm>
          <a:prstGeom prst="rect">
            <a:avLst/>
          </a:prstGeom>
        </p:spPr>
      </p:pic>
      <p:sp>
        <p:nvSpPr>
          <p:cNvPr id="3" name="화살표: 오른쪽 2">
            <a:extLst>
              <a:ext uri="{FF2B5EF4-FFF2-40B4-BE49-F238E27FC236}">
                <a16:creationId xmlns:a16="http://schemas.microsoft.com/office/drawing/2014/main" id="{43D1CCD9-F255-49B2-B0B7-B1090168CAC9}"/>
              </a:ext>
            </a:extLst>
          </p:cNvPr>
          <p:cNvSpPr/>
          <p:nvPr/>
        </p:nvSpPr>
        <p:spPr>
          <a:xfrm>
            <a:off x="5492945" y="3420066"/>
            <a:ext cx="540202" cy="504189"/>
          </a:xfrm>
          <a:prstGeom prst="rightArrow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720818D-042C-4236-9B18-EC00EE1CC68E}"/>
              </a:ext>
            </a:extLst>
          </p:cNvPr>
          <p:cNvSpPr/>
          <p:nvPr/>
        </p:nvSpPr>
        <p:spPr>
          <a:xfrm>
            <a:off x="6309700" y="2631016"/>
            <a:ext cx="432162" cy="162881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3232B4B-8D08-4E5A-92D4-A8D75D9FE59C}"/>
              </a:ext>
            </a:extLst>
          </p:cNvPr>
          <p:cNvSpPr txBox="1"/>
          <p:nvPr/>
        </p:nvSpPr>
        <p:spPr>
          <a:xfrm>
            <a:off x="1599304" y="1778428"/>
            <a:ext cx="273361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dirty="0"/>
              <a:t>8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6546D6-F3CD-4D26-BDBB-5E2157E71BD7}"/>
              </a:ext>
            </a:extLst>
          </p:cNvPr>
          <p:cNvSpPr txBox="1"/>
          <p:nvPr/>
        </p:nvSpPr>
        <p:spPr>
          <a:xfrm>
            <a:off x="6318812" y="2744635"/>
            <a:ext cx="273361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dirty="0"/>
              <a:t>9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70705743"/>
      </p:ext>
    </p:extLst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50FAF965-CC42-499F-A43A-0F72BEE748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7884" y="4543906"/>
            <a:ext cx="5462240" cy="204438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36F90B3B-B8F9-4691-8097-DB88A56722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745" y="4573595"/>
            <a:ext cx="5706405" cy="2086266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9CA33217-A8EC-4C89-9A33-26FC11435D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5364" y="960419"/>
            <a:ext cx="5881756" cy="2534004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0C73D22A-7236-4988-89A0-5FA91D2E43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531" y="801187"/>
            <a:ext cx="6098683" cy="311991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1216C21-16E3-4DA4-8806-47FB5B8928CD}"/>
              </a:ext>
            </a:extLst>
          </p:cNvPr>
          <p:cNvSpPr txBox="1"/>
          <p:nvPr/>
        </p:nvSpPr>
        <p:spPr>
          <a:xfrm>
            <a:off x="1469683" y="3936791"/>
            <a:ext cx="3082624" cy="646331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해당 사이트의 서버 접속 후 </a:t>
            </a:r>
            <a:br>
              <a:rPr lang="en-US" altLang="ko-KR" sz="1200" dirty="0"/>
            </a:br>
            <a:r>
              <a:rPr lang="ko-KR" altLang="en-US" sz="1200" dirty="0"/>
              <a:t>서버 성능 체크 명령어 실행 </a:t>
            </a:r>
            <a:br>
              <a:rPr lang="en-US" altLang="ko-KR" sz="1200" dirty="0"/>
            </a:br>
            <a:r>
              <a:rPr lang="en-US" altLang="ko-KR" sz="1200" dirty="0"/>
              <a:t>ex)</a:t>
            </a:r>
            <a:r>
              <a:rPr lang="en-US" altLang="ko-KR" sz="1200" dirty="0" err="1"/>
              <a:t>ssh</a:t>
            </a:r>
            <a:r>
              <a:rPr lang="ko-KR" altLang="en-US" sz="1200" dirty="0"/>
              <a:t> </a:t>
            </a:r>
            <a:r>
              <a:rPr lang="en-US" altLang="ko-KR" sz="1200" dirty="0">
                <a:hlinkClick r:id="rId6"/>
              </a:rPr>
              <a:t>jmocha@127.0.0.1</a:t>
            </a:r>
            <a:r>
              <a:rPr lang="ko-KR" altLang="en-US" sz="1200" dirty="0"/>
              <a:t> </a:t>
            </a: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D8247F50-8C6C-4110-ABBD-D9CA362D9B37}"/>
              </a:ext>
            </a:extLst>
          </p:cNvPr>
          <p:cNvGrpSpPr/>
          <p:nvPr/>
        </p:nvGrpSpPr>
        <p:grpSpPr>
          <a:xfrm>
            <a:off x="162745" y="801959"/>
            <a:ext cx="11868185" cy="3073220"/>
            <a:chOff x="223418" y="1266602"/>
            <a:chExt cx="11868185" cy="3492277"/>
          </a:xfrm>
        </p:grpSpPr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0BDE46E8-7922-4A93-9C07-02E7FCABDC5B}"/>
                </a:ext>
              </a:extLst>
            </p:cNvPr>
            <p:cNvSpPr/>
            <p:nvPr/>
          </p:nvSpPr>
          <p:spPr>
            <a:xfrm>
              <a:off x="223418" y="1266602"/>
              <a:ext cx="5706405" cy="360135"/>
            </a:xfrm>
            <a:prstGeom prst="rect">
              <a:avLst/>
            </a:prstGeom>
            <a:solidFill>
              <a:schemeClr val="accent3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9" name="직선 화살표 연결선 8">
              <a:extLst>
                <a:ext uri="{FF2B5EF4-FFF2-40B4-BE49-F238E27FC236}">
                  <a16:creationId xmlns:a16="http://schemas.microsoft.com/office/drawing/2014/main" id="{2509BEBE-CB71-4FBC-9A72-43F64CD67A1B}"/>
                </a:ext>
              </a:extLst>
            </p:cNvPr>
            <p:cNvCxnSpPr>
              <a:cxnSpLocks/>
            </p:cNvCxnSpPr>
            <p:nvPr/>
          </p:nvCxnSpPr>
          <p:spPr>
            <a:xfrm>
              <a:off x="5769497" y="1482864"/>
              <a:ext cx="648243" cy="672367"/>
            </a:xfrm>
            <a:prstGeom prst="straightConnector1">
              <a:avLst/>
            </a:prstGeom>
            <a:ln w="28575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화살표 연결선 15">
              <a:extLst>
                <a:ext uri="{FF2B5EF4-FFF2-40B4-BE49-F238E27FC236}">
                  <a16:creationId xmlns:a16="http://schemas.microsoft.com/office/drawing/2014/main" id="{2584A3A3-488C-47D3-AB06-711F39E678E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71669" y="4147682"/>
              <a:ext cx="3598166" cy="611197"/>
            </a:xfrm>
            <a:prstGeom prst="straightConnector1">
              <a:avLst/>
            </a:prstGeom>
            <a:ln w="28575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CC834344-A0E0-4E25-A61A-A92EBC118A48}"/>
                </a:ext>
              </a:extLst>
            </p:cNvPr>
            <p:cNvSpPr/>
            <p:nvPr/>
          </p:nvSpPr>
          <p:spPr>
            <a:xfrm>
              <a:off x="6273942" y="3897311"/>
              <a:ext cx="1122786" cy="230357"/>
            </a:xfrm>
            <a:prstGeom prst="rect">
              <a:avLst/>
            </a:prstGeom>
            <a:solidFill>
              <a:schemeClr val="accent3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DAF49127-801F-47DA-8710-8D40E2B3BAA7}"/>
                </a:ext>
              </a:extLst>
            </p:cNvPr>
            <p:cNvSpPr/>
            <p:nvPr/>
          </p:nvSpPr>
          <p:spPr>
            <a:xfrm>
              <a:off x="6257417" y="2188373"/>
              <a:ext cx="5834186" cy="363571"/>
            </a:xfrm>
            <a:prstGeom prst="rect">
              <a:avLst/>
            </a:prstGeom>
            <a:solidFill>
              <a:schemeClr val="accent3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C17D8060-C340-41E9-A1CF-02B08AF08BF2}"/>
              </a:ext>
            </a:extLst>
          </p:cNvPr>
          <p:cNvSpPr/>
          <p:nvPr/>
        </p:nvSpPr>
        <p:spPr>
          <a:xfrm>
            <a:off x="162745" y="4583122"/>
            <a:ext cx="5706405" cy="180640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61904D8D-54D4-49AC-A50B-D844A4722B5D}"/>
              </a:ext>
            </a:extLst>
          </p:cNvPr>
          <p:cNvSpPr/>
          <p:nvPr/>
        </p:nvSpPr>
        <p:spPr>
          <a:xfrm>
            <a:off x="7336055" y="5894406"/>
            <a:ext cx="894723" cy="550760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순서도: 병합 28">
            <a:extLst>
              <a:ext uri="{FF2B5EF4-FFF2-40B4-BE49-F238E27FC236}">
                <a16:creationId xmlns:a16="http://schemas.microsoft.com/office/drawing/2014/main" id="{FE5138C1-693F-4A1D-8126-AF8DFCD9CF69}"/>
              </a:ext>
            </a:extLst>
          </p:cNvPr>
          <p:cNvSpPr/>
          <p:nvPr/>
        </p:nvSpPr>
        <p:spPr>
          <a:xfrm>
            <a:off x="4810079" y="4075655"/>
            <a:ext cx="347189" cy="288108"/>
          </a:xfrm>
          <a:prstGeom prst="flowChartMerge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7E0FE62-0B76-4387-B1B2-EE1F45665CFF}"/>
              </a:ext>
            </a:extLst>
          </p:cNvPr>
          <p:cNvSpPr txBox="1"/>
          <p:nvPr/>
        </p:nvSpPr>
        <p:spPr>
          <a:xfrm>
            <a:off x="5051861" y="4096446"/>
            <a:ext cx="839309" cy="276999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결과파일</a:t>
            </a:r>
          </a:p>
        </p:txBody>
      </p:sp>
      <p:sp>
        <p:nvSpPr>
          <p:cNvPr id="32" name="순서도: 병합 31">
            <a:extLst>
              <a:ext uri="{FF2B5EF4-FFF2-40B4-BE49-F238E27FC236}">
                <a16:creationId xmlns:a16="http://schemas.microsoft.com/office/drawing/2014/main" id="{EF3E8C65-52B1-474D-A8AD-C8F6575159D7}"/>
              </a:ext>
            </a:extLst>
          </p:cNvPr>
          <p:cNvSpPr/>
          <p:nvPr/>
        </p:nvSpPr>
        <p:spPr>
          <a:xfrm>
            <a:off x="11133648" y="4151439"/>
            <a:ext cx="347189" cy="288108"/>
          </a:xfrm>
          <a:prstGeom prst="flowChartMerge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16CF018-8FA9-4ADA-B91C-35D99C1E079A}"/>
              </a:ext>
            </a:extLst>
          </p:cNvPr>
          <p:cNvSpPr txBox="1"/>
          <p:nvPr/>
        </p:nvSpPr>
        <p:spPr>
          <a:xfrm>
            <a:off x="11307243" y="4183339"/>
            <a:ext cx="839309" cy="276999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결과파일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BDB7F4C-65EC-4ECC-B108-AC4FEB2DEF0A}"/>
              </a:ext>
            </a:extLst>
          </p:cNvPr>
          <p:cNvSpPr txBox="1"/>
          <p:nvPr/>
        </p:nvSpPr>
        <p:spPr>
          <a:xfrm>
            <a:off x="403486" y="258224"/>
            <a:ext cx="4033512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ko-KR" altLang="en-US" dirty="0"/>
              <a:t>포탈 </a:t>
            </a:r>
            <a:r>
              <a:rPr lang="en-US" altLang="ko-KR" dirty="0"/>
              <a:t>-&gt; </a:t>
            </a:r>
            <a:r>
              <a:rPr lang="ko-KR" altLang="en-US" dirty="0"/>
              <a:t>전자결재 클릭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4505EBA-AECB-46BE-8477-4DEFF1062421}"/>
              </a:ext>
            </a:extLst>
          </p:cNvPr>
          <p:cNvSpPr txBox="1"/>
          <p:nvPr/>
        </p:nvSpPr>
        <p:spPr>
          <a:xfrm>
            <a:off x="5334834" y="431855"/>
            <a:ext cx="534316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dirty="0"/>
              <a:t>10</a:t>
            </a:r>
            <a:endParaRPr lang="ko-KR" alt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A6EDDA9-F086-4CF8-91F5-A0B152DE584D}"/>
              </a:ext>
            </a:extLst>
          </p:cNvPr>
          <p:cNvSpPr txBox="1"/>
          <p:nvPr/>
        </p:nvSpPr>
        <p:spPr>
          <a:xfrm>
            <a:off x="10825216" y="890271"/>
            <a:ext cx="534316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dirty="0"/>
              <a:t>11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98068813"/>
      </p:ext>
    </p:extLst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483216B7-44E8-4B52-AD60-038AC384F7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0647" y="4141534"/>
            <a:ext cx="6106377" cy="2429214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1FACB6E-8ACB-4E7E-B46E-4BBAECC6C3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848" y="825113"/>
            <a:ext cx="6315956" cy="3124636"/>
          </a:xfrm>
          <a:prstGeom prst="rect">
            <a:avLst/>
          </a:prstGeom>
        </p:spPr>
      </p:pic>
      <p:sp>
        <p:nvSpPr>
          <p:cNvPr id="7" name="화살표: 왼쪽 6">
            <a:extLst>
              <a:ext uri="{FF2B5EF4-FFF2-40B4-BE49-F238E27FC236}">
                <a16:creationId xmlns:a16="http://schemas.microsoft.com/office/drawing/2014/main" id="{4877FA20-BB15-4949-A4D9-A3482134B4A3}"/>
              </a:ext>
            </a:extLst>
          </p:cNvPr>
          <p:cNvSpPr/>
          <p:nvPr/>
        </p:nvSpPr>
        <p:spPr>
          <a:xfrm>
            <a:off x="5920757" y="1799130"/>
            <a:ext cx="720270" cy="432162"/>
          </a:xfrm>
          <a:prstGeom prst="leftArrow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C17D8060-C340-41E9-A1CF-02B08AF08BF2}"/>
              </a:ext>
            </a:extLst>
          </p:cNvPr>
          <p:cNvSpPr/>
          <p:nvPr/>
        </p:nvSpPr>
        <p:spPr>
          <a:xfrm>
            <a:off x="3908338" y="2540196"/>
            <a:ext cx="2207523" cy="236323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화살표: 아래쪽 12">
            <a:extLst>
              <a:ext uri="{FF2B5EF4-FFF2-40B4-BE49-F238E27FC236}">
                <a16:creationId xmlns:a16="http://schemas.microsoft.com/office/drawing/2014/main" id="{DADE4E8E-2C28-4E50-8C7B-070E33C0B870}"/>
              </a:ext>
            </a:extLst>
          </p:cNvPr>
          <p:cNvSpPr/>
          <p:nvPr/>
        </p:nvSpPr>
        <p:spPr>
          <a:xfrm>
            <a:off x="6414345" y="3714515"/>
            <a:ext cx="504189" cy="289113"/>
          </a:xfrm>
          <a:prstGeom prst="downArrow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70EA8139-7696-46CE-972B-4AE41ADAACEA}"/>
              </a:ext>
            </a:extLst>
          </p:cNvPr>
          <p:cNvSpPr/>
          <p:nvPr/>
        </p:nvSpPr>
        <p:spPr>
          <a:xfrm>
            <a:off x="7246051" y="4939978"/>
            <a:ext cx="1288356" cy="239171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23DB009D-50D3-49E7-A695-71C500705928}"/>
              </a:ext>
            </a:extLst>
          </p:cNvPr>
          <p:cNvSpPr/>
          <p:nvPr/>
        </p:nvSpPr>
        <p:spPr>
          <a:xfrm>
            <a:off x="8070795" y="6207482"/>
            <a:ext cx="1536229" cy="198303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B8279B2-A48E-43AB-B1CF-89E925F70B9F}"/>
              </a:ext>
            </a:extLst>
          </p:cNvPr>
          <p:cNvSpPr txBox="1"/>
          <p:nvPr/>
        </p:nvSpPr>
        <p:spPr>
          <a:xfrm>
            <a:off x="403486" y="258224"/>
            <a:ext cx="4033512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ko-KR" altLang="en-US" dirty="0"/>
              <a:t>포탈 </a:t>
            </a:r>
            <a:r>
              <a:rPr lang="en-US" altLang="ko-KR" dirty="0"/>
              <a:t>-&gt; </a:t>
            </a:r>
            <a:r>
              <a:rPr lang="ko-KR" altLang="en-US" dirty="0"/>
              <a:t>전자결재 클릭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E32F282-1223-4BF8-B79A-51751AD2BC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3520" y="1737017"/>
            <a:ext cx="5128082" cy="1277032"/>
          </a:xfrm>
          <a:prstGeom prst="rect">
            <a:avLst/>
          </a:prstGeom>
        </p:spPr>
      </p:pic>
      <p:sp>
        <p:nvSpPr>
          <p:cNvPr id="15" name="화살표: 왼쪽 14">
            <a:extLst>
              <a:ext uri="{FF2B5EF4-FFF2-40B4-BE49-F238E27FC236}">
                <a16:creationId xmlns:a16="http://schemas.microsoft.com/office/drawing/2014/main" id="{0F66B84C-317F-49B6-AE35-CA4C7D4C19A6}"/>
              </a:ext>
            </a:extLst>
          </p:cNvPr>
          <p:cNvSpPr/>
          <p:nvPr/>
        </p:nvSpPr>
        <p:spPr>
          <a:xfrm>
            <a:off x="5932152" y="2658358"/>
            <a:ext cx="720270" cy="432162"/>
          </a:xfrm>
          <a:prstGeom prst="leftArrow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450C266-8AB7-4D54-8A5A-6095467597B1}"/>
              </a:ext>
            </a:extLst>
          </p:cNvPr>
          <p:cNvSpPr/>
          <p:nvPr/>
        </p:nvSpPr>
        <p:spPr>
          <a:xfrm>
            <a:off x="3905885" y="3706895"/>
            <a:ext cx="2207523" cy="236323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ECAEE81-F63C-4032-B075-CEB26F04FD37}"/>
              </a:ext>
            </a:extLst>
          </p:cNvPr>
          <p:cNvSpPr txBox="1"/>
          <p:nvPr/>
        </p:nvSpPr>
        <p:spPr>
          <a:xfrm>
            <a:off x="6280892" y="1849697"/>
            <a:ext cx="534316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dirty="0"/>
              <a:t>12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CFCDE78-6C6E-434C-9F3D-D5DA40F959C1}"/>
              </a:ext>
            </a:extLst>
          </p:cNvPr>
          <p:cNvSpPr txBox="1"/>
          <p:nvPr/>
        </p:nvSpPr>
        <p:spPr>
          <a:xfrm>
            <a:off x="6233195" y="2713670"/>
            <a:ext cx="534316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dirty="0"/>
              <a:t>13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AB76DD0-FE8E-4BDA-B1E2-8BA795F2A324}"/>
              </a:ext>
            </a:extLst>
          </p:cNvPr>
          <p:cNvSpPr txBox="1"/>
          <p:nvPr/>
        </p:nvSpPr>
        <p:spPr>
          <a:xfrm>
            <a:off x="9594912" y="4895331"/>
            <a:ext cx="534316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dirty="0"/>
              <a:t>14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2606554"/>
      </p:ext>
    </p:extLst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A46A8FAE-2081-4B62-8B52-14D887519F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03" y="557585"/>
            <a:ext cx="10271185" cy="5531899"/>
          </a:xfrm>
          <a:prstGeom prst="rect">
            <a:avLst/>
          </a:prstGeom>
        </p:spPr>
      </p:pic>
      <p:sp>
        <p:nvSpPr>
          <p:cNvPr id="30" name="직사각형 29">
            <a:extLst>
              <a:ext uri="{FF2B5EF4-FFF2-40B4-BE49-F238E27FC236}">
                <a16:creationId xmlns:a16="http://schemas.microsoft.com/office/drawing/2014/main" id="{70EA8139-7696-46CE-972B-4AE41ADAACEA}"/>
              </a:ext>
            </a:extLst>
          </p:cNvPr>
          <p:cNvSpPr/>
          <p:nvPr/>
        </p:nvSpPr>
        <p:spPr>
          <a:xfrm>
            <a:off x="7678212" y="5588221"/>
            <a:ext cx="1368513" cy="519461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8ED10807-15A2-47E4-87CF-C92509EB4CD6}"/>
              </a:ext>
            </a:extLst>
          </p:cNvPr>
          <p:cNvCxnSpPr>
            <a:cxnSpLocks/>
            <a:stCxn id="30" idx="1"/>
          </p:cNvCxnSpPr>
          <p:nvPr/>
        </p:nvCxnSpPr>
        <p:spPr>
          <a:xfrm flipV="1">
            <a:off x="7678212" y="3587750"/>
            <a:ext cx="576216" cy="2260202"/>
          </a:xfrm>
          <a:prstGeom prst="straightConnector1">
            <a:avLst/>
          </a:prstGeom>
          <a:ln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CB52E16-EC37-4325-A2E6-101762EC0A2E}"/>
              </a:ext>
            </a:extLst>
          </p:cNvPr>
          <p:cNvSpPr/>
          <p:nvPr/>
        </p:nvSpPr>
        <p:spPr>
          <a:xfrm>
            <a:off x="404598" y="3467454"/>
            <a:ext cx="791186" cy="283511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2658C83-58A0-40AE-A25C-2506524BE3E7}"/>
              </a:ext>
            </a:extLst>
          </p:cNvPr>
          <p:cNvSpPr/>
          <p:nvPr/>
        </p:nvSpPr>
        <p:spPr>
          <a:xfrm>
            <a:off x="5373353" y="3475011"/>
            <a:ext cx="482662" cy="283511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FFF28536-B158-4EFC-A96C-6CA24B393CD4}"/>
              </a:ext>
            </a:extLst>
          </p:cNvPr>
          <p:cNvSpPr/>
          <p:nvPr/>
        </p:nvSpPr>
        <p:spPr>
          <a:xfrm>
            <a:off x="455495" y="3633083"/>
            <a:ext cx="608761" cy="658653"/>
          </a:xfrm>
          <a:custGeom>
            <a:avLst/>
            <a:gdLst>
              <a:gd name="connsiteX0" fmla="*/ 0 w 541867"/>
              <a:gd name="connsiteY0" fmla="*/ 0 h 271038"/>
              <a:gd name="connsiteX1" fmla="*/ 282222 w 541867"/>
              <a:gd name="connsiteY1" fmla="*/ 270934 h 271038"/>
              <a:gd name="connsiteX2" fmla="*/ 541867 w 541867"/>
              <a:gd name="connsiteY2" fmla="*/ 33867 h 271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41867" h="271038">
                <a:moveTo>
                  <a:pt x="0" y="0"/>
                </a:moveTo>
                <a:cubicBezTo>
                  <a:pt x="95955" y="132645"/>
                  <a:pt x="191911" y="265290"/>
                  <a:pt x="282222" y="270934"/>
                </a:cubicBezTo>
                <a:cubicBezTo>
                  <a:pt x="372533" y="276579"/>
                  <a:pt x="485422" y="50800"/>
                  <a:pt x="541867" y="33867"/>
                </a:cubicBezTo>
              </a:path>
            </a:pathLst>
          </a:cu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A47B7E-E5A0-476F-B5CF-4849D406D13D}"/>
              </a:ext>
            </a:extLst>
          </p:cNvPr>
          <p:cNvSpPr txBox="1"/>
          <p:nvPr/>
        </p:nvSpPr>
        <p:spPr>
          <a:xfrm>
            <a:off x="331459" y="4291736"/>
            <a:ext cx="3225150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ko-KR" altLang="en-US" dirty="0"/>
              <a:t>두 컬럼 값의 합 </a:t>
            </a:r>
            <a:r>
              <a:rPr lang="en-US" altLang="ko-KR" dirty="0"/>
              <a:t>: </a:t>
            </a:r>
            <a:r>
              <a:rPr lang="en-US" altLang="ko-KR" dirty="0" err="1"/>
              <a:t>cpu</a:t>
            </a:r>
            <a:r>
              <a:rPr lang="ko-KR" altLang="en-US" dirty="0"/>
              <a:t>사용량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116B7EE-C846-4CF7-AFE2-E0CA457F6EC0}"/>
              </a:ext>
            </a:extLst>
          </p:cNvPr>
          <p:cNvSpPr txBox="1"/>
          <p:nvPr/>
        </p:nvSpPr>
        <p:spPr>
          <a:xfrm>
            <a:off x="4949220" y="4291736"/>
            <a:ext cx="3225150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ko-KR" altLang="en-US" dirty="0"/>
              <a:t>메모리사용량</a:t>
            </a: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0B193FB2-2980-4A8E-AFA3-36D301883712}"/>
              </a:ext>
            </a:extLst>
          </p:cNvPr>
          <p:cNvCxnSpPr>
            <a:cxnSpLocks/>
          </p:cNvCxnSpPr>
          <p:nvPr/>
        </p:nvCxnSpPr>
        <p:spPr>
          <a:xfrm flipV="1">
            <a:off x="5445377" y="3787548"/>
            <a:ext cx="0" cy="504188"/>
          </a:xfrm>
          <a:prstGeom prst="straightConnector1">
            <a:avLst/>
          </a:prstGeom>
          <a:ln w="19050">
            <a:solidFill>
              <a:srgbClr val="333F4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94ABB5BF-2E52-4F7E-A1BC-271DD2F47F10}"/>
              </a:ext>
            </a:extLst>
          </p:cNvPr>
          <p:cNvSpPr txBox="1"/>
          <p:nvPr/>
        </p:nvSpPr>
        <p:spPr>
          <a:xfrm>
            <a:off x="7678212" y="6200409"/>
            <a:ext cx="3025134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ko-KR" altLang="en-US" dirty="0"/>
              <a:t>평균응답시간 </a:t>
            </a:r>
            <a:r>
              <a:rPr lang="en-US" altLang="ko-KR" dirty="0"/>
              <a:t>: 0.099</a:t>
            </a:r>
            <a:r>
              <a:rPr lang="ko-KR" altLang="en-US" dirty="0"/>
              <a:t>초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FE0DB71-BF1B-4E8C-874F-971778DD9B51}"/>
              </a:ext>
            </a:extLst>
          </p:cNvPr>
          <p:cNvSpPr txBox="1"/>
          <p:nvPr/>
        </p:nvSpPr>
        <p:spPr>
          <a:xfrm>
            <a:off x="403486" y="258224"/>
            <a:ext cx="4033512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ko-KR" altLang="en-US" dirty="0"/>
              <a:t>포탈 </a:t>
            </a:r>
            <a:r>
              <a:rPr lang="en-US" altLang="ko-KR" dirty="0"/>
              <a:t>-&gt; </a:t>
            </a:r>
            <a:r>
              <a:rPr lang="ko-KR" altLang="en-US" dirty="0"/>
              <a:t>전자결재 클릭</a:t>
            </a:r>
          </a:p>
        </p:txBody>
      </p:sp>
    </p:spTree>
    <p:extLst>
      <p:ext uri="{BB962C8B-B14F-4D97-AF65-F5344CB8AC3E}">
        <p14:creationId xmlns:p14="http://schemas.microsoft.com/office/powerpoint/2010/main" val="224137640"/>
      </p:ext>
    </p:extLst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3F5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6" name="TextBox 64515"/>
          <p:cNvSpPr txBox="1"/>
          <p:nvPr/>
        </p:nvSpPr>
        <p:spPr>
          <a:xfrm>
            <a:off x="3860782" y="2901394"/>
            <a:ext cx="6507541" cy="81901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/>
          <a:p>
            <a:pPr marL="0" lvl="0" indent="0" algn="l" defTabSz="58846888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4800" b="0" i="0" baseline="0" dirty="0">
                <a:solidFill>
                  <a:srgbClr val="FFFFFF">
                    <a:alpha val="100000"/>
                  </a:srgbClr>
                </a:solidFill>
                <a:latin typeface="맑은 고딕"/>
                <a:ea typeface="맑은 고딕"/>
              </a:rPr>
              <a:t>감사합니다</a:t>
            </a:r>
            <a:endParaRPr kumimoji="1" lang="ko-KR" altLang="en-US" sz="4800" b="0" i="0" dirty="0">
              <a:solidFill>
                <a:srgbClr val="FFFFFF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pic>
        <p:nvPicPr>
          <p:cNvPr id="3" name="그래픽 2" descr="채우기 없는 웃는 얼굴">
            <a:extLst>
              <a:ext uri="{FF2B5EF4-FFF2-40B4-BE49-F238E27FC236}">
                <a16:creationId xmlns:a16="http://schemas.microsoft.com/office/drawing/2014/main" id="{14B02F31-E1D7-4F50-BEEF-F25A549234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99499" y="2853699"/>
            <a:ext cx="914400" cy="914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theme/theme1.xml><?xml version="1.0" encoding="utf-8"?>
<a:theme xmlns:a="http://schemas.openxmlformats.org/drawingml/2006/main">
  <a:themeElements>
    <a:clrScheme name="PowerPoint">
      <a:dk1>
        <a:srgbClr val="000000"/>
      </a:dk1>
      <a:lt1>
        <a:srgbClr val="FFFFFF"/>
      </a:lt1>
      <a:dk2>
        <a:srgbClr val="000000"/>
      </a:dk2>
      <a:lt2>
        <a:srgbClr val="E7E6E6"/>
      </a:lt2>
      <a:accent1>
        <a:srgbClr val="4472C4"/>
      </a:accent1>
      <a:accent2>
        <a:srgbClr val="ED7D31"/>
      </a:accent2>
      <a:accent3>
        <a:srgbClr val="E9AE2B"/>
      </a:accent3>
      <a:accent4>
        <a:srgbClr val="699B37"/>
      </a:accent4>
      <a:accent5>
        <a:srgbClr val="358791"/>
      </a:accent5>
      <a:accent6>
        <a:srgbClr val="CA56A7"/>
      </a:accent6>
      <a:hlink>
        <a:srgbClr val="0563C1"/>
      </a:hlink>
      <a:folHlink>
        <a:srgbClr val="954F72"/>
      </a:folHlink>
    </a:clrScheme>
    <a:fontScheme name="">
      <a:majorFont>
        <a:latin typeface="HNC_GO_B_HINT_GS"/>
        <a:ea typeface=""/>
        <a:cs typeface="HNC_GO_B_HINT_GS"/>
      </a:majorFont>
      <a:minorFont>
        <a:latin typeface="HNC_GO_B_HINT_GS"/>
        <a:ea typeface=""/>
        <a:cs typeface="HNC_GO_B_HINT_GS"/>
      </a:minorFont>
    </a:fontScheme>
    <a:fmtScheme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45398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635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2">
          <a:schemeClr val="accent1">
            <a:shade val="2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>
  <a:themeElements>
    <a:clrScheme name="PowerPoint">
      <a:dk1>
        <a:srgbClr val="000000"/>
      </a:dk1>
      <a:lt1>
        <a:srgbClr val="FFFFFF"/>
      </a:lt1>
      <a:dk2>
        <a:srgbClr val="000000"/>
      </a:dk2>
      <a:lt2>
        <a:srgbClr val="E7E6E6"/>
      </a:lt2>
      <a:accent1>
        <a:srgbClr val="4472C4"/>
      </a:accent1>
      <a:accent2>
        <a:srgbClr val="ED7D31"/>
      </a:accent2>
      <a:accent3>
        <a:srgbClr val="E9AE2B"/>
      </a:accent3>
      <a:accent4>
        <a:srgbClr val="699B37"/>
      </a:accent4>
      <a:accent5>
        <a:srgbClr val="358791"/>
      </a:accent5>
      <a:accent6>
        <a:srgbClr val="CA56A7"/>
      </a:accent6>
      <a:hlink>
        <a:srgbClr val="0563C1"/>
      </a:hlink>
      <a:folHlink>
        <a:srgbClr val="954F72"/>
      </a:folHlink>
    </a:clrScheme>
    <a:fontScheme name="">
      <a:majorFont>
        <a:latin typeface="HNC_GO_B_HINT_GS"/>
        <a:ea typeface=""/>
        <a:cs typeface="HNC_GO_B_HINT_GS"/>
      </a:majorFont>
      <a:minorFont>
        <a:latin typeface="HNC_GO_B_HINT_GS"/>
        <a:ea typeface=""/>
        <a:cs typeface="HNC_GO_B_HINT_GS"/>
      </a:minorFont>
    </a:fontScheme>
    <a:fmtScheme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45398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635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2">
          <a:schemeClr val="accent1">
            <a:shade val="2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  <a:extraClrSchemeLst/>
</a:theme>
</file>

<file path=ppt/theme/theme3.xml><?xml version="1.0" encoding="utf-8"?>
<a:theme xmlns:a="http://schemas.openxmlformats.org/drawing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1C3D62"/>
      </a:dk2>
      <a:lt2>
        <a:srgbClr val="E3DCC1"/>
      </a:lt2>
      <a:accent1>
        <a:srgbClr val="315F97"/>
      </a:accent1>
      <a:accent2>
        <a:srgbClr val="C75252"/>
      </a:accent2>
      <a:accent3>
        <a:srgbClr val="E9AE2B"/>
      </a:accent3>
      <a:accent4>
        <a:srgbClr val="699B37"/>
      </a:accent4>
      <a:accent5>
        <a:srgbClr val="358791"/>
      </a:accent5>
      <a:accent6>
        <a:srgbClr val="CA56A7"/>
      </a:accent6>
      <a:hlink>
        <a:srgbClr val="0000FF"/>
      </a:hlink>
      <a:folHlink>
        <a:srgbClr val="800080"/>
      </a:folHlink>
    </a:clrScheme>
    <a:fontScheme name="한컴오피스">
      <a:majorFont>
        <a:latin typeface="함초롬돋움"/>
        <a:ea typeface="함초롬돋움"/>
        <a:cs typeface="Times New Roman"/>
      </a:majorFont>
      <a:minorFont>
        <a:latin typeface="함초롬돋움"/>
        <a:ea typeface="함초롬돋움"/>
        <a:cs typeface="Times New Roman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10034</TotalTime>
  <Words>3042</Words>
  <Application>Microsoft Office PowerPoint</Application>
  <PresentationFormat>사용자 지정</PresentationFormat>
  <Paragraphs>551</Paragraphs>
  <Slides>46</Slides>
  <Notes>32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46</vt:i4>
      </vt:variant>
    </vt:vector>
  </HeadingPairs>
  <TitlesOfParts>
    <vt:vector size="54" baseType="lpstr">
      <vt:lpstr>HNC_GO_B_HINT_GS</vt:lpstr>
      <vt:lpstr>HY헤드라인M</vt:lpstr>
      <vt:lpstr>맑은 고딕</vt:lpstr>
      <vt:lpstr>함초롬돋움</vt:lpstr>
      <vt:lpstr>Arial</vt:lpstr>
      <vt:lpstr>Times New Roman</vt:lpstr>
      <vt:lpstr/>
      <vt:lpstr/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기안하기</dc:title>
  <dc:creator>NC453</dc:creator>
  <cp:lastModifiedBy>NC453</cp:lastModifiedBy>
  <cp:revision>385</cp:revision>
  <cp:lastPrinted>2021-02-02T11:21:32Z</cp:lastPrinted>
  <dcterms:created xsi:type="dcterms:W3CDTF">2020-11-24T00:56:30Z</dcterms:created>
  <dcterms:modified xsi:type="dcterms:W3CDTF">2021-02-04T08:45:30Z</dcterms:modified>
  <cp:version>1000.0000.01</cp:version>
</cp:coreProperties>
</file>