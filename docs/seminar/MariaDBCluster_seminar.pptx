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20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70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B731D5-52DA-4E60-B2A6-9B442863912C}" type="datetimeFigureOut">
              <a:rPr lang="ko-KR" altLang="en-US" smtClean="0"/>
              <a:t>2020-01-29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9050C0-78A0-4870-8CED-C9475F79D1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794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9050C0-78A0-4870-8CED-C9475F79D1F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6903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960F1-EBCD-4615-91D9-D725ECB81D3B}" type="datetimeFigureOut">
              <a:rPr lang="ko-KR" altLang="en-US" smtClean="0"/>
              <a:t>2020-01-29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5B52-DDEC-4976-904D-83456B74C3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9426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960F1-EBCD-4615-91D9-D725ECB81D3B}" type="datetimeFigureOut">
              <a:rPr lang="ko-KR" altLang="en-US" smtClean="0"/>
              <a:t>2020-01-29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5B52-DDEC-4976-904D-83456B74C3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947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960F1-EBCD-4615-91D9-D725ECB81D3B}" type="datetimeFigureOut">
              <a:rPr lang="ko-KR" altLang="en-US" smtClean="0"/>
              <a:t>2020-01-29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5B52-DDEC-4976-904D-83456B74C3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5627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960F1-EBCD-4615-91D9-D725ECB81D3B}" type="datetimeFigureOut">
              <a:rPr lang="ko-KR" altLang="en-US" smtClean="0"/>
              <a:t>2020-01-29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5B52-DDEC-4976-904D-83456B74C3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7891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960F1-EBCD-4615-91D9-D725ECB81D3B}" type="datetimeFigureOut">
              <a:rPr lang="ko-KR" altLang="en-US" smtClean="0"/>
              <a:t>2020-01-29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5B52-DDEC-4976-904D-83456B74C3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3364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960F1-EBCD-4615-91D9-D725ECB81D3B}" type="datetimeFigureOut">
              <a:rPr lang="ko-KR" altLang="en-US" smtClean="0"/>
              <a:t>2020-01-29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5B52-DDEC-4976-904D-83456B74C3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8533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960F1-EBCD-4615-91D9-D725ECB81D3B}" type="datetimeFigureOut">
              <a:rPr lang="ko-KR" altLang="en-US" smtClean="0"/>
              <a:t>2020-01-29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5B52-DDEC-4976-904D-83456B74C3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745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960F1-EBCD-4615-91D9-D725ECB81D3B}" type="datetimeFigureOut">
              <a:rPr lang="ko-KR" altLang="en-US" smtClean="0"/>
              <a:t>2020-01-29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5B52-DDEC-4976-904D-83456B74C3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5936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960F1-EBCD-4615-91D9-D725ECB81D3B}" type="datetimeFigureOut">
              <a:rPr lang="ko-KR" altLang="en-US" smtClean="0"/>
              <a:t>2020-01-29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5B52-DDEC-4976-904D-83456B74C3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7607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960F1-EBCD-4615-91D9-D725ECB81D3B}" type="datetimeFigureOut">
              <a:rPr lang="ko-KR" altLang="en-US" smtClean="0"/>
              <a:t>2020-01-29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5B52-DDEC-4976-904D-83456B74C3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2181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960F1-EBCD-4615-91D9-D725ECB81D3B}" type="datetimeFigureOut">
              <a:rPr lang="ko-KR" altLang="en-US" smtClean="0"/>
              <a:t>2020-01-29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5B52-DDEC-4976-904D-83456B74C3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532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F960F1-EBCD-4615-91D9-D725ECB81D3B}" type="datetimeFigureOut">
              <a:rPr lang="ko-KR" altLang="en-US" smtClean="0"/>
              <a:t>2020-01-29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45B52-DDEC-4976-904D-83456B74C3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659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 smtClean="0"/>
              <a:t>MariaDB</a:t>
            </a:r>
            <a:r>
              <a:rPr lang="en-US" altLang="ko-KR" dirty="0" smtClean="0"/>
              <a:t> Cluster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8913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49522"/>
          </a:xfrm>
        </p:spPr>
        <p:txBody>
          <a:bodyPr>
            <a:normAutofit/>
          </a:bodyPr>
          <a:lstStyle/>
          <a:p>
            <a:r>
              <a:rPr lang="en-US" altLang="ko-KR" sz="2000" b="1" dirty="0" smtClean="0"/>
              <a:t>MySQL Replication vs </a:t>
            </a:r>
            <a:r>
              <a:rPr lang="en-US" altLang="ko-KR" sz="2000" b="1" dirty="0" err="1" smtClean="0"/>
              <a:t>MariaDB</a:t>
            </a:r>
            <a:r>
              <a:rPr lang="en-US" altLang="ko-KR" sz="2000" b="1" dirty="0" smtClean="0"/>
              <a:t> </a:t>
            </a:r>
            <a:r>
              <a:rPr lang="en-US" altLang="ko-KR" sz="2000" b="1" dirty="0" err="1" smtClean="0"/>
              <a:t>Galera</a:t>
            </a:r>
            <a:r>
              <a:rPr lang="en-US" altLang="ko-KR" sz="2000" b="1" dirty="0" smtClean="0"/>
              <a:t> Cluster</a:t>
            </a:r>
            <a:endParaRPr lang="ko-KR" altLang="en-US" sz="2000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014153"/>
            <a:ext cx="10515600" cy="5162810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MySQL Replication</a:t>
            </a:r>
          </a:p>
          <a:p>
            <a:pPr lvl="1"/>
            <a:r>
              <a:rPr lang="en-US" altLang="ko-KR" dirty="0" smtClean="0"/>
              <a:t>Master – Slave</a:t>
            </a:r>
          </a:p>
          <a:p>
            <a:pPr lvl="1"/>
            <a:r>
              <a:rPr lang="en-US" altLang="ko-KR" dirty="0" smtClean="0"/>
              <a:t>Master</a:t>
            </a:r>
          </a:p>
          <a:p>
            <a:pPr lvl="2"/>
            <a:r>
              <a:rPr lang="ko-KR" altLang="en-US" dirty="0" smtClean="0"/>
              <a:t>데이터의 변경이 이루어짐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Slave</a:t>
            </a:r>
          </a:p>
          <a:p>
            <a:pPr lvl="2"/>
            <a:r>
              <a:rPr lang="ko-KR" altLang="en-US" dirty="0" smtClean="0"/>
              <a:t>변경된 데이터 복제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특징</a:t>
            </a:r>
            <a:endParaRPr lang="en-US" altLang="ko-KR" dirty="0" smtClean="0"/>
          </a:p>
          <a:p>
            <a:pPr lvl="2"/>
            <a:r>
              <a:rPr lang="en-US" altLang="ko-KR" b="1" dirty="0" smtClean="0"/>
              <a:t>Asynchronous</a:t>
            </a:r>
            <a:r>
              <a:rPr lang="en-US" altLang="ko-KR" dirty="0" smtClean="0"/>
              <a:t> </a:t>
            </a:r>
            <a:r>
              <a:rPr lang="ko-KR" altLang="en-US" dirty="0" smtClean="0"/>
              <a:t>방식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N</a:t>
            </a:r>
            <a:r>
              <a:rPr lang="ko-KR" altLang="en-US" dirty="0" smtClean="0"/>
              <a:t>개의 </a:t>
            </a:r>
            <a:r>
              <a:rPr lang="en-US" altLang="ko-KR" dirty="0" smtClean="0"/>
              <a:t>Slave DB</a:t>
            </a:r>
            <a:r>
              <a:rPr lang="ko-KR" altLang="en-US" dirty="0" smtClean="0"/>
              <a:t>를 구성할 수 있음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단점</a:t>
            </a:r>
            <a:endParaRPr lang="en-US" altLang="ko-KR" dirty="0" smtClean="0"/>
          </a:p>
          <a:p>
            <a:pPr marL="1200150" lvl="2" indent="-285750"/>
            <a:r>
              <a:rPr lang="ko-KR" altLang="en-US" dirty="0" smtClean="0"/>
              <a:t>마스터 노드에서 발생한 변화가 </a:t>
            </a:r>
            <a:r>
              <a:rPr lang="ko-KR" altLang="en-US" dirty="0" err="1" smtClean="0"/>
              <a:t>슬레이브</a:t>
            </a:r>
            <a:r>
              <a:rPr lang="ko-KR" altLang="en-US" dirty="0" smtClean="0"/>
              <a:t> 노드에 동시에 적용되는 것을 보장하지 않음 </a:t>
            </a:r>
            <a:r>
              <a:rPr lang="en-US" altLang="ko-KR" dirty="0" smtClean="0">
                <a:sym typeface="Wingdings" panose="05000000000000000000" pitchFamily="2" charset="2"/>
              </a:rPr>
              <a:t> </a:t>
            </a:r>
            <a:r>
              <a:rPr lang="ko-KR" altLang="en-US" b="1" dirty="0" smtClean="0"/>
              <a:t>마스터</a:t>
            </a:r>
            <a:r>
              <a:rPr lang="en-US" altLang="ko-KR" b="1" dirty="0" smtClean="0"/>
              <a:t>-</a:t>
            </a:r>
            <a:r>
              <a:rPr lang="ko-KR" altLang="en-US" b="1" dirty="0" err="1" smtClean="0"/>
              <a:t>슬레이브</a:t>
            </a:r>
            <a:r>
              <a:rPr lang="ko-KR" altLang="en-US" b="1" dirty="0" smtClean="0"/>
              <a:t> 간 데이터 동기화 지연</a:t>
            </a:r>
            <a:endParaRPr lang="en-US" altLang="ko-KR" b="1" dirty="0" smtClean="0"/>
          </a:p>
          <a:p>
            <a:pPr marL="1200150" lvl="2" indent="-285750"/>
            <a:r>
              <a:rPr lang="ko-KR" altLang="en-US" dirty="0" smtClean="0"/>
              <a:t>데이터의 변경은 오직 마스터에서만 이루어짐 </a:t>
            </a:r>
            <a:r>
              <a:rPr lang="en-US" altLang="ko-KR" dirty="0" smtClean="0">
                <a:sym typeface="Wingdings" panose="05000000000000000000" pitchFamily="2" charset="2"/>
              </a:rPr>
              <a:t></a:t>
            </a:r>
            <a:r>
              <a:rPr lang="en-US" altLang="ko-KR" dirty="0" smtClean="0"/>
              <a:t> </a:t>
            </a:r>
            <a:r>
              <a:rPr lang="ko-KR" altLang="en-US" dirty="0" smtClean="0"/>
              <a:t>마스터 </a:t>
            </a:r>
            <a:r>
              <a:rPr lang="ko-KR" altLang="en-US" dirty="0" err="1" smtClean="0"/>
              <a:t>다운시</a:t>
            </a:r>
            <a:r>
              <a:rPr lang="ko-KR" altLang="en-US" dirty="0" smtClean="0"/>
              <a:t> 데이터 유실 가능성 존재</a:t>
            </a:r>
            <a:endParaRPr lang="en-US" altLang="ko-KR" dirty="0" smtClean="0"/>
          </a:p>
          <a:p>
            <a:pPr lvl="2"/>
            <a:endParaRPr lang="en-US" altLang="ko-KR" dirty="0" smtClean="0"/>
          </a:p>
          <a:p>
            <a:pPr lvl="2"/>
            <a:endParaRPr lang="en-US" altLang="ko-KR" dirty="0" smtClean="0"/>
          </a:p>
          <a:p>
            <a:pPr lvl="2"/>
            <a:endParaRPr lang="en-US" altLang="ko-KR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l="4838" t="5104" r="8902" b="8353"/>
          <a:stretch/>
        </p:blipFill>
        <p:spPr>
          <a:xfrm>
            <a:off x="5611090" y="931030"/>
            <a:ext cx="5960225" cy="3100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427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188719"/>
            <a:ext cx="10515600" cy="4988243"/>
          </a:xfrm>
        </p:spPr>
        <p:txBody>
          <a:bodyPr>
            <a:normAutofit/>
          </a:bodyPr>
          <a:lstStyle/>
          <a:p>
            <a:r>
              <a:rPr lang="en-US" altLang="ko-KR" dirty="0" err="1" smtClean="0"/>
              <a:t>MariaDB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Galera</a:t>
            </a:r>
            <a:r>
              <a:rPr lang="en-US" altLang="ko-KR" dirty="0" smtClean="0"/>
              <a:t> Cluster</a:t>
            </a:r>
          </a:p>
          <a:p>
            <a:pPr lvl="1"/>
            <a:r>
              <a:rPr lang="en-US" altLang="ko-KR" sz="2000" b="1" dirty="0" smtClean="0"/>
              <a:t>Multi master</a:t>
            </a:r>
          </a:p>
          <a:p>
            <a:pPr lvl="1"/>
            <a:r>
              <a:rPr lang="ko-KR" altLang="en-US" sz="2000" dirty="0" smtClean="0">
                <a:sym typeface="Wingdings" panose="05000000000000000000" pitchFamily="2" charset="2"/>
              </a:rPr>
              <a:t>모든 </a:t>
            </a:r>
            <a:r>
              <a:rPr lang="ko-KR" altLang="en-US" sz="2000" b="1" dirty="0" smtClean="0">
                <a:sym typeface="Wingdings" panose="05000000000000000000" pitchFamily="2" charset="2"/>
              </a:rPr>
              <a:t>노드</a:t>
            </a:r>
            <a:r>
              <a:rPr lang="en-US" altLang="ko-KR" sz="2000" b="1" dirty="0" smtClean="0">
                <a:sym typeface="Wingdings" panose="05000000000000000000" pitchFamily="2" charset="2"/>
              </a:rPr>
              <a:t>(</a:t>
            </a:r>
            <a:r>
              <a:rPr lang="ko-KR" altLang="en-US" sz="2000" b="1" dirty="0" smtClean="0">
                <a:sym typeface="Wingdings" panose="05000000000000000000" pitchFamily="2" charset="2"/>
              </a:rPr>
              <a:t>서버</a:t>
            </a:r>
            <a:r>
              <a:rPr lang="en-US" altLang="ko-KR" sz="2000" b="1" dirty="0" smtClean="0">
                <a:sym typeface="Wingdings" panose="05000000000000000000" pitchFamily="2" charset="2"/>
              </a:rPr>
              <a:t>)</a:t>
            </a:r>
            <a:r>
              <a:rPr lang="ko-KR" altLang="en-US" sz="2000" b="1" dirty="0" smtClean="0">
                <a:sym typeface="Wingdings" panose="05000000000000000000" pitchFamily="2" charset="2"/>
              </a:rPr>
              <a:t>에서 읽기</a:t>
            </a:r>
            <a:r>
              <a:rPr lang="en-US" altLang="ko-KR" sz="2000" b="1" dirty="0" smtClean="0">
                <a:sym typeface="Wingdings" panose="05000000000000000000" pitchFamily="2" charset="2"/>
              </a:rPr>
              <a:t>/</a:t>
            </a:r>
            <a:r>
              <a:rPr lang="ko-KR" altLang="en-US" sz="2000" b="1" dirty="0" smtClean="0">
                <a:sym typeface="Wingdings" panose="05000000000000000000" pitchFamily="2" charset="2"/>
              </a:rPr>
              <a:t>쓰기 가능</a:t>
            </a:r>
            <a:endParaRPr lang="en-US" altLang="ko-KR" sz="2000" b="1" dirty="0" smtClean="0">
              <a:sym typeface="Wingdings" panose="05000000000000000000" pitchFamily="2" charset="2"/>
            </a:endParaRPr>
          </a:p>
          <a:p>
            <a:pPr lvl="1"/>
            <a:r>
              <a:rPr lang="ko-KR" altLang="en-US" sz="2000" dirty="0" smtClean="0"/>
              <a:t>노드 장애 시에도 데이터 유실이 적음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노드 사이의 트랜</a:t>
            </a:r>
            <a:r>
              <a:rPr lang="ko-KR" altLang="en-US" sz="2000" dirty="0"/>
              <a:t>잭</a:t>
            </a:r>
            <a:r>
              <a:rPr lang="ko-KR" altLang="en-US" sz="2000" dirty="0" smtClean="0"/>
              <a:t>션 지원</a:t>
            </a:r>
            <a:endParaRPr lang="en-US" altLang="ko-KR" sz="2000" dirty="0" smtClean="0"/>
          </a:p>
          <a:p>
            <a:pPr marL="457200" lvl="1" indent="0">
              <a:buNone/>
            </a:pPr>
            <a:r>
              <a:rPr lang="en-US" altLang="ko-KR" sz="2000" dirty="0" smtClean="0"/>
              <a:t>   (</a:t>
            </a:r>
            <a:r>
              <a:rPr lang="ko-KR" altLang="en-US" sz="2000" dirty="0" smtClean="0"/>
              <a:t>모든 노드 간 데이터 일관성 보장</a:t>
            </a:r>
            <a:r>
              <a:rPr lang="en-US" altLang="ko-KR" sz="2000" dirty="0" smtClean="0"/>
              <a:t>) </a:t>
            </a:r>
            <a:endParaRPr lang="en-US" altLang="ko-KR" sz="2000" dirty="0">
              <a:sym typeface="Wingdings" panose="05000000000000000000" pitchFamily="2" charset="2"/>
            </a:endParaRPr>
          </a:p>
          <a:p>
            <a:pPr lvl="1"/>
            <a:r>
              <a:rPr lang="en-US" altLang="ko-KR" sz="2000" b="1" dirty="0" smtClean="0">
                <a:sym typeface="Wingdings" panose="05000000000000000000" pitchFamily="2" charset="2"/>
              </a:rPr>
              <a:t>Synchronous replication</a:t>
            </a:r>
          </a:p>
          <a:p>
            <a:pPr lvl="1"/>
            <a:r>
              <a:rPr lang="ko-KR" altLang="en-US" sz="2000" dirty="0" smtClean="0"/>
              <a:t>클러스터에서 자동으로 노드를 추가하거나 삭제 가능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단점</a:t>
            </a:r>
            <a:endParaRPr lang="en-US" altLang="ko-KR" sz="2000" dirty="0" smtClean="0"/>
          </a:p>
          <a:p>
            <a:pPr lvl="2"/>
            <a:r>
              <a:rPr lang="ko-KR" altLang="en-US" sz="1800" dirty="0" smtClean="0"/>
              <a:t>비동기 방식에 비해 </a:t>
            </a:r>
            <a:r>
              <a:rPr lang="en-US" altLang="ko-KR" sz="1800" dirty="0" smtClean="0"/>
              <a:t>Write </a:t>
            </a:r>
            <a:r>
              <a:rPr lang="ko-KR" altLang="en-US" sz="1800" dirty="0" smtClean="0"/>
              <a:t>성능이 떨어짐 </a:t>
            </a:r>
            <a:r>
              <a:rPr lang="en-US" altLang="ko-KR" sz="1800" dirty="0" smtClean="0"/>
              <a:t>(</a:t>
            </a:r>
            <a:r>
              <a:rPr lang="ko-KR" altLang="en-US" sz="1800" dirty="0" smtClean="0"/>
              <a:t>데이터를 디스크에 저장하기 전에 다른 노드에 데이터 복제 요청해야하기 때문</a:t>
            </a:r>
            <a:r>
              <a:rPr lang="en-US" altLang="ko-KR" sz="1800" dirty="0" smtClean="0"/>
              <a:t>)</a:t>
            </a:r>
          </a:p>
          <a:p>
            <a:pPr lvl="2"/>
            <a:r>
              <a:rPr lang="ko-KR" altLang="en-US" sz="1800" b="1" dirty="0" smtClean="0"/>
              <a:t>장애 전파 </a:t>
            </a:r>
            <a:r>
              <a:rPr lang="en-US" altLang="ko-KR" sz="1800" dirty="0" smtClean="0"/>
              <a:t>: </a:t>
            </a:r>
            <a:r>
              <a:rPr lang="ko-KR" altLang="en-US" sz="1800" dirty="0" smtClean="0"/>
              <a:t>다른 노드로 복제 요청 했는데 해당 노드가 문제가 있어 응답하지 못할 때 대기를 타게 됨</a:t>
            </a:r>
            <a:r>
              <a:rPr lang="en-US" altLang="ko-KR" sz="1800" dirty="0" smtClean="0"/>
              <a:t>. </a:t>
            </a:r>
            <a:r>
              <a:rPr lang="en-US" altLang="ko-KR" sz="1800" dirty="0" smtClean="0">
                <a:sym typeface="Wingdings" panose="05000000000000000000" pitchFamily="2" charset="2"/>
              </a:rPr>
              <a:t> LOCK</a:t>
            </a:r>
            <a:r>
              <a:rPr lang="ko-KR" altLang="en-US" sz="1800" dirty="0" smtClean="0">
                <a:sym typeface="Wingdings" panose="05000000000000000000" pitchFamily="2" charset="2"/>
              </a:rPr>
              <a:t>문제가 생기거나 </a:t>
            </a:r>
            <a:r>
              <a:rPr lang="ko-KR" altLang="en-US" sz="1800" dirty="0" err="1" smtClean="0">
                <a:sym typeface="Wingdings" panose="05000000000000000000" pitchFamily="2" charset="2"/>
              </a:rPr>
              <a:t>슬로우</a:t>
            </a:r>
            <a:r>
              <a:rPr lang="ko-KR" altLang="en-US" sz="1800" dirty="0" smtClean="0">
                <a:sym typeface="Wingdings" panose="05000000000000000000" pitchFamily="2" charset="2"/>
              </a:rPr>
              <a:t> 쿼리들이 많이 발생할 때</a:t>
            </a:r>
            <a:r>
              <a:rPr lang="en-US" altLang="ko-KR" sz="1800" dirty="0" smtClean="0">
                <a:sym typeface="Wingdings" panose="05000000000000000000" pitchFamily="2" charset="2"/>
              </a:rPr>
              <a:t>, </a:t>
            </a:r>
            <a:r>
              <a:rPr lang="ko-KR" altLang="en-US" sz="1800" dirty="0" smtClean="0">
                <a:sym typeface="Wingdings" panose="05000000000000000000" pitchFamily="2" charset="2"/>
              </a:rPr>
              <a:t>장애를 전파시킬 수 있음</a:t>
            </a:r>
            <a:endParaRPr lang="en-US" altLang="ko-KR" sz="1800" dirty="0" smtClean="0"/>
          </a:p>
          <a:p>
            <a:pPr lvl="2"/>
            <a:r>
              <a:rPr lang="ko-KR" altLang="en-US" sz="1800" b="1" dirty="0" smtClean="0"/>
              <a:t>확장의 한계 </a:t>
            </a:r>
            <a:r>
              <a:rPr lang="en-US" altLang="ko-KR" sz="1800" dirty="0" smtClean="0"/>
              <a:t>: </a:t>
            </a:r>
            <a:r>
              <a:rPr lang="ko-KR" altLang="en-US" sz="1800" dirty="0" smtClean="0"/>
              <a:t>노드 수가 많아지면 복제에 걸리는 시간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비용이 노드 수에 비례하여 늘어남</a:t>
            </a:r>
            <a:r>
              <a:rPr lang="en-US" altLang="ko-KR" sz="1800" dirty="0" smtClean="0"/>
              <a:t>.</a:t>
            </a:r>
          </a:p>
          <a:p>
            <a:pPr marL="457200" lvl="1" indent="0">
              <a:buNone/>
            </a:pPr>
            <a:endParaRPr lang="ko-KR" alt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49522"/>
          </a:xfrm>
        </p:spPr>
        <p:txBody>
          <a:bodyPr>
            <a:normAutofit/>
          </a:bodyPr>
          <a:lstStyle/>
          <a:p>
            <a:r>
              <a:rPr lang="en-US" altLang="ko-KR" sz="2000" b="1" dirty="0" smtClean="0"/>
              <a:t>MySQL Replication vs </a:t>
            </a:r>
            <a:r>
              <a:rPr lang="en-US" altLang="ko-KR" sz="2000" b="1" dirty="0" err="1" smtClean="0"/>
              <a:t>MariaDB</a:t>
            </a:r>
            <a:r>
              <a:rPr lang="en-US" altLang="ko-KR" sz="2000" b="1" dirty="0" smtClean="0"/>
              <a:t> </a:t>
            </a:r>
            <a:r>
              <a:rPr lang="en-US" altLang="ko-KR" sz="2000" b="1" dirty="0" err="1" smtClean="0"/>
              <a:t>Galera</a:t>
            </a:r>
            <a:r>
              <a:rPr lang="en-US" altLang="ko-KR" sz="2000" b="1" dirty="0" smtClean="0"/>
              <a:t> Cluster</a:t>
            </a:r>
            <a:endParaRPr lang="ko-KR" altLang="en-US" sz="2000" b="1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rcRect l="2928" t="2973" r="11177" b="4425"/>
          <a:stretch/>
        </p:blipFill>
        <p:spPr>
          <a:xfrm>
            <a:off x="8231753" y="1188719"/>
            <a:ext cx="3489193" cy="2593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205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40962"/>
          </a:xfrm>
        </p:spPr>
        <p:txBody>
          <a:bodyPr>
            <a:normAutofit/>
          </a:bodyPr>
          <a:lstStyle/>
          <a:p>
            <a:r>
              <a:rPr lang="en-US" altLang="ko-KR" sz="2400" b="1" dirty="0" err="1" smtClean="0"/>
              <a:t>MariaDB</a:t>
            </a:r>
            <a:r>
              <a:rPr lang="en-US" altLang="ko-KR" sz="2400" b="1" dirty="0" smtClean="0"/>
              <a:t> </a:t>
            </a:r>
            <a:r>
              <a:rPr lang="en-US" altLang="ko-KR" sz="2400" b="1" dirty="0" err="1" smtClean="0"/>
              <a:t>Galera</a:t>
            </a:r>
            <a:r>
              <a:rPr lang="en-US" altLang="ko-KR" sz="2400" b="1" dirty="0" smtClean="0"/>
              <a:t> Cluster</a:t>
            </a:r>
            <a:endParaRPr lang="ko-KR" altLang="en-US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659133" y="4264055"/>
            <a:ext cx="113967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ko-KR" altLang="en-US" dirty="0" smtClean="0"/>
              <a:t>아무 노드에나 쓰기나 업데이트 발생 </a:t>
            </a:r>
            <a:r>
              <a:rPr lang="en-US" altLang="ko-KR" dirty="0" smtClean="0">
                <a:sym typeface="Wingdings" panose="05000000000000000000" pitchFamily="2" charset="2"/>
              </a:rPr>
              <a:t></a:t>
            </a:r>
            <a:r>
              <a:rPr lang="en-US" altLang="ko-KR" dirty="0" smtClean="0"/>
              <a:t> </a:t>
            </a:r>
            <a:r>
              <a:rPr lang="ko-KR" altLang="en-US" dirty="0" smtClean="0"/>
              <a:t>모든 노드에 데이터 복사 완료 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업데이트 내용을 파일에 저장</a:t>
            </a:r>
            <a:endParaRPr lang="en-US" altLang="ko-KR" dirty="0" smtClean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ko-KR" dirty="0" smtClean="0"/>
              <a:t>WSREP(</a:t>
            </a:r>
            <a:r>
              <a:rPr lang="en-US" altLang="ko-KR" b="1" dirty="0" smtClean="0"/>
              <a:t>W</a:t>
            </a:r>
            <a:r>
              <a:rPr lang="en-US" altLang="ko-KR" dirty="0" smtClean="0"/>
              <a:t>rite </a:t>
            </a:r>
            <a:r>
              <a:rPr lang="en-US" altLang="ko-KR" b="1" dirty="0" smtClean="0"/>
              <a:t>S</a:t>
            </a:r>
            <a:r>
              <a:rPr lang="en-US" altLang="ko-KR" dirty="0" smtClean="0"/>
              <a:t>et </a:t>
            </a:r>
            <a:r>
              <a:rPr lang="en-US" altLang="ko-KR" b="1" dirty="0" err="1" smtClean="0"/>
              <a:t>REP</a:t>
            </a:r>
            <a:r>
              <a:rPr lang="en-US" altLang="ko-KR" dirty="0" err="1" smtClean="0"/>
              <a:t>lication</a:t>
            </a:r>
            <a:r>
              <a:rPr lang="en-US" altLang="ko-KR" dirty="0" smtClean="0"/>
              <a:t>)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ko-KR" altLang="en-US" dirty="0" smtClean="0"/>
              <a:t>데이터베이스에 복제를 위한 범용 모듈</a:t>
            </a:r>
            <a:endParaRPr lang="en-US" altLang="ko-KR" dirty="0" smtClean="0"/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US" altLang="ko-KR" dirty="0" smtClean="0"/>
              <a:t>Write Set : </a:t>
            </a:r>
            <a:r>
              <a:rPr lang="ko-KR" altLang="en-US" dirty="0" err="1" smtClean="0"/>
              <a:t>트랜젝션을</a:t>
            </a:r>
            <a:r>
              <a:rPr lang="ko-KR" altLang="en-US" dirty="0" smtClean="0"/>
              <a:t> 기록하는 모든 논리적인 데이터 집합</a:t>
            </a:r>
            <a:endParaRPr lang="en-US" altLang="ko-KR" dirty="0" smtClean="0"/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ko-KR" altLang="en-US" dirty="0"/>
              <a:t>노드 간 </a:t>
            </a:r>
            <a:r>
              <a:rPr lang="en-US" altLang="ko-KR" dirty="0"/>
              <a:t>Write Set</a:t>
            </a:r>
            <a:r>
              <a:rPr lang="ko-KR" altLang="en-US" dirty="0"/>
              <a:t>을 전송 및 통신을 위해서는 별도의 리플리케이션 </a:t>
            </a:r>
            <a:r>
              <a:rPr lang="ko-KR" altLang="en-US" dirty="0" err="1"/>
              <a:t>플러그인을</a:t>
            </a:r>
            <a:r>
              <a:rPr lang="ko-KR" altLang="en-US" dirty="0"/>
              <a:t> </a:t>
            </a:r>
            <a:r>
              <a:rPr lang="ko-KR" altLang="en-US" dirty="0" smtClean="0"/>
              <a:t>사용</a:t>
            </a:r>
            <a:endParaRPr lang="en-US" altLang="ko-KR" dirty="0" smtClean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873" y="906088"/>
            <a:ext cx="5865098" cy="310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452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40962"/>
          </a:xfrm>
        </p:spPr>
        <p:txBody>
          <a:bodyPr>
            <a:normAutofit/>
          </a:bodyPr>
          <a:lstStyle/>
          <a:p>
            <a:r>
              <a:rPr lang="en-US" altLang="ko-KR" sz="2400" b="1" dirty="0" err="1" smtClean="0"/>
              <a:t>MariaDB</a:t>
            </a:r>
            <a:r>
              <a:rPr lang="en-US" altLang="ko-KR" sz="2400" b="1" dirty="0" smtClean="0"/>
              <a:t> </a:t>
            </a:r>
            <a:r>
              <a:rPr lang="en-US" altLang="ko-KR" sz="2400" b="1" dirty="0" err="1" smtClean="0"/>
              <a:t>Galera</a:t>
            </a:r>
            <a:r>
              <a:rPr lang="en-US" altLang="ko-KR" sz="2400" b="1" dirty="0" smtClean="0"/>
              <a:t> Cluster</a:t>
            </a:r>
            <a:endParaRPr lang="ko-KR" altLang="en-US" sz="2400" b="1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93764"/>
            <a:ext cx="7393421" cy="426181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63829" y="1193764"/>
            <a:ext cx="46747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노드</a:t>
            </a:r>
            <a:r>
              <a:rPr lang="en-US" altLang="ko-KR" dirty="0"/>
              <a:t>1</a:t>
            </a:r>
            <a:r>
              <a:rPr lang="ko-KR" altLang="en-US" dirty="0"/>
              <a:t>에서 데이터 </a:t>
            </a:r>
            <a:r>
              <a:rPr lang="ko-KR" altLang="en-US" dirty="0" smtClean="0"/>
              <a:t>변경</a:t>
            </a:r>
            <a:r>
              <a:rPr lang="en-US" altLang="ko-KR" dirty="0" smtClean="0"/>
              <a:t>(commit) </a:t>
            </a:r>
            <a:r>
              <a:rPr lang="ko-KR" altLang="en-US" dirty="0"/>
              <a:t>처리 </a:t>
            </a:r>
          </a:p>
          <a:p>
            <a:r>
              <a:rPr lang="en-US" altLang="ko-KR" dirty="0"/>
              <a:t>2. Cluster </a:t>
            </a:r>
            <a:r>
              <a:rPr lang="ko-KR" altLang="en-US" dirty="0"/>
              <a:t>내 다른 노드</a:t>
            </a:r>
            <a:r>
              <a:rPr lang="en-US" altLang="ko-KR" dirty="0"/>
              <a:t>2</a:t>
            </a:r>
            <a:r>
              <a:rPr lang="ko-KR" altLang="en-US" dirty="0"/>
              <a:t>로 이벤트 전송</a:t>
            </a:r>
          </a:p>
          <a:p>
            <a:r>
              <a:rPr lang="en-US" altLang="ko-KR" dirty="0"/>
              <a:t>3. </a:t>
            </a:r>
            <a:r>
              <a:rPr lang="ko-KR" altLang="en-US" dirty="0"/>
              <a:t>이벤트를 받은 노드</a:t>
            </a:r>
            <a:r>
              <a:rPr lang="en-US" altLang="ko-KR" dirty="0"/>
              <a:t>2</a:t>
            </a:r>
            <a:r>
              <a:rPr lang="ko-KR" altLang="en-US" dirty="0"/>
              <a:t>는 유효성 체크 후</a:t>
            </a:r>
            <a:r>
              <a:rPr lang="en-US" altLang="ko-KR" dirty="0"/>
              <a:t>, </a:t>
            </a:r>
            <a:r>
              <a:rPr lang="ko-KR" altLang="en-US" dirty="0"/>
              <a:t>데이터 </a:t>
            </a:r>
            <a:r>
              <a:rPr lang="ko-KR" altLang="en-US" dirty="0" smtClean="0"/>
              <a:t>변경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 * certification : </a:t>
            </a:r>
            <a:r>
              <a:rPr lang="ko-KR" altLang="en-US" dirty="0" smtClean="0"/>
              <a:t>다른 </a:t>
            </a:r>
            <a:r>
              <a:rPr lang="en-US" altLang="ko-KR" dirty="0" smtClean="0"/>
              <a:t>write set</a:t>
            </a:r>
            <a:r>
              <a:rPr lang="ko-KR" altLang="en-US" dirty="0" smtClean="0"/>
              <a:t>과 받은 </a:t>
            </a:r>
            <a:r>
              <a:rPr lang="en-US" altLang="ko-KR" dirty="0" smtClean="0"/>
              <a:t>write set</a:t>
            </a:r>
            <a:r>
              <a:rPr lang="ko-KR" altLang="en-US" dirty="0" smtClean="0"/>
              <a:t>이 충돌이 나는지 확인</a:t>
            </a:r>
            <a:endParaRPr lang="ko-KR" altLang="en-US" dirty="0"/>
          </a:p>
          <a:p>
            <a:r>
              <a:rPr lang="en-US" altLang="ko-KR" dirty="0"/>
              <a:t>4. </a:t>
            </a:r>
            <a:r>
              <a:rPr lang="ko-KR" altLang="en-US" dirty="0"/>
              <a:t>결과를 받아 원래 노드</a:t>
            </a:r>
            <a:r>
              <a:rPr lang="en-US" altLang="ko-KR" dirty="0"/>
              <a:t>1</a:t>
            </a:r>
            <a:r>
              <a:rPr lang="ko-KR" altLang="en-US" dirty="0"/>
              <a:t>에 데이터 변경 물리적 </a:t>
            </a:r>
            <a:r>
              <a:rPr lang="en-US" altLang="ko-KR" dirty="0" smtClean="0"/>
              <a:t>commit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4247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40962"/>
          </a:xfrm>
        </p:spPr>
        <p:txBody>
          <a:bodyPr>
            <a:normAutofit/>
          </a:bodyPr>
          <a:lstStyle/>
          <a:p>
            <a:r>
              <a:rPr lang="en-US" altLang="ko-KR" sz="2400" b="1" dirty="0" err="1" smtClean="0"/>
              <a:t>MariaDB</a:t>
            </a:r>
            <a:r>
              <a:rPr lang="en-US" altLang="ko-KR" sz="2400" b="1" dirty="0" smtClean="0"/>
              <a:t> </a:t>
            </a:r>
            <a:r>
              <a:rPr lang="en-US" altLang="ko-KR" sz="2400" b="1" dirty="0" err="1" smtClean="0"/>
              <a:t>Galera</a:t>
            </a:r>
            <a:r>
              <a:rPr lang="en-US" altLang="ko-KR" sz="2400" b="1" dirty="0" smtClean="0"/>
              <a:t> Cluster </a:t>
            </a:r>
            <a:r>
              <a:rPr lang="ko-KR" altLang="en-US" sz="2400" b="1" dirty="0" smtClean="0"/>
              <a:t>설치</a:t>
            </a:r>
            <a:endParaRPr lang="ko-KR" altLang="en-US" sz="2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554804" y="993604"/>
            <a:ext cx="109419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서버 세팅</a:t>
            </a:r>
            <a:endParaRPr lang="en-US" altLang="ko-KR" dirty="0" smtClean="0"/>
          </a:p>
          <a:p>
            <a:r>
              <a:rPr lang="en-US" altLang="ko-KR" dirty="0" smtClean="0"/>
              <a:t>   (Server1, Server2, Server3)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  * </a:t>
            </a:r>
            <a:r>
              <a:rPr lang="ko-KR" altLang="en-US" dirty="0" smtClean="0"/>
              <a:t>최소 </a:t>
            </a:r>
            <a:r>
              <a:rPr lang="en-US" altLang="ko-KR" dirty="0" smtClean="0"/>
              <a:t>3</a:t>
            </a:r>
            <a:r>
              <a:rPr lang="ko-KR" altLang="en-US" dirty="0" smtClean="0"/>
              <a:t>대 설치 필요한 이유 </a:t>
            </a:r>
            <a:r>
              <a:rPr lang="en-US" altLang="ko-KR" dirty="0" smtClean="0"/>
              <a:t>: </a:t>
            </a:r>
            <a:r>
              <a:rPr lang="en-US" altLang="ko-KR" b="1" dirty="0" smtClean="0"/>
              <a:t>Quorum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425" y="2142094"/>
            <a:ext cx="86773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graceful shutdown</a:t>
            </a:r>
            <a:r>
              <a:rPr lang="ko-KR" altLang="en-US" dirty="0" smtClean="0"/>
              <a:t>일 경우에는 각 서버의 </a:t>
            </a:r>
            <a:r>
              <a:rPr lang="en-US" altLang="ko-KR" dirty="0" err="1" smtClean="0"/>
              <a:t>mariadb</a:t>
            </a:r>
            <a:r>
              <a:rPr lang="ko-KR" altLang="en-US" dirty="0" smtClean="0"/>
              <a:t>가 내려가 있는지 알 수 있음</a:t>
            </a:r>
            <a:r>
              <a:rPr lang="en-US" altLang="ko-KR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서버가 비정상적으로 종료되었을 </a:t>
            </a:r>
            <a:r>
              <a:rPr lang="ko-KR" altLang="en-US" dirty="0" smtClean="0"/>
              <a:t>때 </a:t>
            </a:r>
            <a:r>
              <a:rPr lang="en-US" altLang="ko-KR" dirty="0" smtClean="0"/>
              <a:t>(2</a:t>
            </a:r>
            <a:r>
              <a:rPr lang="ko-KR" altLang="en-US" dirty="0" smtClean="0"/>
              <a:t>대인 경우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grpSp>
        <p:nvGrpSpPr>
          <p:cNvPr id="15" name="그룹 14"/>
          <p:cNvGrpSpPr/>
          <p:nvPr/>
        </p:nvGrpSpPr>
        <p:grpSpPr>
          <a:xfrm>
            <a:off x="1199714" y="2833854"/>
            <a:ext cx="7984733" cy="1017138"/>
            <a:chOff x="1136151" y="3739791"/>
            <a:chExt cx="7984733" cy="1017138"/>
          </a:xfrm>
        </p:grpSpPr>
        <p:sp>
          <p:nvSpPr>
            <p:cNvPr id="7" name="직사각형 6"/>
            <p:cNvSpPr/>
            <p:nvPr/>
          </p:nvSpPr>
          <p:spPr>
            <a:xfrm>
              <a:off x="1136151" y="3739793"/>
              <a:ext cx="1654139" cy="1006867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Server1</a:t>
              </a:r>
              <a:endParaRPr lang="ko-KR" altLang="en-US" dirty="0"/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4381073" y="3739791"/>
              <a:ext cx="1654139" cy="1006867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Server2</a:t>
              </a:r>
              <a:endParaRPr lang="ko-KR" altLang="en-US" dirty="0"/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7466745" y="3739791"/>
              <a:ext cx="1654139" cy="1006867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Server3</a:t>
              </a:r>
              <a:endParaRPr lang="ko-KR" altLang="en-US" dirty="0"/>
            </a:p>
          </p:txBody>
        </p:sp>
        <p:sp>
          <p:nvSpPr>
            <p:cNvPr id="11" name="직사각형 10"/>
            <p:cNvSpPr/>
            <p:nvPr/>
          </p:nvSpPr>
          <p:spPr>
            <a:xfrm flipH="1">
              <a:off x="3591333" y="3739791"/>
              <a:ext cx="45719" cy="100686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/>
            <p:cNvSpPr/>
            <p:nvPr/>
          </p:nvSpPr>
          <p:spPr>
            <a:xfrm rot="1388214">
              <a:off x="3215810" y="4174572"/>
              <a:ext cx="842481" cy="5137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/>
            <p:cNvSpPr/>
            <p:nvPr/>
          </p:nvSpPr>
          <p:spPr>
            <a:xfrm flipH="1">
              <a:off x="6733514" y="3750062"/>
              <a:ext cx="45719" cy="100686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853425" y="3936915"/>
            <a:ext cx="1079372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Server1</a:t>
            </a:r>
            <a:r>
              <a:rPr lang="ko-KR" altLang="en-US" dirty="0" smtClean="0"/>
              <a:t>이 </a:t>
            </a:r>
            <a:r>
              <a:rPr lang="en-US" altLang="ko-KR" dirty="0" smtClean="0"/>
              <a:t>network</a:t>
            </a:r>
            <a:r>
              <a:rPr lang="ko-KR" altLang="en-US" dirty="0" smtClean="0"/>
              <a:t>가 단절되면 상대방이 원래 없었는지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잠시 통신이 안되는지 알 수 </a:t>
            </a:r>
            <a:r>
              <a:rPr lang="en-US" altLang="ko-KR" dirty="0" smtClean="0"/>
              <a:t>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Server1</a:t>
            </a:r>
            <a:r>
              <a:rPr lang="ko-KR" altLang="en-US" dirty="0" smtClean="0"/>
              <a:t>이 가지고 있던 </a:t>
            </a:r>
            <a:r>
              <a:rPr lang="en-US" altLang="ko-KR" dirty="0" smtClean="0"/>
              <a:t>Write Set</a:t>
            </a:r>
            <a:r>
              <a:rPr lang="ko-KR" altLang="en-US" dirty="0" smtClean="0"/>
              <a:t>은 상관없이 </a:t>
            </a:r>
            <a:r>
              <a:rPr lang="en-US" altLang="ko-KR" dirty="0" smtClean="0"/>
              <a:t>Server2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Write Set</a:t>
            </a:r>
            <a:r>
              <a:rPr lang="ko-KR" altLang="en-US" dirty="0" smtClean="0"/>
              <a:t>이 물리적으로 </a:t>
            </a:r>
            <a:r>
              <a:rPr lang="en-US" altLang="ko-KR" dirty="0" smtClean="0"/>
              <a:t>commit</a:t>
            </a:r>
            <a:r>
              <a:rPr lang="ko-KR" altLang="en-US" dirty="0" smtClean="0"/>
              <a:t>되면서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Split brain problem </a:t>
            </a:r>
            <a:r>
              <a:rPr lang="ko-KR" altLang="en-US" dirty="0" smtClean="0"/>
              <a:t>이 생김</a:t>
            </a:r>
            <a:endParaRPr lang="en-US" altLang="ko-KR" dirty="0" smtClean="0"/>
          </a:p>
          <a:p>
            <a:r>
              <a:rPr lang="en-US" altLang="ko-KR" dirty="0" smtClean="0"/>
              <a:t>   * </a:t>
            </a:r>
            <a:r>
              <a:rPr lang="en-US" altLang="ko-KR" dirty="0" smtClean="0"/>
              <a:t>Split brain : </a:t>
            </a:r>
            <a:r>
              <a:rPr lang="ko-KR" altLang="en-US" dirty="0" smtClean="0"/>
              <a:t>두 시스템 그룹간 네트워크의 일시적 동시 단절 현상이 발생 시 나타나는 현상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	</a:t>
            </a:r>
            <a:r>
              <a:rPr lang="en-US" altLang="ko-KR" dirty="0"/>
              <a:t> </a:t>
            </a:r>
            <a:r>
              <a:rPr lang="ko-KR" altLang="en-US" dirty="0"/>
              <a:t>클러스터 상의 모든 노드들은 노드 각자가 자신을 </a:t>
            </a:r>
            <a:r>
              <a:rPr lang="en-US" altLang="ko-KR" dirty="0"/>
              <a:t>primary</a:t>
            </a:r>
            <a:r>
              <a:rPr lang="ko-KR" altLang="en-US" dirty="0"/>
              <a:t>라고 인식하게 되는 상황을 말한다</a:t>
            </a:r>
            <a:r>
              <a:rPr lang="en-US" altLang="ko-KR" dirty="0" smtClean="0"/>
              <a:t>.</a:t>
            </a:r>
          </a:p>
          <a:p>
            <a:r>
              <a:rPr lang="en-US" altLang="ko-KR" dirty="0"/>
              <a:t>	</a:t>
            </a:r>
            <a:r>
              <a:rPr lang="en-US" altLang="ko-KR" dirty="0" smtClean="0">
                <a:sym typeface="Wingdings" panose="05000000000000000000" pitchFamily="2" charset="2"/>
              </a:rPr>
              <a:t> </a:t>
            </a:r>
            <a:r>
              <a:rPr lang="ko-KR" altLang="en-US" dirty="0" smtClean="0">
                <a:sym typeface="Wingdings" panose="05000000000000000000" pitchFamily="2" charset="2"/>
              </a:rPr>
              <a:t>동기화 및 복제에 있어서 비정상적인 </a:t>
            </a:r>
            <a:r>
              <a:rPr lang="ko-KR" altLang="en-US" dirty="0" err="1" smtClean="0">
                <a:sym typeface="Wingdings" panose="05000000000000000000" pitchFamily="2" charset="2"/>
              </a:rPr>
              <a:t>트랜젝션을</a:t>
            </a:r>
            <a:r>
              <a:rPr lang="ko-KR" altLang="en-US" dirty="0" smtClean="0">
                <a:sym typeface="Wingdings" panose="05000000000000000000" pitchFamily="2" charset="2"/>
              </a:rPr>
              <a:t> 갖게 될 수 있음</a:t>
            </a:r>
            <a:r>
              <a:rPr lang="en-US" altLang="ko-KR" dirty="0" smtClean="0">
                <a:sym typeface="Wingdings" panose="05000000000000000000" pitchFamily="2" charset="2"/>
              </a:rPr>
              <a:t>.</a:t>
            </a:r>
            <a:endParaRPr lang="en-US" altLang="ko-K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세 </a:t>
            </a:r>
            <a:r>
              <a:rPr lang="ko-KR" altLang="en-US" dirty="0" smtClean="0"/>
              <a:t>대 까지 설치할 필요가 없는 경우에는 </a:t>
            </a:r>
            <a:r>
              <a:rPr lang="en-US" altLang="ko-KR" dirty="0" err="1" smtClean="0"/>
              <a:t>garbd</a:t>
            </a:r>
            <a:r>
              <a:rPr lang="en-US" altLang="ko-KR" dirty="0" smtClean="0"/>
              <a:t> (</a:t>
            </a:r>
            <a:r>
              <a:rPr lang="ko-KR" altLang="en-US" dirty="0" smtClean="0"/>
              <a:t>가상의 </a:t>
            </a:r>
            <a:r>
              <a:rPr lang="en-US" altLang="ko-KR" dirty="0" smtClean="0"/>
              <a:t>DB)</a:t>
            </a:r>
            <a:r>
              <a:rPr lang="ko-KR" altLang="en-US" dirty="0" smtClean="0"/>
              <a:t>를 사용</a:t>
            </a:r>
            <a:r>
              <a:rPr lang="en-US" altLang="ko-KR" dirty="0" smtClean="0"/>
              <a:t>.(</a:t>
            </a:r>
            <a:r>
              <a:rPr lang="en-US" altLang="ko-KR" dirty="0" err="1" smtClean="0"/>
              <a:t>Galera</a:t>
            </a:r>
            <a:r>
              <a:rPr lang="en-US" altLang="ko-KR" dirty="0" smtClean="0"/>
              <a:t> Arbitrator Daemon)</a:t>
            </a:r>
          </a:p>
        </p:txBody>
      </p:sp>
    </p:spTree>
    <p:extLst>
      <p:ext uri="{BB962C8B-B14F-4D97-AF65-F5344CB8AC3E}">
        <p14:creationId xmlns:p14="http://schemas.microsoft.com/office/powerpoint/2010/main" val="601461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40962"/>
          </a:xfrm>
        </p:spPr>
        <p:txBody>
          <a:bodyPr>
            <a:normAutofit/>
          </a:bodyPr>
          <a:lstStyle/>
          <a:p>
            <a:r>
              <a:rPr lang="en-US" altLang="ko-KR" sz="2400" b="1" dirty="0" err="1" smtClean="0"/>
              <a:t>MariaDB</a:t>
            </a:r>
            <a:r>
              <a:rPr lang="en-US" altLang="ko-KR" sz="2400" b="1" dirty="0" smtClean="0"/>
              <a:t> </a:t>
            </a:r>
            <a:r>
              <a:rPr lang="en-US" altLang="ko-KR" sz="2400" b="1" dirty="0" err="1" smtClean="0"/>
              <a:t>Galera</a:t>
            </a:r>
            <a:r>
              <a:rPr lang="en-US" altLang="ko-KR" sz="2400" b="1" dirty="0" smtClean="0"/>
              <a:t> Cluster </a:t>
            </a:r>
            <a:r>
              <a:rPr lang="ko-KR" altLang="en-US" sz="2400" b="1" dirty="0" smtClean="0"/>
              <a:t>설치</a:t>
            </a:r>
            <a:endParaRPr lang="ko-KR" altLang="en-US" sz="2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838200" y="1027416"/>
            <a:ext cx="1906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 smtClean="0"/>
              <a:t>MariaDB</a:t>
            </a:r>
            <a:r>
              <a:rPr lang="en-US" altLang="ko-KR" dirty="0" smtClean="0"/>
              <a:t> </a:t>
            </a:r>
            <a:r>
              <a:rPr lang="ko-KR" altLang="en-US" dirty="0" smtClean="0"/>
              <a:t>설치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861" y="1518076"/>
            <a:ext cx="7543800" cy="17145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38199" y="3495512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서버 설정 확인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861" y="3864844"/>
            <a:ext cx="6696075" cy="2952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63256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40962"/>
          </a:xfrm>
        </p:spPr>
        <p:txBody>
          <a:bodyPr>
            <a:normAutofit/>
          </a:bodyPr>
          <a:lstStyle/>
          <a:p>
            <a:r>
              <a:rPr lang="en-US" altLang="ko-KR" sz="2400" b="1" dirty="0" err="1" smtClean="0"/>
              <a:t>MariaDB</a:t>
            </a:r>
            <a:r>
              <a:rPr lang="en-US" altLang="ko-KR" sz="2400" b="1" dirty="0" smtClean="0"/>
              <a:t> </a:t>
            </a:r>
            <a:r>
              <a:rPr lang="en-US" altLang="ko-KR" sz="2400" b="1" dirty="0" err="1" smtClean="0"/>
              <a:t>Galera</a:t>
            </a:r>
            <a:r>
              <a:rPr lang="en-US" altLang="ko-KR" sz="2400" b="1" dirty="0" smtClean="0"/>
              <a:t> Cluster </a:t>
            </a:r>
            <a:r>
              <a:rPr lang="ko-KR" altLang="en-US" sz="2400" b="1" dirty="0" smtClean="0"/>
              <a:t>설치</a:t>
            </a:r>
            <a:endParaRPr lang="ko-KR" altLang="en-US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6096000" y="1472951"/>
            <a:ext cx="600266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 err="1" smtClean="0"/>
              <a:t>wsrep_on</a:t>
            </a:r>
            <a:r>
              <a:rPr lang="en-US" altLang="ko-KR" dirty="0" smtClean="0"/>
              <a:t> : </a:t>
            </a:r>
            <a:r>
              <a:rPr lang="en-US" altLang="ko-KR" dirty="0" err="1" smtClean="0"/>
              <a:t>wsrep</a:t>
            </a:r>
            <a:r>
              <a:rPr lang="en-US" altLang="ko-KR" dirty="0" smtClean="0"/>
              <a:t> </a:t>
            </a:r>
            <a:r>
              <a:rPr lang="ko-KR" altLang="en-US" dirty="0" smtClean="0"/>
              <a:t>사용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Galera</a:t>
            </a:r>
            <a:r>
              <a:rPr lang="en-US" altLang="ko-KR" dirty="0" smtClean="0"/>
              <a:t>)</a:t>
            </a:r>
            <a:r>
              <a:rPr lang="ko-KR" altLang="en-US" dirty="0" smtClean="0"/>
              <a:t> 여부</a:t>
            </a:r>
            <a:r>
              <a:rPr lang="en-US" altLang="ko-KR" dirty="0" smtClean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 err="1" smtClean="0"/>
              <a:t>wsrep_provider</a:t>
            </a:r>
            <a:r>
              <a:rPr lang="en-US" altLang="ko-KR" dirty="0" smtClean="0"/>
              <a:t> : libgalera_smm.so</a:t>
            </a:r>
            <a:r>
              <a:rPr lang="ko-KR" altLang="en-US" dirty="0" smtClean="0"/>
              <a:t>의 위치</a:t>
            </a:r>
            <a:endParaRPr lang="en-US" altLang="ko-K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 err="1" smtClean="0"/>
              <a:t>wsrep_cluster_address</a:t>
            </a:r>
            <a:r>
              <a:rPr lang="en-US" altLang="ko-KR" b="1" dirty="0" smtClean="0"/>
              <a:t> </a:t>
            </a:r>
          </a:p>
          <a:p>
            <a:r>
              <a:rPr lang="en-US" altLang="ko-KR" dirty="0" smtClean="0"/>
              <a:t>    : </a:t>
            </a:r>
            <a:r>
              <a:rPr lang="ko-KR" altLang="en-US" dirty="0" smtClean="0"/>
              <a:t>클러스터에 참여할 서버 </a:t>
            </a:r>
            <a:r>
              <a:rPr lang="en-US" altLang="ko-KR" dirty="0" err="1" smtClean="0"/>
              <a:t>ip</a:t>
            </a:r>
            <a:r>
              <a:rPr lang="en-US" altLang="ko-KR" dirty="0" smtClean="0"/>
              <a:t> list(</a:t>
            </a:r>
            <a:r>
              <a:rPr lang="ko-KR" altLang="en-US" dirty="0" smtClean="0"/>
              <a:t>자신 포함</a:t>
            </a:r>
            <a:r>
              <a:rPr lang="en-US" altLang="ko-KR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 err="1" smtClean="0"/>
              <a:t>wsrep_cluster_name</a:t>
            </a:r>
            <a:r>
              <a:rPr lang="en-US" altLang="ko-KR" b="1" dirty="0" smtClean="0"/>
              <a:t> </a:t>
            </a:r>
            <a:r>
              <a:rPr lang="en-US" altLang="ko-KR" dirty="0" smtClean="0"/>
              <a:t>: </a:t>
            </a:r>
            <a:r>
              <a:rPr lang="en-US" altLang="ko-KR" dirty="0" err="1" smtClean="0"/>
              <a:t>Galera</a:t>
            </a:r>
            <a:r>
              <a:rPr lang="en-US" altLang="ko-KR" dirty="0" smtClean="0"/>
              <a:t> Cluster </a:t>
            </a:r>
            <a:r>
              <a:rPr lang="ko-KR" altLang="en-US" dirty="0" smtClean="0"/>
              <a:t>이름 </a:t>
            </a:r>
            <a:r>
              <a:rPr lang="en-US" altLang="ko-KR" dirty="0" smtClean="0"/>
              <a:t>(3</a:t>
            </a:r>
            <a:r>
              <a:rPr lang="ko-KR" altLang="en-US" dirty="0" smtClean="0"/>
              <a:t>대 동일</a:t>
            </a:r>
            <a:r>
              <a:rPr lang="en-US" altLang="ko-KR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 err="1" smtClean="0"/>
              <a:t>wsrep_node_address</a:t>
            </a:r>
            <a:r>
              <a:rPr lang="en-US" altLang="ko-KR" dirty="0" smtClean="0"/>
              <a:t> : node </a:t>
            </a:r>
            <a:r>
              <a:rPr lang="ko-KR" altLang="en-US" dirty="0" smtClean="0"/>
              <a:t>자신의 </a:t>
            </a:r>
            <a:r>
              <a:rPr lang="en-US" altLang="ko-KR" dirty="0" err="1" smtClean="0"/>
              <a:t>ip</a:t>
            </a:r>
            <a:endParaRPr lang="en-US" altLang="ko-K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 err="1" smtClean="0"/>
              <a:t>wsrep_node_name</a:t>
            </a:r>
            <a:r>
              <a:rPr lang="en-US" altLang="ko-KR" b="1" dirty="0" smtClean="0"/>
              <a:t> </a:t>
            </a:r>
            <a:r>
              <a:rPr lang="en-US" altLang="ko-KR" dirty="0" smtClean="0"/>
              <a:t>: node</a:t>
            </a:r>
            <a:r>
              <a:rPr lang="ko-KR" altLang="en-US" dirty="0" smtClean="0"/>
              <a:t>의 이름</a:t>
            </a:r>
            <a:r>
              <a:rPr lang="en-US" altLang="ko-KR" dirty="0" smtClean="0"/>
              <a:t>(3</a:t>
            </a:r>
            <a:r>
              <a:rPr lang="ko-KR" altLang="en-US" dirty="0" smtClean="0"/>
              <a:t>대 다름</a:t>
            </a:r>
            <a:r>
              <a:rPr lang="en-US" altLang="ko-KR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 err="1" smtClean="0"/>
              <a:t>wsrep_sst_method</a:t>
            </a:r>
            <a:r>
              <a:rPr lang="en-US" altLang="ko-KR" dirty="0" smtClean="0"/>
              <a:t> : data</a:t>
            </a:r>
            <a:r>
              <a:rPr lang="ko-KR" altLang="en-US" dirty="0" err="1" smtClean="0"/>
              <a:t>복제방법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983" y="4994470"/>
            <a:ext cx="5324475" cy="15335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75983" y="4625138"/>
            <a:ext cx="4940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 </a:t>
            </a:r>
            <a:r>
              <a:rPr lang="ko-KR" altLang="en-US" dirty="0" err="1" smtClean="0"/>
              <a:t>서마종</a:t>
            </a:r>
            <a:r>
              <a:rPr lang="ko-KR" altLang="en-US" dirty="0" smtClean="0"/>
              <a:t> </a:t>
            </a:r>
            <a:r>
              <a:rPr lang="en-US" altLang="ko-KR" dirty="0" err="1" smtClean="0"/>
              <a:t>galera</a:t>
            </a:r>
            <a:r>
              <a:rPr lang="en-US" altLang="ko-KR" dirty="0" smtClean="0"/>
              <a:t> cluster </a:t>
            </a:r>
            <a:r>
              <a:rPr lang="ko-KR" altLang="en-US" dirty="0" smtClean="0"/>
              <a:t>예시 </a:t>
            </a:r>
            <a:r>
              <a:rPr lang="en-US" altLang="ko-KR" dirty="0" smtClean="0"/>
              <a:t>(vim /</a:t>
            </a:r>
            <a:r>
              <a:rPr lang="en-US" altLang="ko-KR" dirty="0" err="1" smtClean="0"/>
              <a:t>etc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my.cnf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86135" y="5050886"/>
            <a:ext cx="59298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 err="1"/>
              <a:t>wsrep_provider_options</a:t>
            </a:r>
            <a:r>
              <a:rPr lang="en-US" altLang="ko-KR" dirty="0" smtClean="0"/>
              <a:t> 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 err="1" smtClean="0"/>
              <a:t>gcache</a:t>
            </a:r>
            <a:r>
              <a:rPr lang="en-US" altLang="ko-KR" dirty="0" err="1"/>
              <a:t>.</a:t>
            </a:r>
            <a:r>
              <a:rPr lang="en-US" altLang="ko-KR" dirty="0" err="1" smtClean="0"/>
              <a:t>size</a:t>
            </a:r>
            <a:r>
              <a:rPr lang="en-US" altLang="ko-KR" dirty="0" smtClean="0"/>
              <a:t> : cache</a:t>
            </a:r>
            <a:r>
              <a:rPr lang="ko-KR" altLang="en-US" dirty="0" smtClean="0"/>
              <a:t> 사이즈</a:t>
            </a:r>
            <a:endParaRPr lang="en-US" altLang="ko-KR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 err="1" smtClean="0"/>
              <a:t>gcache.recover</a:t>
            </a:r>
            <a:r>
              <a:rPr lang="en-US" altLang="ko-KR" dirty="0" smtClean="0"/>
              <a:t> : </a:t>
            </a:r>
            <a:r>
              <a:rPr lang="ko-KR" altLang="en-US" dirty="0" smtClean="0"/>
              <a:t>서버 내렸다 올라갔을 때 </a:t>
            </a:r>
            <a:r>
              <a:rPr lang="en-US" altLang="ko-KR" dirty="0" smtClean="0"/>
              <a:t>cache</a:t>
            </a:r>
          </a:p>
          <a:p>
            <a:pPr lvl="3"/>
            <a:r>
              <a:rPr lang="en-US" altLang="ko-KR" dirty="0"/>
              <a:t>	 </a:t>
            </a:r>
            <a:r>
              <a:rPr lang="en-US" altLang="ko-KR" dirty="0" smtClean="0"/>
              <a:t>       </a:t>
            </a:r>
            <a:r>
              <a:rPr lang="ko-KR" altLang="en-US" dirty="0" smtClean="0"/>
              <a:t>복구하도록 설정</a:t>
            </a:r>
            <a:endParaRPr lang="ko-KR" altLang="en-US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570" y="1359823"/>
            <a:ext cx="5153025" cy="31242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73625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40962"/>
          </a:xfrm>
        </p:spPr>
        <p:txBody>
          <a:bodyPr>
            <a:normAutofit/>
          </a:bodyPr>
          <a:lstStyle/>
          <a:p>
            <a:r>
              <a:rPr lang="en-US" altLang="ko-KR" sz="2400" b="1" dirty="0" err="1" smtClean="0"/>
              <a:t>MariaDB</a:t>
            </a:r>
            <a:r>
              <a:rPr lang="en-US" altLang="ko-KR" sz="2400" b="1" dirty="0" smtClean="0"/>
              <a:t> </a:t>
            </a:r>
            <a:r>
              <a:rPr lang="en-US" altLang="ko-KR" sz="2400" b="1" dirty="0" err="1" smtClean="0"/>
              <a:t>Galera</a:t>
            </a:r>
            <a:r>
              <a:rPr lang="en-US" altLang="ko-KR" sz="2400" b="1" dirty="0" smtClean="0"/>
              <a:t> Cluster </a:t>
            </a:r>
            <a:r>
              <a:rPr lang="ko-KR" altLang="en-US" sz="2400" b="1" dirty="0" smtClean="0"/>
              <a:t>설치</a:t>
            </a:r>
            <a:endParaRPr lang="ko-KR" altLang="en-US" sz="2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838200" y="1222131"/>
            <a:ext cx="11051423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dirty="0" smtClean="0"/>
              <a:t>SST Method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altLang="ko-KR" dirty="0" smtClean="0"/>
              <a:t>State snapshot transfer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altLang="ko-KR" dirty="0" smtClean="0"/>
              <a:t>by </a:t>
            </a:r>
            <a:r>
              <a:rPr lang="en-US" altLang="ko-KR" dirty="0"/>
              <a:t>transferring a </a:t>
            </a:r>
            <a:r>
              <a:rPr lang="en-US" altLang="ko-KR" b="1" dirty="0"/>
              <a:t>full data copy</a:t>
            </a:r>
            <a:r>
              <a:rPr lang="en-US" altLang="ko-KR" dirty="0"/>
              <a:t> from one node to another</a:t>
            </a:r>
            <a:r>
              <a:rPr lang="en-US" altLang="ko-KR" dirty="0" smtClean="0"/>
              <a:t>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altLang="ko-KR" dirty="0" smtClean="0"/>
              <a:t>IST</a:t>
            </a:r>
            <a:r>
              <a:rPr lang="ko-KR" altLang="en-US" dirty="0" smtClean="0"/>
              <a:t>방식으로 되지 않을 경우 풀 백업을 </a:t>
            </a:r>
            <a:r>
              <a:rPr lang="ko-KR" altLang="en-US" dirty="0" err="1" smtClean="0"/>
              <a:t>진해애함</a:t>
            </a:r>
            <a:endParaRPr lang="en-US" altLang="ko-KR" dirty="0" smtClean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altLang="ko-KR" dirty="0" smtClean="0"/>
              <a:t>WSREP_SST_METHOD </a:t>
            </a:r>
            <a:r>
              <a:rPr lang="ko-KR" altLang="en-US" dirty="0" smtClean="0"/>
              <a:t>종류</a:t>
            </a:r>
            <a:endParaRPr lang="en-US" altLang="ko-KR" dirty="0" smtClean="0"/>
          </a:p>
          <a:p>
            <a:pPr marL="1200150" lvl="2" indent="-285750">
              <a:buFont typeface="Wingdings" panose="05000000000000000000" pitchFamily="2" charset="2"/>
              <a:buChar char="v"/>
            </a:pPr>
            <a:r>
              <a:rPr lang="en-US" altLang="ko-KR" dirty="0" err="1" smtClean="0"/>
              <a:t>rsync</a:t>
            </a:r>
            <a:r>
              <a:rPr lang="en-US" altLang="ko-KR" dirty="0" smtClean="0"/>
              <a:t> (</a:t>
            </a:r>
            <a:r>
              <a:rPr lang="en-US" altLang="ko-KR" b="1" dirty="0"/>
              <a:t>R</a:t>
            </a:r>
            <a:r>
              <a:rPr lang="en-US" altLang="ko-KR" dirty="0"/>
              <a:t>emote </a:t>
            </a:r>
            <a:r>
              <a:rPr lang="en-US" altLang="ko-KR" b="1" dirty="0" smtClean="0"/>
              <a:t>Sync</a:t>
            </a:r>
            <a:r>
              <a:rPr lang="en-US" altLang="ko-KR" dirty="0" smtClean="0"/>
              <a:t>)</a:t>
            </a:r>
          </a:p>
          <a:p>
            <a:pPr marL="1657350" lvl="3" indent="-285750">
              <a:buFont typeface="Wingdings" panose="05000000000000000000" pitchFamily="2" charset="2"/>
              <a:buChar char="v"/>
            </a:pPr>
            <a:r>
              <a:rPr lang="ko-KR" altLang="en-US" dirty="0" smtClean="0"/>
              <a:t>데이터 폴더 트리를 그대로 복사</a:t>
            </a:r>
            <a:endParaRPr lang="en-US" altLang="ko-KR" dirty="0" smtClean="0"/>
          </a:p>
          <a:p>
            <a:pPr marL="1657350" lvl="3" indent="-285750">
              <a:buFont typeface="Wingdings" panose="05000000000000000000" pitchFamily="2" charset="2"/>
              <a:buChar char="v"/>
            </a:pPr>
            <a:r>
              <a:rPr lang="ko-KR" altLang="en-US" dirty="0" smtClean="0"/>
              <a:t>완료될 때까지</a:t>
            </a:r>
            <a:r>
              <a:rPr lang="en-US" altLang="ko-KR" dirty="0" smtClean="0"/>
              <a:t>, update </a:t>
            </a:r>
            <a:r>
              <a:rPr lang="ko-KR" altLang="en-US" dirty="0" smtClean="0"/>
              <a:t>등은 되지 않고</a:t>
            </a:r>
            <a:r>
              <a:rPr lang="en-US" altLang="ko-KR" dirty="0" smtClean="0"/>
              <a:t>, select</a:t>
            </a:r>
            <a:r>
              <a:rPr lang="ko-KR" altLang="en-US" dirty="0" smtClean="0"/>
              <a:t>만 가능</a:t>
            </a:r>
            <a:endParaRPr lang="en-US" altLang="ko-KR" dirty="0" smtClean="0"/>
          </a:p>
          <a:p>
            <a:pPr marL="1200150" lvl="2" indent="-285750">
              <a:buFont typeface="Wingdings" panose="05000000000000000000" pitchFamily="2" charset="2"/>
              <a:buChar char="v"/>
            </a:pPr>
            <a:r>
              <a:rPr lang="en-US" altLang="ko-KR" dirty="0" err="1" smtClean="0"/>
              <a:t>xtrabackup</a:t>
            </a:r>
            <a:endParaRPr lang="en-US" altLang="ko-KR" dirty="0" smtClean="0"/>
          </a:p>
          <a:p>
            <a:pPr marL="1657350" lvl="3" indent="-285750">
              <a:buFont typeface="Wingdings" panose="05000000000000000000" pitchFamily="2" charset="2"/>
              <a:buChar char="v"/>
            </a:pPr>
            <a:r>
              <a:rPr lang="ko-KR" altLang="en-US" dirty="0" smtClean="0"/>
              <a:t>완료되기 전에도 </a:t>
            </a:r>
            <a:r>
              <a:rPr lang="en-US" altLang="ko-KR" dirty="0" smtClean="0"/>
              <a:t>update </a:t>
            </a:r>
            <a:r>
              <a:rPr lang="ko-KR" altLang="en-US" dirty="0" smtClean="0"/>
              <a:t>등이 가능</a:t>
            </a:r>
            <a:endParaRPr lang="en-US" altLang="ko-KR" dirty="0" smtClean="0"/>
          </a:p>
          <a:p>
            <a:pPr marL="1657350" lvl="3" indent="-285750">
              <a:buFont typeface="Wingdings" panose="05000000000000000000" pitchFamily="2" charset="2"/>
              <a:buChar char="v"/>
            </a:pPr>
            <a:endParaRPr lang="en-US" altLang="ko-KR" dirty="0" smtClean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dirty="0" smtClean="0"/>
              <a:t>IST Method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altLang="ko-KR" dirty="0"/>
              <a:t>Incremental State Transfer</a:t>
            </a:r>
            <a:endParaRPr lang="en-US" altLang="ko-KR" dirty="0" smtClean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altLang="ko-KR" dirty="0" smtClean="0"/>
              <a:t>DB</a:t>
            </a:r>
            <a:r>
              <a:rPr lang="ko-KR" altLang="en-US" dirty="0" smtClean="0"/>
              <a:t>가 멈추지 않음</a:t>
            </a:r>
            <a:endParaRPr lang="en-US" altLang="ko-KR" dirty="0" smtClean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altLang="ko-KR" dirty="0"/>
              <a:t>a node only receives the missing write-sets and catches up with the group by replaying them</a:t>
            </a:r>
            <a:endParaRPr lang="en-US" altLang="ko-KR" dirty="0" smtClean="0"/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1543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73826" y="498764"/>
            <a:ext cx="1709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방화벽 설정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07" y="1145078"/>
            <a:ext cx="4629150" cy="1143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407" y="2565060"/>
            <a:ext cx="5572125" cy="75247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407" y="3594517"/>
            <a:ext cx="2790825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3826" y="4150822"/>
            <a:ext cx="2477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 smtClean="0"/>
              <a:t>SELinux</a:t>
            </a:r>
            <a:r>
              <a:rPr lang="en-US" altLang="ko-KR" dirty="0" smtClean="0"/>
              <a:t> Policy </a:t>
            </a:r>
            <a:r>
              <a:rPr lang="ko-KR" altLang="en-US" dirty="0" smtClean="0"/>
              <a:t>설정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407" y="4554162"/>
            <a:ext cx="3781425" cy="91440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407" y="5681098"/>
            <a:ext cx="2809875" cy="3143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37266" y="4321634"/>
            <a:ext cx="51379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 </a:t>
            </a:r>
            <a:r>
              <a:rPr lang="en-US" altLang="ko-KR" dirty="0" err="1" smtClean="0"/>
              <a:t>SELinux</a:t>
            </a:r>
            <a:r>
              <a:rPr lang="en-US" altLang="ko-KR" dirty="0" smtClean="0"/>
              <a:t>(Security Enhanced Linux) 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: Linux</a:t>
            </a:r>
            <a:r>
              <a:rPr lang="ko-KR" altLang="en-US" dirty="0"/>
              <a:t>의 보안을 강화해 주는 보안 강화 커널</a:t>
            </a:r>
          </a:p>
        </p:txBody>
      </p:sp>
    </p:spTree>
    <p:extLst>
      <p:ext uri="{BB962C8B-B14F-4D97-AF65-F5344CB8AC3E}">
        <p14:creationId xmlns:p14="http://schemas.microsoft.com/office/powerpoint/2010/main" val="3251420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73826" y="498764"/>
            <a:ext cx="2880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 smtClean="0"/>
              <a:t>mariadb</a:t>
            </a:r>
            <a:r>
              <a:rPr lang="en-US" altLang="ko-KR" dirty="0" smtClean="0"/>
              <a:t> </a:t>
            </a:r>
            <a:r>
              <a:rPr lang="ko-KR" altLang="en-US" dirty="0" smtClean="0"/>
              <a:t>시스템 내리기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" y="978564"/>
            <a:ext cx="2276475" cy="4286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3825" y="1798320"/>
            <a:ext cx="3756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[1</a:t>
            </a:r>
            <a:r>
              <a:rPr lang="ko-KR" altLang="en-US" dirty="0" smtClean="0"/>
              <a:t>번 서버</a:t>
            </a:r>
            <a:r>
              <a:rPr lang="en-US" altLang="ko-KR" dirty="0" smtClean="0"/>
              <a:t>] </a:t>
            </a:r>
            <a:r>
              <a:rPr lang="ko-KR" altLang="en-US" dirty="0" smtClean="0"/>
              <a:t>클러스터 실행시키기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62" y="2337413"/>
            <a:ext cx="3524250" cy="36195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962" y="3006004"/>
            <a:ext cx="5566151" cy="11662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61913" y="4516747"/>
            <a:ext cx="3796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[</a:t>
            </a:r>
            <a:r>
              <a:rPr lang="ko-KR" altLang="en-US" dirty="0" smtClean="0"/>
              <a:t>다른 서버</a:t>
            </a:r>
            <a:r>
              <a:rPr lang="en-US" altLang="ko-KR" dirty="0" smtClean="0"/>
              <a:t>] </a:t>
            </a:r>
            <a:r>
              <a:rPr lang="en-US" altLang="ko-KR" dirty="0" err="1" smtClean="0"/>
              <a:t>mariadb</a:t>
            </a:r>
            <a:r>
              <a:rPr lang="en-US" altLang="ko-KR" dirty="0" smtClean="0"/>
              <a:t> </a:t>
            </a:r>
            <a:r>
              <a:rPr lang="ko-KR" altLang="en-US" dirty="0" smtClean="0"/>
              <a:t>실행시키기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962" y="5055840"/>
            <a:ext cx="4229100" cy="2095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오른쪽 화살표 10"/>
          <p:cNvSpPr/>
          <p:nvPr/>
        </p:nvSpPr>
        <p:spPr>
          <a:xfrm>
            <a:off x="5694219" y="4701413"/>
            <a:ext cx="544483" cy="5639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6341314" y="4478939"/>
            <a:ext cx="4493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클러스터가 설정이 잘 되어있는지 확인</a:t>
            </a:r>
            <a:endParaRPr lang="ko-KR" altLang="en-US" dirty="0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8136" y="4983400"/>
            <a:ext cx="5513056" cy="110151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오른쪽 화살표 14"/>
          <p:cNvSpPr/>
          <p:nvPr/>
        </p:nvSpPr>
        <p:spPr>
          <a:xfrm>
            <a:off x="4705004" y="2410691"/>
            <a:ext cx="432261" cy="2244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5245331" y="2165463"/>
            <a:ext cx="63121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Galera</a:t>
            </a:r>
            <a:r>
              <a:rPr lang="en-US" altLang="ko-KR" dirty="0"/>
              <a:t> </a:t>
            </a:r>
            <a:r>
              <a:rPr lang="en-US" altLang="ko-KR" dirty="0" smtClean="0"/>
              <a:t>4 </a:t>
            </a:r>
            <a:r>
              <a:rPr lang="ko-KR" altLang="en-US" dirty="0" smtClean="0"/>
              <a:t>버전일 때  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   * </a:t>
            </a:r>
            <a:r>
              <a:rPr lang="ko-KR" altLang="en-US" dirty="0" smtClean="0"/>
              <a:t>이전 버전은 </a:t>
            </a:r>
            <a:r>
              <a:rPr lang="en-US" altLang="ko-KR" dirty="0"/>
              <a:t>service </a:t>
            </a:r>
            <a:r>
              <a:rPr lang="en-US" altLang="ko-KR" dirty="0" err="1"/>
              <a:t>mysql</a:t>
            </a:r>
            <a:r>
              <a:rPr lang="en-US" altLang="ko-KR" dirty="0"/>
              <a:t> start</a:t>
            </a:r>
            <a:r>
              <a:rPr lang="ko-KR" altLang="en-US" dirty="0"/>
              <a:t> </a:t>
            </a:r>
            <a:r>
              <a:rPr lang="en-US" altLang="ko-KR" dirty="0"/>
              <a:t>--</a:t>
            </a:r>
            <a:r>
              <a:rPr lang="en-US" altLang="ko-KR" dirty="0" err="1" smtClean="0"/>
              <a:t>wsrep-new_cluster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1372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37304" y="343430"/>
            <a:ext cx="5642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비정상적으로 종료된 경우 </a:t>
            </a:r>
            <a:r>
              <a:rPr lang="en-US" altLang="ko-KR" dirty="0" smtClean="0"/>
              <a:t>(reboot </a:t>
            </a:r>
            <a:r>
              <a:rPr lang="ko-KR" altLang="en-US" dirty="0" smtClean="0"/>
              <a:t>명령어 </a:t>
            </a:r>
            <a:r>
              <a:rPr lang="ko-KR" altLang="en-US" dirty="0" err="1" smtClean="0"/>
              <a:t>입력시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920" y="808098"/>
            <a:ext cx="4463597" cy="11518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8262878" y="1992079"/>
            <a:ext cx="1781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server2 (joiner)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70894" y="2489461"/>
            <a:ext cx="5307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 smtClean="0"/>
              <a:t>safe_to_bootstrap</a:t>
            </a:r>
            <a:r>
              <a:rPr lang="ko-KR" altLang="en-US" dirty="0" smtClean="0"/>
              <a:t>이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인 서버를 먼저 </a:t>
            </a:r>
            <a:r>
              <a:rPr lang="ko-KR" altLang="en-US" dirty="0" err="1" smtClean="0"/>
              <a:t>올려야함</a:t>
            </a:r>
            <a:endParaRPr lang="ko-KR" altLang="en-US" dirty="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055" y="2902932"/>
            <a:ext cx="4267505" cy="2519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056" y="3277481"/>
            <a:ext cx="4267504" cy="10501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894" y="806548"/>
            <a:ext cx="4702666" cy="11839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2123037" y="1990529"/>
            <a:ext cx="1780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server1 (</a:t>
            </a:r>
            <a:r>
              <a:rPr lang="en-US" altLang="ko-KR" dirty="0" err="1" smtClean="0"/>
              <a:t>doner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23" name="그림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951" y="4806624"/>
            <a:ext cx="5857875" cy="5619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951" y="5478227"/>
            <a:ext cx="6953250" cy="101917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07844" y="4327664"/>
            <a:ext cx="8634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 smtClean="0"/>
              <a:t>safe_to_bootstrap</a:t>
            </a:r>
            <a:r>
              <a:rPr lang="ko-KR" altLang="en-US" dirty="0" smtClean="0"/>
              <a:t>이 </a:t>
            </a:r>
            <a:r>
              <a:rPr lang="en-US" altLang="ko-KR" dirty="0" smtClean="0"/>
              <a:t>0</a:t>
            </a:r>
            <a:r>
              <a:rPr lang="ko-KR" altLang="en-US" dirty="0" smtClean="0"/>
              <a:t>인 서버들은 </a:t>
            </a:r>
            <a:r>
              <a:rPr lang="en-US" altLang="ko-KR" dirty="0" err="1" smtClean="0"/>
              <a:t>galera_recovery</a:t>
            </a:r>
            <a:r>
              <a:rPr lang="en-US" altLang="ko-KR" dirty="0" smtClean="0"/>
              <a:t> </a:t>
            </a:r>
            <a:r>
              <a:rPr lang="ko-KR" altLang="en-US" dirty="0" smtClean="0"/>
              <a:t>실행 후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mariadb</a:t>
            </a:r>
            <a:r>
              <a:rPr lang="en-US" altLang="ko-KR" dirty="0" smtClean="0"/>
              <a:t> </a:t>
            </a:r>
            <a:r>
              <a:rPr lang="ko-KR" altLang="en-US" dirty="0" smtClean="0"/>
              <a:t>실행 시킴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6853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44" y="709958"/>
            <a:ext cx="5295900" cy="14763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07844" y="321772"/>
            <a:ext cx="6136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 smtClean="0"/>
              <a:t>서마종</a:t>
            </a:r>
            <a:r>
              <a:rPr lang="ko-KR" altLang="en-US" dirty="0" smtClean="0"/>
              <a:t> 서버 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usr</a:t>
            </a:r>
            <a:r>
              <a:rPr lang="en-US" altLang="ko-KR" dirty="0" smtClean="0"/>
              <a:t>/local/</a:t>
            </a:r>
            <a:r>
              <a:rPr lang="en-US" altLang="ko-KR" dirty="0" err="1" smtClean="0"/>
              <a:t>mysql</a:t>
            </a:r>
            <a:r>
              <a:rPr lang="en-US" altLang="ko-KR" dirty="0" smtClean="0"/>
              <a:t>/data/seoulmaeul-db1.err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84044" y="2445847"/>
            <a:ext cx="73216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DB</a:t>
            </a:r>
            <a:r>
              <a:rPr lang="ko-KR" altLang="en-US" dirty="0" smtClean="0"/>
              <a:t>가 비정상적으로 종료됐을 경우</a:t>
            </a:r>
            <a:endParaRPr lang="en-US" altLang="ko-KR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 err="1" smtClean="0"/>
              <a:t>doner</a:t>
            </a:r>
            <a:r>
              <a:rPr lang="en-US" altLang="ko-KR" dirty="0" smtClean="0"/>
              <a:t> : /</a:t>
            </a:r>
            <a:r>
              <a:rPr lang="en-US" altLang="ko-KR" dirty="0" err="1" smtClean="0"/>
              <a:t>usr</a:t>
            </a:r>
            <a:r>
              <a:rPr lang="en-US" altLang="ko-KR" dirty="0" smtClean="0"/>
              <a:t>/local/</a:t>
            </a:r>
            <a:r>
              <a:rPr lang="en-US" altLang="ko-KR" dirty="0" err="1" smtClean="0"/>
              <a:t>mysql</a:t>
            </a:r>
            <a:r>
              <a:rPr lang="en-US" altLang="ko-KR" dirty="0" smtClean="0"/>
              <a:t>/support-files/</a:t>
            </a:r>
            <a:r>
              <a:rPr lang="en-US" altLang="ko-KR" dirty="0" err="1" smtClean="0"/>
              <a:t>mysql.server</a:t>
            </a:r>
            <a:r>
              <a:rPr lang="en-US" altLang="ko-KR" dirty="0" smtClean="0"/>
              <a:t> bootstrap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joiner : </a:t>
            </a:r>
            <a:r>
              <a:rPr lang="en-US" altLang="ko-KR" dirty="0"/>
              <a:t>/</a:t>
            </a:r>
            <a:r>
              <a:rPr lang="en-US" altLang="ko-KR" dirty="0" err="1" smtClean="0"/>
              <a:t>usr</a:t>
            </a:r>
            <a:r>
              <a:rPr lang="en-US" altLang="ko-KR" dirty="0" smtClean="0"/>
              <a:t>/local/</a:t>
            </a:r>
            <a:r>
              <a:rPr lang="en-US" altLang="ko-KR" dirty="0" err="1" smtClean="0"/>
              <a:t>mysql</a:t>
            </a:r>
            <a:r>
              <a:rPr lang="en-US" altLang="ko-KR" dirty="0" smtClean="0"/>
              <a:t>/support-files/</a:t>
            </a:r>
            <a:r>
              <a:rPr lang="en-US" altLang="ko-KR" dirty="0" err="1" smtClean="0"/>
              <a:t>mysql.server</a:t>
            </a:r>
            <a:r>
              <a:rPr lang="en-US" altLang="ko-KR" dirty="0" smtClean="0"/>
              <a:t> start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57080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848</TotalTime>
  <Words>621</Words>
  <Application>Microsoft Office PowerPoint</Application>
  <PresentationFormat>와이드스크린</PresentationFormat>
  <Paragraphs>110</Paragraphs>
  <Slides>13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맑은 고딕</vt:lpstr>
      <vt:lpstr>Arial</vt:lpstr>
      <vt:lpstr>Wingdings</vt:lpstr>
      <vt:lpstr>Office 테마</vt:lpstr>
      <vt:lpstr>MariaDB Cluster</vt:lpstr>
      <vt:lpstr>MySQL Replication vs MariaDB Galera Cluster</vt:lpstr>
      <vt:lpstr>MySQL Replication vs MariaDB Galera Cluster</vt:lpstr>
      <vt:lpstr>MariaDB Galera Cluster</vt:lpstr>
      <vt:lpstr>MariaDB Galera Cluster</vt:lpstr>
      <vt:lpstr>MariaDB Galera Cluster 설치</vt:lpstr>
      <vt:lpstr>MariaDB Galera Cluster 설치</vt:lpstr>
      <vt:lpstr>MariaDB Galera Cluster 설치</vt:lpstr>
      <vt:lpstr>MariaDB Galera Cluster 설치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MariaDB Cluster</dc:title>
  <dc:creator>Windows 사용자</dc:creator>
  <cp:lastModifiedBy>Windows 사용자</cp:lastModifiedBy>
  <cp:revision>46</cp:revision>
  <dcterms:created xsi:type="dcterms:W3CDTF">2020-01-22T07:08:55Z</dcterms:created>
  <dcterms:modified xsi:type="dcterms:W3CDTF">2020-01-29T06:16:34Z</dcterms:modified>
</cp:coreProperties>
</file>