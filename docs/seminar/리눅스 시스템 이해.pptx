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8"/>
  </p:notesMasterIdLst>
  <p:sldIdLst>
    <p:sldId id="256" r:id="rId2"/>
    <p:sldId id="259" r:id="rId3"/>
    <p:sldId id="258" r:id="rId4"/>
    <p:sldId id="257" r:id="rId5"/>
    <p:sldId id="260" r:id="rId6"/>
    <p:sldId id="265" r:id="rId7"/>
    <p:sldId id="267" r:id="rId8"/>
    <p:sldId id="266" r:id="rId9"/>
    <p:sldId id="261" r:id="rId10"/>
    <p:sldId id="262" r:id="rId11"/>
    <p:sldId id="263" r:id="rId12"/>
    <p:sldId id="300" r:id="rId13"/>
    <p:sldId id="306" r:id="rId14"/>
    <p:sldId id="308" r:id="rId15"/>
    <p:sldId id="307" r:id="rId16"/>
    <p:sldId id="268" r:id="rId17"/>
    <p:sldId id="269" r:id="rId18"/>
    <p:sldId id="277" r:id="rId19"/>
    <p:sldId id="276" r:id="rId20"/>
    <p:sldId id="271" r:id="rId21"/>
    <p:sldId id="272" r:id="rId22"/>
    <p:sldId id="273" r:id="rId23"/>
    <p:sldId id="274" r:id="rId24"/>
    <p:sldId id="275" r:id="rId25"/>
    <p:sldId id="281" r:id="rId26"/>
    <p:sldId id="282" r:id="rId27"/>
    <p:sldId id="283" r:id="rId28"/>
    <p:sldId id="286" r:id="rId29"/>
    <p:sldId id="287" r:id="rId30"/>
    <p:sldId id="284" r:id="rId31"/>
    <p:sldId id="285" r:id="rId32"/>
    <p:sldId id="278" r:id="rId33"/>
    <p:sldId id="279" r:id="rId34"/>
    <p:sldId id="290" r:id="rId35"/>
    <p:sldId id="295" r:id="rId36"/>
    <p:sldId id="291" r:id="rId37"/>
    <p:sldId id="293" r:id="rId38"/>
    <p:sldId id="292" r:id="rId39"/>
    <p:sldId id="294" r:id="rId40"/>
    <p:sldId id="296" r:id="rId41"/>
    <p:sldId id="297" r:id="rId42"/>
    <p:sldId id="301" r:id="rId43"/>
    <p:sldId id="302" r:id="rId44"/>
    <p:sldId id="303" r:id="rId45"/>
    <p:sldId id="305" r:id="rId46"/>
    <p:sldId id="309" r:id="rId4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Windows 사용자" initials="W사" lastIdx="2" clrIdx="0">
    <p:extLst>
      <p:ext uri="{19B8F6BF-5375-455C-9EA6-DF929625EA0E}">
        <p15:presenceInfo xmlns:p15="http://schemas.microsoft.com/office/powerpoint/2012/main" userId="6a153e115b7f7b52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B4C31"/>
    <a:srgbClr val="FF1D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71196" autoAdjust="0"/>
  </p:normalViewPr>
  <p:slideViewPr>
    <p:cSldViewPr snapToGrid="0">
      <p:cViewPr varScale="1">
        <p:scale>
          <a:sx n="81" d="100"/>
          <a:sy n="81" d="100"/>
        </p:scale>
        <p:origin x="171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commentAuthors" Target="comment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서 재원" userId="6a153e115b7f7b52" providerId="LiveId" clId="{D1111C77-C13E-7942-AD10-072AE9D405DB}"/>
    <pc:docChg chg="undo custSel addSld delSld modSld">
      <pc:chgData name="서 재원" userId="6a153e115b7f7b52" providerId="LiveId" clId="{D1111C77-C13E-7942-AD10-072AE9D405DB}" dt="2021-07-04T23:46:35.716" v="3211" actId="20577"/>
      <pc:docMkLst>
        <pc:docMk/>
      </pc:docMkLst>
      <pc:sldChg chg="modSp">
        <pc:chgData name="서 재원" userId="6a153e115b7f7b52" providerId="LiveId" clId="{D1111C77-C13E-7942-AD10-072AE9D405DB}" dt="2021-07-04T23:46:35.716" v="3211" actId="20577"/>
        <pc:sldMkLst>
          <pc:docMk/>
          <pc:sldMk cId="1042716607" sldId="274"/>
        </pc:sldMkLst>
        <pc:spChg chg="mod">
          <ac:chgData name="서 재원" userId="6a153e115b7f7b52" providerId="LiveId" clId="{D1111C77-C13E-7942-AD10-072AE9D405DB}" dt="2021-07-04T23:46:35.716" v="3211" actId="20577"/>
          <ac:spMkLst>
            <pc:docMk/>
            <pc:sldMk cId="1042716607" sldId="274"/>
            <ac:spMk id="5" creationId="{DC3912B1-7103-41FC-A831-C8984FC4E2D9}"/>
          </ac:spMkLst>
        </pc:spChg>
      </pc:sldChg>
      <pc:sldChg chg="new del">
        <pc:chgData name="서 재원" userId="6a153e115b7f7b52" providerId="LiveId" clId="{D1111C77-C13E-7942-AD10-072AE9D405DB}" dt="2021-07-04T22:34:52.712" v="2" actId="2696"/>
        <pc:sldMkLst>
          <pc:docMk/>
          <pc:sldMk cId="3808788068" sldId="288"/>
        </pc:sldMkLst>
      </pc:sldChg>
      <pc:sldChg chg="modSp add del">
        <pc:chgData name="서 재원" userId="6a153e115b7f7b52" providerId="LiveId" clId="{D1111C77-C13E-7942-AD10-072AE9D405DB}" dt="2021-07-04T22:47:27.847" v="678" actId="2696"/>
        <pc:sldMkLst>
          <pc:docMk/>
          <pc:sldMk cId="1506608548" sldId="289"/>
        </pc:sldMkLst>
        <pc:spChg chg="mod">
          <ac:chgData name="서 재원" userId="6a153e115b7f7b52" providerId="LiveId" clId="{D1111C77-C13E-7942-AD10-072AE9D405DB}" dt="2021-07-04T22:35:07.163" v="24" actId="20577"/>
          <ac:spMkLst>
            <pc:docMk/>
            <pc:sldMk cId="1506608548" sldId="289"/>
            <ac:spMk id="2" creationId="{C43368D0-737E-43E1-85FC-E2062A108C3E}"/>
          </ac:spMkLst>
        </pc:spChg>
        <pc:spChg chg="mod">
          <ac:chgData name="서 재원" userId="6a153e115b7f7b52" providerId="LiveId" clId="{D1111C77-C13E-7942-AD10-072AE9D405DB}" dt="2021-07-04T22:35:26.012" v="47" actId="20577"/>
          <ac:spMkLst>
            <pc:docMk/>
            <pc:sldMk cId="1506608548" sldId="289"/>
            <ac:spMk id="12" creationId="{FFD8B260-E198-4EAA-97E5-5ABB8817F61B}"/>
          </ac:spMkLst>
        </pc:spChg>
      </pc:sldChg>
      <pc:sldChg chg="addSp delSp modSp add">
        <pc:chgData name="서 재원" userId="6a153e115b7f7b52" providerId="LiveId" clId="{D1111C77-C13E-7942-AD10-072AE9D405DB}" dt="2021-07-04T23:34:26.863" v="2498" actId="20577"/>
        <pc:sldMkLst>
          <pc:docMk/>
          <pc:sldMk cId="2549748050" sldId="290"/>
        </pc:sldMkLst>
        <pc:spChg chg="del">
          <ac:chgData name="서 재원" userId="6a153e115b7f7b52" providerId="LiveId" clId="{D1111C77-C13E-7942-AD10-072AE9D405DB}" dt="2021-07-04T22:36:41.777" v="49" actId="478"/>
          <ac:spMkLst>
            <pc:docMk/>
            <pc:sldMk cId="2549748050" sldId="290"/>
            <ac:spMk id="2" creationId="{C43368D0-737E-43E1-85FC-E2062A108C3E}"/>
          </ac:spMkLst>
        </pc:spChg>
        <pc:spChg chg="add del mod">
          <ac:chgData name="서 재원" userId="6a153e115b7f7b52" providerId="LiveId" clId="{D1111C77-C13E-7942-AD10-072AE9D405DB}" dt="2021-07-04T22:36:44.155" v="50" actId="22"/>
          <ac:spMkLst>
            <pc:docMk/>
            <pc:sldMk cId="2549748050" sldId="290"/>
            <ac:spMk id="4" creationId="{CFE436CE-9D4A-F347-BC49-84679DE78A3A}"/>
          </ac:spMkLst>
        </pc:spChg>
        <pc:spChg chg="add mod">
          <ac:chgData name="서 재원" userId="6a153e115b7f7b52" providerId="LiveId" clId="{D1111C77-C13E-7942-AD10-072AE9D405DB}" dt="2021-07-04T22:36:44.155" v="50" actId="22"/>
          <ac:spMkLst>
            <pc:docMk/>
            <pc:sldMk cId="2549748050" sldId="290"/>
            <ac:spMk id="5" creationId="{AAADDE90-C7EC-8541-9CB0-DCC0DDEB31D6}"/>
          </ac:spMkLst>
        </pc:spChg>
        <pc:spChg chg="add del">
          <ac:chgData name="서 재원" userId="6a153e115b7f7b52" providerId="LiveId" clId="{D1111C77-C13E-7942-AD10-072AE9D405DB}" dt="2021-07-04T22:41:05.199" v="99" actId="22"/>
          <ac:spMkLst>
            <pc:docMk/>
            <pc:sldMk cId="2549748050" sldId="290"/>
            <ac:spMk id="7" creationId="{D1911EFD-34A7-6544-BF1B-D14A43CE8340}"/>
          </ac:spMkLst>
        </pc:spChg>
        <pc:spChg chg="mod">
          <ac:chgData name="서 재원" userId="6a153e115b7f7b52" providerId="LiveId" clId="{D1111C77-C13E-7942-AD10-072AE9D405DB}" dt="2021-07-04T23:34:26.863" v="2498" actId="20577"/>
          <ac:spMkLst>
            <pc:docMk/>
            <pc:sldMk cId="2549748050" sldId="290"/>
            <ac:spMk id="12" creationId="{FFD8B260-E198-4EAA-97E5-5ABB8817F61B}"/>
          </ac:spMkLst>
        </pc:spChg>
      </pc:sldChg>
      <pc:sldChg chg="modSp add">
        <pc:chgData name="서 재원" userId="6a153e115b7f7b52" providerId="LiveId" clId="{D1111C77-C13E-7942-AD10-072AE9D405DB}" dt="2021-07-04T23:42:37.271" v="3051" actId="20577"/>
        <pc:sldMkLst>
          <pc:docMk/>
          <pc:sldMk cId="3885156194" sldId="291"/>
        </pc:sldMkLst>
        <pc:spChg chg="mod">
          <ac:chgData name="서 재원" userId="6a153e115b7f7b52" providerId="LiveId" clId="{D1111C77-C13E-7942-AD10-072AE9D405DB}" dt="2021-07-04T22:47:44.486" v="689" actId="20577"/>
          <ac:spMkLst>
            <pc:docMk/>
            <pc:sldMk cId="3885156194" sldId="291"/>
            <ac:spMk id="5" creationId="{AAADDE90-C7EC-8541-9CB0-DCC0DDEB31D6}"/>
          </ac:spMkLst>
        </pc:spChg>
        <pc:spChg chg="mod">
          <ac:chgData name="서 재원" userId="6a153e115b7f7b52" providerId="LiveId" clId="{D1111C77-C13E-7942-AD10-072AE9D405DB}" dt="2021-07-04T23:42:37.271" v="3051" actId="20577"/>
          <ac:spMkLst>
            <pc:docMk/>
            <pc:sldMk cId="3885156194" sldId="291"/>
            <ac:spMk id="12" creationId="{FFD8B260-E198-4EAA-97E5-5ABB8817F61B}"/>
          </ac:spMkLst>
        </pc:spChg>
      </pc:sldChg>
      <pc:sldChg chg="modSp add">
        <pc:chgData name="서 재원" userId="6a153e115b7f7b52" providerId="LiveId" clId="{D1111C77-C13E-7942-AD10-072AE9D405DB}" dt="2021-07-04T23:11:39.489" v="2166" actId="20577"/>
        <pc:sldMkLst>
          <pc:docMk/>
          <pc:sldMk cId="1274163043" sldId="292"/>
        </pc:sldMkLst>
        <pc:spChg chg="mod">
          <ac:chgData name="서 재원" userId="6a153e115b7f7b52" providerId="LiveId" clId="{D1111C77-C13E-7942-AD10-072AE9D405DB}" dt="2021-07-04T23:10:55.686" v="2075" actId="20577"/>
          <ac:spMkLst>
            <pc:docMk/>
            <pc:sldMk cId="1274163043" sldId="292"/>
            <ac:spMk id="5" creationId="{AAADDE90-C7EC-8541-9CB0-DCC0DDEB31D6}"/>
          </ac:spMkLst>
        </pc:spChg>
        <pc:spChg chg="mod">
          <ac:chgData name="서 재원" userId="6a153e115b7f7b52" providerId="LiveId" clId="{D1111C77-C13E-7942-AD10-072AE9D405DB}" dt="2021-07-04T23:11:39.489" v="2166" actId="20577"/>
          <ac:spMkLst>
            <pc:docMk/>
            <pc:sldMk cId="1274163043" sldId="292"/>
            <ac:spMk id="12" creationId="{FFD8B260-E198-4EAA-97E5-5ABB8817F61B}"/>
          </ac:spMkLst>
        </pc:spChg>
      </pc:sldChg>
      <pc:sldChg chg="modSp add">
        <pc:chgData name="서 재원" userId="6a153e115b7f7b52" providerId="LiveId" clId="{D1111C77-C13E-7942-AD10-072AE9D405DB}" dt="2021-07-04T23:43:09.558" v="3055" actId="20577"/>
        <pc:sldMkLst>
          <pc:docMk/>
          <pc:sldMk cId="1184845255" sldId="293"/>
        </pc:sldMkLst>
        <pc:spChg chg="mod">
          <ac:chgData name="서 재원" userId="6a153e115b7f7b52" providerId="LiveId" clId="{D1111C77-C13E-7942-AD10-072AE9D405DB}" dt="2021-07-04T23:12:00.124" v="2168" actId="20577"/>
          <ac:spMkLst>
            <pc:docMk/>
            <pc:sldMk cId="1184845255" sldId="293"/>
            <ac:spMk id="5" creationId="{AAADDE90-C7EC-8541-9CB0-DCC0DDEB31D6}"/>
          </ac:spMkLst>
        </pc:spChg>
        <pc:spChg chg="mod">
          <ac:chgData name="서 재원" userId="6a153e115b7f7b52" providerId="LiveId" clId="{D1111C77-C13E-7942-AD10-072AE9D405DB}" dt="2021-07-04T23:43:09.558" v="3055" actId="20577"/>
          <ac:spMkLst>
            <pc:docMk/>
            <pc:sldMk cId="1184845255" sldId="293"/>
            <ac:spMk id="12" creationId="{FFD8B260-E198-4EAA-97E5-5ABB8817F61B}"/>
          </ac:spMkLst>
        </pc:spChg>
      </pc:sldChg>
      <pc:sldChg chg="modSp add">
        <pc:chgData name="서 재원" userId="6a153e115b7f7b52" providerId="LiveId" clId="{D1111C77-C13E-7942-AD10-072AE9D405DB}" dt="2021-07-04T23:43:50.564" v="3083" actId="20577"/>
        <pc:sldMkLst>
          <pc:docMk/>
          <pc:sldMk cId="3250834274" sldId="294"/>
        </pc:sldMkLst>
        <pc:spChg chg="mod">
          <ac:chgData name="서 재원" userId="6a153e115b7f7b52" providerId="LiveId" clId="{D1111C77-C13E-7942-AD10-072AE9D405DB}" dt="2021-07-04T23:43:50.564" v="3083" actId="20577"/>
          <ac:spMkLst>
            <pc:docMk/>
            <pc:sldMk cId="3250834274" sldId="294"/>
            <ac:spMk id="5" creationId="{AAADDE90-C7EC-8541-9CB0-DCC0DDEB31D6}"/>
          </ac:spMkLst>
        </pc:spChg>
        <pc:spChg chg="mod">
          <ac:chgData name="서 재원" userId="6a153e115b7f7b52" providerId="LiveId" clId="{D1111C77-C13E-7942-AD10-072AE9D405DB}" dt="2021-07-04T23:41:44.464" v="2899" actId="20577"/>
          <ac:spMkLst>
            <pc:docMk/>
            <pc:sldMk cId="3250834274" sldId="294"/>
            <ac:spMk id="12" creationId="{FFD8B260-E198-4EAA-97E5-5ABB8817F61B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554492-EE39-41EE-8591-BBB1D43C710F}" type="datetimeFigureOut">
              <a:rPr lang="ko-KR" altLang="en-US" smtClean="0"/>
              <a:t>2021-07-12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BD8C02-ADBA-468E-8DA4-3AE298BA7F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763493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BD8C02-ADBA-468E-8DA4-3AE298BA7F53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58457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들어가기에 앞서 운영체제가 하는 일은 무엇인지 간단하게 살펴보겠습니다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컴퓨터의 하드웨어를 제어하고 프로그램이 실행될 환경을 구성해주는 시스템 소프트웨어입니다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하드웨어를 감추고 응용프로그램은 이를 직접적으로 다룰 수 없다는 의미이기도 합니다</a:t>
            </a:r>
            <a:endParaRPr lang="en-US" altLang="ko-KR"/>
          </a:p>
          <a:p>
            <a:endParaRPr lang="en-US" altLang="ko-KR"/>
          </a:p>
          <a:p>
            <a:r>
              <a:rPr lang="ko-KR" altLang="en-US"/>
              <a:t>따라서 운영체제는 하드웨어간 인터페이스를 통해 응용프로그램이 쉽고 편리하게 각종 작업을 할 수 있도록 지원하는 것이 주목적입니다</a:t>
            </a:r>
            <a:r>
              <a:rPr lang="en-US" altLang="ko-KR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BD8C02-ADBA-468E-8DA4-3AE298BA7F53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542806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시초는 벨 연구소에서 켄 톰슨</a:t>
            </a:r>
            <a:r>
              <a:rPr lang="en-US" altLang="ko-KR" dirty="0"/>
              <a:t>, </a:t>
            </a:r>
            <a:r>
              <a:rPr lang="ko-KR" altLang="en-US" dirty="0" err="1"/>
              <a:t>데니스</a:t>
            </a:r>
            <a:r>
              <a:rPr lang="ko-KR" altLang="en-US" dirty="0"/>
              <a:t> 리치 등</a:t>
            </a:r>
            <a:r>
              <a:rPr lang="ko-KR" altLang="en-US" baseline="0" dirty="0"/>
              <a:t> 주요 개발자들을 중심으로 </a:t>
            </a:r>
            <a:r>
              <a:rPr lang="ko-KR" altLang="en-US" dirty="0"/>
              <a:t>유닉스가 개발됐습니다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처음엔 어셈블리어로 유닉스의 운영체제를 개발하였는데</a:t>
            </a:r>
            <a:r>
              <a:rPr lang="en-US" altLang="ko-KR" dirty="0"/>
              <a:t>,</a:t>
            </a:r>
          </a:p>
          <a:p>
            <a:r>
              <a:rPr lang="ko-KR" altLang="en-US" dirty="0"/>
              <a:t>어셈블리어로 개발되었기 때문에 다른</a:t>
            </a:r>
            <a:r>
              <a:rPr lang="ko-KR" altLang="en-US" baseline="0" dirty="0"/>
              <a:t> 플랫폼으로의 </a:t>
            </a:r>
            <a:r>
              <a:rPr lang="ko-KR" altLang="en-US" baseline="0" dirty="0" err="1"/>
              <a:t>이식성이</a:t>
            </a:r>
            <a:r>
              <a:rPr lang="ko-KR" altLang="en-US" baseline="0" dirty="0"/>
              <a:t> 좋지 않았습니다</a:t>
            </a:r>
            <a:r>
              <a:rPr lang="en-US" altLang="ko-KR" baseline="0" dirty="0"/>
              <a:t>.</a:t>
            </a:r>
          </a:p>
          <a:p>
            <a:endParaRPr lang="en-US" altLang="ko-KR" baseline="0" dirty="0"/>
          </a:p>
          <a:p>
            <a:r>
              <a:rPr lang="ko-KR" altLang="en-US" dirty="0"/>
              <a:t>이에 </a:t>
            </a:r>
            <a:r>
              <a:rPr lang="ko-KR" altLang="en-US" dirty="0" err="1"/>
              <a:t>데니스</a:t>
            </a:r>
            <a:r>
              <a:rPr lang="ko-KR" altLang="en-US" dirty="0"/>
              <a:t> 리치가 일부분을 제외한 대부분을 </a:t>
            </a:r>
            <a:r>
              <a:rPr lang="en-US" altLang="ko-KR" dirty="0"/>
              <a:t>C</a:t>
            </a:r>
            <a:r>
              <a:rPr lang="ko-KR" altLang="en-US" dirty="0"/>
              <a:t>언어로 </a:t>
            </a:r>
            <a:r>
              <a:rPr lang="ko-KR" altLang="en-US" dirty="0" err="1"/>
              <a:t>재작성하여</a:t>
            </a:r>
            <a:r>
              <a:rPr lang="ko-KR" altLang="en-US" dirty="0"/>
              <a:t> </a:t>
            </a:r>
            <a:r>
              <a:rPr lang="ko-KR" altLang="en-US" dirty="0" err="1"/>
              <a:t>이식성을</a:t>
            </a:r>
            <a:r>
              <a:rPr lang="ko-KR" altLang="en-US" dirty="0"/>
              <a:t> 높이면서 초창기 유닉스가 만들어지게 됩니다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이후 몇 년이 지나서</a:t>
            </a:r>
            <a:endParaRPr lang="en-US" altLang="ko-KR" dirty="0"/>
          </a:p>
          <a:p>
            <a:r>
              <a:rPr lang="ko-KR" altLang="en-US" dirty="0"/>
              <a:t>유닉스가 상업적으로 이용되려는 조짐이 있었고 그런 분위기가 조장되는 것이 마음에 들지 않았던</a:t>
            </a:r>
            <a:r>
              <a:rPr lang="en-US" altLang="ko-KR" dirty="0"/>
              <a:t> </a:t>
            </a:r>
            <a:r>
              <a:rPr lang="ko-KR" altLang="en-US" dirty="0"/>
              <a:t>리처드 </a:t>
            </a:r>
            <a:r>
              <a:rPr lang="ko-KR" altLang="en-US" dirty="0" err="1"/>
              <a:t>스톨먼은</a:t>
            </a:r>
            <a:r>
              <a:rPr lang="ko-KR" altLang="en-US" baseline="0" dirty="0"/>
              <a:t> </a:t>
            </a:r>
            <a:r>
              <a:rPr lang="en-US" altLang="ko-KR" baseline="0" dirty="0"/>
              <a:t>GNU </a:t>
            </a:r>
            <a:r>
              <a:rPr lang="ko-KR" altLang="en-US" baseline="0" dirty="0"/>
              <a:t>선언문을 발표함으로써</a:t>
            </a:r>
            <a:endParaRPr lang="en-US" altLang="ko-KR" baseline="0" dirty="0"/>
          </a:p>
          <a:p>
            <a:r>
              <a:rPr lang="ko-KR" altLang="en-US" baseline="0" dirty="0"/>
              <a:t>유닉스에 완전히 호환될 수 있는 운영체제를 만드는 것을 목표로 </a:t>
            </a:r>
            <a:r>
              <a:rPr lang="ko-KR" altLang="en-US" baseline="0" dirty="0" err="1"/>
              <a:t>하게됩니다</a:t>
            </a:r>
            <a:r>
              <a:rPr lang="en-US" altLang="ko-KR" baseline="0" dirty="0"/>
              <a:t>.</a:t>
            </a:r>
          </a:p>
          <a:p>
            <a:r>
              <a:rPr lang="ko-KR" altLang="en-US" baseline="0" dirty="0"/>
              <a:t>이후 자유소프트웨어 재단을 설립하고 </a:t>
            </a:r>
            <a:r>
              <a:rPr lang="ko-KR" altLang="en-US" baseline="0" dirty="0" err="1"/>
              <a:t>그누</a:t>
            </a:r>
            <a:r>
              <a:rPr lang="ko-KR" altLang="en-US" baseline="0" dirty="0"/>
              <a:t> 프로젝트의 산출물을 상용화 할 수 없도록 </a:t>
            </a:r>
            <a:r>
              <a:rPr lang="en-US" altLang="ko-KR" baseline="0" dirty="0"/>
              <a:t>GPL </a:t>
            </a:r>
            <a:r>
              <a:rPr lang="ko-KR" altLang="en-US" baseline="0" dirty="0"/>
              <a:t>라이선스를 작성하면서</a:t>
            </a:r>
            <a:r>
              <a:rPr lang="en-US" altLang="ko-KR" baseline="0" dirty="0"/>
              <a:t/>
            </a:r>
            <a:br>
              <a:rPr lang="en-US" altLang="ko-KR" baseline="0" dirty="0"/>
            </a:br>
            <a:r>
              <a:rPr lang="ko-KR" altLang="en-US" baseline="0" dirty="0"/>
              <a:t>운영체제에 필요한 프로그램들을 다수 개발해냅니다</a:t>
            </a:r>
            <a:r>
              <a:rPr lang="en-US" altLang="ko-KR" baseline="0" dirty="0"/>
              <a:t>.</a:t>
            </a:r>
          </a:p>
          <a:p>
            <a:endParaRPr lang="en-US" altLang="ko-KR" baseline="0" dirty="0"/>
          </a:p>
          <a:p>
            <a:r>
              <a:rPr lang="ko-KR" altLang="en-US" baseline="0" dirty="0"/>
              <a:t>다만 가장 저급 레벨을 다뤄야하는 </a:t>
            </a:r>
            <a:r>
              <a:rPr lang="en-US" altLang="ko-KR" baseline="0" dirty="0"/>
              <a:t>OS</a:t>
            </a:r>
            <a:r>
              <a:rPr lang="ko-KR" altLang="en-US" baseline="0" dirty="0"/>
              <a:t>의 핵심인 커널을 완성하지 못했습니다</a:t>
            </a:r>
            <a:r>
              <a:rPr lang="en-US" altLang="ko-KR" baseline="0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이 때 운영 체제에 관심을 가졌던 </a:t>
            </a:r>
            <a:r>
              <a:rPr lang="ko-KR" altLang="en-US" dirty="0" err="1"/>
              <a:t>리누스</a:t>
            </a:r>
            <a:r>
              <a:rPr lang="ko-KR" altLang="en-US" dirty="0"/>
              <a:t> </a:t>
            </a:r>
            <a:r>
              <a:rPr lang="ko-KR" altLang="en-US" dirty="0" err="1"/>
              <a:t>토르발스는</a:t>
            </a:r>
            <a:r>
              <a:rPr lang="ko-KR" altLang="en-US" dirty="0"/>
              <a:t> 자신만의 운영체제를 개발하고자 했으며</a:t>
            </a:r>
            <a:r>
              <a:rPr lang="ko-KR" altLang="en-US" baseline="0" dirty="0"/>
              <a:t> 이에 리눅스 커널을 만듭니다</a:t>
            </a:r>
            <a:r>
              <a:rPr lang="en-US" altLang="ko-KR" baseline="0" dirty="0"/>
              <a:t>.</a:t>
            </a:r>
          </a:p>
          <a:p>
            <a:r>
              <a:rPr lang="ko-KR" altLang="en-US" baseline="0" dirty="0"/>
              <a:t>그러자 </a:t>
            </a:r>
            <a:r>
              <a:rPr lang="ko-KR" altLang="en-US" baseline="0" dirty="0" err="1"/>
              <a:t>그누</a:t>
            </a:r>
            <a:r>
              <a:rPr lang="ko-KR" altLang="en-US" baseline="0" dirty="0"/>
              <a:t> 프로젝트에서 리눅스 커널에 관심을 가지게 되면서 </a:t>
            </a:r>
            <a:r>
              <a:rPr lang="ko-KR" altLang="en-US" baseline="0" dirty="0" err="1"/>
              <a:t>그누의</a:t>
            </a:r>
            <a:r>
              <a:rPr lang="ko-KR" altLang="en-US" baseline="0" dirty="0"/>
              <a:t> 유틸리티들과 결합되고 완성 단계 수준의 운영체제가 만들어지게 됩니다</a:t>
            </a:r>
            <a:r>
              <a:rPr lang="en-US" altLang="ko-KR" baseline="0" dirty="0"/>
              <a:t>.</a:t>
            </a:r>
          </a:p>
          <a:p>
            <a:endParaRPr lang="en-US" altLang="ko-KR" baseline="0" dirty="0"/>
          </a:p>
          <a:p>
            <a:r>
              <a:rPr lang="ko-KR" altLang="en-US" baseline="0" dirty="0"/>
              <a:t>이후에 썬 </a:t>
            </a:r>
            <a:r>
              <a:rPr lang="ko-KR" altLang="en-US" baseline="0" dirty="0" err="1"/>
              <a:t>마이크로시스템즈나</a:t>
            </a:r>
            <a:r>
              <a:rPr lang="ko-KR" altLang="en-US" baseline="0" dirty="0"/>
              <a:t> </a:t>
            </a:r>
            <a:r>
              <a:rPr lang="en-US" altLang="ko-KR" baseline="0" dirty="0"/>
              <a:t>IBM </a:t>
            </a:r>
            <a:r>
              <a:rPr lang="ko-KR" altLang="en-US" baseline="0" dirty="0"/>
              <a:t>등의 대기업들이 리눅스 커널 개발에 지원하는 등 빠른 속도로 발전하여 오늘날의 리눅스가 될 수 있었습니다</a:t>
            </a:r>
            <a:r>
              <a:rPr lang="en-US" altLang="ko-KR" baseline="0" dirty="0"/>
              <a:t>.</a:t>
            </a:r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BD8C02-ADBA-468E-8DA4-3AE298BA7F53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69882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>
                <a:latin typeface="Calibri"/>
                <a:ea typeface="맑은 고딕"/>
                <a:cs typeface="Calibri"/>
              </a:rPr>
              <a:t>리눅스의</a:t>
            </a:r>
            <a:r>
              <a:rPr lang="en-US">
                <a:latin typeface="Calibri"/>
                <a:cs typeface="Calibri"/>
              </a:rPr>
              <a:t> </a:t>
            </a:r>
            <a:r>
              <a:rPr lang="ko-KR" altLang="en-US">
                <a:latin typeface="Calibri"/>
                <a:ea typeface="맑은 고딕"/>
                <a:cs typeface="Calibri"/>
              </a:rPr>
              <a:t>특징으로는</a:t>
            </a:r>
            <a:r>
              <a:rPr lang="en-US" altLang="ko-KR">
                <a:latin typeface="Calibri"/>
                <a:ea typeface="맑은 고딕"/>
                <a:cs typeface="Calibri"/>
              </a:rPr>
              <a:t> </a:t>
            </a:r>
            <a:r>
              <a:rPr lang="en-US" altLang="ko-KR" err="1">
                <a:latin typeface="Calibri"/>
                <a:ea typeface="맑은 고딕"/>
                <a:cs typeface="Calibri"/>
              </a:rPr>
              <a:t>상당히</a:t>
            </a:r>
            <a:r>
              <a:rPr lang="en-US" altLang="ko-KR">
                <a:latin typeface="Calibri"/>
                <a:ea typeface="맑은 고딕"/>
                <a:cs typeface="Calibri"/>
              </a:rPr>
              <a:t> </a:t>
            </a:r>
            <a:r>
              <a:rPr lang="en-US" altLang="ko-KR" err="1">
                <a:latin typeface="Calibri"/>
                <a:ea typeface="맑은 고딕"/>
                <a:cs typeface="Calibri"/>
              </a:rPr>
              <a:t>다양한데</a:t>
            </a:r>
            <a:endParaRPr lang="en-US" altLang="ko-KR">
              <a:latin typeface="Calibri"/>
              <a:ea typeface="맑은 고딕"/>
              <a:cs typeface="Calibri"/>
            </a:endParaRPr>
          </a:p>
          <a:p>
            <a:endParaRPr lang="en-US" altLang="ko-KR">
              <a:latin typeface="Calibri"/>
              <a:ea typeface="맑은 고딕"/>
              <a:cs typeface="Calibri"/>
            </a:endParaRPr>
          </a:p>
          <a:p>
            <a:r>
              <a:rPr lang="en-US" altLang="ko-KR" err="1">
                <a:latin typeface="Calibri"/>
                <a:ea typeface="맑은 고딕"/>
                <a:cs typeface="Calibri"/>
              </a:rPr>
              <a:t>커널이</a:t>
            </a:r>
            <a:r>
              <a:rPr lang="en-US" altLang="ko-KR">
                <a:latin typeface="Calibri"/>
                <a:ea typeface="맑은 고딕"/>
                <a:cs typeface="Calibri"/>
              </a:rPr>
              <a:t> </a:t>
            </a:r>
            <a:r>
              <a:rPr lang="en-US" altLang="ko-KR" err="1">
                <a:latin typeface="Calibri"/>
                <a:ea typeface="맑은 고딕"/>
                <a:cs typeface="Calibri"/>
              </a:rPr>
              <a:t>오픈소스</a:t>
            </a:r>
            <a:r>
              <a:rPr lang="en-US" altLang="ko-KR">
                <a:latin typeface="Calibri"/>
                <a:ea typeface="맑은 고딕"/>
                <a:cs typeface="Calibri"/>
              </a:rPr>
              <a:t> </a:t>
            </a:r>
            <a:r>
              <a:rPr lang="en-US" altLang="ko-KR" err="1">
                <a:latin typeface="Calibri"/>
                <a:ea typeface="맑은 고딕"/>
                <a:cs typeface="Calibri"/>
              </a:rPr>
              <a:t>프로젝트인</a:t>
            </a:r>
            <a:r>
              <a:rPr lang="en-US" altLang="ko-KR">
                <a:latin typeface="Calibri"/>
                <a:ea typeface="맑은 고딕"/>
                <a:cs typeface="Calibri"/>
              </a:rPr>
              <a:t> 점,</a:t>
            </a:r>
          </a:p>
          <a:p>
            <a:r>
              <a:rPr lang="en-US" altLang="ko-KR" err="1">
                <a:latin typeface="Calibri"/>
                <a:ea typeface="맑은 고딕"/>
                <a:cs typeface="Calibri"/>
              </a:rPr>
              <a:t>해당</a:t>
            </a:r>
            <a:r>
              <a:rPr lang="en-US" altLang="ko-KR">
                <a:latin typeface="Calibri"/>
                <a:ea typeface="맑은 고딕"/>
                <a:cs typeface="Calibri"/>
              </a:rPr>
              <a:t> </a:t>
            </a:r>
            <a:r>
              <a:rPr lang="en-US" altLang="ko-KR" err="1">
                <a:latin typeface="Calibri"/>
                <a:ea typeface="맑은 고딕"/>
                <a:cs typeface="Calibri"/>
              </a:rPr>
              <a:t>커널을</a:t>
            </a:r>
            <a:r>
              <a:rPr lang="en-US" altLang="ko-KR">
                <a:latin typeface="Calibri"/>
                <a:ea typeface="맑은 고딕"/>
                <a:cs typeface="Calibri"/>
              </a:rPr>
              <a:t> </a:t>
            </a:r>
            <a:r>
              <a:rPr lang="en-US" altLang="ko-KR" err="1">
                <a:latin typeface="Calibri"/>
                <a:ea typeface="맑은 고딕"/>
                <a:cs typeface="Calibri"/>
              </a:rPr>
              <a:t>이용하여</a:t>
            </a:r>
            <a:r>
              <a:rPr lang="en-US" altLang="ko-KR">
                <a:latin typeface="Calibri"/>
                <a:ea typeface="맑은 고딕"/>
                <a:cs typeface="Calibri"/>
              </a:rPr>
              <a:t> </a:t>
            </a:r>
            <a:r>
              <a:rPr lang="en-US" altLang="ko-KR" err="1">
                <a:latin typeface="Calibri"/>
                <a:ea typeface="맑은 고딕"/>
                <a:cs typeface="Calibri"/>
              </a:rPr>
              <a:t>그누</a:t>
            </a:r>
            <a:r>
              <a:rPr lang="en-US" altLang="ko-KR">
                <a:latin typeface="Calibri"/>
                <a:ea typeface="맑은 고딕"/>
                <a:cs typeface="Calibri"/>
              </a:rPr>
              <a:t> </a:t>
            </a:r>
            <a:r>
              <a:rPr lang="en-US" altLang="ko-KR" err="1">
                <a:latin typeface="Calibri"/>
                <a:ea typeface="맑은 고딕"/>
                <a:cs typeface="Calibri"/>
              </a:rPr>
              <a:t>프로젝트에서</a:t>
            </a:r>
            <a:r>
              <a:rPr lang="en-US" altLang="ko-KR">
                <a:latin typeface="Calibri"/>
                <a:ea typeface="맑은 고딕"/>
                <a:cs typeface="Calibri"/>
              </a:rPr>
              <a:t> </a:t>
            </a:r>
            <a:r>
              <a:rPr lang="en-US" altLang="ko-KR" err="1">
                <a:latin typeface="Calibri"/>
                <a:ea typeface="맑은 고딕"/>
                <a:cs typeface="Calibri"/>
              </a:rPr>
              <a:t>개발된</a:t>
            </a:r>
            <a:r>
              <a:rPr lang="en-US" altLang="ko-KR">
                <a:latin typeface="Calibri"/>
                <a:ea typeface="맑은 고딕"/>
                <a:cs typeface="Calibri"/>
              </a:rPr>
              <a:t> </a:t>
            </a:r>
            <a:r>
              <a:rPr lang="en-US" altLang="ko-KR" err="1">
                <a:latin typeface="Calibri"/>
                <a:ea typeface="맑은 고딕"/>
                <a:cs typeface="Calibri"/>
              </a:rPr>
              <a:t>다수</a:t>
            </a:r>
            <a:r>
              <a:rPr lang="en-US" altLang="ko-KR">
                <a:latin typeface="Calibri"/>
                <a:ea typeface="맑은 고딕"/>
                <a:cs typeface="Calibri"/>
              </a:rPr>
              <a:t> </a:t>
            </a:r>
            <a:r>
              <a:rPr lang="en-US" altLang="ko-KR" err="1">
                <a:latin typeface="Calibri"/>
                <a:ea typeface="맑은 고딕"/>
                <a:cs typeface="Calibri"/>
              </a:rPr>
              <a:t>응용프로그램</a:t>
            </a:r>
            <a:r>
              <a:rPr lang="en-US" altLang="ko-KR">
                <a:latin typeface="Calibri"/>
                <a:ea typeface="맑은 고딕"/>
                <a:cs typeface="Calibri"/>
              </a:rPr>
              <a:t> 및 </a:t>
            </a:r>
            <a:r>
              <a:rPr lang="en-US" altLang="ko-KR" err="1">
                <a:latin typeface="Calibri"/>
                <a:ea typeface="맑은 고딕"/>
                <a:cs typeface="Calibri"/>
              </a:rPr>
              <a:t>벤더들의</a:t>
            </a:r>
            <a:r>
              <a:rPr lang="en-US" altLang="ko-KR">
                <a:latin typeface="Calibri"/>
                <a:ea typeface="맑은 고딕"/>
                <a:cs typeface="Calibri"/>
              </a:rPr>
              <a:t> </a:t>
            </a:r>
            <a:r>
              <a:rPr lang="en-US" altLang="ko-KR" err="1">
                <a:latin typeface="Calibri"/>
                <a:ea typeface="맑은 고딕"/>
                <a:cs typeface="Calibri"/>
              </a:rPr>
              <a:t>커스텀</a:t>
            </a:r>
            <a:r>
              <a:rPr lang="en-US" altLang="ko-KR">
                <a:latin typeface="Calibri"/>
                <a:ea typeface="맑은 고딕"/>
                <a:cs typeface="Calibri"/>
              </a:rPr>
              <a:t> </a:t>
            </a:r>
            <a:r>
              <a:rPr lang="en-US" altLang="ko-KR" err="1">
                <a:latin typeface="Calibri"/>
                <a:ea typeface="맑은 고딕"/>
                <a:cs typeface="Calibri"/>
              </a:rPr>
              <a:t>사항</a:t>
            </a:r>
            <a:r>
              <a:rPr lang="en-US" altLang="ko-KR">
                <a:latin typeface="Calibri"/>
                <a:ea typeface="맑은 고딕"/>
                <a:cs typeface="Calibri"/>
              </a:rPr>
              <a:t>, </a:t>
            </a:r>
            <a:r>
              <a:rPr lang="en-US" altLang="ko-KR" err="1">
                <a:latin typeface="Calibri"/>
                <a:ea typeface="맑은 고딕"/>
                <a:cs typeface="Calibri"/>
              </a:rPr>
              <a:t>응용프로그램이</a:t>
            </a:r>
            <a:r>
              <a:rPr lang="en-US" altLang="ko-KR">
                <a:latin typeface="Calibri"/>
                <a:ea typeface="맑은 고딕"/>
                <a:cs typeface="Calibri"/>
              </a:rPr>
              <a:t> </a:t>
            </a:r>
            <a:r>
              <a:rPr lang="en-US" altLang="ko-KR" err="1">
                <a:latin typeface="Calibri"/>
                <a:ea typeface="맑은 고딕"/>
                <a:cs typeface="Calibri"/>
              </a:rPr>
              <a:t>포함되어</a:t>
            </a:r>
            <a:endParaRPr lang="en-US" altLang="ko-KR">
              <a:latin typeface="Calibri"/>
              <a:ea typeface="맑은 고딕"/>
              <a:cs typeface="Calibri"/>
            </a:endParaRPr>
          </a:p>
          <a:p>
            <a:r>
              <a:rPr lang="en-US" altLang="ko-KR" err="1">
                <a:latin typeface="Calibri"/>
                <a:ea typeface="맑은 고딕"/>
                <a:cs typeface="Calibri"/>
              </a:rPr>
              <a:t>사용자가</a:t>
            </a:r>
            <a:r>
              <a:rPr lang="en-US" altLang="ko-KR">
                <a:latin typeface="Calibri"/>
                <a:ea typeface="맑은 고딕"/>
                <a:cs typeface="Calibri"/>
              </a:rPr>
              <a:t> </a:t>
            </a:r>
            <a:r>
              <a:rPr lang="en-US" altLang="ko-KR" err="1">
                <a:latin typeface="Calibri"/>
                <a:ea typeface="맑은 고딕"/>
                <a:cs typeface="Calibri"/>
              </a:rPr>
              <a:t>사용해볼</a:t>
            </a:r>
            <a:r>
              <a:rPr lang="en-US" altLang="ko-KR">
                <a:latin typeface="Calibri"/>
                <a:ea typeface="맑은 고딕"/>
                <a:cs typeface="Calibri"/>
              </a:rPr>
              <a:t> 수 </a:t>
            </a:r>
            <a:r>
              <a:rPr lang="en-US" altLang="ko-KR" err="1">
                <a:latin typeface="Calibri"/>
                <a:ea typeface="맑은 고딕"/>
                <a:cs typeface="Calibri"/>
              </a:rPr>
              <a:t>있는</a:t>
            </a:r>
            <a:r>
              <a:rPr lang="en-US" altLang="ko-KR">
                <a:latin typeface="Calibri"/>
                <a:ea typeface="맑은 고딕"/>
                <a:cs typeface="Calibri"/>
              </a:rPr>
              <a:t> </a:t>
            </a:r>
            <a:r>
              <a:rPr lang="en-US" altLang="ko-KR" err="1">
                <a:latin typeface="Calibri"/>
                <a:ea typeface="맑은 고딕"/>
                <a:cs typeface="Calibri"/>
              </a:rPr>
              <a:t>배포판의</a:t>
            </a:r>
            <a:r>
              <a:rPr lang="en-US" altLang="ko-KR">
                <a:latin typeface="Calibri"/>
                <a:ea typeface="맑은 고딕"/>
                <a:cs typeface="Calibri"/>
              </a:rPr>
              <a:t> </a:t>
            </a:r>
            <a:r>
              <a:rPr lang="en-US" altLang="ko-KR" err="1">
                <a:latin typeface="Calibri"/>
                <a:ea typeface="맑은 고딕"/>
                <a:cs typeface="Calibri"/>
              </a:rPr>
              <a:t>종류가</a:t>
            </a:r>
            <a:r>
              <a:rPr lang="en-US" altLang="ko-KR">
                <a:latin typeface="Calibri"/>
                <a:ea typeface="맑은 고딕"/>
                <a:cs typeface="Calibri"/>
              </a:rPr>
              <a:t> </a:t>
            </a:r>
            <a:r>
              <a:rPr lang="en-US" altLang="ko-KR" err="1">
                <a:latin typeface="Calibri"/>
                <a:ea typeface="맑은 고딕"/>
                <a:cs typeface="Calibri"/>
              </a:rPr>
              <a:t>다양합니다</a:t>
            </a:r>
            <a:r>
              <a:rPr lang="en-US" altLang="ko-KR">
                <a:latin typeface="Calibri"/>
                <a:ea typeface="맑은 고딕"/>
                <a:cs typeface="Calibri"/>
              </a:rPr>
              <a:t>.</a:t>
            </a:r>
          </a:p>
          <a:p>
            <a:endParaRPr lang="en-US" altLang="ko-KR">
              <a:latin typeface="Calibri"/>
              <a:ea typeface="맑은 고딕"/>
              <a:cs typeface="Calibri"/>
            </a:endParaRPr>
          </a:p>
          <a:p>
            <a:r>
              <a:rPr lang="en-US" altLang="ko-KR" err="1">
                <a:latin typeface="Calibri"/>
                <a:ea typeface="맑은 고딕"/>
                <a:cs typeface="Calibri"/>
              </a:rPr>
              <a:t>또한</a:t>
            </a:r>
            <a:r>
              <a:rPr lang="en-US" altLang="ko-KR">
                <a:latin typeface="Calibri"/>
                <a:ea typeface="맑은 고딕"/>
                <a:cs typeface="Calibri"/>
              </a:rPr>
              <a:t> </a:t>
            </a:r>
            <a:r>
              <a:rPr lang="en-US" altLang="ko-KR" err="1">
                <a:latin typeface="Calibri"/>
                <a:ea typeface="맑은 고딕"/>
                <a:cs typeface="Calibri"/>
              </a:rPr>
              <a:t>완전한</a:t>
            </a:r>
            <a:r>
              <a:rPr lang="en-US" altLang="ko-KR">
                <a:latin typeface="Calibri"/>
                <a:ea typeface="맑은 고딕"/>
                <a:cs typeface="Calibri"/>
              </a:rPr>
              <a:t> </a:t>
            </a:r>
            <a:r>
              <a:rPr lang="en-US" altLang="ko-KR" err="1">
                <a:latin typeface="Calibri"/>
                <a:ea typeface="맑은 고딕"/>
                <a:cs typeface="Calibri"/>
              </a:rPr>
              <a:t>개념의</a:t>
            </a:r>
            <a:r>
              <a:rPr lang="en-US" altLang="ko-KR">
                <a:latin typeface="Calibri"/>
                <a:ea typeface="맑은 고딕"/>
                <a:cs typeface="Calibri"/>
              </a:rPr>
              <a:t> </a:t>
            </a:r>
            <a:r>
              <a:rPr lang="en-US" altLang="ko-KR" err="1">
                <a:latin typeface="Calibri"/>
                <a:ea typeface="맑은 고딕"/>
                <a:cs typeface="Calibri"/>
              </a:rPr>
              <a:t>다중</a:t>
            </a:r>
            <a:r>
              <a:rPr lang="en-US" altLang="ko-KR">
                <a:latin typeface="Calibri"/>
                <a:ea typeface="맑은 고딕"/>
                <a:cs typeface="Calibri"/>
              </a:rPr>
              <a:t> 사용자 및 </a:t>
            </a:r>
            <a:r>
              <a:rPr lang="en-US" altLang="ko-KR" err="1">
                <a:latin typeface="Calibri"/>
                <a:ea typeface="맑은 고딕"/>
                <a:cs typeface="Calibri"/>
              </a:rPr>
              <a:t>멀티</a:t>
            </a:r>
            <a:r>
              <a:rPr lang="en-US" altLang="ko-KR">
                <a:latin typeface="Calibri"/>
                <a:ea typeface="맑은 고딕"/>
                <a:cs typeface="Calibri"/>
              </a:rPr>
              <a:t> </a:t>
            </a:r>
            <a:r>
              <a:rPr lang="en-US" altLang="ko-KR" err="1">
                <a:latin typeface="Calibri"/>
                <a:ea typeface="맑은 고딕"/>
                <a:cs typeface="Calibri"/>
              </a:rPr>
              <a:t>태스킹으로</a:t>
            </a:r>
            <a:r>
              <a:rPr lang="en-US" altLang="ko-KR">
                <a:latin typeface="Calibri"/>
                <a:ea typeface="맑은 고딕"/>
                <a:cs typeface="Calibri"/>
              </a:rPr>
              <a:t> </a:t>
            </a:r>
            <a:r>
              <a:rPr lang="en-US" altLang="ko-KR" err="1">
                <a:latin typeface="Calibri"/>
                <a:ea typeface="맑은 고딕"/>
                <a:cs typeface="Calibri"/>
              </a:rPr>
              <a:t>시분할</a:t>
            </a:r>
            <a:r>
              <a:rPr lang="en-US" altLang="ko-KR">
                <a:latin typeface="Calibri"/>
                <a:ea typeface="맑은 고딕"/>
                <a:cs typeface="Calibri"/>
              </a:rPr>
              <a:t> </a:t>
            </a:r>
            <a:r>
              <a:rPr lang="en-US" altLang="ko-KR" err="1">
                <a:latin typeface="Calibri"/>
                <a:ea typeface="맑은 고딕"/>
                <a:cs typeface="Calibri"/>
              </a:rPr>
              <a:t>시스템의</a:t>
            </a:r>
            <a:r>
              <a:rPr lang="en-US" altLang="ko-KR">
                <a:latin typeface="Calibri"/>
                <a:ea typeface="맑은 고딕"/>
                <a:cs typeface="Calibri"/>
              </a:rPr>
              <a:t> </a:t>
            </a:r>
            <a:r>
              <a:rPr lang="en-US" altLang="ko-KR" err="1">
                <a:latin typeface="Calibri"/>
                <a:ea typeface="맑은 고딕"/>
                <a:cs typeface="Calibri"/>
              </a:rPr>
              <a:t>개념을</a:t>
            </a:r>
            <a:r>
              <a:rPr lang="en-US" altLang="ko-KR">
                <a:latin typeface="Calibri"/>
                <a:ea typeface="맑은 고딕"/>
                <a:cs typeface="Calibri"/>
              </a:rPr>
              <a:t> </a:t>
            </a:r>
            <a:r>
              <a:rPr lang="en-US" altLang="ko-KR" err="1">
                <a:latin typeface="Calibri"/>
                <a:ea typeface="맑은 고딕"/>
                <a:cs typeface="Calibri"/>
              </a:rPr>
              <a:t>완벽하게</a:t>
            </a:r>
            <a:r>
              <a:rPr lang="en-US" altLang="ko-KR">
                <a:latin typeface="Calibri"/>
                <a:ea typeface="맑은 고딕"/>
                <a:cs typeface="Calibri"/>
              </a:rPr>
              <a:t> </a:t>
            </a:r>
            <a:r>
              <a:rPr lang="en-US" altLang="ko-KR" err="1">
                <a:latin typeface="Calibri"/>
                <a:ea typeface="맑은 고딕"/>
                <a:cs typeface="Calibri"/>
              </a:rPr>
              <a:t>적용했습니다</a:t>
            </a:r>
            <a:r>
              <a:rPr lang="en-US" altLang="ko-KR">
                <a:latin typeface="Calibri"/>
                <a:ea typeface="맑은 고딕"/>
                <a:cs typeface="Calibri"/>
              </a:rPr>
              <a:t>.</a:t>
            </a:r>
          </a:p>
          <a:p>
            <a:r>
              <a:rPr lang="en-US" altLang="ko-KR" err="1">
                <a:latin typeface="Calibri"/>
                <a:ea typeface="맑은 고딕"/>
                <a:cs typeface="Calibri"/>
              </a:rPr>
              <a:t>네트워크</a:t>
            </a:r>
            <a:r>
              <a:rPr lang="en-US" altLang="ko-KR">
                <a:latin typeface="Calibri"/>
                <a:ea typeface="맑은 고딕"/>
                <a:cs typeface="Calibri"/>
              </a:rPr>
              <a:t> </a:t>
            </a:r>
            <a:r>
              <a:rPr lang="en-US" altLang="ko-KR" err="1">
                <a:latin typeface="Calibri"/>
                <a:ea typeface="맑은 고딕"/>
                <a:cs typeface="Calibri"/>
              </a:rPr>
              <a:t>기능도</a:t>
            </a:r>
            <a:r>
              <a:rPr lang="en-US" altLang="ko-KR">
                <a:latin typeface="Calibri"/>
                <a:ea typeface="맑은 고딕"/>
                <a:cs typeface="Calibri"/>
              </a:rPr>
              <a:t> </a:t>
            </a:r>
            <a:r>
              <a:rPr lang="en-US" altLang="ko-KR" err="1">
                <a:latin typeface="Calibri"/>
                <a:ea typeface="맑은 고딕"/>
                <a:cs typeface="Calibri"/>
              </a:rPr>
              <a:t>상당히</a:t>
            </a:r>
            <a:r>
              <a:rPr lang="en-US" altLang="ko-KR">
                <a:latin typeface="Calibri"/>
                <a:ea typeface="맑은 고딕"/>
                <a:cs typeface="Calibri"/>
              </a:rPr>
              <a:t> </a:t>
            </a:r>
            <a:r>
              <a:rPr lang="en-US" altLang="ko-KR" err="1">
                <a:latin typeface="Calibri"/>
                <a:ea typeface="맑은 고딕"/>
                <a:cs typeface="Calibri"/>
              </a:rPr>
              <a:t>강력하고</a:t>
            </a:r>
            <a:r>
              <a:rPr lang="en-US" altLang="ko-KR">
                <a:latin typeface="Calibri"/>
                <a:ea typeface="맑은 고딕"/>
                <a:cs typeface="Calibri"/>
              </a:rPr>
              <a:t> </a:t>
            </a:r>
            <a:r>
              <a:rPr lang="en-US" altLang="ko-KR" err="1">
                <a:latin typeface="Calibri"/>
                <a:ea typeface="맑은 고딕"/>
                <a:cs typeface="Calibri"/>
              </a:rPr>
              <a:t>높은</a:t>
            </a:r>
            <a:r>
              <a:rPr lang="en-US" altLang="ko-KR">
                <a:latin typeface="Calibri"/>
                <a:ea typeface="맑은 고딕"/>
                <a:cs typeface="Calibri"/>
              </a:rPr>
              <a:t> </a:t>
            </a:r>
            <a:r>
              <a:rPr lang="en-US" altLang="ko-KR" err="1">
                <a:latin typeface="Calibri"/>
                <a:ea typeface="맑은 고딕"/>
                <a:cs typeface="Calibri"/>
              </a:rPr>
              <a:t>수준의</a:t>
            </a:r>
            <a:r>
              <a:rPr lang="en-US" altLang="ko-KR">
                <a:latin typeface="Calibri"/>
                <a:ea typeface="맑은 고딕"/>
                <a:cs typeface="Calibri"/>
              </a:rPr>
              <a:t> </a:t>
            </a:r>
            <a:r>
              <a:rPr lang="en-US" altLang="ko-KR" err="1">
                <a:latin typeface="Calibri"/>
                <a:ea typeface="맑은 고딕"/>
                <a:cs typeface="Calibri"/>
              </a:rPr>
              <a:t>보안을</a:t>
            </a:r>
            <a:r>
              <a:rPr lang="en-US" altLang="ko-KR">
                <a:latin typeface="Calibri"/>
                <a:ea typeface="맑은 고딕"/>
                <a:cs typeface="Calibri"/>
              </a:rPr>
              <a:t> </a:t>
            </a:r>
            <a:r>
              <a:rPr lang="en-US" altLang="ko-KR" err="1">
                <a:latin typeface="Calibri"/>
                <a:ea typeface="맑은 고딕"/>
                <a:cs typeface="Calibri"/>
              </a:rPr>
              <a:t>자랑합니다</a:t>
            </a:r>
            <a:r>
              <a:rPr lang="en-US" altLang="ko-KR">
                <a:latin typeface="Calibri"/>
                <a:ea typeface="맑은 고딕"/>
                <a:cs typeface="Calibri"/>
              </a:rPr>
              <a:t>.</a:t>
            </a:r>
          </a:p>
          <a:p>
            <a:r>
              <a:rPr lang="en-US" altLang="ko-KR" err="1">
                <a:latin typeface="Calibri"/>
                <a:ea typeface="맑은 고딕"/>
                <a:cs typeface="Calibri"/>
              </a:rPr>
              <a:t>또한</a:t>
            </a:r>
            <a:r>
              <a:rPr lang="en-US" altLang="ko-KR">
                <a:latin typeface="Calibri"/>
                <a:ea typeface="맑은 고딕"/>
                <a:cs typeface="Calibri"/>
              </a:rPr>
              <a:t> </a:t>
            </a:r>
            <a:r>
              <a:rPr lang="en-US" altLang="ko-KR" err="1">
                <a:latin typeface="Calibri"/>
                <a:ea typeface="맑은 고딕"/>
                <a:cs typeface="Calibri"/>
              </a:rPr>
              <a:t>커뮤니티가</a:t>
            </a:r>
            <a:r>
              <a:rPr lang="en-US" altLang="ko-KR">
                <a:latin typeface="Calibri"/>
                <a:ea typeface="맑은 고딕"/>
                <a:cs typeface="Calibri"/>
              </a:rPr>
              <a:t> </a:t>
            </a:r>
            <a:r>
              <a:rPr lang="en-US" altLang="ko-KR" err="1">
                <a:latin typeface="Calibri"/>
                <a:ea typeface="맑은 고딕"/>
                <a:cs typeface="Calibri"/>
              </a:rPr>
              <a:t>활발하여</a:t>
            </a:r>
            <a:r>
              <a:rPr lang="en-US" altLang="ko-KR">
                <a:latin typeface="Calibri"/>
                <a:ea typeface="맑은 고딕"/>
                <a:cs typeface="Calibri"/>
              </a:rPr>
              <a:t> </a:t>
            </a:r>
            <a:r>
              <a:rPr lang="en-US" altLang="ko-KR" err="1">
                <a:latin typeface="Calibri"/>
                <a:ea typeface="맑은 고딕"/>
                <a:cs typeface="Calibri"/>
              </a:rPr>
              <a:t>아직도</a:t>
            </a:r>
            <a:r>
              <a:rPr lang="en-US" altLang="ko-KR">
                <a:latin typeface="Calibri"/>
                <a:ea typeface="맑은 고딕"/>
                <a:cs typeface="Calibri"/>
              </a:rPr>
              <a:t> </a:t>
            </a:r>
            <a:r>
              <a:rPr lang="en-US" altLang="ko-KR" err="1">
                <a:latin typeface="Calibri"/>
                <a:ea typeface="맑은 고딕"/>
                <a:cs typeface="Calibri"/>
              </a:rPr>
              <a:t>많은</a:t>
            </a:r>
            <a:r>
              <a:rPr lang="en-US" altLang="ko-KR">
                <a:latin typeface="Calibri"/>
                <a:ea typeface="맑은 고딕"/>
                <a:cs typeface="Calibri"/>
              </a:rPr>
              <a:t> </a:t>
            </a:r>
            <a:r>
              <a:rPr lang="en-US" altLang="ko-KR" err="1">
                <a:latin typeface="Calibri"/>
                <a:ea typeface="맑은 고딕"/>
                <a:cs typeface="Calibri"/>
              </a:rPr>
              <a:t>연구가</a:t>
            </a:r>
            <a:r>
              <a:rPr lang="en-US" altLang="ko-KR">
                <a:latin typeface="Calibri"/>
                <a:ea typeface="맑은 고딕"/>
                <a:cs typeface="Calibri"/>
              </a:rPr>
              <a:t> </a:t>
            </a:r>
            <a:r>
              <a:rPr lang="en-US" altLang="ko-KR" err="1">
                <a:latin typeface="Calibri"/>
                <a:ea typeface="맑은 고딕"/>
                <a:cs typeface="Calibri"/>
              </a:rPr>
              <a:t>이루어지고</a:t>
            </a:r>
            <a:r>
              <a:rPr lang="en-US" altLang="ko-KR">
                <a:latin typeface="Calibri"/>
                <a:ea typeface="맑은 고딕"/>
                <a:cs typeface="Calibri"/>
              </a:rPr>
              <a:t> </a:t>
            </a:r>
            <a:r>
              <a:rPr lang="en-US" altLang="ko-KR" err="1">
                <a:latin typeface="Calibri"/>
                <a:ea typeface="맑은 고딕"/>
                <a:cs typeface="Calibri"/>
              </a:rPr>
              <a:t>있고</a:t>
            </a:r>
            <a:r>
              <a:rPr lang="en-US" altLang="ko-KR">
                <a:latin typeface="Calibri"/>
                <a:ea typeface="맑은 고딕"/>
                <a:cs typeface="Calibri"/>
              </a:rPr>
              <a:t> </a:t>
            </a:r>
            <a:r>
              <a:rPr lang="en-US" altLang="ko-KR" err="1">
                <a:latin typeface="Calibri"/>
                <a:ea typeface="맑은 고딕"/>
                <a:cs typeface="Calibri"/>
              </a:rPr>
              <a:t>오픈소스</a:t>
            </a:r>
            <a:r>
              <a:rPr lang="en-US" altLang="ko-KR">
                <a:latin typeface="Calibri"/>
                <a:ea typeface="맑은 고딕"/>
                <a:cs typeface="Calibri"/>
              </a:rPr>
              <a:t> </a:t>
            </a:r>
            <a:r>
              <a:rPr lang="en-US" altLang="ko-KR" err="1">
                <a:latin typeface="Calibri"/>
                <a:ea typeface="맑은 고딕"/>
                <a:cs typeface="Calibri"/>
              </a:rPr>
              <a:t>커널의</a:t>
            </a:r>
            <a:r>
              <a:rPr lang="en-US" altLang="ko-KR">
                <a:latin typeface="Calibri"/>
                <a:ea typeface="맑은 고딕"/>
                <a:cs typeface="Calibri"/>
              </a:rPr>
              <a:t> </a:t>
            </a:r>
            <a:r>
              <a:rPr lang="en-US" altLang="ko-KR" err="1">
                <a:latin typeface="Calibri"/>
                <a:ea typeface="맑은 고딕"/>
                <a:cs typeface="Calibri"/>
              </a:rPr>
              <a:t>특장점이라고</a:t>
            </a:r>
            <a:r>
              <a:rPr lang="en-US" altLang="ko-KR">
                <a:latin typeface="Calibri"/>
                <a:ea typeface="맑은 고딕"/>
                <a:cs typeface="Calibri"/>
              </a:rPr>
              <a:t> 볼 수 </a:t>
            </a:r>
            <a:r>
              <a:rPr lang="en-US" altLang="ko-KR" err="1">
                <a:latin typeface="Calibri"/>
                <a:ea typeface="맑은 고딕"/>
                <a:cs typeface="Calibri"/>
              </a:rPr>
              <a:t>있습니다</a:t>
            </a:r>
            <a:r>
              <a:rPr lang="en-US" altLang="ko-KR">
                <a:latin typeface="Calibri"/>
                <a:ea typeface="맑은 고딕"/>
                <a:cs typeface="Calibri"/>
              </a:rPr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BD8C02-ADBA-468E-8DA4-3AE298BA7F53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3956620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리눅스는 크게 커널과 쉘로 구분할 수 있는데</a:t>
            </a:r>
            <a:r>
              <a:rPr lang="en-US" altLang="ko-KR"/>
              <a:t>,</a:t>
            </a:r>
          </a:p>
          <a:p>
            <a:endParaRPr lang="en-US" altLang="ko-KR"/>
          </a:p>
          <a:p>
            <a:r>
              <a:rPr lang="ko-KR" altLang="en-US"/>
              <a:t>커널은 운영체제의 핵심으로서 하드웨어를 제어하며 부팅 시 메모리에 적재되어 컴퓨터가 종료될 때 까지</a:t>
            </a:r>
            <a:r>
              <a:rPr lang="en-US" altLang="ko-KR"/>
              <a:t> </a:t>
            </a:r>
            <a:r>
              <a:rPr lang="ko-KR" altLang="en-US"/>
              <a:t>상주하고 있는 프로그램입니다</a:t>
            </a:r>
            <a:r>
              <a:rPr lang="en-US" altLang="ko-KR"/>
              <a:t>.</a:t>
            </a:r>
          </a:p>
          <a:p>
            <a:r>
              <a:rPr lang="ko-KR" altLang="en-US" dirty="0"/>
              <a:t>최적화를 위해 일부분만 어셈블리어로 되어있고 대부분은 </a:t>
            </a:r>
            <a:r>
              <a:rPr lang="en-US" altLang="ko-KR"/>
              <a:t>C </a:t>
            </a:r>
            <a:r>
              <a:rPr lang="ko-KR" altLang="en-US"/>
              <a:t>언어로 </a:t>
            </a:r>
            <a:r>
              <a:rPr lang="ko-KR" altLang="en-US" dirty="0"/>
              <a:t>작성된 하나의 </a:t>
            </a:r>
            <a:r>
              <a:rPr lang="ko-KR" altLang="en-US"/>
              <a:t>프로그램입니다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프로세스</a:t>
            </a:r>
            <a:r>
              <a:rPr lang="en-US" altLang="ko-KR" dirty="0"/>
              <a:t>,</a:t>
            </a:r>
            <a:r>
              <a:rPr lang="en-US" altLang="ko-KR" baseline="0" dirty="0"/>
              <a:t> </a:t>
            </a:r>
            <a:r>
              <a:rPr lang="ko-KR" altLang="en-US" baseline="0" dirty="0"/>
              <a:t>메모리</a:t>
            </a:r>
            <a:r>
              <a:rPr lang="en-US" altLang="ko-KR" baseline="0" dirty="0"/>
              <a:t>, </a:t>
            </a:r>
            <a:r>
              <a:rPr lang="ko-KR" altLang="en-US" baseline="0" dirty="0"/>
              <a:t>디스크</a:t>
            </a:r>
            <a:r>
              <a:rPr lang="en-US" altLang="ko-KR" baseline="0" dirty="0"/>
              <a:t>, </a:t>
            </a:r>
            <a:r>
              <a:rPr lang="ko-KR" altLang="en-US" baseline="0" dirty="0"/>
              <a:t>네트워크 통신</a:t>
            </a:r>
            <a:r>
              <a:rPr lang="en-US" altLang="ko-KR" baseline="0" dirty="0"/>
              <a:t>, </a:t>
            </a:r>
            <a:r>
              <a:rPr lang="ko-KR" altLang="en-US" baseline="0" dirty="0"/>
              <a:t>입출력 장치를 제어하면서 </a:t>
            </a:r>
            <a:r>
              <a:rPr lang="ko-KR" altLang="en-US" dirty="0"/>
              <a:t>응용프로그램이 돌아갈 수 있도록 </a:t>
            </a:r>
            <a:r>
              <a:rPr lang="ko-KR" altLang="en-US" baseline="0" dirty="0"/>
              <a:t>지원하는 운영체제의 핵심입니다</a:t>
            </a:r>
            <a:r>
              <a:rPr lang="en-US" altLang="ko-KR" baseline="0" dirty="0"/>
              <a:t>.</a:t>
            </a:r>
            <a:endParaRPr lang="en-US" altLang="ko-KR"/>
          </a:p>
          <a:p>
            <a:endParaRPr lang="en-US" altLang="ko-KR"/>
          </a:p>
          <a:p>
            <a:r>
              <a:rPr lang="ko-KR" altLang="en-US"/>
              <a:t>쉘은 사용자가 로그인에 성공하면 커널이 </a:t>
            </a:r>
            <a:r>
              <a:rPr lang="ko-KR" altLang="en-US" err="1"/>
              <a:t>첫번째로</a:t>
            </a:r>
            <a:r>
              <a:rPr lang="ko-KR" altLang="en-US"/>
              <a:t> 할당해주는 프로그램으로서</a:t>
            </a:r>
            <a:endParaRPr lang="en-US" altLang="ko-KR"/>
          </a:p>
          <a:p>
            <a:r>
              <a:rPr lang="ko-KR" altLang="en-US"/>
              <a:t>사용자의 명령어 입력을 대기하고 입력이 들어오면 검증 후 실행을 해주는 등</a:t>
            </a:r>
            <a:endParaRPr lang="en-US" altLang="ko-KR"/>
          </a:p>
          <a:p>
            <a:r>
              <a:rPr lang="ko-KR" altLang="en-US"/>
              <a:t>커널과 사용자 사이의 인터페이스입니다</a:t>
            </a:r>
            <a:r>
              <a:rPr lang="en-US" altLang="ko-KR"/>
              <a:t>.</a:t>
            </a:r>
          </a:p>
          <a:p>
            <a:r>
              <a:rPr lang="ko-KR" altLang="en-US"/>
              <a:t>또한</a:t>
            </a:r>
            <a:r>
              <a:rPr lang="en-US" altLang="ko-KR"/>
              <a:t> </a:t>
            </a:r>
            <a:r>
              <a:rPr lang="ko-KR" altLang="en-US"/>
              <a:t>잡</a:t>
            </a:r>
            <a:r>
              <a:rPr lang="en-US" altLang="ko-KR"/>
              <a:t> </a:t>
            </a:r>
            <a:r>
              <a:rPr lang="ko-KR" altLang="en-US"/>
              <a:t>컨트롤이라는</a:t>
            </a:r>
            <a:r>
              <a:rPr lang="en-US" altLang="ko-KR"/>
              <a:t> </a:t>
            </a:r>
            <a:r>
              <a:rPr lang="ko-KR" altLang="en-US"/>
              <a:t>중요한</a:t>
            </a:r>
            <a:r>
              <a:rPr lang="en-US" altLang="ko-KR"/>
              <a:t> </a:t>
            </a:r>
            <a:r>
              <a:rPr lang="ko-KR" altLang="en-US"/>
              <a:t>개념이</a:t>
            </a:r>
            <a:r>
              <a:rPr lang="en-US" altLang="ko-KR"/>
              <a:t> </a:t>
            </a:r>
            <a:r>
              <a:rPr lang="ko-KR" altLang="en-US"/>
              <a:t>포함되어있습니다</a:t>
            </a:r>
            <a:r>
              <a:rPr lang="en-US" altLang="ko-KR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BD8C02-ADBA-468E-8DA4-3AE298BA7F53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792902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개발자가 파일 입출력을 다루는 응용</a:t>
            </a:r>
            <a:r>
              <a:rPr lang="ko-KR" altLang="en-US" baseline="0" dirty="0"/>
              <a:t> 프로그램을 개발할 때에는 단순히 프로그래밍 언어에서 제공하는 입출력 </a:t>
            </a:r>
            <a:r>
              <a:rPr lang="en-US" altLang="ko-KR" baseline="0" dirty="0"/>
              <a:t>API</a:t>
            </a:r>
            <a:r>
              <a:rPr lang="ko-KR" altLang="en-US" baseline="0" dirty="0"/>
              <a:t>를 사용하여 </a:t>
            </a:r>
            <a:r>
              <a:rPr lang="ko-KR" altLang="en-US" baseline="0" dirty="0" err="1"/>
              <a:t>아이오</a:t>
            </a:r>
            <a:r>
              <a:rPr lang="ko-KR" altLang="en-US" baseline="0" dirty="0"/>
              <a:t> 처리를 할 수 있습니다</a:t>
            </a:r>
            <a:r>
              <a:rPr lang="en-US" altLang="ko-KR" baseline="0" dirty="0"/>
              <a:t>.</a:t>
            </a:r>
          </a:p>
          <a:p>
            <a:r>
              <a:rPr lang="ko-KR" altLang="en-US" baseline="0" dirty="0"/>
              <a:t>파일 </a:t>
            </a:r>
            <a:r>
              <a:rPr lang="ko-KR" altLang="en-US" baseline="0" dirty="0" err="1"/>
              <a:t>아이오</a:t>
            </a:r>
            <a:r>
              <a:rPr lang="ko-KR" altLang="en-US" baseline="0" dirty="0"/>
              <a:t> 뿐만이 아니라 네트워크 </a:t>
            </a:r>
            <a:r>
              <a:rPr lang="ko-KR" altLang="en-US" baseline="0" dirty="0" err="1"/>
              <a:t>통신이라던가</a:t>
            </a:r>
            <a:endParaRPr lang="en-US" altLang="ko-KR" baseline="0" dirty="0"/>
          </a:p>
          <a:p>
            <a:r>
              <a:rPr lang="ko-KR" altLang="en-US" baseline="0" dirty="0"/>
              <a:t>각종 디바이스와의 통신을 미리 정의된 </a:t>
            </a:r>
            <a:r>
              <a:rPr lang="en-US" altLang="ko-KR" baseline="0" dirty="0"/>
              <a:t>API</a:t>
            </a:r>
            <a:r>
              <a:rPr lang="ko-KR" altLang="en-US" baseline="0" dirty="0"/>
              <a:t>로 쉽게 다룰 수 있습니다</a:t>
            </a:r>
            <a:r>
              <a:rPr lang="en-US" altLang="ko-KR" baseline="0" dirty="0"/>
              <a:t>.</a:t>
            </a:r>
          </a:p>
          <a:p>
            <a:endParaRPr lang="en-US" altLang="ko-KR" baseline="0" dirty="0"/>
          </a:p>
          <a:p>
            <a:r>
              <a:rPr lang="ko-KR" altLang="en-US" baseline="0" dirty="0"/>
              <a:t>그런데 정말 프로그램이 직접적으로 하드웨어를 접근하는 것이냐 하면 그건 절대 아닙니다</a:t>
            </a:r>
            <a:r>
              <a:rPr lang="en-US" altLang="ko-KR" baseline="0" dirty="0"/>
              <a:t>.</a:t>
            </a:r>
          </a:p>
          <a:p>
            <a:r>
              <a:rPr lang="ko-KR" altLang="en-US" baseline="0" dirty="0"/>
              <a:t>너무 </a:t>
            </a:r>
            <a:r>
              <a:rPr lang="ko-KR" altLang="en-US" baseline="0" dirty="0" err="1"/>
              <a:t>로우한</a:t>
            </a:r>
            <a:r>
              <a:rPr lang="ko-KR" altLang="en-US" baseline="0" dirty="0"/>
              <a:t> 레벨을 다뤄야하기도 하고</a:t>
            </a:r>
            <a:r>
              <a:rPr lang="en-US" altLang="ko-KR" baseline="0" dirty="0"/>
              <a:t>, </a:t>
            </a:r>
            <a:r>
              <a:rPr lang="ko-KR" altLang="en-US" baseline="0" dirty="0"/>
              <a:t>응용 프로그램이 직접 제어를 할 수 있다는 것이 보안상으로도 좋지 않기 때문입니다</a:t>
            </a:r>
            <a:r>
              <a:rPr lang="en-US" altLang="ko-KR" baseline="0" dirty="0"/>
              <a:t>.</a:t>
            </a:r>
          </a:p>
          <a:p>
            <a:endParaRPr lang="en-US" altLang="ko-KR" baseline="0" dirty="0"/>
          </a:p>
          <a:p>
            <a:r>
              <a:rPr lang="ko-KR" altLang="en-US" baseline="0" dirty="0"/>
              <a:t>따라서 대부분의 운영체제에서는</a:t>
            </a:r>
            <a:r>
              <a:rPr lang="en-US" altLang="ko-KR" baseline="0" dirty="0"/>
              <a:t/>
            </a:r>
            <a:br>
              <a:rPr lang="en-US" altLang="ko-KR" baseline="0" dirty="0"/>
            </a:br>
            <a:r>
              <a:rPr lang="ko-KR" altLang="en-US" baseline="0" dirty="0"/>
              <a:t>응용 프로그램이 시스템 자원을 사용하려고 할 때에는 </a:t>
            </a:r>
            <a:r>
              <a:rPr lang="ko-KR" altLang="en-US" baseline="0" dirty="0" err="1"/>
              <a:t>커널에게</a:t>
            </a:r>
            <a:r>
              <a:rPr lang="ko-KR" altLang="en-US" baseline="0" dirty="0"/>
              <a:t> 해당 기능을 대신 수행해달라고 요청을 하도록 되어있습니다</a:t>
            </a:r>
            <a:r>
              <a:rPr lang="en-US" altLang="ko-KR" baseline="0" dirty="0"/>
              <a:t>.</a:t>
            </a:r>
          </a:p>
          <a:p>
            <a:r>
              <a:rPr lang="ko-KR" altLang="en-US" baseline="0" dirty="0"/>
              <a:t>여기서 대신 수행해달라고 하는 것을 시스템 호출이라고 합니다</a:t>
            </a:r>
            <a:r>
              <a:rPr lang="en-US" altLang="ko-KR" baseline="0" dirty="0"/>
              <a:t>.</a:t>
            </a:r>
          </a:p>
          <a:p>
            <a:endParaRPr lang="en-US" altLang="ko-KR" baseline="0" dirty="0"/>
          </a:p>
          <a:p>
            <a:r>
              <a:rPr lang="ko-KR" altLang="en-US" baseline="0" dirty="0"/>
              <a:t>그래서 결론적으로는 커널이 시스템 호출이라는 인터페이스를 제공을 하니</a:t>
            </a:r>
            <a:endParaRPr lang="en-US" altLang="ko-KR" baseline="0" dirty="0"/>
          </a:p>
          <a:p>
            <a:r>
              <a:rPr lang="ko-KR" altLang="en-US" baseline="0" dirty="0"/>
              <a:t>어플리케이션은 알아서 시스템 호출을 통해 시스템 자원을 처리하라는 셈입니다</a:t>
            </a:r>
            <a:r>
              <a:rPr lang="en-US" altLang="ko-KR" baseline="0" dirty="0"/>
              <a:t>.</a:t>
            </a:r>
          </a:p>
          <a:p>
            <a:endParaRPr lang="en-US" altLang="ko-KR" baseline="0" dirty="0"/>
          </a:p>
          <a:p>
            <a:r>
              <a:rPr lang="ko-KR" altLang="en-US" baseline="0" dirty="0"/>
              <a:t>그럼 우리가 코드로 작성하는 파일 입출력 </a:t>
            </a:r>
            <a:r>
              <a:rPr lang="en-US" altLang="ko-KR" baseline="0" dirty="0"/>
              <a:t>API</a:t>
            </a:r>
            <a:r>
              <a:rPr lang="ko-KR" altLang="en-US" baseline="0" dirty="0"/>
              <a:t>는 뭐죠</a:t>
            </a:r>
            <a:r>
              <a:rPr lang="en-US" altLang="ko-KR" baseline="0" dirty="0"/>
              <a:t>?</a:t>
            </a:r>
          </a:p>
          <a:p>
            <a:r>
              <a:rPr lang="ko-KR" altLang="en-US" baseline="0" dirty="0"/>
              <a:t>단지 코드상으로만 그렇게 보일 뿐이고 실제로 컴파일 된 산출물에는 </a:t>
            </a:r>
            <a:r>
              <a:rPr lang="ko-KR" altLang="en-US" baseline="0" dirty="0" err="1"/>
              <a:t>아이오를</a:t>
            </a:r>
            <a:r>
              <a:rPr lang="ko-KR" altLang="en-US" baseline="0" dirty="0"/>
              <a:t> 직접 다루는 </a:t>
            </a:r>
            <a:r>
              <a:rPr lang="ko-KR" altLang="en-US" baseline="0" dirty="0" err="1"/>
              <a:t>인스트럭션이</a:t>
            </a:r>
            <a:r>
              <a:rPr lang="ko-KR" altLang="en-US" baseline="0" dirty="0"/>
              <a:t> 전혀 존재하지 않는다 입니다</a:t>
            </a:r>
            <a:r>
              <a:rPr lang="en-US" altLang="ko-KR" baseline="0" dirty="0"/>
              <a:t>.</a:t>
            </a:r>
          </a:p>
          <a:p>
            <a:endParaRPr lang="en-US" altLang="ko-KR" baseline="0" dirty="0"/>
          </a:p>
          <a:p>
            <a:r>
              <a:rPr lang="ko-KR" altLang="en-US" baseline="0" dirty="0"/>
              <a:t>이런 식으로 시스템 자원에 대한 처리를 시스템 콜을 호출해서 커널이 대신 처리함으로써 얻는 장점으로는</a:t>
            </a:r>
            <a:endParaRPr lang="en-US" altLang="ko-KR" baseline="0" dirty="0"/>
          </a:p>
          <a:p>
            <a:r>
              <a:rPr lang="ko-KR" altLang="en-US" baseline="0" dirty="0"/>
              <a:t>사용자 요청을 처리하기 전에 이것이 올바른 요청인지 커널에서 검사할 수 있으니 </a:t>
            </a:r>
            <a:r>
              <a:rPr lang="ko-KR" altLang="en-US" baseline="0" dirty="0" err="1"/>
              <a:t>보안성이</a:t>
            </a:r>
            <a:r>
              <a:rPr lang="ko-KR" altLang="en-US" baseline="0" dirty="0"/>
              <a:t> 높아질 수 있습니다</a:t>
            </a:r>
            <a:r>
              <a:rPr lang="en-US" altLang="ko-KR" baseline="0" dirty="0"/>
              <a:t>.</a:t>
            </a:r>
          </a:p>
          <a:p>
            <a:r>
              <a:rPr lang="ko-KR" altLang="en-US" baseline="0" dirty="0"/>
              <a:t>또한 한 프로세스가 다른 프로세스의 </a:t>
            </a:r>
            <a:r>
              <a:rPr lang="ko-KR" altLang="en-US" baseline="0" dirty="0" err="1"/>
              <a:t>아이오에</a:t>
            </a:r>
            <a:r>
              <a:rPr lang="ko-KR" altLang="en-US" baseline="0" dirty="0"/>
              <a:t> 함부로 접근해서 데이터를 망치는 일을 사전 감지를 통해 방지할 수 있습니다</a:t>
            </a:r>
            <a:r>
              <a:rPr lang="en-US" altLang="ko-KR" baseline="0" dirty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BD8C02-ADBA-468E-8DA4-3AE298BA7F53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910117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BD8C02-ADBA-468E-8DA4-3AE298BA7F53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6116979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운영체제 동작</a:t>
            </a:r>
            <a:r>
              <a:rPr lang="ko-KR" altLang="en-US" baseline="0" dirty="0"/>
              <a:t> 방식으로 이중 동작 모드라는 게 있는데</a:t>
            </a:r>
            <a:r>
              <a:rPr lang="en-US" altLang="ko-KR" baseline="0" dirty="0"/>
              <a:t>,</a:t>
            </a:r>
            <a:r>
              <a:rPr lang="ko-KR" altLang="en-US" baseline="0" dirty="0"/>
              <a:t> 이는 두개의 독립된 동작 모드가 존재하고 각각 사용자 모드와 커널 모드로 구분됩니다</a:t>
            </a:r>
            <a:r>
              <a:rPr lang="en-US" altLang="ko-KR" baseline="0" dirty="0"/>
              <a:t>.</a:t>
            </a:r>
          </a:p>
          <a:p>
            <a:r>
              <a:rPr lang="en-US" altLang="ko-KR" baseline="0" dirty="0"/>
              <a:t>CPU</a:t>
            </a:r>
            <a:r>
              <a:rPr lang="ko-KR" altLang="en-US" baseline="0" dirty="0"/>
              <a:t>자체에 모드 비트 라는 것이 있는데 이게 </a:t>
            </a:r>
            <a:r>
              <a:rPr lang="en-US" altLang="ko-KR" baseline="0" dirty="0"/>
              <a:t>0</a:t>
            </a:r>
            <a:r>
              <a:rPr lang="ko-KR" altLang="en-US" baseline="0" dirty="0"/>
              <a:t>이면 커널 모드이고 </a:t>
            </a:r>
            <a:r>
              <a:rPr lang="en-US" altLang="ko-KR" baseline="0" dirty="0"/>
              <a:t>1</a:t>
            </a:r>
            <a:r>
              <a:rPr lang="ko-KR" altLang="en-US" baseline="0" dirty="0"/>
              <a:t>이면 사용자 모드입니다</a:t>
            </a:r>
            <a:r>
              <a:rPr lang="en-US" altLang="ko-KR" baseline="0" dirty="0"/>
              <a:t>.</a:t>
            </a:r>
          </a:p>
          <a:p>
            <a:endParaRPr lang="en-US" altLang="ko-KR" baseline="0" dirty="0"/>
          </a:p>
          <a:p>
            <a:r>
              <a:rPr lang="ko-KR" altLang="en-US" dirty="0"/>
              <a:t>사용자 모드에서는 커널 모드에서만 가능한 작업을 수행할 수 없으며</a:t>
            </a:r>
            <a:endParaRPr lang="en-US" altLang="ko-KR" dirty="0"/>
          </a:p>
          <a:p>
            <a:r>
              <a:rPr lang="ko-KR" altLang="en-US" dirty="0"/>
              <a:t>만약 어셈블리어를 직접 작성해서 시스템에 악영향을 끼칠 수 있는 일부 명령을</a:t>
            </a:r>
            <a:endParaRPr lang="en-US" altLang="ko-KR" dirty="0"/>
          </a:p>
          <a:p>
            <a:r>
              <a:rPr lang="ko-KR" altLang="en-US" dirty="0"/>
              <a:t>실행하려 든다면 </a:t>
            </a:r>
            <a:r>
              <a:rPr lang="en-US" altLang="ko-KR" dirty="0"/>
              <a:t>CPU</a:t>
            </a:r>
            <a:r>
              <a:rPr lang="ko-KR" altLang="en-US" dirty="0"/>
              <a:t>는 이를 실행하지 않고 트랩을 겁니다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CPU</a:t>
            </a:r>
            <a:r>
              <a:rPr lang="ko-KR" altLang="en-US" dirty="0"/>
              <a:t>가 자기자신에게 트랩을 건다는 것은 운영체제에게 도움의 메시지를 청하는 겁니다</a:t>
            </a:r>
            <a:r>
              <a:rPr lang="en-US" altLang="ko-KR" dirty="0"/>
              <a:t>.</a:t>
            </a:r>
          </a:p>
          <a:p>
            <a:r>
              <a:rPr lang="ko-KR" altLang="en-US" baseline="0" dirty="0"/>
              <a:t>나 이거 처리할 수 없으니 나한테 </a:t>
            </a:r>
            <a:r>
              <a:rPr lang="ko-KR" altLang="en-US" baseline="0" dirty="0" err="1"/>
              <a:t>익셉션을</a:t>
            </a:r>
            <a:r>
              <a:rPr lang="ko-KR" altLang="en-US" baseline="0" dirty="0"/>
              <a:t> </a:t>
            </a:r>
            <a:r>
              <a:rPr lang="ko-KR" altLang="en-US" baseline="0" dirty="0" err="1"/>
              <a:t>낼게</a:t>
            </a:r>
            <a:r>
              <a:rPr lang="ko-KR" altLang="en-US" baseline="0" dirty="0"/>
              <a:t> </a:t>
            </a:r>
            <a:r>
              <a:rPr lang="ko-KR" altLang="en-US" baseline="0" dirty="0" err="1"/>
              <a:t>하는것이</a:t>
            </a:r>
            <a:r>
              <a:rPr lang="ko-KR" altLang="en-US" baseline="0" dirty="0"/>
              <a:t> 트랩이고</a:t>
            </a:r>
            <a:r>
              <a:rPr lang="en-US" altLang="ko-KR" baseline="0" dirty="0"/>
              <a:t>, </a:t>
            </a:r>
            <a:r>
              <a:rPr lang="ko-KR" altLang="en-US" baseline="0" dirty="0"/>
              <a:t>내부 인터럽트라고도 부릅니다</a:t>
            </a:r>
            <a:r>
              <a:rPr lang="en-US" altLang="ko-KR" baseline="0" dirty="0"/>
              <a:t>.</a:t>
            </a:r>
          </a:p>
          <a:p>
            <a:r>
              <a:rPr lang="ko-KR" altLang="en-US" baseline="0" dirty="0" err="1"/>
              <a:t>이런식으로</a:t>
            </a:r>
            <a:r>
              <a:rPr lang="ko-KR" altLang="en-US" baseline="0" dirty="0"/>
              <a:t> 트랩이 걸리는 즉시 운영체제는</a:t>
            </a:r>
            <a:r>
              <a:rPr lang="ko-KR" altLang="en-US" dirty="0"/>
              <a:t> </a:t>
            </a:r>
            <a:r>
              <a:rPr lang="en-US" altLang="ko-KR" dirty="0"/>
              <a:t>CPU</a:t>
            </a:r>
            <a:r>
              <a:rPr lang="ko-KR" altLang="en-US" dirty="0"/>
              <a:t>의 권한 모드를 커널 모드로 돌리고 </a:t>
            </a:r>
            <a:r>
              <a:rPr lang="en-US" altLang="ko-KR" dirty="0"/>
              <a:t>CPU </a:t>
            </a:r>
            <a:r>
              <a:rPr lang="ko-KR" altLang="en-US" dirty="0" err="1"/>
              <a:t>제어권을</a:t>
            </a:r>
            <a:r>
              <a:rPr lang="ko-KR" altLang="en-US" dirty="0"/>
              <a:t> 커널이 가지도록 하는 겁니다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따라서 시스템 호출을 통해서 자원을 사용할 수 밖에 없는데 그 흐름은 다음과 같이 되어있습니다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사용자 쪽에서 시스템 호출을 해서 커널로 </a:t>
            </a:r>
            <a:r>
              <a:rPr lang="ko-KR" altLang="en-US" dirty="0" err="1"/>
              <a:t>제어권이</a:t>
            </a:r>
            <a:r>
              <a:rPr lang="ko-KR" altLang="en-US" dirty="0"/>
              <a:t> 넘어가고 커널 모드로서 작동하므로 직접 자원을 다룬 다음에</a:t>
            </a:r>
            <a:endParaRPr lang="en-US" altLang="ko-KR" dirty="0"/>
          </a:p>
          <a:p>
            <a:r>
              <a:rPr lang="ko-KR" altLang="en-US" dirty="0"/>
              <a:t>다시 사용자에게 </a:t>
            </a:r>
            <a:r>
              <a:rPr lang="ko-KR" altLang="en-US" dirty="0" err="1"/>
              <a:t>제어권을</a:t>
            </a:r>
            <a:r>
              <a:rPr lang="ko-KR" altLang="en-US" dirty="0"/>
              <a:t> 넘기면서 이후 처리를 계속 하도록 되어있습니다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BD8C02-ADBA-468E-8DA4-3AE298BA7F53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244515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err="1"/>
              <a:t>본쉘은</a:t>
            </a:r>
            <a:r>
              <a:rPr lang="ko-KR" altLang="en-US"/>
              <a:t> 유닉스 쉘의 오리지널이라고 할 수 있습니다</a:t>
            </a:r>
            <a:r>
              <a:rPr lang="en-US" altLang="ko-KR"/>
              <a:t>.</a:t>
            </a:r>
          </a:p>
          <a:p>
            <a:r>
              <a:rPr lang="ko-KR" altLang="en-US"/>
              <a:t>최초의 본격적인 </a:t>
            </a:r>
            <a:r>
              <a:rPr lang="ko-KR" altLang="en-US" err="1"/>
              <a:t>쉘로서</a:t>
            </a:r>
            <a:r>
              <a:rPr lang="ko-KR" altLang="en-US"/>
              <a:t> 개발자는 벨 연구소의 스티븐 본이고 개발자의 이름을 딴 쉘입니다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프롬프트는 일반 유저는 달러를 쓰고 루트는 </a:t>
            </a:r>
            <a:r>
              <a:rPr lang="ko-KR" altLang="en-US" err="1"/>
              <a:t>샾을</a:t>
            </a:r>
            <a:r>
              <a:rPr lang="ko-KR" altLang="en-US"/>
              <a:t> 사용합니다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 err="1"/>
              <a:t>배쉬는</a:t>
            </a:r>
            <a:r>
              <a:rPr lang="ko-KR" altLang="en-US"/>
              <a:t> 본 </a:t>
            </a:r>
            <a:r>
              <a:rPr lang="ko-KR" altLang="en-US" err="1"/>
              <a:t>어게인</a:t>
            </a:r>
            <a:r>
              <a:rPr lang="ko-KR" altLang="en-US"/>
              <a:t> 쉘의 약자로 현재 리눅스의 표준 쉘입니다</a:t>
            </a:r>
            <a:r>
              <a:rPr lang="en-US" altLang="ko-KR"/>
              <a:t>.</a:t>
            </a:r>
          </a:p>
          <a:p>
            <a:r>
              <a:rPr lang="ko-KR" altLang="en-US"/>
              <a:t>브라이언 폭스가 </a:t>
            </a:r>
            <a:r>
              <a:rPr lang="ko-KR" altLang="en-US" err="1"/>
              <a:t>그누</a:t>
            </a:r>
            <a:r>
              <a:rPr lang="ko-KR" altLang="en-US"/>
              <a:t> 프로젝트를 위해서 개발한 </a:t>
            </a:r>
            <a:r>
              <a:rPr lang="ko-KR" altLang="en-US" err="1"/>
              <a:t>쉘로서</a:t>
            </a:r>
            <a:r>
              <a:rPr lang="ko-KR" altLang="en-US"/>
              <a:t> </a:t>
            </a:r>
            <a:r>
              <a:rPr lang="ko-KR" altLang="en-US" err="1"/>
              <a:t>본쉘을</a:t>
            </a:r>
            <a:r>
              <a:rPr lang="ko-KR" altLang="en-US"/>
              <a:t> 기반으로 하고 다양한 편의 및 부가 기능들을 탑재한 쉘입니다</a:t>
            </a:r>
            <a:r>
              <a:rPr lang="en-US" altLang="ko-KR"/>
              <a:t>.</a:t>
            </a:r>
          </a:p>
          <a:p>
            <a:r>
              <a:rPr lang="ko-KR" altLang="en-US"/>
              <a:t>주요 기능으로는 명령어 사용 히스토리</a:t>
            </a:r>
            <a:r>
              <a:rPr lang="en-US" altLang="ko-KR"/>
              <a:t>, </a:t>
            </a:r>
            <a:r>
              <a:rPr lang="ko-KR" altLang="en-US"/>
              <a:t>명령어 </a:t>
            </a:r>
            <a:r>
              <a:rPr lang="ko-KR" altLang="en-US" err="1"/>
              <a:t>엘리어스</a:t>
            </a:r>
            <a:r>
              <a:rPr lang="ko-KR" altLang="en-US"/>
              <a:t> 기능</a:t>
            </a:r>
            <a:r>
              <a:rPr lang="en-US" altLang="ko-KR"/>
              <a:t>, </a:t>
            </a:r>
            <a:r>
              <a:rPr lang="ko-KR" altLang="en-US"/>
              <a:t>명령어 자동 완성 기능</a:t>
            </a:r>
            <a:r>
              <a:rPr lang="en-US" altLang="ko-KR"/>
              <a:t>, </a:t>
            </a:r>
            <a:r>
              <a:rPr lang="ko-KR" altLang="en-US"/>
              <a:t>연산 기능</a:t>
            </a:r>
            <a:r>
              <a:rPr lang="en-US" altLang="ko-KR"/>
              <a:t> </a:t>
            </a:r>
            <a:r>
              <a:rPr lang="ko-KR" altLang="en-US"/>
              <a:t>그 외에도 다양한 기능들이 있습니다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endParaRPr lang="en-US" altLang="ko-KR"/>
          </a:p>
          <a:p>
            <a:r>
              <a:rPr lang="en-US" altLang="ko-KR"/>
              <a:t>C</a:t>
            </a:r>
            <a:r>
              <a:rPr lang="ko-KR" altLang="en-US"/>
              <a:t> 쉘은 버클리 대학의 빌 </a:t>
            </a:r>
            <a:r>
              <a:rPr lang="ko-KR" altLang="en-US" err="1"/>
              <a:t>조이가</a:t>
            </a:r>
            <a:r>
              <a:rPr lang="ko-KR" altLang="en-US"/>
              <a:t> 개발한 쉘로 </a:t>
            </a:r>
            <a:r>
              <a:rPr lang="en-US" altLang="ko-KR"/>
              <a:t>C</a:t>
            </a:r>
            <a:r>
              <a:rPr lang="ko-KR" altLang="en-US"/>
              <a:t>언어의 영감을 받아 만들어졌고 강력한 프로그램 작성 기능을 가지고 있습니다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콘 쉘은 벨 연구소의 데이비드 콘이 개발했습니다</a:t>
            </a:r>
            <a:r>
              <a:rPr lang="en-US" altLang="ko-KR"/>
              <a:t>.</a:t>
            </a:r>
          </a:p>
          <a:p>
            <a:r>
              <a:rPr lang="ko-KR" altLang="en-US" err="1"/>
              <a:t>배쉬와</a:t>
            </a:r>
            <a:r>
              <a:rPr lang="ko-KR" altLang="en-US"/>
              <a:t> 마찬가지로 </a:t>
            </a:r>
            <a:r>
              <a:rPr lang="ko-KR" altLang="en-US" err="1"/>
              <a:t>본쉘을</a:t>
            </a:r>
            <a:r>
              <a:rPr lang="ko-KR" altLang="en-US"/>
              <a:t> 기반으로 하였으며 </a:t>
            </a:r>
            <a:r>
              <a:rPr lang="en-US" altLang="ko-KR"/>
              <a:t>C</a:t>
            </a:r>
            <a:r>
              <a:rPr lang="ko-KR" altLang="en-US"/>
              <a:t>쉘의 대부분의 특징을 제공하고 있습니다</a:t>
            </a:r>
            <a:r>
              <a:rPr lang="en-US" altLang="ko-KR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BD8C02-ADBA-468E-8DA4-3AE298BA7F53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0751597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쉘에서</a:t>
            </a:r>
            <a:r>
              <a:rPr lang="en-US" altLang="ko-KR"/>
              <a:t> </a:t>
            </a:r>
            <a:r>
              <a:rPr lang="ko-KR" altLang="en-US" err="1"/>
              <a:t>잡이란</a:t>
            </a:r>
            <a:r>
              <a:rPr lang="en-US" altLang="ko-KR"/>
              <a:t> </a:t>
            </a:r>
            <a:r>
              <a:rPr lang="ko-KR" altLang="en-US"/>
              <a:t>현재</a:t>
            </a:r>
            <a:r>
              <a:rPr lang="en-US" altLang="ko-KR"/>
              <a:t> </a:t>
            </a:r>
            <a:r>
              <a:rPr lang="ko-KR" altLang="en-US"/>
              <a:t>쉘에서</a:t>
            </a:r>
            <a:r>
              <a:rPr lang="en-US" altLang="ko-KR"/>
              <a:t> </a:t>
            </a:r>
            <a:r>
              <a:rPr lang="ko-KR" altLang="en-US"/>
              <a:t>실행중인</a:t>
            </a:r>
            <a:r>
              <a:rPr lang="en-US" altLang="ko-KR"/>
              <a:t> </a:t>
            </a:r>
            <a:r>
              <a:rPr lang="ko-KR" altLang="en-US"/>
              <a:t>프로세스를</a:t>
            </a:r>
            <a:r>
              <a:rPr lang="en-US" altLang="ko-KR"/>
              <a:t> </a:t>
            </a:r>
            <a:r>
              <a:rPr lang="ko-KR" altLang="en-US"/>
              <a:t>일컫습니다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저희가</a:t>
            </a:r>
            <a:r>
              <a:rPr lang="en-US" altLang="ko-KR"/>
              <a:t> </a:t>
            </a:r>
            <a:r>
              <a:rPr lang="ko-KR" altLang="en-US"/>
              <a:t>쉘에</a:t>
            </a:r>
            <a:r>
              <a:rPr lang="en-US" altLang="ko-KR"/>
              <a:t> </a:t>
            </a:r>
            <a:r>
              <a:rPr lang="ko-KR" altLang="en-US"/>
              <a:t>명령어를</a:t>
            </a:r>
            <a:r>
              <a:rPr lang="en-US" altLang="ko-KR"/>
              <a:t> </a:t>
            </a:r>
            <a:r>
              <a:rPr lang="ko-KR" altLang="en-US"/>
              <a:t>입력해서</a:t>
            </a:r>
            <a:r>
              <a:rPr lang="en-US" altLang="ko-KR"/>
              <a:t> </a:t>
            </a:r>
            <a:r>
              <a:rPr lang="ko-KR" altLang="en-US"/>
              <a:t>단순히</a:t>
            </a:r>
            <a:r>
              <a:rPr lang="en-US" altLang="ko-KR"/>
              <a:t> </a:t>
            </a:r>
            <a:r>
              <a:rPr lang="ko-KR" altLang="en-US" err="1"/>
              <a:t>포그라운드</a:t>
            </a:r>
            <a:r>
              <a:rPr lang="en-US" altLang="ko-KR"/>
              <a:t> </a:t>
            </a:r>
            <a:r>
              <a:rPr lang="ko-KR" altLang="en-US"/>
              <a:t>형태로</a:t>
            </a:r>
            <a:r>
              <a:rPr lang="en-US" altLang="ko-KR"/>
              <a:t> </a:t>
            </a:r>
            <a:r>
              <a:rPr lang="ko-KR" altLang="en-US"/>
              <a:t>돌아가는</a:t>
            </a:r>
            <a:r>
              <a:rPr lang="en-US" altLang="ko-KR"/>
              <a:t> </a:t>
            </a:r>
            <a:r>
              <a:rPr lang="ko-KR" altLang="en-US"/>
              <a:t>것도</a:t>
            </a:r>
            <a:r>
              <a:rPr lang="en-US" altLang="ko-KR"/>
              <a:t> </a:t>
            </a:r>
            <a:r>
              <a:rPr lang="ko-KR" altLang="en-US"/>
              <a:t>하나의</a:t>
            </a:r>
            <a:r>
              <a:rPr lang="en-US" altLang="ko-KR"/>
              <a:t> </a:t>
            </a:r>
            <a:r>
              <a:rPr lang="ko-KR" altLang="en-US" err="1"/>
              <a:t>잡입니다</a:t>
            </a:r>
            <a:r>
              <a:rPr lang="en-US" altLang="ko-KR"/>
              <a:t>.</a:t>
            </a:r>
          </a:p>
          <a:p>
            <a:r>
              <a:rPr lang="ko-KR" altLang="en-US"/>
              <a:t>사용자가</a:t>
            </a:r>
            <a:r>
              <a:rPr lang="en-US" altLang="ko-KR"/>
              <a:t> </a:t>
            </a:r>
            <a:r>
              <a:rPr lang="ko-KR" altLang="en-US"/>
              <a:t>마지막으로</a:t>
            </a:r>
            <a:r>
              <a:rPr lang="en-US" altLang="ko-KR"/>
              <a:t> </a:t>
            </a:r>
            <a:r>
              <a:rPr lang="ko-KR" altLang="en-US"/>
              <a:t>입력한</a:t>
            </a:r>
            <a:r>
              <a:rPr lang="en-US" altLang="ko-KR"/>
              <a:t> </a:t>
            </a:r>
            <a:r>
              <a:rPr lang="ko-KR" altLang="en-US"/>
              <a:t>명령어가</a:t>
            </a:r>
            <a:r>
              <a:rPr lang="en-US" altLang="ko-KR"/>
              <a:t> </a:t>
            </a:r>
            <a:r>
              <a:rPr lang="ko-KR" altLang="en-US"/>
              <a:t>단일</a:t>
            </a:r>
            <a:r>
              <a:rPr lang="en-US" altLang="ko-KR"/>
              <a:t> </a:t>
            </a:r>
            <a:r>
              <a:rPr lang="ko-KR" altLang="en-US" err="1"/>
              <a:t>잡으로</a:t>
            </a:r>
            <a:r>
              <a:rPr lang="en-US" altLang="ko-KR"/>
              <a:t> </a:t>
            </a:r>
            <a:r>
              <a:rPr lang="ko-KR" altLang="en-US"/>
              <a:t>운영되는</a:t>
            </a:r>
            <a:r>
              <a:rPr lang="en-US" altLang="ko-KR"/>
              <a:t> </a:t>
            </a:r>
            <a:r>
              <a:rPr lang="ko-KR" altLang="en-US"/>
              <a:t>셈입니다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en-US" altLang="ko-KR"/>
              <a:t>&lt;</a:t>
            </a:r>
            <a:r>
              <a:rPr lang="ko-KR" altLang="en-US"/>
              <a:t>예제</a:t>
            </a:r>
            <a:r>
              <a:rPr lang="en-US" altLang="ko-KR"/>
              <a:t>&gt;</a:t>
            </a:r>
          </a:p>
          <a:p>
            <a:pPr lvl="1"/>
            <a:r>
              <a:rPr lang="en-US" altLang="ko-KR" u="sng"/>
              <a:t>Bash</a:t>
            </a:r>
            <a:r>
              <a:rPr lang="ko-KR" altLang="en-US" u="sng"/>
              <a:t>와</a:t>
            </a:r>
            <a:r>
              <a:rPr lang="en-US" altLang="ko-KR" u="sng"/>
              <a:t> </a:t>
            </a:r>
            <a:r>
              <a:rPr lang="en-US" altLang="ko-KR" u="sng" err="1"/>
              <a:t>ps</a:t>
            </a:r>
            <a:r>
              <a:rPr lang="ko-KR" altLang="en-US" u="sng"/>
              <a:t>를</a:t>
            </a:r>
            <a:r>
              <a:rPr lang="en-US" altLang="ko-KR" u="sng"/>
              <a:t> </a:t>
            </a:r>
            <a:r>
              <a:rPr lang="ko-KR" altLang="en-US" u="sng"/>
              <a:t>예를</a:t>
            </a:r>
            <a:r>
              <a:rPr lang="en-US" altLang="ko-KR" u="sng"/>
              <a:t> </a:t>
            </a:r>
            <a:r>
              <a:rPr lang="ko-KR" altLang="en-US" u="sng"/>
              <a:t>들어서</a:t>
            </a:r>
            <a:r>
              <a:rPr lang="en-US" altLang="ko-KR" u="sng"/>
              <a:t> </a:t>
            </a:r>
            <a:r>
              <a:rPr lang="ko-KR" altLang="en-US" u="sng"/>
              <a:t>설명</a:t>
            </a:r>
            <a:endParaRPr lang="en-US" altLang="ko-KR" u="sng"/>
          </a:p>
          <a:p>
            <a:pPr lvl="1"/>
            <a:r>
              <a:rPr lang="en-US" altLang="ko-KR"/>
              <a:t>Ps</a:t>
            </a:r>
            <a:r>
              <a:rPr lang="ko-KR" altLang="en-US"/>
              <a:t>를</a:t>
            </a:r>
            <a:r>
              <a:rPr lang="en-US" altLang="ko-KR"/>
              <a:t> </a:t>
            </a:r>
            <a:r>
              <a:rPr lang="ko-KR" altLang="en-US"/>
              <a:t>쳐보면</a:t>
            </a:r>
            <a:r>
              <a:rPr lang="en-US" altLang="ko-KR"/>
              <a:t> bash</a:t>
            </a:r>
            <a:r>
              <a:rPr lang="ko-KR" altLang="en-US"/>
              <a:t>와</a:t>
            </a:r>
            <a:r>
              <a:rPr lang="en-US" altLang="ko-KR"/>
              <a:t> </a:t>
            </a:r>
            <a:r>
              <a:rPr lang="en-US" altLang="ko-KR" err="1"/>
              <a:t>ps</a:t>
            </a:r>
            <a:r>
              <a:rPr lang="ko-KR" altLang="en-US"/>
              <a:t>가</a:t>
            </a:r>
            <a:r>
              <a:rPr lang="en-US" altLang="ko-KR"/>
              <a:t> </a:t>
            </a:r>
            <a:r>
              <a:rPr lang="ko-KR" altLang="en-US"/>
              <a:t>떠</a:t>
            </a:r>
            <a:r>
              <a:rPr lang="en-US" altLang="ko-KR"/>
              <a:t> </a:t>
            </a:r>
            <a:r>
              <a:rPr lang="ko-KR" altLang="en-US"/>
              <a:t>있는</a:t>
            </a:r>
            <a:r>
              <a:rPr lang="en-US" altLang="ko-KR"/>
              <a:t> </a:t>
            </a:r>
            <a:r>
              <a:rPr lang="ko-KR" altLang="en-US"/>
              <a:t>걸</a:t>
            </a:r>
            <a:r>
              <a:rPr lang="en-US" altLang="ko-KR"/>
              <a:t> </a:t>
            </a:r>
            <a:r>
              <a:rPr lang="ko-KR" altLang="en-US"/>
              <a:t>볼</a:t>
            </a:r>
            <a:r>
              <a:rPr lang="en-US" altLang="ko-KR"/>
              <a:t> </a:t>
            </a:r>
            <a:r>
              <a:rPr lang="ko-KR" altLang="en-US"/>
              <a:t>수</a:t>
            </a:r>
            <a:r>
              <a:rPr lang="en-US" altLang="ko-KR"/>
              <a:t> </a:t>
            </a:r>
            <a:r>
              <a:rPr lang="ko-KR" altLang="en-US"/>
              <a:t>있습니다</a:t>
            </a:r>
            <a:r>
              <a:rPr lang="en-US" altLang="ko-KR"/>
              <a:t>. </a:t>
            </a:r>
            <a:r>
              <a:rPr lang="ko-KR" altLang="en-US" err="1"/>
              <a:t>배쉬가</a:t>
            </a:r>
            <a:r>
              <a:rPr lang="en-US" altLang="ko-KR"/>
              <a:t> </a:t>
            </a:r>
            <a:r>
              <a:rPr lang="en-US" altLang="ko-KR" err="1"/>
              <a:t>ps</a:t>
            </a:r>
            <a:r>
              <a:rPr lang="en-US" altLang="ko-KR"/>
              <a:t> </a:t>
            </a:r>
            <a:r>
              <a:rPr lang="ko-KR" altLang="en-US"/>
              <a:t>프로세스를</a:t>
            </a:r>
            <a:r>
              <a:rPr lang="en-US" altLang="ko-KR"/>
              <a:t> </a:t>
            </a:r>
            <a:r>
              <a:rPr lang="ko-KR" altLang="en-US"/>
              <a:t>생성하고</a:t>
            </a:r>
            <a:r>
              <a:rPr lang="en-US" altLang="ko-KR"/>
              <a:t> </a:t>
            </a:r>
            <a:r>
              <a:rPr lang="en-US" altLang="ko-KR" err="1"/>
              <a:t>ps</a:t>
            </a:r>
            <a:r>
              <a:rPr lang="en-US" altLang="ko-KR"/>
              <a:t> </a:t>
            </a:r>
            <a:r>
              <a:rPr lang="ko-KR" altLang="en-US"/>
              <a:t>프로세스는</a:t>
            </a:r>
            <a:r>
              <a:rPr lang="en-US" altLang="ko-KR"/>
              <a:t> </a:t>
            </a:r>
            <a:r>
              <a:rPr lang="ko-KR" altLang="en-US"/>
              <a:t>기본</a:t>
            </a:r>
            <a:r>
              <a:rPr lang="en-US" altLang="ko-KR"/>
              <a:t> </a:t>
            </a:r>
            <a:r>
              <a:rPr lang="ko-KR" altLang="en-US"/>
              <a:t>프로세스의 목록을 출력 후 종료됩니다</a:t>
            </a:r>
            <a:r>
              <a:rPr lang="en-US" altLang="ko-KR"/>
              <a:t>.</a:t>
            </a:r>
          </a:p>
          <a:p>
            <a:pPr lvl="1"/>
            <a:r>
              <a:rPr lang="ko-KR" altLang="en-US"/>
              <a:t>그러면 방금 하나의 </a:t>
            </a:r>
            <a:r>
              <a:rPr lang="en-US" altLang="ko-KR"/>
              <a:t>Job</a:t>
            </a:r>
            <a:r>
              <a:rPr lang="ko-KR" altLang="en-US"/>
              <a:t>이 수행된 것이고 </a:t>
            </a:r>
            <a:endParaRPr lang="en-US" altLang="ko-KR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BD8C02-ADBA-468E-8DA4-3AE298BA7F53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556796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Job</a:t>
            </a:r>
            <a:r>
              <a:rPr lang="ko-KR" altLang="en-US"/>
              <a:t>의 종류에는 크게 두 가지가 있는데</a:t>
            </a:r>
            <a:r>
              <a:rPr lang="ko-KR" altLang="en-US" baseline="0"/>
              <a:t> 포그라운드와 백그라운드 형태로 나뉩니다</a:t>
            </a:r>
            <a:r>
              <a:rPr lang="en-US" altLang="ko-KR" baseline="0"/>
              <a:t>.</a:t>
            </a:r>
            <a:endParaRPr lang="en-US" altLang="ko-KR"/>
          </a:p>
          <a:p>
            <a:endParaRPr lang="en-US" altLang="ko-KR"/>
          </a:p>
          <a:p>
            <a:r>
              <a:rPr lang="ko-KR" altLang="en-US"/>
              <a:t>포그라운드는</a:t>
            </a:r>
            <a:endParaRPr lang="en-US" altLang="ko-KR"/>
          </a:p>
          <a:p>
            <a:r>
              <a:rPr lang="ko-KR" altLang="en-US"/>
              <a:t>부모프로세스가 자식 프로세스를 실행 후 종료될 때 까지 기다립니다</a:t>
            </a:r>
            <a:r>
              <a:rPr lang="en-US" altLang="ko-KR"/>
              <a:t>.</a:t>
            </a:r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/>
              <a:t>그렇기 때문에 당연히</a:t>
            </a:r>
            <a:r>
              <a:rPr lang="ko-KR" altLang="en-US" baseline="0"/>
              <a:t> </a:t>
            </a:r>
            <a:r>
              <a:rPr lang="en-US" altLang="ko-KR" baseline="0"/>
              <a:t>Job</a:t>
            </a:r>
            <a:r>
              <a:rPr lang="ko-KR" altLang="en-US" baseline="0"/>
              <a:t>이</a:t>
            </a:r>
            <a:r>
              <a:rPr lang="ko-KR" altLang="en-US"/>
              <a:t> 종료되기 전까지는 프롬프트가 출력되지 않고 한 번에 하나의 </a:t>
            </a:r>
            <a:r>
              <a:rPr lang="en-US" altLang="ko-KR"/>
              <a:t>Job</a:t>
            </a:r>
            <a:r>
              <a:rPr lang="ko-KR" altLang="en-US"/>
              <a:t>만 수행 가능합니다</a:t>
            </a:r>
            <a:r>
              <a:rPr lang="en-US" altLang="ko-KR"/>
              <a:t>.</a:t>
            </a:r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/>
              <a:t>그리고 사용자에게 입력을 받고 표준 출력으로 내보내는 상호작용이 이루어집니다</a:t>
            </a:r>
            <a:r>
              <a:rPr lang="en-US" altLang="ko-KR"/>
              <a:t>.</a:t>
            </a:r>
          </a:p>
          <a:p>
            <a:r>
              <a:rPr lang="ko-KR" altLang="en-US"/>
              <a:t>물론 이 과정에서 입력과 출력을 </a:t>
            </a:r>
            <a:r>
              <a:rPr lang="ko-KR" altLang="en-US" err="1"/>
              <a:t>리디렉트</a:t>
            </a:r>
            <a:r>
              <a:rPr lang="ko-KR" altLang="en-US"/>
              <a:t> 시킬 수 있습니다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백그라운드는</a:t>
            </a:r>
            <a:endParaRPr lang="en-US" altLang="ko-KR"/>
          </a:p>
          <a:p>
            <a:r>
              <a:rPr lang="ko-KR" altLang="en-US"/>
              <a:t>부모프로세스가 자식 프로세스를 실행</a:t>
            </a:r>
            <a:r>
              <a:rPr lang="ko-KR" altLang="en-US" baseline="0"/>
              <a:t> 시켜놓고 바로 다음 작업을 할 수 있도록 합니다</a:t>
            </a:r>
            <a:r>
              <a:rPr lang="en-US" altLang="ko-KR" baseline="0"/>
              <a:t>.</a:t>
            </a:r>
          </a:p>
          <a:p>
            <a:r>
              <a:rPr lang="ko-KR" altLang="en-US" baseline="0"/>
              <a:t>다만 백그라운드 </a:t>
            </a:r>
            <a:r>
              <a:rPr lang="en-US" altLang="ko-KR" baseline="0"/>
              <a:t>Job</a:t>
            </a:r>
            <a:r>
              <a:rPr lang="ko-KR" altLang="en-US" baseline="0"/>
              <a:t>은 사용자에게 입력을 받지 못합니다</a:t>
            </a:r>
            <a:r>
              <a:rPr lang="en-US" altLang="ko-KR" baseline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BD8C02-ADBA-468E-8DA4-3AE298BA7F53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832954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smtClean="0"/>
              <a:t>터미널의 사전적 의미는 컴퓨터 시스템에서 데이터를 입</a:t>
            </a:r>
            <a:r>
              <a:rPr lang="en-US" altLang="ko-KR" dirty="0" smtClean="0"/>
              <a:t>·</a:t>
            </a:r>
            <a:r>
              <a:rPr lang="ko-KR" altLang="en-US" dirty="0" smtClean="0"/>
              <a:t>출력하는 단말기로 하드웨어 장치이다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BD8C02-ADBA-468E-8DA4-3AE298BA7F53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5954283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smtClean="0"/>
              <a:t>터미널의 사전적 의미는 컴퓨터 시스템에서 데이터를 입</a:t>
            </a:r>
            <a:r>
              <a:rPr lang="en-US" altLang="ko-KR" dirty="0" smtClean="0"/>
              <a:t>·</a:t>
            </a:r>
            <a:r>
              <a:rPr lang="ko-KR" altLang="en-US" dirty="0" smtClean="0"/>
              <a:t>출력하는 단말기로 하드웨어 장치이다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BD8C02-ADBA-468E-8DA4-3AE298BA7F53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758311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BD8C02-ADBA-468E-8DA4-3AE298BA7F53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414927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파일시스템 계층구조 표준이란</a:t>
            </a:r>
            <a:endParaRPr lang="en-US" altLang="ko-KR" dirty="0"/>
          </a:p>
          <a:p>
            <a:r>
              <a:rPr lang="ko-KR" altLang="en-US" dirty="0"/>
              <a:t>파일시스템 </a:t>
            </a:r>
            <a:r>
              <a:rPr lang="ko-KR" altLang="en-US" dirty="0" err="1"/>
              <a:t>하이라키</a:t>
            </a:r>
            <a:r>
              <a:rPr lang="ko-KR" altLang="en-US" dirty="0"/>
              <a:t> 스탠다드의 </a:t>
            </a:r>
            <a:r>
              <a:rPr lang="ko-KR" altLang="en-US" dirty="0" err="1"/>
              <a:t>악자</a:t>
            </a:r>
            <a:r>
              <a:rPr lang="ko-KR" altLang="en-US" dirty="0"/>
              <a:t> </a:t>
            </a:r>
            <a:r>
              <a:rPr lang="en-US" altLang="ko-KR" dirty="0"/>
              <a:t>FHS </a:t>
            </a:r>
            <a:r>
              <a:rPr lang="ko-KR" altLang="en-US" dirty="0"/>
              <a:t>라고 더 많이 불리는 편이고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리눅스 운영체제에서 주로 사용되는 디렉토리들의 쓰임새와 이름을 정의하는 표준 규칙들입니다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BSD</a:t>
            </a:r>
            <a:r>
              <a:rPr lang="ko-KR" altLang="en-US" dirty="0"/>
              <a:t>에서 표준으로 사용되던 계층구조를 대부분 상속하고 있으며</a:t>
            </a:r>
            <a:endParaRPr lang="en-US" altLang="ko-KR" dirty="0"/>
          </a:p>
          <a:p>
            <a:r>
              <a:rPr lang="ko-KR" altLang="en-US" dirty="0"/>
              <a:t>흔히 저희가 패키지 </a:t>
            </a:r>
            <a:r>
              <a:rPr lang="ko-KR" altLang="en-US" dirty="0" err="1"/>
              <a:t>설치시</a:t>
            </a:r>
            <a:r>
              <a:rPr lang="ko-KR" altLang="en-US" dirty="0"/>
              <a:t> 볼 수 있는 </a:t>
            </a:r>
            <a:r>
              <a:rPr lang="ko-KR" altLang="en-US" dirty="0" err="1"/>
              <a:t>센토스에서도</a:t>
            </a:r>
            <a:r>
              <a:rPr lang="ko-KR" altLang="en-US" dirty="0"/>
              <a:t> 당연히 </a:t>
            </a:r>
            <a:r>
              <a:rPr lang="en-US" altLang="ko-KR" dirty="0"/>
              <a:t>FHS</a:t>
            </a:r>
            <a:r>
              <a:rPr lang="ko-KR" altLang="en-US" dirty="0"/>
              <a:t>를 따르고 있습니다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 err="1"/>
              <a:t>바이내리</a:t>
            </a:r>
            <a:r>
              <a:rPr lang="en-US" altLang="ko-KR" dirty="0"/>
              <a:t>,</a:t>
            </a:r>
            <a:r>
              <a:rPr lang="ko-KR" altLang="en-US" dirty="0"/>
              <a:t> </a:t>
            </a:r>
            <a:r>
              <a:rPr lang="ko-KR" altLang="en-US" dirty="0" err="1"/>
              <a:t>시스템바이내리</a:t>
            </a:r>
            <a:r>
              <a:rPr lang="en-US" altLang="ko-KR" dirty="0"/>
              <a:t>, </a:t>
            </a:r>
            <a:r>
              <a:rPr lang="ko-KR" altLang="en-US" dirty="0"/>
              <a:t>부트</a:t>
            </a:r>
            <a:r>
              <a:rPr lang="en-US" altLang="ko-KR" dirty="0"/>
              <a:t>, </a:t>
            </a:r>
            <a:r>
              <a:rPr lang="ko-KR" altLang="en-US" dirty="0"/>
              <a:t>디바이스</a:t>
            </a:r>
            <a:r>
              <a:rPr lang="en-US" altLang="ko-KR" dirty="0"/>
              <a:t>, </a:t>
            </a:r>
            <a:r>
              <a:rPr lang="ko-KR" altLang="en-US" dirty="0"/>
              <a:t>홈</a:t>
            </a:r>
            <a:r>
              <a:rPr lang="en-US" altLang="ko-KR" dirty="0"/>
              <a:t>, </a:t>
            </a:r>
            <a:r>
              <a:rPr lang="ko-KR" altLang="en-US" dirty="0"/>
              <a:t>라이브러리 등 각 쓰임새별로 정의가 </a:t>
            </a:r>
            <a:r>
              <a:rPr lang="ko-KR" altLang="en-US" dirty="0" err="1"/>
              <a:t>되어있구요</a:t>
            </a:r>
            <a:r>
              <a:rPr lang="en-US" altLang="ko-KR" dirty="0"/>
              <a:t>,</a:t>
            </a:r>
          </a:p>
          <a:p>
            <a:endParaRPr lang="en-US" altLang="ko-KR" dirty="0"/>
          </a:p>
          <a:p>
            <a:r>
              <a:rPr lang="ko-KR" altLang="en-US" dirty="0"/>
              <a:t>리눅스 커널을 이용하여 다양한 리눅스 배포판이 나옴에 따라</a:t>
            </a:r>
            <a:endParaRPr lang="en-US" altLang="ko-KR" dirty="0"/>
          </a:p>
          <a:p>
            <a:r>
              <a:rPr lang="ko-KR" altLang="en-US" dirty="0"/>
              <a:t>리눅스 표준 디렉토리에 대한 요구가 생긴 것을 </a:t>
            </a:r>
            <a:r>
              <a:rPr lang="ko-KR" altLang="en-US" dirty="0" err="1"/>
              <a:t>정리한겁니다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FHS </a:t>
            </a:r>
            <a:r>
              <a:rPr lang="ko-KR" altLang="en-US" dirty="0"/>
              <a:t>는 리눅스 파운데이션</a:t>
            </a:r>
            <a:r>
              <a:rPr lang="en-US" altLang="ko-KR" dirty="0"/>
              <a:t>, </a:t>
            </a:r>
            <a:r>
              <a:rPr lang="ko-KR" altLang="en-US" dirty="0"/>
              <a:t>그니까 리눅스 재단에 의해서 유지가 </a:t>
            </a:r>
            <a:r>
              <a:rPr lang="ko-KR" altLang="en-US" dirty="0" err="1"/>
              <a:t>되고있습니다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리눅스 재단은 누가 관리를 </a:t>
            </a:r>
            <a:r>
              <a:rPr lang="ko-KR" altLang="en-US" dirty="0" err="1"/>
              <a:t>하냐면</a:t>
            </a:r>
            <a:r>
              <a:rPr lang="ko-KR" altLang="en-US" dirty="0"/>
              <a:t> </a:t>
            </a:r>
            <a:r>
              <a:rPr lang="en-US" altLang="ko-KR" dirty="0"/>
              <a:t>HP,</a:t>
            </a:r>
            <a:r>
              <a:rPr lang="ko-KR" altLang="en-US" dirty="0"/>
              <a:t> </a:t>
            </a:r>
            <a:r>
              <a:rPr lang="ko-KR" altLang="en-US" dirty="0" err="1"/>
              <a:t>레드햇</a:t>
            </a:r>
            <a:r>
              <a:rPr lang="en-US" altLang="ko-KR" dirty="0"/>
              <a:t>, IBM, </a:t>
            </a:r>
            <a:r>
              <a:rPr lang="ko-KR" altLang="en-US" dirty="0"/>
              <a:t>델과 같은 뭐 소프트웨어나 하드웨어를 공급하는 업체들로 이루어진 비영리 조직입니다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그래서 지금 </a:t>
            </a:r>
            <a:r>
              <a:rPr lang="en-US" altLang="ko-KR" dirty="0"/>
              <a:t>FHS</a:t>
            </a:r>
            <a:r>
              <a:rPr lang="ko-KR" altLang="en-US" dirty="0"/>
              <a:t>의 가장 최신버전은 </a:t>
            </a:r>
            <a:r>
              <a:rPr lang="en-US" altLang="ko-KR" dirty="0"/>
              <a:t>2015</a:t>
            </a:r>
            <a:r>
              <a:rPr lang="ko-KR" altLang="en-US" dirty="0"/>
              <a:t>년에 나온 </a:t>
            </a:r>
            <a:r>
              <a:rPr lang="en-US" altLang="ko-KR" dirty="0"/>
              <a:t>3.0 </a:t>
            </a:r>
            <a:r>
              <a:rPr lang="ko-KR" altLang="en-US" dirty="0"/>
              <a:t>버전입니다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en-US" altLang="ko-KR" dirty="0"/>
              <a:t/>
            </a:r>
            <a:br>
              <a:rPr lang="en-US" altLang="ko-KR" dirty="0"/>
            </a:br>
            <a:r>
              <a:rPr lang="ko-KR" altLang="en-US" dirty="0"/>
              <a:t>원래 </a:t>
            </a:r>
            <a:r>
              <a:rPr lang="en-US" altLang="ko-KR" dirty="0"/>
              <a:t>FHS</a:t>
            </a:r>
            <a:r>
              <a:rPr lang="ko-KR" altLang="en-US" dirty="0"/>
              <a:t>의 이름은 </a:t>
            </a:r>
            <a:r>
              <a:rPr lang="en-US" altLang="ko-KR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FSSTND</a:t>
            </a:r>
            <a:r>
              <a:rPr lang="ko-KR" alt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입니다</a:t>
            </a:r>
            <a:r>
              <a:rPr lang="en-US" altLang="ko-KR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endParaRPr lang="en-US" altLang="ko-KR" b="0" i="0" dirty="0">
              <a:solidFill>
                <a:srgbClr val="202122"/>
              </a:solidFill>
              <a:effectLst/>
              <a:latin typeface="Arial" panose="020B0604020202020204" pitchFamily="34" charset="0"/>
            </a:endParaRPr>
          </a:p>
          <a:p>
            <a:r>
              <a:rPr lang="en-US" altLang="ko-KR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2.0 </a:t>
            </a:r>
            <a:r>
              <a:rPr lang="ko-KR" alt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바로 이전이 </a:t>
            </a:r>
            <a:r>
              <a:rPr lang="en-US" altLang="ko-KR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1.2 </a:t>
            </a:r>
            <a:r>
              <a:rPr lang="ko-KR" alt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버전인데요</a:t>
            </a:r>
            <a:r>
              <a:rPr lang="en-US" altLang="ko-KR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, 1.0</a:t>
            </a:r>
            <a:r>
              <a:rPr lang="ko-KR" alt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부터 </a:t>
            </a:r>
            <a:r>
              <a:rPr lang="en-US" altLang="ko-KR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1.2 </a:t>
            </a:r>
            <a:r>
              <a:rPr lang="ko-KR" alt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까지는 </a:t>
            </a:r>
            <a:r>
              <a:rPr lang="en-US" altLang="ko-KR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FSSTND </a:t>
            </a:r>
            <a:r>
              <a:rPr lang="ko-KR" alt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라고 부르다가 이제 </a:t>
            </a:r>
            <a:r>
              <a:rPr lang="en-US" altLang="ko-KR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FHS</a:t>
            </a:r>
            <a:r>
              <a:rPr lang="ko-KR" alt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로 더 간결하게 명칭이 변경 됐습니다</a:t>
            </a:r>
            <a:r>
              <a:rPr lang="en-US" altLang="ko-KR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.</a:t>
            </a:r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BD8C02-ADBA-468E-8DA4-3AE298BA7F53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6383202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BD8C02-ADBA-468E-8DA4-3AE298BA7F53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7241094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BD8C02-ADBA-468E-8DA4-3AE298BA7F53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0518432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BD8C02-ADBA-468E-8DA4-3AE298BA7F53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9138131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BD8C02-ADBA-468E-8DA4-3AE298BA7F53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1322462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BD8C02-ADBA-468E-8DA4-3AE298BA7F53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068425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BD8C02-ADBA-468E-8DA4-3AE298BA7F53}" type="slidenum">
              <a:rPr lang="ko-KR" altLang="en-US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427578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BD8C02-ADBA-468E-8DA4-3AE298BA7F53}" type="slidenum">
              <a:rPr lang="ko-KR" altLang="en-US" smtClean="0"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269365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BD8C02-ADBA-468E-8DA4-3AE298BA7F53}" type="slidenum">
              <a:rPr lang="ko-KR" altLang="en-US" smtClean="0"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7777631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BD8C02-ADBA-468E-8DA4-3AE298BA7F53}" type="slidenum">
              <a:rPr lang="ko-KR" altLang="en-US" smtClean="0"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306366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BD8C02-ADBA-468E-8DA4-3AE298BA7F53}" type="slidenum">
              <a:rPr lang="ko-KR" altLang="en-US" smtClean="0"/>
              <a:t>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7273864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BD8C02-ADBA-468E-8DA4-3AE298BA7F53}" type="slidenum">
              <a:rPr lang="ko-KR" altLang="en-US" smtClean="0"/>
              <a:t>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882997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BD8C02-ADBA-468E-8DA4-3AE298BA7F53}" type="slidenum">
              <a:rPr lang="ko-KR" altLang="en-US" smtClean="0"/>
              <a:t>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3066319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BD8C02-ADBA-468E-8DA4-3AE298BA7F53}" type="slidenum">
              <a:rPr lang="ko-KR" altLang="en-US" smtClean="0"/>
              <a:t>31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132417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BD8C02-ADBA-468E-8DA4-3AE298BA7F53}" type="slidenum">
              <a:rPr lang="ko-KR" altLang="en-US" smtClean="0"/>
              <a:t>32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2763333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BD8C02-ADBA-468E-8DA4-3AE298BA7F53}" type="slidenum">
              <a:rPr lang="ko-KR" altLang="en-US" smtClean="0"/>
              <a:t>33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531721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BD8C02-ADBA-468E-8DA4-3AE298BA7F53}" type="slidenum">
              <a:rPr lang="ko-KR" altLang="en-US" smtClean="0"/>
              <a:t>34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882997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BD8C02-ADBA-468E-8DA4-3AE298BA7F53}" type="slidenum">
              <a:rPr lang="ko-KR" altLang="en-US" smtClean="0"/>
              <a:t>36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8829977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BD8C02-ADBA-468E-8DA4-3AE298BA7F53}" type="slidenum">
              <a:rPr lang="ko-KR" altLang="en-US" smtClean="0"/>
              <a:t>37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882997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BD8C02-ADBA-468E-8DA4-3AE298BA7F53}" type="slidenum">
              <a:rPr lang="ko-KR" altLang="en-US" smtClean="0"/>
              <a:t>38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8829977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BD8C02-ADBA-468E-8DA4-3AE298BA7F53}" type="slidenum">
              <a:rPr lang="ko-KR" altLang="en-US" smtClean="0"/>
              <a:t>39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8829977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BD8C02-ADBA-468E-8DA4-3AE298BA7F53}" type="slidenum">
              <a:rPr lang="ko-KR" altLang="en-US" smtClean="0"/>
              <a:t>40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18950025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BD8C02-ADBA-468E-8DA4-3AE298BA7F53}" type="slidenum">
              <a:rPr lang="ko-KR" altLang="en-US" smtClean="0"/>
              <a:t>41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6849955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BD8C02-ADBA-468E-8DA4-3AE298BA7F53}" type="slidenum">
              <a:rPr lang="ko-KR" altLang="en-US" smtClean="0"/>
              <a:t>42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82737668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BD8C02-ADBA-468E-8DA4-3AE298BA7F53}" type="slidenum">
              <a:rPr lang="ko-KR" altLang="en-US" smtClean="0"/>
              <a:t>43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7892292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BD8C02-ADBA-468E-8DA4-3AE298BA7F53}" type="slidenum">
              <a:rPr lang="ko-KR" altLang="en-US" smtClean="0"/>
              <a:t>44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08315702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BD8C02-ADBA-468E-8DA4-3AE298BA7F53}" type="slidenum">
              <a:rPr lang="ko-KR" altLang="en-US" smtClean="0"/>
              <a:t>45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960513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BD8C02-ADBA-468E-8DA4-3AE298BA7F53}" type="slidenum">
              <a:rPr lang="ko-KR" altLang="en-US" smtClean="0"/>
              <a:t>46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72513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9B8CEE-6E9D-4FF7-9CED-276BC8206794}" type="datetimeFigureOut">
              <a:rPr lang="ko-KR" altLang="en-US" smtClean="0"/>
              <a:t>2021-07-12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D1BC2-E957-4309-8DF0-906C655ABA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96846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9B8CEE-6E9D-4FF7-9CED-276BC8206794}" type="datetimeFigureOut">
              <a:rPr lang="ko-KR" altLang="en-US" smtClean="0"/>
              <a:t>2021-07-12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D1BC2-E957-4309-8DF0-906C655ABA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86606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9B8CEE-6E9D-4FF7-9CED-276BC8206794}" type="datetimeFigureOut">
              <a:rPr lang="ko-KR" altLang="en-US" smtClean="0"/>
              <a:t>2021-07-12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D1BC2-E957-4309-8DF0-906C655ABA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36248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9B8CEE-6E9D-4FF7-9CED-276BC8206794}" type="datetimeFigureOut">
              <a:rPr lang="ko-KR" altLang="en-US" smtClean="0"/>
              <a:t>2021-07-12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D1BC2-E957-4309-8DF0-906C655ABA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369663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9B8CEE-6E9D-4FF7-9CED-276BC8206794}" type="datetimeFigureOut">
              <a:rPr lang="ko-KR" altLang="en-US" smtClean="0"/>
              <a:t>2021-07-12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D1BC2-E957-4309-8DF0-906C655ABA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42320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9B8CEE-6E9D-4FF7-9CED-276BC8206794}" type="datetimeFigureOut">
              <a:rPr lang="ko-KR" altLang="en-US" smtClean="0"/>
              <a:t>2021-07-12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D1BC2-E957-4309-8DF0-906C655ABA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862736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9B8CEE-6E9D-4FF7-9CED-276BC8206794}" type="datetimeFigureOut">
              <a:rPr lang="ko-KR" altLang="en-US" smtClean="0"/>
              <a:t>2021-07-12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D1BC2-E957-4309-8DF0-906C655ABA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32383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9B8CEE-6E9D-4FF7-9CED-276BC8206794}" type="datetimeFigureOut">
              <a:rPr lang="ko-KR" altLang="en-US" smtClean="0"/>
              <a:t>2021-07-12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D1BC2-E957-4309-8DF0-906C655ABA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908618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9B8CEE-6E9D-4FF7-9CED-276BC8206794}" type="datetimeFigureOut">
              <a:rPr lang="ko-KR" altLang="en-US" smtClean="0"/>
              <a:t>2021-07-12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D1BC2-E957-4309-8DF0-906C655ABA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833803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9B8CEE-6E9D-4FF7-9CED-276BC8206794}" type="datetimeFigureOut">
              <a:rPr lang="ko-KR" altLang="en-US" smtClean="0"/>
              <a:t>2021-07-12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D1BC2-E957-4309-8DF0-906C655ABA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93181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9B8CEE-6E9D-4FF7-9CED-276BC8206794}" type="datetimeFigureOut">
              <a:rPr lang="ko-KR" altLang="en-US" smtClean="0"/>
              <a:t>2021-07-12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D1BC2-E957-4309-8DF0-906C655ABA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214901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9B8CEE-6E9D-4FF7-9CED-276BC8206794}" type="datetimeFigureOut">
              <a:rPr lang="ko-KR" altLang="en-US" smtClean="0"/>
              <a:t>2021-07-12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FD1BC2-E957-4309-8DF0-906C655ABA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08981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/>
              <a:t>리눅스 시스템 이해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/>
              <a:t>서재원</a:t>
            </a:r>
          </a:p>
        </p:txBody>
      </p:sp>
    </p:spTree>
    <p:extLst>
      <p:ext uri="{BB962C8B-B14F-4D97-AF65-F5344CB8AC3E}">
        <p14:creationId xmlns:p14="http://schemas.microsoft.com/office/powerpoint/2010/main" val="7432255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ea typeface="맑은 고딕"/>
              </a:rPr>
              <a:t>운영체제란?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00000"/>
              </a:lnSpc>
            </a:pPr>
            <a:r>
              <a:rPr lang="ko-KR" altLang="en-US">
                <a:ea typeface="맑은 고딕"/>
              </a:rPr>
              <a:t>하드웨어 자원들을 관리</a:t>
            </a:r>
            <a:endParaRPr lang="ko-KR"/>
          </a:p>
          <a:p>
            <a:pPr>
              <a:lnSpc>
                <a:spcPct val="100000"/>
              </a:lnSpc>
            </a:pPr>
            <a:r>
              <a:rPr lang="ko-KR" altLang="en-US">
                <a:ea typeface="맑은 고딕"/>
              </a:rPr>
              <a:t>사용자 프로그램의 실행 및 지원</a:t>
            </a:r>
            <a:endParaRPr lang="en-US" altLang="ko-KR">
              <a:ea typeface="맑은 고딕"/>
            </a:endParaRPr>
          </a:p>
          <a:p>
            <a:pPr>
              <a:lnSpc>
                <a:spcPct val="100000"/>
              </a:lnSpc>
            </a:pPr>
            <a:r>
              <a:rPr lang="ko-KR" altLang="en-US">
                <a:ea typeface="맑은 고딕"/>
              </a:rPr>
              <a:t>컴퓨터 하드웨어 </a:t>
            </a:r>
            <a:r>
              <a:rPr lang="en-US" altLang="ko-KR">
                <a:ea typeface="맑은 고딕"/>
              </a:rPr>
              <a:t>&lt;-&gt; </a:t>
            </a:r>
            <a:r>
              <a:rPr lang="ko-KR" altLang="en-US">
                <a:ea typeface="맑은 고딕"/>
              </a:rPr>
              <a:t>응용프로그램 간의 인터페이스 제공</a:t>
            </a:r>
          </a:p>
          <a:p>
            <a:endParaRPr lang="ko-KR" altLang="en-US">
              <a:ea typeface="맑은 고딕"/>
            </a:endParaRPr>
          </a:p>
          <a:p>
            <a:pPr marL="0" indent="0">
              <a:buNone/>
            </a:pPr>
            <a:endParaRPr lang="ko-KR" altLang="en-US">
              <a:ea typeface="맑은 고딕"/>
            </a:endParaRPr>
          </a:p>
        </p:txBody>
      </p: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4EC774BD-F696-48A0-B271-5150561FF313}"/>
              </a:ext>
            </a:extLst>
          </p:cNvPr>
          <p:cNvGrpSpPr/>
          <p:nvPr/>
        </p:nvGrpSpPr>
        <p:grpSpPr>
          <a:xfrm>
            <a:off x="2912602" y="3805414"/>
            <a:ext cx="5859610" cy="2506486"/>
            <a:chOff x="2289603" y="3150736"/>
            <a:chExt cx="5973441" cy="2602149"/>
          </a:xfrm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5AC061C1-D761-4555-B94A-75F47C12597B}"/>
                </a:ext>
              </a:extLst>
            </p:cNvPr>
            <p:cNvSpPr/>
            <p:nvPr/>
          </p:nvSpPr>
          <p:spPr>
            <a:xfrm>
              <a:off x="3211081" y="5033486"/>
              <a:ext cx="4130484" cy="71939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>
                  <a:ea typeface="맑은 고딕"/>
                </a:rPr>
                <a:t>하드웨어 (CPU, Memory, Disk, TTY)</a:t>
              </a: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BAD02B5C-DD27-4D2E-8664-B6D3962B2E36}"/>
                </a:ext>
              </a:extLst>
            </p:cNvPr>
            <p:cNvSpPr/>
            <p:nvPr/>
          </p:nvSpPr>
          <p:spPr>
            <a:xfrm>
              <a:off x="2289603" y="4091346"/>
              <a:ext cx="5973441" cy="71939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>
                  <a:ea typeface="맑은 고딕"/>
                </a:rPr>
                <a:t>운영체제</a:t>
              </a:r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86B6E8D6-C403-4014-BCC8-5B4AD3D52328}"/>
                </a:ext>
              </a:extLst>
            </p:cNvPr>
            <p:cNvSpPr/>
            <p:nvPr/>
          </p:nvSpPr>
          <p:spPr>
            <a:xfrm>
              <a:off x="2289603" y="3150736"/>
              <a:ext cx="1147805" cy="71939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ea typeface="맑은 고딕"/>
                </a:rPr>
                <a:t>프로그램</a:t>
              </a:r>
              <a:endParaRPr lang="ko-KR" altLang="en-US" dirty="0"/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28DB9B5C-CA43-412A-A06E-4D5FBB126DE3}"/>
                </a:ext>
              </a:extLst>
            </p:cNvPr>
            <p:cNvSpPr/>
            <p:nvPr/>
          </p:nvSpPr>
          <p:spPr>
            <a:xfrm>
              <a:off x="3937353" y="3150736"/>
              <a:ext cx="1147805" cy="71939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>
                  <a:ea typeface="맑은 고딕"/>
                </a:rPr>
                <a:t>프로그램</a:t>
              </a:r>
              <a:endParaRPr lang="ko-KR" altLang="en-US"/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5EB109A2-49A1-4C74-9030-331072722D77}"/>
                </a:ext>
              </a:extLst>
            </p:cNvPr>
            <p:cNvSpPr/>
            <p:nvPr/>
          </p:nvSpPr>
          <p:spPr>
            <a:xfrm>
              <a:off x="5585104" y="3150736"/>
              <a:ext cx="1147805" cy="71939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>
                  <a:ea typeface="맑은 고딕"/>
                </a:rPr>
                <a:t>프로그램</a:t>
              </a:r>
              <a:endParaRPr lang="ko-KR" altLang="en-US"/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23CF6CD4-0038-45CA-A590-9EA72CD1669B}"/>
                </a:ext>
              </a:extLst>
            </p:cNvPr>
            <p:cNvSpPr/>
            <p:nvPr/>
          </p:nvSpPr>
          <p:spPr>
            <a:xfrm>
              <a:off x="7115239" y="3150736"/>
              <a:ext cx="1147805" cy="71939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>
                  <a:ea typeface="맑은 고딕"/>
                </a:rPr>
                <a:t>프로그램</a:t>
              </a:r>
              <a:endParaRPr lang="ko-KR" altLang="en-US"/>
            </a:p>
          </p:txBody>
        </p:sp>
        <p:cxnSp>
          <p:nvCxnSpPr>
            <p:cNvPr id="5" name="직선 연결선 4">
              <a:extLst>
                <a:ext uri="{FF2B5EF4-FFF2-40B4-BE49-F238E27FC236}">
                  <a16:creationId xmlns:a16="http://schemas.microsoft.com/office/drawing/2014/main" id="{79DD2BED-7BE1-48FF-8E8E-29FF2C866BF8}"/>
                </a:ext>
              </a:extLst>
            </p:cNvPr>
            <p:cNvCxnSpPr>
              <a:cxnSpLocks/>
              <a:stCxn id="9" idx="2"/>
            </p:cNvCxnSpPr>
            <p:nvPr/>
          </p:nvCxnSpPr>
          <p:spPr>
            <a:xfrm>
              <a:off x="2863506" y="3870135"/>
              <a:ext cx="0" cy="49697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4BEA3911-4FDD-4DEE-BD01-EF2F91F15086}"/>
                </a:ext>
              </a:extLst>
            </p:cNvPr>
            <p:cNvCxnSpPr>
              <a:cxnSpLocks/>
              <a:stCxn id="10" idx="2"/>
            </p:cNvCxnSpPr>
            <p:nvPr/>
          </p:nvCxnSpPr>
          <p:spPr>
            <a:xfrm>
              <a:off x="4511256" y="3870135"/>
              <a:ext cx="0" cy="49078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12DB2FB5-CE9F-4AEB-A950-0CECECE62205}"/>
                </a:ext>
              </a:extLst>
            </p:cNvPr>
            <p:cNvCxnSpPr>
              <a:cxnSpLocks/>
              <a:stCxn id="11" idx="2"/>
            </p:cNvCxnSpPr>
            <p:nvPr/>
          </p:nvCxnSpPr>
          <p:spPr>
            <a:xfrm flipH="1">
              <a:off x="6159006" y="3870135"/>
              <a:ext cx="1" cy="49078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DA1939CC-B567-42C3-91E2-C52310FD5D27}"/>
                </a:ext>
              </a:extLst>
            </p:cNvPr>
            <p:cNvCxnSpPr>
              <a:cxnSpLocks/>
              <a:stCxn id="12" idx="2"/>
            </p:cNvCxnSpPr>
            <p:nvPr/>
          </p:nvCxnSpPr>
          <p:spPr>
            <a:xfrm>
              <a:off x="7689142" y="3870135"/>
              <a:ext cx="0" cy="49078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E4318A80-6FB7-4A86-B7E1-0DBA7CC78D2D}"/>
                </a:ext>
              </a:extLst>
            </p:cNvPr>
            <p:cNvCxnSpPr>
              <a:cxnSpLocks/>
              <a:stCxn id="8" idx="2"/>
            </p:cNvCxnSpPr>
            <p:nvPr/>
          </p:nvCxnSpPr>
          <p:spPr>
            <a:xfrm>
              <a:off x="5276324" y="4810745"/>
              <a:ext cx="0" cy="44548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4770932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리눅스의 역사</a:t>
            </a:r>
          </a:p>
        </p:txBody>
      </p:sp>
      <p:pic>
        <p:nvPicPr>
          <p:cNvPr id="1026" name="Picture 2" descr="https://upload.wikimedia.org/wikipedia/commons/thumb/c/cd/Unix_timeline.en.svg/1280px-Unix_timeline.en.svg.png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50622" y="1327279"/>
            <a:ext cx="7290755" cy="55307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720559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리눅스 특징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00000"/>
              </a:lnSpc>
            </a:pPr>
            <a:r>
              <a:rPr lang="ko-KR" altLang="en-US" dirty="0">
                <a:ea typeface="맑은 고딕"/>
              </a:rPr>
              <a:t>오픈소스 프로젝트</a:t>
            </a:r>
            <a:endParaRPr lang="en-US" altLang="ko-KR" dirty="0"/>
          </a:p>
          <a:p>
            <a:pPr lvl="1">
              <a:lnSpc>
                <a:spcPct val="100000"/>
              </a:lnSpc>
            </a:pPr>
            <a:r>
              <a:rPr lang="en-US" altLang="ko-KR" dirty="0">
                <a:ea typeface="맑은 고딕"/>
              </a:rPr>
              <a:t>(GPL, GNU General Public License)</a:t>
            </a:r>
          </a:p>
          <a:p>
            <a:pPr>
              <a:lnSpc>
                <a:spcPct val="100000"/>
              </a:lnSpc>
            </a:pPr>
            <a:r>
              <a:rPr lang="ko-KR" altLang="en-US" dirty="0">
                <a:ea typeface="맑은 고딕"/>
              </a:rPr>
              <a:t>다양한 </a:t>
            </a:r>
            <a:r>
              <a:rPr lang="ko-KR" altLang="en-US" dirty="0" err="1">
                <a:ea typeface="맑은 고딕"/>
              </a:rPr>
              <a:t>배포판</a:t>
            </a:r>
            <a:endParaRPr lang="en-US" altLang="ko-KR" dirty="0"/>
          </a:p>
          <a:p>
            <a:pPr lvl="1">
              <a:lnSpc>
                <a:spcPct val="100000"/>
              </a:lnSpc>
            </a:pPr>
            <a:r>
              <a:rPr lang="en-US" altLang="ko-KR" dirty="0">
                <a:ea typeface="맑은 고딕"/>
              </a:rPr>
              <a:t>(Red Hat, </a:t>
            </a:r>
            <a:r>
              <a:rPr lang="en-US" altLang="ko-KR" dirty="0" err="1">
                <a:ea typeface="맑은 고딕"/>
              </a:rPr>
              <a:t>Debian</a:t>
            </a:r>
            <a:r>
              <a:rPr lang="en-US" altLang="ko-KR" dirty="0">
                <a:ea typeface="맑은 고딕"/>
              </a:rPr>
              <a:t> </a:t>
            </a:r>
            <a:r>
              <a:rPr lang="ko-KR" altLang="en-US" dirty="0">
                <a:ea typeface="맑은 고딕"/>
              </a:rPr>
              <a:t>외 </a:t>
            </a:r>
            <a:r>
              <a:rPr lang="ko-KR" altLang="en-US" dirty="0" err="1">
                <a:ea typeface="맑은 고딕"/>
              </a:rPr>
              <a:t>파생판</a:t>
            </a:r>
            <a:r>
              <a:rPr lang="en-US" altLang="ko-KR" dirty="0">
                <a:ea typeface="맑은 고딕"/>
              </a:rPr>
              <a:t>)</a:t>
            </a:r>
          </a:p>
          <a:p>
            <a:pPr>
              <a:lnSpc>
                <a:spcPct val="120000"/>
              </a:lnSpc>
            </a:pPr>
            <a:r>
              <a:rPr lang="ko-KR" altLang="en-US" dirty="0">
                <a:ea typeface="맑은 고딕"/>
              </a:rPr>
              <a:t>멀티 유저</a:t>
            </a:r>
            <a:r>
              <a:rPr lang="en-US" altLang="ko-KR" dirty="0">
                <a:ea typeface="맑은 고딕"/>
              </a:rPr>
              <a:t>, </a:t>
            </a:r>
            <a:r>
              <a:rPr lang="ko-KR" altLang="en-US" dirty="0">
                <a:ea typeface="맑은 고딕"/>
              </a:rPr>
              <a:t>멀티 </a:t>
            </a:r>
            <a:r>
              <a:rPr lang="ko-KR" altLang="en-US" dirty="0" err="1">
                <a:ea typeface="맑은 고딕"/>
              </a:rPr>
              <a:t>태스킹</a:t>
            </a:r>
            <a:r>
              <a:rPr lang="en-US" altLang="ko-KR" dirty="0">
                <a:ea typeface="맑은 고딕"/>
              </a:rPr>
              <a:t> (</a:t>
            </a:r>
            <a:r>
              <a:rPr lang="ko-KR" altLang="en-US" dirty="0">
                <a:ea typeface="맑은 고딕"/>
              </a:rPr>
              <a:t>시분할 시스템)</a:t>
            </a:r>
            <a:endParaRPr lang="en-US" altLang="ko-KR" dirty="0">
              <a:ea typeface="맑은 고딕"/>
            </a:endParaRPr>
          </a:p>
          <a:p>
            <a:pPr>
              <a:lnSpc>
                <a:spcPct val="120000"/>
              </a:lnSpc>
            </a:pPr>
            <a:r>
              <a:rPr lang="en-US" altLang="ko-KR" dirty="0" err="1">
                <a:ea typeface="맑은 고딕"/>
              </a:rPr>
              <a:t>높은</a:t>
            </a:r>
            <a:r>
              <a:rPr lang="en-US" altLang="ko-KR" dirty="0">
                <a:ea typeface="맑은 고딕"/>
              </a:rPr>
              <a:t> </a:t>
            </a:r>
            <a:r>
              <a:rPr lang="en-US" altLang="ko-KR" dirty="0" err="1">
                <a:ea typeface="맑은 고딕"/>
              </a:rPr>
              <a:t>수준의</a:t>
            </a:r>
            <a:r>
              <a:rPr lang="en-US" altLang="ko-KR" dirty="0">
                <a:ea typeface="맑은 고딕"/>
              </a:rPr>
              <a:t> </a:t>
            </a:r>
            <a:r>
              <a:rPr lang="en-US" altLang="ko-KR" dirty="0" err="1">
                <a:ea typeface="맑은 고딕"/>
              </a:rPr>
              <a:t>보안과</a:t>
            </a:r>
            <a:r>
              <a:rPr lang="en-US" altLang="ko-KR" dirty="0">
                <a:ea typeface="맑은 고딕"/>
              </a:rPr>
              <a:t> </a:t>
            </a:r>
            <a:r>
              <a:rPr lang="en-US" altLang="ko-KR" dirty="0" err="1">
                <a:ea typeface="맑은 고딕"/>
              </a:rPr>
              <a:t>안정성</a:t>
            </a:r>
            <a:endParaRPr lang="en-US" altLang="ko-KR" dirty="0">
              <a:ea typeface="맑은 고딕"/>
            </a:endParaRPr>
          </a:p>
          <a:p>
            <a:pPr>
              <a:lnSpc>
                <a:spcPct val="120000"/>
              </a:lnSpc>
            </a:pPr>
            <a:r>
              <a:rPr lang="en-US" altLang="ko-KR" dirty="0" err="1">
                <a:ea typeface="맑은 고딕"/>
              </a:rPr>
              <a:t>상당한</a:t>
            </a:r>
            <a:r>
              <a:rPr lang="en-US" altLang="ko-KR" dirty="0">
                <a:ea typeface="맑은 고딕"/>
              </a:rPr>
              <a:t> </a:t>
            </a:r>
            <a:r>
              <a:rPr lang="en-US" altLang="ko-KR" dirty="0" err="1">
                <a:ea typeface="맑은 고딕"/>
              </a:rPr>
              <a:t>수준의</a:t>
            </a:r>
            <a:r>
              <a:rPr lang="en-US" altLang="ko-KR" dirty="0">
                <a:ea typeface="맑은 고딕"/>
              </a:rPr>
              <a:t> </a:t>
            </a:r>
            <a:r>
              <a:rPr lang="en-US" altLang="ko-KR" dirty="0" err="1">
                <a:ea typeface="맑은 고딕"/>
              </a:rPr>
              <a:t>네트워크</a:t>
            </a:r>
            <a:r>
              <a:rPr lang="en-US" altLang="ko-KR" dirty="0">
                <a:ea typeface="맑은 고딕"/>
              </a:rPr>
              <a:t> </a:t>
            </a:r>
            <a:r>
              <a:rPr lang="en-US" altLang="ko-KR" dirty="0" err="1">
                <a:ea typeface="맑은 고딕"/>
              </a:rPr>
              <a:t>기능</a:t>
            </a:r>
            <a:r>
              <a:rPr lang="en-US" altLang="ko-KR" dirty="0">
                <a:ea typeface="맑은 고딕"/>
              </a:rPr>
              <a:t> 및 </a:t>
            </a:r>
            <a:r>
              <a:rPr lang="en-US" altLang="ko-KR" dirty="0" err="1">
                <a:ea typeface="맑은 고딕"/>
              </a:rPr>
              <a:t>보안</a:t>
            </a:r>
            <a:endParaRPr lang="en-US" altLang="ko-KR" dirty="0"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31827890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EAE0DA8-C442-45B5-92FB-8E15CED76B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리눅스의 구조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630D4CD-7CA1-419A-A48C-1537FDA73A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771820"/>
          </a:xfrm>
        </p:spPr>
        <p:txBody>
          <a:bodyPr>
            <a:normAutofit fontScale="85000" lnSpcReduction="20000"/>
          </a:bodyPr>
          <a:lstStyle/>
          <a:p>
            <a:r>
              <a:rPr lang="ko-KR" altLang="en-US" dirty="0"/>
              <a:t>커널</a:t>
            </a:r>
            <a:endParaRPr lang="en-US" altLang="ko-KR" dirty="0"/>
          </a:p>
          <a:p>
            <a:pPr lvl="1">
              <a:lnSpc>
                <a:spcPct val="120000"/>
              </a:lnSpc>
            </a:pPr>
            <a:r>
              <a:rPr lang="ko-KR" altLang="en-US" dirty="0"/>
              <a:t>본질적으로 프로그램이며 대부분이 단순 </a:t>
            </a:r>
            <a:r>
              <a:rPr lang="en-US" altLang="ko-KR" dirty="0"/>
              <a:t>C </a:t>
            </a:r>
            <a:r>
              <a:rPr lang="ko-KR" altLang="en-US" dirty="0"/>
              <a:t>언어로 작성됨</a:t>
            </a:r>
            <a:endParaRPr lang="en-US" altLang="ko-KR" dirty="0"/>
          </a:p>
          <a:p>
            <a:pPr lvl="2">
              <a:lnSpc>
                <a:spcPct val="120000"/>
              </a:lnSpc>
            </a:pPr>
            <a:r>
              <a:rPr lang="ko-KR" altLang="en-US" dirty="0"/>
              <a:t>단</a:t>
            </a:r>
            <a:r>
              <a:rPr lang="en-US" altLang="ko-KR" dirty="0"/>
              <a:t>, </a:t>
            </a:r>
            <a:r>
              <a:rPr lang="ko-KR" altLang="en-US" dirty="0"/>
              <a:t>메모리에 항시 상주하는 점에서 일반 응용 프로그램들과 다르다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en-US" altLang="ko-KR" dirty="0"/>
              <a:t>(Memory Resident)</a:t>
            </a:r>
          </a:p>
          <a:p>
            <a:pPr lvl="1">
              <a:lnSpc>
                <a:spcPct val="120000"/>
              </a:lnSpc>
            </a:pPr>
            <a:r>
              <a:rPr lang="ko-KR" altLang="en-US" b="1" dirty="0"/>
              <a:t>운영체제의 핵심</a:t>
            </a:r>
            <a:r>
              <a:rPr lang="ko-KR" altLang="en-US" dirty="0"/>
              <a:t>이며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ko-KR" altLang="en-US" dirty="0"/>
              <a:t>프로세스</a:t>
            </a:r>
            <a:r>
              <a:rPr lang="en-US" altLang="ko-KR" dirty="0"/>
              <a:t>, </a:t>
            </a:r>
            <a:r>
              <a:rPr lang="ko-KR" altLang="en-US" dirty="0"/>
              <a:t>메모리</a:t>
            </a:r>
            <a:r>
              <a:rPr lang="en-US" altLang="ko-KR" dirty="0"/>
              <a:t>, </a:t>
            </a:r>
            <a:r>
              <a:rPr lang="ko-KR" altLang="en-US" dirty="0"/>
              <a:t>디스크</a:t>
            </a:r>
            <a:r>
              <a:rPr lang="en-US" altLang="ko-KR" dirty="0"/>
              <a:t>, </a:t>
            </a:r>
            <a:r>
              <a:rPr lang="ko-KR" altLang="en-US" dirty="0"/>
              <a:t>네트워크 통신</a:t>
            </a:r>
            <a:r>
              <a:rPr lang="en-US" altLang="ko-KR" dirty="0"/>
              <a:t>, </a:t>
            </a:r>
            <a:r>
              <a:rPr lang="ko-KR" altLang="en-US" dirty="0" err="1"/>
              <a:t>입출력장치</a:t>
            </a:r>
            <a:r>
              <a:rPr lang="ko-KR" altLang="en-US" dirty="0"/>
              <a:t> 등을 제어함</a:t>
            </a:r>
            <a:endParaRPr lang="en-US" altLang="ko-KR" dirty="0"/>
          </a:p>
          <a:p>
            <a:pPr lvl="1">
              <a:lnSpc>
                <a:spcPct val="120000"/>
              </a:lnSpc>
            </a:pPr>
            <a:r>
              <a:rPr lang="en-US" altLang="ko-KR" b="1" u="sng" dirty="0">
                <a:solidFill>
                  <a:schemeClr val="accent1">
                    <a:lumMod val="50000"/>
                  </a:schemeClr>
                </a:solidFill>
              </a:rPr>
              <a:t>System Call </a:t>
            </a:r>
            <a:r>
              <a:rPr lang="ko-KR" altLang="en-US" b="1" u="sng" dirty="0">
                <a:solidFill>
                  <a:schemeClr val="accent1">
                    <a:lumMod val="50000"/>
                  </a:schemeClr>
                </a:solidFill>
              </a:rPr>
              <a:t>기능</a:t>
            </a:r>
            <a:endParaRPr lang="en-US" altLang="ko-KR" b="1" u="sng" dirty="0">
              <a:solidFill>
                <a:schemeClr val="accent1">
                  <a:lumMod val="50000"/>
                </a:schemeClr>
              </a:solidFill>
            </a:endParaRPr>
          </a:p>
          <a:p>
            <a:pPr marL="457200" lvl="1" indent="0">
              <a:buNone/>
            </a:pPr>
            <a:endParaRPr lang="en-US" altLang="ko-KR" dirty="0"/>
          </a:p>
          <a:p>
            <a:r>
              <a:rPr lang="ko-KR" altLang="en-US" dirty="0"/>
              <a:t>쉘</a:t>
            </a:r>
            <a:endParaRPr lang="en-US" altLang="ko-KR" dirty="0"/>
          </a:p>
          <a:p>
            <a:pPr lvl="1">
              <a:lnSpc>
                <a:spcPct val="120000"/>
              </a:lnSpc>
            </a:pPr>
            <a:r>
              <a:rPr lang="ko-KR" altLang="en-US" dirty="0"/>
              <a:t>사용자가 로그인 시 커널이 첫번째로 할당해주는 프로그램</a:t>
            </a:r>
            <a:endParaRPr lang="en-US" altLang="ko-KR" dirty="0"/>
          </a:p>
          <a:p>
            <a:pPr lvl="1">
              <a:lnSpc>
                <a:spcPct val="120000"/>
              </a:lnSpc>
            </a:pPr>
            <a:r>
              <a:rPr lang="ko-KR" altLang="en-US" dirty="0"/>
              <a:t>사용자가 입력한 명령어를 번역</a:t>
            </a:r>
            <a:r>
              <a:rPr lang="en-US" altLang="ko-KR" dirty="0"/>
              <a:t>/</a:t>
            </a:r>
            <a:r>
              <a:rPr lang="ko-KR" altLang="en-US" dirty="0"/>
              <a:t>실행</a:t>
            </a:r>
            <a:endParaRPr lang="en-US" altLang="ko-KR" dirty="0"/>
          </a:p>
          <a:p>
            <a:pPr lvl="1">
              <a:lnSpc>
                <a:spcPct val="120000"/>
              </a:lnSpc>
            </a:pPr>
            <a:r>
              <a:rPr lang="ko-KR" altLang="en-US" dirty="0"/>
              <a:t>커널과 사용자 사이의 인터페이스이다</a:t>
            </a:r>
            <a:r>
              <a:rPr lang="en-US" altLang="ko-KR" dirty="0"/>
              <a:t>.</a:t>
            </a:r>
          </a:p>
          <a:p>
            <a:pPr lvl="1">
              <a:lnSpc>
                <a:spcPct val="120000"/>
              </a:lnSpc>
            </a:pPr>
            <a:r>
              <a:rPr lang="en-US" altLang="ko-KR" b="1" u="sng" dirty="0">
                <a:solidFill>
                  <a:schemeClr val="accent1">
                    <a:lumMod val="50000"/>
                  </a:schemeClr>
                </a:solidFill>
              </a:rPr>
              <a:t>Job Control </a:t>
            </a:r>
            <a:r>
              <a:rPr lang="ko-KR" altLang="en-US" b="1" u="sng" dirty="0">
                <a:solidFill>
                  <a:schemeClr val="accent1">
                    <a:lumMod val="50000"/>
                  </a:schemeClr>
                </a:solidFill>
              </a:rPr>
              <a:t>기능</a:t>
            </a:r>
            <a:endParaRPr lang="en-US" altLang="ko-KR" b="1" u="sng" dirty="0">
              <a:solidFill>
                <a:schemeClr val="accent1">
                  <a:lumMod val="50000"/>
                </a:schemeClr>
              </a:solidFill>
            </a:endParaRPr>
          </a:p>
          <a:p>
            <a:endParaRPr lang="en-US" altLang="ko-KR" dirty="0"/>
          </a:p>
        </p:txBody>
      </p:sp>
      <p:grpSp>
        <p:nvGrpSpPr>
          <p:cNvPr id="15" name="그룹 14"/>
          <p:cNvGrpSpPr/>
          <p:nvPr/>
        </p:nvGrpSpPr>
        <p:grpSpPr>
          <a:xfrm>
            <a:off x="8780653" y="1690688"/>
            <a:ext cx="3322856" cy="4723052"/>
            <a:chOff x="8981989" y="1268476"/>
            <a:chExt cx="3322856" cy="4723052"/>
          </a:xfrm>
        </p:grpSpPr>
        <p:grpSp>
          <p:nvGrpSpPr>
            <p:cNvPr id="13" name="그룹 12"/>
            <p:cNvGrpSpPr/>
            <p:nvPr/>
          </p:nvGrpSpPr>
          <p:grpSpPr>
            <a:xfrm>
              <a:off x="9596283" y="1844981"/>
              <a:ext cx="2094271" cy="4146547"/>
              <a:chOff x="9694606" y="2415254"/>
              <a:chExt cx="2094271" cy="4146547"/>
            </a:xfrm>
          </p:grpSpPr>
          <p:sp>
            <p:nvSpPr>
              <p:cNvPr id="5" name="도넛 4"/>
              <p:cNvSpPr/>
              <p:nvPr/>
            </p:nvSpPr>
            <p:spPr>
              <a:xfrm>
                <a:off x="9694606" y="4467530"/>
                <a:ext cx="2094271" cy="2094271"/>
              </a:xfrm>
              <a:prstGeom prst="donut">
                <a:avLst>
                  <a:gd name="adj" fmla="val 20272"/>
                </a:avLst>
              </a:prstGeom>
              <a:solidFill>
                <a:schemeClr val="accent1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" name="타원 3"/>
              <p:cNvSpPr/>
              <p:nvPr/>
            </p:nvSpPr>
            <p:spPr>
              <a:xfrm>
                <a:off x="10103872" y="4876799"/>
                <a:ext cx="1275735" cy="1275735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/>
                  <a:t>I am Kernel</a:t>
                </a:r>
                <a:endParaRPr lang="ko-KR" altLang="en-US"/>
              </a:p>
            </p:txBody>
          </p:sp>
          <p:sp>
            <p:nvSpPr>
              <p:cNvPr id="6" name="모서리가 둥근 사각형 설명선 5"/>
              <p:cNvSpPr/>
              <p:nvPr/>
            </p:nvSpPr>
            <p:spPr>
              <a:xfrm>
                <a:off x="10151805" y="4210662"/>
                <a:ext cx="1179871" cy="442452"/>
              </a:xfrm>
              <a:prstGeom prst="wedgeRoundRectCallout">
                <a:avLst>
                  <a:gd name="adj1" fmla="val -4195"/>
                  <a:gd name="adj2" fmla="val 71389"/>
                  <a:gd name="adj3" fmla="val 16667"/>
                </a:avLst>
              </a:prstGeom>
              <a:solidFill>
                <a:schemeClr val="accent1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>
                    <a:solidFill>
                      <a:schemeClr val="bg1"/>
                    </a:solidFill>
                  </a:rPr>
                  <a:t>나는 쉘</a:t>
                </a:r>
              </a:p>
            </p:txBody>
          </p:sp>
          <p:sp>
            <p:nvSpPr>
              <p:cNvPr id="9" name="웃는 얼굴 8"/>
              <p:cNvSpPr/>
              <p:nvPr/>
            </p:nvSpPr>
            <p:spPr>
              <a:xfrm>
                <a:off x="10262853" y="2415254"/>
                <a:ext cx="906156" cy="906156"/>
              </a:xfrm>
              <a:prstGeom prst="smileyFace">
                <a:avLst>
                  <a:gd name="adj" fmla="val 4653"/>
                </a:avLst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2" name="위쪽/아래쪽 화살표 11"/>
              <p:cNvSpPr/>
              <p:nvPr/>
            </p:nvSpPr>
            <p:spPr>
              <a:xfrm>
                <a:off x="10619789" y="3483973"/>
                <a:ext cx="243902" cy="612056"/>
              </a:xfrm>
              <a:prstGeom prst="upDownArrow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14" name="직사각형 13"/>
            <p:cNvSpPr/>
            <p:nvPr/>
          </p:nvSpPr>
          <p:spPr>
            <a:xfrm>
              <a:off x="8981989" y="1268476"/>
              <a:ext cx="3322856" cy="584775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n-US" altLang="ko-KR" sz="3200" b="1">
                  <a:ln w="12700">
                    <a:solidFill>
                      <a:schemeClr val="accent1"/>
                    </a:solidFill>
                    <a:prstDash val="solid"/>
                  </a:ln>
                  <a:pattFill prst="pct50">
                    <a:fgClr>
                      <a:schemeClr val="accent1"/>
                    </a:fgClr>
                    <a:bgClr>
                      <a:schemeClr val="accent1">
                        <a:lumMod val="20000"/>
                        <a:lumOff val="80000"/>
                      </a:schemeClr>
                    </a:bgClr>
                  </a:pattFill>
                  <a:effectLst>
                    <a:outerShdw dist="38100" dir="2640000" algn="bl" rotWithShape="0">
                      <a:schemeClr val="accent1"/>
                    </a:outerShdw>
                  </a:effectLst>
                </a:rPr>
                <a:t>I’m just user</a:t>
              </a:r>
              <a:endParaRPr lang="en-US" altLang="ko-KR" sz="3200" b="1" cap="none" spc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845382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시스템 호출이란</a:t>
            </a:r>
            <a:r>
              <a:rPr lang="en-US" altLang="ko-KR" dirty="0"/>
              <a:t>?</a:t>
            </a:r>
            <a:endParaRPr lang="ko-KR" altLang="en-US" dirty="0"/>
          </a:p>
        </p:txBody>
      </p:sp>
      <p:grpSp>
        <p:nvGrpSpPr>
          <p:cNvPr id="8" name="그룹 7"/>
          <p:cNvGrpSpPr/>
          <p:nvPr/>
        </p:nvGrpSpPr>
        <p:grpSpPr>
          <a:xfrm>
            <a:off x="1671484" y="3401962"/>
            <a:ext cx="1897626" cy="2648054"/>
            <a:chOff x="1297858" y="3097162"/>
            <a:chExt cx="1897626" cy="2648054"/>
          </a:xfrm>
        </p:grpSpPr>
        <p:sp>
          <p:nvSpPr>
            <p:cNvPr id="4" name="순서도: 다중 문서 3"/>
            <p:cNvSpPr/>
            <p:nvPr/>
          </p:nvSpPr>
          <p:spPr>
            <a:xfrm>
              <a:off x="1297858" y="3097162"/>
              <a:ext cx="1897626" cy="806245"/>
            </a:xfrm>
            <a:prstGeom prst="flowChartMultidocument">
              <a:avLst/>
            </a:prstGeom>
            <a:solidFill>
              <a:schemeClr val="accent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b="1" dirty="0"/>
                <a:t>응용 프로그램</a:t>
              </a:r>
            </a:p>
          </p:txBody>
        </p:sp>
        <p:sp>
          <p:nvSpPr>
            <p:cNvPr id="5" name="직사각형 4"/>
            <p:cNvSpPr/>
            <p:nvPr/>
          </p:nvSpPr>
          <p:spPr>
            <a:xfrm>
              <a:off x="1297858" y="5007796"/>
              <a:ext cx="1897626" cy="737420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/>
                <a:t>H/W</a:t>
              </a:r>
              <a:endParaRPr lang="ko-KR" altLang="en-US" b="1" dirty="0"/>
            </a:p>
          </p:txBody>
        </p:sp>
        <p:sp>
          <p:nvSpPr>
            <p:cNvPr id="6" name="아래쪽 화살표 5"/>
            <p:cNvSpPr/>
            <p:nvPr/>
          </p:nvSpPr>
          <p:spPr>
            <a:xfrm>
              <a:off x="2064774" y="4038344"/>
              <a:ext cx="344129" cy="828623"/>
            </a:xfrm>
            <a:prstGeom prst="downArrow">
              <a:avLst>
                <a:gd name="adj1" fmla="val 27143"/>
                <a:gd name="adj2" fmla="val 61428"/>
              </a:avLst>
            </a:prstGeom>
            <a:solidFill>
              <a:srgbClr val="EB4C3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b="1"/>
            </a:p>
          </p:txBody>
        </p:sp>
        <p:sp>
          <p:nvSpPr>
            <p:cNvPr id="7" name="&quot;없음&quot; 기호 6"/>
            <p:cNvSpPr/>
            <p:nvPr/>
          </p:nvSpPr>
          <p:spPr>
            <a:xfrm>
              <a:off x="2408903" y="4185214"/>
              <a:ext cx="501445" cy="501445"/>
            </a:xfrm>
            <a:prstGeom prst="noSmoking">
              <a:avLst>
                <a:gd name="adj" fmla="val 16374"/>
              </a:avLst>
            </a:prstGeom>
            <a:solidFill>
              <a:srgbClr val="EB4C3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b="1">
                <a:solidFill>
                  <a:schemeClr val="tx1"/>
                </a:solidFill>
              </a:endParaRPr>
            </a:p>
          </p:txBody>
        </p:sp>
      </p:grpSp>
      <p:grpSp>
        <p:nvGrpSpPr>
          <p:cNvPr id="22" name="그룹 21"/>
          <p:cNvGrpSpPr/>
          <p:nvPr/>
        </p:nvGrpSpPr>
        <p:grpSpPr>
          <a:xfrm>
            <a:off x="4699818" y="2393106"/>
            <a:ext cx="1907459" cy="3656910"/>
            <a:chOff x="4188541" y="2393106"/>
            <a:chExt cx="1907459" cy="3656910"/>
          </a:xfrm>
        </p:grpSpPr>
        <p:grpSp>
          <p:nvGrpSpPr>
            <p:cNvPr id="14" name="그룹 13"/>
            <p:cNvGrpSpPr/>
            <p:nvPr/>
          </p:nvGrpSpPr>
          <p:grpSpPr>
            <a:xfrm>
              <a:off x="4198374" y="2393106"/>
              <a:ext cx="1897626" cy="3656910"/>
              <a:chOff x="1297858" y="2088306"/>
              <a:chExt cx="1897626" cy="3656910"/>
            </a:xfrm>
          </p:grpSpPr>
          <p:sp>
            <p:nvSpPr>
              <p:cNvPr id="15" name="순서도: 다중 문서 14"/>
              <p:cNvSpPr/>
              <p:nvPr/>
            </p:nvSpPr>
            <p:spPr>
              <a:xfrm>
                <a:off x="1297858" y="2088306"/>
                <a:ext cx="1897626" cy="806245"/>
              </a:xfrm>
              <a:prstGeom prst="flowChartMultidocument">
                <a:avLst/>
              </a:prstGeom>
              <a:solidFill>
                <a:schemeClr val="accent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600" b="1" dirty="0"/>
                  <a:t>응용 프로그램</a:t>
                </a:r>
              </a:p>
            </p:txBody>
          </p:sp>
          <p:sp>
            <p:nvSpPr>
              <p:cNvPr id="16" name="직사각형 15"/>
              <p:cNvSpPr/>
              <p:nvPr/>
            </p:nvSpPr>
            <p:spPr>
              <a:xfrm>
                <a:off x="1297858" y="5007796"/>
                <a:ext cx="1897626" cy="737420"/>
              </a:xfrm>
              <a:prstGeom prst="rect">
                <a:avLst/>
              </a:prstGeom>
              <a:solidFill>
                <a:schemeClr val="accent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b="1" dirty="0"/>
                  <a:t>H/W</a:t>
                </a:r>
                <a:endParaRPr lang="ko-KR" altLang="en-US" b="1" dirty="0"/>
              </a:p>
            </p:txBody>
          </p:sp>
          <p:sp>
            <p:nvSpPr>
              <p:cNvPr id="17" name="아래쪽 화살표 16"/>
              <p:cNvSpPr/>
              <p:nvPr/>
            </p:nvSpPr>
            <p:spPr>
              <a:xfrm>
                <a:off x="2064774" y="3008466"/>
                <a:ext cx="344129" cy="490667"/>
              </a:xfrm>
              <a:prstGeom prst="downArrow">
                <a:avLst>
                  <a:gd name="adj1" fmla="val 27143"/>
                  <a:gd name="adj2" fmla="val 61428"/>
                </a:avLst>
              </a:prstGeom>
              <a:solidFill>
                <a:srgbClr val="92D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b="1"/>
              </a:p>
            </p:txBody>
          </p:sp>
          <p:sp>
            <p:nvSpPr>
              <p:cNvPr id="21" name="아래쪽 화살표 20"/>
              <p:cNvSpPr/>
              <p:nvPr/>
            </p:nvSpPr>
            <p:spPr>
              <a:xfrm>
                <a:off x="2064774" y="4407963"/>
                <a:ext cx="344129" cy="490667"/>
              </a:xfrm>
              <a:prstGeom prst="downArrow">
                <a:avLst>
                  <a:gd name="adj1" fmla="val 27143"/>
                  <a:gd name="adj2" fmla="val 61428"/>
                </a:avLst>
              </a:prstGeom>
              <a:solidFill>
                <a:srgbClr val="92D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b="1"/>
              </a:p>
            </p:txBody>
          </p:sp>
        </p:grpSp>
        <p:sp>
          <p:nvSpPr>
            <p:cNvPr id="20" name="순서도: 자기 디스크 19"/>
            <p:cNvSpPr/>
            <p:nvPr/>
          </p:nvSpPr>
          <p:spPr>
            <a:xfrm>
              <a:off x="4188541" y="3938870"/>
              <a:ext cx="1897626" cy="664728"/>
            </a:xfrm>
            <a:prstGeom prst="flowChartMagneticDisk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b="1" dirty="0"/>
                <a:t>커널</a:t>
              </a:r>
            </a:p>
          </p:txBody>
        </p:sp>
      </p:grpSp>
      <p:grpSp>
        <p:nvGrpSpPr>
          <p:cNvPr id="26" name="그룹 25"/>
          <p:cNvGrpSpPr/>
          <p:nvPr/>
        </p:nvGrpSpPr>
        <p:grpSpPr>
          <a:xfrm>
            <a:off x="5839043" y="2145145"/>
            <a:ext cx="5793210" cy="1288704"/>
            <a:chOff x="5839043" y="2145145"/>
            <a:chExt cx="5793210" cy="1288704"/>
          </a:xfrm>
        </p:grpSpPr>
        <p:sp>
          <p:nvSpPr>
            <p:cNvPr id="24" name="왼쪽 화살표 23"/>
            <p:cNvSpPr/>
            <p:nvPr/>
          </p:nvSpPr>
          <p:spPr>
            <a:xfrm rot="20677283">
              <a:off x="5839043" y="2938788"/>
              <a:ext cx="2641943" cy="495061"/>
            </a:xfrm>
            <a:prstGeom prst="leftArrow">
              <a:avLst>
                <a:gd name="adj1" fmla="val 37077"/>
                <a:gd name="adj2" fmla="val 48038"/>
              </a:avLst>
            </a:prstGeom>
            <a:solidFill>
              <a:schemeClr val="bg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" name="직사각형 24"/>
            <p:cNvSpPr/>
            <p:nvPr/>
          </p:nvSpPr>
          <p:spPr>
            <a:xfrm>
              <a:off x="8356997" y="2145145"/>
              <a:ext cx="3275256" cy="769441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altLang="ko-KR" sz="4400" b="1" cap="none" spc="0" dirty="0">
                  <a:ln w="12700">
                    <a:solidFill>
                      <a:schemeClr val="accent1"/>
                    </a:solidFill>
                    <a:prstDash val="solid"/>
                  </a:ln>
                  <a:pattFill prst="pct50">
                    <a:fgClr>
                      <a:schemeClr val="accent1"/>
                    </a:fgClr>
                    <a:bgClr>
                      <a:schemeClr val="accent1">
                        <a:lumMod val="20000"/>
                        <a:lumOff val="80000"/>
                      </a:schemeClr>
                    </a:bgClr>
                  </a:pattFill>
                  <a:effectLst>
                    <a:outerShdw dist="38100" dir="2640000" algn="bl" rotWithShape="0">
                      <a:schemeClr val="accent1"/>
                    </a:outerShdw>
                  </a:effectLst>
                </a:rPr>
                <a:t>System Call</a:t>
              </a:r>
            </a:p>
          </p:txBody>
        </p:sp>
      </p:grpSp>
      <p:sp>
        <p:nvSpPr>
          <p:cNvPr id="27" name="곱셈 기호 26"/>
          <p:cNvSpPr/>
          <p:nvPr/>
        </p:nvSpPr>
        <p:spPr>
          <a:xfrm>
            <a:off x="602227" y="2716814"/>
            <a:ext cx="3991897" cy="3991897"/>
          </a:xfrm>
          <a:prstGeom prst="mathMultiply">
            <a:avLst>
              <a:gd name="adj1" fmla="val 8988"/>
            </a:avLst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순서도: 다중 문서 28"/>
          <p:cNvSpPr/>
          <p:nvPr/>
        </p:nvSpPr>
        <p:spPr>
          <a:xfrm>
            <a:off x="3846153" y="2640409"/>
            <a:ext cx="4499693" cy="1911786"/>
          </a:xfrm>
          <a:prstGeom prst="flowChartMultidocument">
            <a:avLst/>
          </a:prstGeom>
          <a:solidFill>
            <a:schemeClr val="accent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3600" b="1" dirty="0"/>
              <a:t>프로그램</a:t>
            </a:r>
            <a:endParaRPr lang="en-US" altLang="ko-KR" sz="3600" b="1" dirty="0"/>
          </a:p>
          <a:p>
            <a:pPr algn="ctr"/>
            <a:r>
              <a:rPr lang="en-US" altLang="ko-KR" sz="2000" b="1" dirty="0"/>
              <a:t>Shell, vi, more, JVM, Tomcat</a:t>
            </a:r>
            <a:endParaRPr lang="ko-KR" alt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39868628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  <p:bldP spid="27" grpId="1" animBg="1"/>
      <p:bldP spid="29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시스템 호출의 유형과 종류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ko-KR" altLang="en-US" dirty="0"/>
              <a:t>프로세스 제어</a:t>
            </a:r>
            <a:endParaRPr lang="en-US" altLang="ko-KR" dirty="0"/>
          </a:p>
          <a:p>
            <a:pPr lvl="1"/>
            <a:r>
              <a:rPr lang="en-US" altLang="ko-KR" dirty="0"/>
              <a:t>exec, fork, wait, pipe, signal, exit, </a:t>
            </a:r>
            <a:r>
              <a:rPr lang="en-US" altLang="ko-KR" dirty="0" err="1"/>
              <a:t>getuid</a:t>
            </a:r>
            <a:r>
              <a:rPr lang="en-US" altLang="ko-KR" dirty="0"/>
              <a:t>, </a:t>
            </a:r>
            <a:r>
              <a:rPr lang="en-US" altLang="ko-KR" dirty="0" err="1"/>
              <a:t>setuid</a:t>
            </a:r>
            <a:endParaRPr lang="en-US" altLang="ko-KR" dirty="0"/>
          </a:p>
          <a:p>
            <a:pPr marL="457200" lvl="1" indent="0">
              <a:buNone/>
            </a:pPr>
            <a:endParaRPr lang="en-US" altLang="ko-KR" dirty="0"/>
          </a:p>
          <a:p>
            <a:r>
              <a:rPr lang="ko-KR" altLang="en-US" dirty="0"/>
              <a:t>파일 조작</a:t>
            </a:r>
            <a:endParaRPr lang="en-US" altLang="ko-KR" dirty="0"/>
          </a:p>
          <a:p>
            <a:pPr lvl="1"/>
            <a:r>
              <a:rPr lang="en-US" altLang="ko-KR" dirty="0"/>
              <a:t>open, create, close, read, write</a:t>
            </a:r>
          </a:p>
          <a:p>
            <a:pPr marL="457200" lvl="1" indent="0">
              <a:buNone/>
            </a:pPr>
            <a:endParaRPr lang="en-US" altLang="ko-KR" dirty="0"/>
          </a:p>
          <a:p>
            <a:r>
              <a:rPr lang="ko-KR" altLang="en-US" dirty="0"/>
              <a:t>장치 관리</a:t>
            </a:r>
            <a:endParaRPr lang="en-US" altLang="ko-KR" dirty="0"/>
          </a:p>
          <a:p>
            <a:r>
              <a:rPr lang="ko-KR" altLang="en-US" dirty="0"/>
              <a:t>정보 유지</a:t>
            </a:r>
            <a:endParaRPr lang="en-US" altLang="ko-KR" dirty="0"/>
          </a:p>
          <a:p>
            <a:r>
              <a:rPr lang="ko-KR" altLang="en-US" dirty="0"/>
              <a:t>통신</a:t>
            </a:r>
            <a:endParaRPr lang="en-US" altLang="ko-KR" dirty="0"/>
          </a:p>
          <a:p>
            <a:pPr lvl="1"/>
            <a:r>
              <a:rPr lang="en-US" altLang="ko-KR" dirty="0"/>
              <a:t>socket, bind, listen, accept, connect</a:t>
            </a:r>
            <a:endParaRPr lang="ko-KR" altLang="en-US" dirty="0"/>
          </a:p>
          <a:p>
            <a:pPr marL="457200" lvl="1" indent="0">
              <a:buNone/>
            </a:pP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4919010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8602" y="1772724"/>
            <a:ext cx="6105525" cy="4448175"/>
          </a:xfrm>
          <a:prstGeom prst="rect">
            <a:avLst/>
          </a:prstGeom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시스템 호출의 흐름</a:t>
            </a:r>
          </a:p>
        </p:txBody>
      </p:sp>
      <p:grpSp>
        <p:nvGrpSpPr>
          <p:cNvPr id="12" name="그룹 11"/>
          <p:cNvGrpSpPr/>
          <p:nvPr/>
        </p:nvGrpSpPr>
        <p:grpSpPr>
          <a:xfrm>
            <a:off x="373625" y="2428568"/>
            <a:ext cx="11316930" cy="3008671"/>
            <a:chOff x="373625" y="2428568"/>
            <a:chExt cx="11316930" cy="3008671"/>
          </a:xfrm>
        </p:grpSpPr>
        <p:sp>
          <p:nvSpPr>
            <p:cNvPr id="8" name="직사각형 7"/>
            <p:cNvSpPr/>
            <p:nvPr/>
          </p:nvSpPr>
          <p:spPr>
            <a:xfrm>
              <a:off x="373626" y="2428568"/>
              <a:ext cx="11316929" cy="138634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User mode</a:t>
              </a:r>
              <a:endParaRPr lang="ko-KR" altLang="en-US" dirty="0"/>
            </a:p>
          </p:txBody>
        </p:sp>
        <p:sp>
          <p:nvSpPr>
            <p:cNvPr id="4" name="오른쪽 화살표 3"/>
            <p:cNvSpPr/>
            <p:nvPr/>
          </p:nvSpPr>
          <p:spPr>
            <a:xfrm>
              <a:off x="648929" y="2757949"/>
              <a:ext cx="3942736" cy="727587"/>
            </a:xfrm>
            <a:prstGeom prst="rightArrow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오른쪽 화살표 4"/>
            <p:cNvSpPr/>
            <p:nvPr/>
          </p:nvSpPr>
          <p:spPr>
            <a:xfrm>
              <a:off x="7411064" y="2757948"/>
              <a:ext cx="3942736" cy="727587"/>
            </a:xfrm>
            <a:prstGeom prst="rightArrow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직사각형 8"/>
            <p:cNvSpPr/>
            <p:nvPr/>
          </p:nvSpPr>
          <p:spPr>
            <a:xfrm>
              <a:off x="373625" y="3814917"/>
              <a:ext cx="11316929" cy="1622322"/>
            </a:xfrm>
            <a:prstGeom prst="rect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432000" rtlCol="0" anchor="t" anchorCtr="0"/>
            <a:lstStyle/>
            <a:p>
              <a:pPr algn="ctr"/>
              <a:r>
                <a:rPr lang="en-US" altLang="ko-KR" dirty="0"/>
                <a:t>Kernel mode</a:t>
              </a:r>
              <a:endParaRPr lang="ko-KR" altLang="en-US" dirty="0"/>
            </a:p>
          </p:txBody>
        </p:sp>
        <p:sp>
          <p:nvSpPr>
            <p:cNvPr id="7" name="U자형 화살표 6"/>
            <p:cNvSpPr/>
            <p:nvPr/>
          </p:nvSpPr>
          <p:spPr>
            <a:xfrm rot="10800000" flipH="1">
              <a:off x="4193457" y="3996812"/>
              <a:ext cx="3805086" cy="1204453"/>
            </a:xfrm>
            <a:prstGeom prst="uturnArrow">
              <a:avLst>
                <a:gd name="adj1" fmla="val 28824"/>
                <a:gd name="adj2" fmla="val 25000"/>
                <a:gd name="adj3" fmla="val 28266"/>
                <a:gd name="adj4" fmla="val 0"/>
                <a:gd name="adj5" fmla="val 10000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494970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75983CB-2DFA-494C-AFF2-2E5B4D9FC4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쉘의 종류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3D98F88-5932-41D2-A5C8-8F8628253A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Bourne shell (user: $, root: #)</a:t>
            </a:r>
          </a:p>
          <a:p>
            <a:endParaRPr lang="en-US" altLang="ko-KR" dirty="0"/>
          </a:p>
          <a:p>
            <a:r>
              <a:rPr lang="en-US" altLang="ko-KR" dirty="0"/>
              <a:t>bash (</a:t>
            </a:r>
            <a:r>
              <a:rPr lang="en-US" altLang="ko-KR" b="1" dirty="0"/>
              <a:t>B</a:t>
            </a:r>
            <a:r>
              <a:rPr lang="en-US" altLang="ko-KR" dirty="0"/>
              <a:t>ourne </a:t>
            </a:r>
            <a:r>
              <a:rPr lang="en-US" altLang="ko-KR" b="1" dirty="0"/>
              <a:t>A</a:t>
            </a:r>
            <a:r>
              <a:rPr lang="en-US" altLang="ko-KR" dirty="0"/>
              <a:t>gain </a:t>
            </a:r>
            <a:r>
              <a:rPr lang="en-US" altLang="ko-KR" b="1" dirty="0"/>
              <a:t>Sh</a:t>
            </a:r>
            <a:r>
              <a:rPr lang="en-US" altLang="ko-KR" dirty="0"/>
              <a:t>ell)</a:t>
            </a:r>
          </a:p>
          <a:p>
            <a:endParaRPr lang="en-US" altLang="ko-KR" dirty="0"/>
          </a:p>
          <a:p>
            <a:r>
              <a:rPr lang="en-US" altLang="ko-KR" dirty="0"/>
              <a:t>C</a:t>
            </a:r>
            <a:r>
              <a:rPr lang="ko-KR" altLang="en-US" dirty="0"/>
              <a:t> </a:t>
            </a:r>
            <a:r>
              <a:rPr lang="en-US" altLang="ko-KR" dirty="0"/>
              <a:t>Shell</a:t>
            </a:r>
          </a:p>
          <a:p>
            <a:endParaRPr lang="en-US" altLang="ko-KR" dirty="0"/>
          </a:p>
          <a:p>
            <a:r>
              <a:rPr lang="en-US" altLang="ko-KR" dirty="0" err="1"/>
              <a:t>Korn</a:t>
            </a:r>
            <a:r>
              <a:rPr lang="en-US" altLang="ko-KR" dirty="0"/>
              <a:t> shell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972374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649038-C179-47A4-9B5C-E830F44AE4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쉘의</a:t>
            </a:r>
            <a:r>
              <a:rPr lang="en-US" altLang="ko-KR"/>
              <a:t> Job Control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AE8C697-FBB2-4EE9-8CB0-D8C3F11CA5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프로세스를</a:t>
            </a:r>
            <a:r>
              <a:rPr lang="en-US" altLang="ko-KR"/>
              <a:t> </a:t>
            </a:r>
            <a:r>
              <a:rPr lang="ko-KR" altLang="en-US"/>
              <a:t>쉘에서</a:t>
            </a:r>
            <a:r>
              <a:rPr lang="en-US" altLang="ko-KR"/>
              <a:t> Job </a:t>
            </a:r>
            <a:r>
              <a:rPr lang="ko-KR" altLang="en-US"/>
              <a:t>이라고</a:t>
            </a:r>
            <a:r>
              <a:rPr lang="en-US" altLang="ko-KR"/>
              <a:t> </a:t>
            </a:r>
            <a:r>
              <a:rPr lang="ko-KR" altLang="en-US"/>
              <a:t>명칭</a:t>
            </a:r>
            <a:endParaRPr lang="en-US" altLang="ko-KR"/>
          </a:p>
          <a:p>
            <a:endParaRPr lang="en-US" altLang="ko-KR"/>
          </a:p>
          <a:p>
            <a:r>
              <a:rPr lang="en-US" altLang="ko-KR"/>
              <a:t>Job(</a:t>
            </a:r>
            <a:r>
              <a:rPr lang="ko-KR" altLang="en-US"/>
              <a:t>프로세스</a:t>
            </a:r>
            <a:r>
              <a:rPr lang="en-US" altLang="ko-KR"/>
              <a:t>)</a:t>
            </a:r>
            <a:r>
              <a:rPr lang="ko-KR" altLang="en-US"/>
              <a:t>의</a:t>
            </a:r>
            <a:r>
              <a:rPr lang="en-US" altLang="ko-KR"/>
              <a:t> </a:t>
            </a:r>
            <a:r>
              <a:rPr lang="ko-KR" altLang="en-US"/>
              <a:t>흐름을</a:t>
            </a:r>
            <a:r>
              <a:rPr lang="en-US" altLang="ko-KR"/>
              <a:t> </a:t>
            </a:r>
            <a:r>
              <a:rPr lang="ko-KR" altLang="en-US"/>
              <a:t>제어하는</a:t>
            </a:r>
            <a:r>
              <a:rPr lang="en-US" altLang="ko-KR"/>
              <a:t> </a:t>
            </a:r>
            <a:r>
              <a:rPr lang="ko-KR" altLang="en-US"/>
              <a:t>기능</a:t>
            </a:r>
            <a:endParaRPr lang="en-US" altLang="ko-KR"/>
          </a:p>
          <a:p>
            <a:pPr lvl="1">
              <a:lnSpc>
                <a:spcPct val="100000"/>
              </a:lnSpc>
            </a:pPr>
            <a:r>
              <a:rPr lang="ko-KR" altLang="en-US" err="1"/>
              <a:t>포그라운드</a:t>
            </a:r>
            <a:r>
              <a:rPr lang="en-US" altLang="ko-KR"/>
              <a:t>, </a:t>
            </a:r>
            <a:r>
              <a:rPr lang="ko-KR" altLang="en-US"/>
              <a:t>백그라운드간</a:t>
            </a:r>
            <a:r>
              <a:rPr lang="en-US" altLang="ko-KR"/>
              <a:t> </a:t>
            </a:r>
            <a:r>
              <a:rPr lang="ko-KR" altLang="en-US"/>
              <a:t>자유롭게</a:t>
            </a:r>
            <a:r>
              <a:rPr lang="en-US" altLang="ko-KR"/>
              <a:t> </a:t>
            </a:r>
            <a:r>
              <a:rPr lang="ko-KR" altLang="en-US"/>
              <a:t>전환이</a:t>
            </a:r>
            <a:r>
              <a:rPr lang="en-US" altLang="ko-KR"/>
              <a:t> </a:t>
            </a:r>
            <a:r>
              <a:rPr lang="ko-KR" altLang="en-US"/>
              <a:t>가능</a:t>
            </a:r>
            <a:endParaRPr lang="en-US" altLang="ko-KR"/>
          </a:p>
          <a:p>
            <a:pPr lvl="1">
              <a:lnSpc>
                <a:spcPct val="100000"/>
              </a:lnSpc>
            </a:pPr>
            <a:r>
              <a:rPr lang="ko-KR" altLang="en-US"/>
              <a:t>잠시</a:t>
            </a:r>
            <a:r>
              <a:rPr lang="en-US" altLang="ko-KR"/>
              <a:t> </a:t>
            </a:r>
            <a:r>
              <a:rPr lang="ko-KR" altLang="en-US"/>
              <a:t>특정</a:t>
            </a:r>
            <a:r>
              <a:rPr lang="en-US" altLang="ko-KR"/>
              <a:t> Job</a:t>
            </a:r>
            <a:r>
              <a:rPr lang="ko-KR" altLang="en-US"/>
              <a:t>을</a:t>
            </a:r>
            <a:r>
              <a:rPr lang="en-US" altLang="ko-KR"/>
              <a:t> </a:t>
            </a:r>
            <a:r>
              <a:rPr lang="ko-KR" altLang="en-US"/>
              <a:t>보류</a:t>
            </a:r>
            <a:r>
              <a:rPr lang="en-US" altLang="ko-KR"/>
              <a:t> </a:t>
            </a:r>
            <a:r>
              <a:rPr lang="ko-KR" altLang="en-US"/>
              <a:t>및</a:t>
            </a:r>
            <a:r>
              <a:rPr lang="en-US" altLang="ko-KR"/>
              <a:t> </a:t>
            </a:r>
            <a:r>
              <a:rPr lang="ko-KR" altLang="en-US"/>
              <a:t>이전</a:t>
            </a:r>
            <a:r>
              <a:rPr lang="en-US" altLang="ko-KR"/>
              <a:t> </a:t>
            </a:r>
            <a:r>
              <a:rPr lang="ko-KR" altLang="en-US"/>
              <a:t>상태로</a:t>
            </a:r>
            <a:r>
              <a:rPr lang="en-US" altLang="ko-KR"/>
              <a:t> </a:t>
            </a:r>
            <a:r>
              <a:rPr lang="ko-KR" altLang="en-US"/>
              <a:t>재실행</a:t>
            </a:r>
            <a:endParaRPr lang="en-US" altLang="ko-KR"/>
          </a:p>
          <a:p>
            <a:pPr lvl="1"/>
            <a:endParaRPr lang="en-US" altLang="ko-KR"/>
          </a:p>
          <a:p>
            <a:r>
              <a:rPr lang="ko-KR" altLang="en-US" dirty="0"/>
              <a:t>실행 중인 </a:t>
            </a:r>
            <a:r>
              <a:rPr lang="ko-KR" altLang="en-US"/>
              <a:t>쉘에서 </a:t>
            </a:r>
            <a:r>
              <a:rPr lang="ko-KR" altLang="en-US" dirty="0"/>
              <a:t>관리하는 개념으로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ko-KR" altLang="en-US"/>
              <a:t>타 쉘의 </a:t>
            </a:r>
            <a:r>
              <a:rPr lang="en-US" altLang="ko-KR" dirty="0"/>
              <a:t>Job</a:t>
            </a:r>
            <a:r>
              <a:rPr lang="ko-KR" altLang="en-US" dirty="0"/>
              <a:t>에는 관심 없음</a:t>
            </a:r>
            <a:endParaRPr lang="en-US" altLang="ko-KR"/>
          </a:p>
          <a:p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93710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err="1"/>
              <a:t>포그라운드</a:t>
            </a:r>
            <a:r>
              <a:rPr lang="en-US" altLang="ko-KR"/>
              <a:t>, </a:t>
            </a:r>
            <a:r>
              <a:rPr lang="ko-KR" altLang="en-US"/>
              <a:t>백그라운드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ko-KR" altLang="en-US" err="1"/>
              <a:t>포그라운드</a:t>
            </a:r>
            <a:endParaRPr lang="en-US" altLang="ko-KR"/>
          </a:p>
          <a:p>
            <a:pPr lvl="1">
              <a:lnSpc>
                <a:spcPct val="110000"/>
              </a:lnSpc>
            </a:pPr>
            <a:r>
              <a:rPr lang="ko-KR" altLang="en-US"/>
              <a:t>부모 프로세스가 자식 프로세스의 종료를 기다림</a:t>
            </a:r>
            <a:endParaRPr lang="en-US" altLang="ko-KR"/>
          </a:p>
          <a:p>
            <a:pPr lvl="1">
              <a:lnSpc>
                <a:spcPct val="110000"/>
              </a:lnSpc>
            </a:pPr>
            <a:r>
              <a:rPr lang="ko-KR" altLang="en-US"/>
              <a:t>종료되기 전까지 프롬프트가 나오지 않음</a:t>
            </a:r>
            <a:endParaRPr lang="en-US" altLang="ko-KR"/>
          </a:p>
          <a:p>
            <a:pPr lvl="1">
              <a:lnSpc>
                <a:spcPct val="110000"/>
              </a:lnSpc>
            </a:pPr>
            <a:r>
              <a:rPr lang="ko-KR" altLang="en-US"/>
              <a:t>한 번에 한 </a:t>
            </a:r>
            <a:r>
              <a:rPr lang="en-US" altLang="ko-KR"/>
              <a:t>Job</a:t>
            </a:r>
            <a:r>
              <a:rPr lang="ko-KR" altLang="en-US"/>
              <a:t>만 할 수 있으며</a:t>
            </a:r>
            <a:r>
              <a:rPr lang="en-US" altLang="ko-KR"/>
              <a:t/>
            </a:r>
            <a:br>
              <a:rPr lang="en-US" altLang="ko-KR"/>
            </a:br>
            <a:r>
              <a:rPr lang="ko-KR" altLang="en-US"/>
              <a:t>터미널과 입출력 되는 상호 작용이 이루어짐</a:t>
            </a:r>
            <a:endParaRPr lang="en-US" altLang="ko-KR"/>
          </a:p>
          <a:p>
            <a:endParaRPr lang="en-US" altLang="ko-KR"/>
          </a:p>
          <a:p>
            <a:r>
              <a:rPr lang="ko-KR" altLang="en-US"/>
              <a:t>백그라운드</a:t>
            </a:r>
            <a:endParaRPr lang="en-US" altLang="ko-KR"/>
          </a:p>
          <a:p>
            <a:pPr lvl="1">
              <a:lnSpc>
                <a:spcPct val="110000"/>
              </a:lnSpc>
            </a:pPr>
            <a:r>
              <a:rPr lang="ko-KR" altLang="en-US"/>
              <a:t>부모 프로세스는 자식 프로세스를</a:t>
            </a:r>
            <a:r>
              <a:rPr lang="en-US" altLang="ko-KR"/>
              <a:t/>
            </a:r>
            <a:br>
              <a:rPr lang="en-US" altLang="ko-KR"/>
            </a:br>
            <a:r>
              <a:rPr lang="ko-KR" altLang="en-US"/>
              <a:t>실행 시켜놓고 바로 다음 작업을 할 수 있게 함</a:t>
            </a:r>
            <a:endParaRPr lang="en-US" altLang="ko-KR"/>
          </a:p>
          <a:p>
            <a:pPr lvl="1">
              <a:lnSpc>
                <a:spcPct val="110000"/>
              </a:lnSpc>
            </a:pPr>
            <a:r>
              <a:rPr lang="ko-KR" altLang="en-US"/>
              <a:t>백그라운드 실행 즉시 프롬프트가 출력되고</a:t>
            </a:r>
            <a:r>
              <a:rPr lang="en-US" altLang="ko-KR"/>
              <a:t/>
            </a:r>
            <a:br>
              <a:rPr lang="en-US" altLang="ko-KR"/>
            </a:br>
            <a:r>
              <a:rPr lang="ko-KR" altLang="en-US"/>
              <a:t>사용자에게 입력 받을 수 없음</a:t>
            </a:r>
          </a:p>
        </p:txBody>
      </p:sp>
    </p:spTree>
    <p:extLst>
      <p:ext uri="{BB962C8B-B14F-4D97-AF65-F5344CB8AC3E}">
        <p14:creationId xmlns:p14="http://schemas.microsoft.com/office/powerpoint/2010/main" val="22850518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표준 입력</a:t>
            </a:r>
            <a:r>
              <a:rPr lang="en-US" altLang="ko-KR" dirty="0" smtClean="0"/>
              <a:t>, </a:t>
            </a:r>
            <a:r>
              <a:rPr lang="ko-KR" altLang="en-US" dirty="0" smtClean="0"/>
              <a:t>표준 출력</a:t>
            </a:r>
            <a:r>
              <a:rPr lang="en-US" altLang="ko-KR" dirty="0" smtClean="0"/>
              <a:t>,</a:t>
            </a:r>
            <a:r>
              <a:rPr lang="ko-KR" altLang="en-US" dirty="0" smtClean="0"/>
              <a:t> </a:t>
            </a:r>
            <a:r>
              <a:rPr lang="ko-KR" altLang="en-US" dirty="0" smtClean="0"/>
              <a:t>표준 에러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ko-KR" altLang="en-US" dirty="0" smtClean="0"/>
              <a:t>대부분의 </a:t>
            </a:r>
            <a:r>
              <a:rPr lang="ko-KR" altLang="en-US" dirty="0" smtClean="0"/>
              <a:t>유틸리티는 출력 결과나</a:t>
            </a:r>
            <a:r>
              <a:rPr lang="en-US" altLang="ko-KR" dirty="0" smtClean="0"/>
              <a:t> </a:t>
            </a:r>
            <a:r>
              <a:rPr lang="ko-KR" altLang="en-US" dirty="0" smtClean="0"/>
              <a:t>오류를 화면에 표시하고</a:t>
            </a:r>
            <a:endParaRPr lang="en-US" altLang="ko-KR" dirty="0" smtClean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ko-KR" altLang="en-US" dirty="0" smtClean="0">
                <a:sym typeface="Wingdings" panose="05000000000000000000" pitchFamily="2" charset="2"/>
              </a:rPr>
              <a:t>입력은 사용자의 키보드로부터 받게 되어있음</a:t>
            </a:r>
            <a:endParaRPr lang="en-US" altLang="ko-KR" dirty="0"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US" altLang="ko-KR" dirty="0" smtClean="0"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US" altLang="ko-KR" dirty="0" smtClean="0"/>
          </a:p>
          <a:p>
            <a:pPr marL="0" indent="0">
              <a:buNone/>
            </a:pPr>
            <a:r>
              <a:rPr lang="ko-KR" altLang="en-US" dirty="0" smtClean="0"/>
              <a:t>표준 출력</a:t>
            </a:r>
            <a:r>
              <a:rPr lang="en-US" altLang="ko-KR" dirty="0" smtClean="0"/>
              <a:t>, </a:t>
            </a:r>
            <a:r>
              <a:rPr lang="ko-KR" altLang="en-US" dirty="0" smtClean="0"/>
              <a:t>표준 에러 </a:t>
            </a:r>
            <a:r>
              <a:rPr lang="en-US" altLang="ko-KR" dirty="0" smtClean="0">
                <a:sym typeface="Wingdings" panose="05000000000000000000" pitchFamily="2" charset="2"/>
              </a:rPr>
              <a:t> </a:t>
            </a:r>
            <a:r>
              <a:rPr lang="ko-KR" altLang="en-US" dirty="0" smtClean="0">
                <a:sym typeface="Wingdings" panose="05000000000000000000" pitchFamily="2" charset="2"/>
              </a:rPr>
              <a:t>터미널 화면</a:t>
            </a:r>
            <a:endParaRPr lang="en-US" altLang="ko-KR" dirty="0" smtClean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ko-KR" altLang="en-US" dirty="0" smtClean="0">
                <a:sym typeface="Wingdings" panose="05000000000000000000" pitchFamily="2" charset="2"/>
              </a:rPr>
              <a:t>표준 입력 </a:t>
            </a:r>
            <a:r>
              <a:rPr lang="en-US" altLang="ko-KR" dirty="0" smtClean="0">
                <a:sym typeface="Wingdings" panose="05000000000000000000" pitchFamily="2" charset="2"/>
              </a:rPr>
              <a:t> </a:t>
            </a:r>
            <a:r>
              <a:rPr lang="ko-KR" altLang="en-US" dirty="0" smtClean="0">
                <a:sym typeface="Wingdings" panose="05000000000000000000" pitchFamily="2" charset="2"/>
              </a:rPr>
              <a:t>키보드</a:t>
            </a:r>
            <a:endParaRPr lang="en-US" altLang="ko-KR" dirty="0"/>
          </a:p>
        </p:txBody>
      </p:sp>
      <p:pic>
        <p:nvPicPr>
          <p:cNvPr id="1026" name="Picture 2" descr="https://upload.wikimedia.org/wikipedia/commons/thumb/7/70/Stdstreams-notitle.svg/450px-Stdstreams-notitle.svg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97733" y="3643312"/>
            <a:ext cx="4286250" cy="25336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438675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 smtClean="0"/>
              <a:t>리다이렉션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ko-KR" altLang="en-US" dirty="0" smtClean="0"/>
              <a:t>출력</a:t>
            </a:r>
            <a:r>
              <a:rPr lang="en-US" altLang="ko-KR" dirty="0"/>
              <a:t> </a:t>
            </a:r>
            <a:r>
              <a:rPr lang="ko-KR" altLang="en-US" dirty="0" smtClean="0"/>
              <a:t>또는 </a:t>
            </a:r>
            <a:r>
              <a:rPr lang="ko-KR" altLang="en-US" dirty="0" smtClean="0"/>
              <a:t>에러를 파일로 저장하거나</a:t>
            </a:r>
            <a:endParaRPr lang="en-US" altLang="ko-KR" dirty="0" smtClean="0"/>
          </a:p>
          <a:p>
            <a:pPr marL="0" indent="0">
              <a:buNone/>
            </a:pPr>
            <a:r>
              <a:rPr lang="ko-KR" altLang="en-US" dirty="0" smtClean="0"/>
              <a:t>입력을 파일로부터 읽어 들일 때 사용하는 쉘의 기능 중 하나</a:t>
            </a:r>
            <a:endParaRPr lang="en-US" altLang="ko-KR" dirty="0" smtClean="0"/>
          </a:p>
          <a:p>
            <a:pPr marL="0" indent="0">
              <a:buNone/>
            </a:pPr>
            <a:endParaRPr lang="en-US" altLang="ko-KR" dirty="0" smtClean="0"/>
          </a:p>
          <a:p>
            <a:pPr marL="0" indent="0">
              <a:buNone/>
            </a:pPr>
            <a:r>
              <a:rPr lang="ko-KR" altLang="en-US" dirty="0" smtClean="0"/>
              <a:t>입력을 파일로부터 받기</a:t>
            </a:r>
            <a:endParaRPr lang="en-US" altLang="ko-KR" dirty="0"/>
          </a:p>
          <a:p>
            <a:pPr marL="0" indent="0">
              <a:buNone/>
            </a:pPr>
            <a:r>
              <a:rPr lang="ko-KR" altLang="en-US" dirty="0" smtClean="0"/>
              <a:t>명령어 </a:t>
            </a:r>
            <a:r>
              <a:rPr lang="en-US" altLang="ko-KR" dirty="0" smtClean="0"/>
              <a:t>&lt; </a:t>
            </a:r>
            <a:r>
              <a:rPr lang="ko-KR" altLang="en-US" dirty="0" smtClean="0"/>
              <a:t>파일이름</a:t>
            </a:r>
            <a:endParaRPr lang="en-US" altLang="ko-KR" dirty="0" smtClean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ko-KR" altLang="en-US" dirty="0" smtClean="0"/>
              <a:t>출력을 파일로 쓰기</a:t>
            </a:r>
            <a:endParaRPr lang="en-US" altLang="ko-KR" dirty="0" smtClean="0"/>
          </a:p>
          <a:p>
            <a:pPr marL="0" indent="0">
              <a:buNone/>
            </a:pPr>
            <a:r>
              <a:rPr lang="ko-KR" altLang="en-US" dirty="0" smtClean="0"/>
              <a:t>명령어 </a:t>
            </a:r>
            <a:r>
              <a:rPr lang="en-US" altLang="ko-KR" dirty="0" smtClean="0"/>
              <a:t>&gt; </a:t>
            </a:r>
            <a:r>
              <a:rPr lang="ko-KR" altLang="en-US" dirty="0" smtClean="0"/>
              <a:t>파일이름</a:t>
            </a:r>
            <a:endParaRPr lang="en-US" altLang="ko-KR" dirty="0" smtClean="0"/>
          </a:p>
          <a:p>
            <a:pPr marL="0" indent="0">
              <a:buNone/>
            </a:pPr>
            <a:endParaRPr lang="en-US" altLang="ko-KR" dirty="0" smtClean="0"/>
          </a:p>
          <a:p>
            <a:pPr marL="0" indent="0">
              <a:buNone/>
            </a:pPr>
            <a:r>
              <a:rPr lang="ko-KR" altLang="en-US" dirty="0" smtClean="0"/>
              <a:t>에러를 파일로 쓰기</a:t>
            </a:r>
            <a:endParaRPr lang="en-US" altLang="ko-KR" dirty="0" smtClean="0"/>
          </a:p>
          <a:p>
            <a:pPr marL="0" indent="0">
              <a:buNone/>
            </a:pPr>
            <a:r>
              <a:rPr lang="ko-KR" altLang="en-US" dirty="0" smtClean="0"/>
              <a:t>명령어 </a:t>
            </a:r>
            <a:r>
              <a:rPr lang="en-US" altLang="ko-KR" dirty="0" smtClean="0"/>
              <a:t>2&gt; </a:t>
            </a:r>
            <a:r>
              <a:rPr lang="ko-KR" altLang="en-US" dirty="0" smtClean="0"/>
              <a:t>파일이름</a:t>
            </a:r>
            <a:endParaRPr lang="en-US" altLang="ko-KR" dirty="0" smtClean="0"/>
          </a:p>
        </p:txBody>
      </p:sp>
    </p:spTree>
    <p:extLst>
      <p:ext uri="{BB962C8B-B14F-4D97-AF65-F5344CB8AC3E}">
        <p14:creationId xmlns:p14="http://schemas.microsoft.com/office/powerpoint/2010/main" val="39940981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파이프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ko-KR" altLang="en-US" dirty="0" smtClean="0"/>
              <a:t>타 프로세스의 결과를 표준입력으로 </a:t>
            </a:r>
            <a:r>
              <a:rPr lang="ko-KR" altLang="en-US" dirty="0" err="1" smtClean="0"/>
              <a:t>리다이렉션</a:t>
            </a:r>
            <a:r>
              <a:rPr lang="ko-KR" altLang="en-US" dirty="0" smtClean="0"/>
              <a:t> 해주는 기능</a:t>
            </a:r>
            <a:endParaRPr lang="en-US" altLang="ko-KR" dirty="0" smtClean="0"/>
          </a:p>
          <a:p>
            <a:pPr marL="0" indent="0">
              <a:buNone/>
            </a:pPr>
            <a:endParaRPr lang="en-US" altLang="ko-KR" dirty="0" smtClean="0"/>
          </a:p>
          <a:p>
            <a:pPr marL="0" indent="0">
              <a:buNone/>
            </a:pPr>
            <a:r>
              <a:rPr lang="en-US" altLang="ko-KR" dirty="0" smtClean="0"/>
              <a:t>cat </a:t>
            </a:r>
            <a:r>
              <a:rPr lang="en-US" altLang="ko-KR" dirty="0" err="1" smtClean="0"/>
              <a:t>somefile</a:t>
            </a:r>
            <a:r>
              <a:rPr lang="en-US" altLang="ko-KR" dirty="0" smtClean="0"/>
              <a:t> | sort</a:t>
            </a:r>
          </a:p>
          <a:p>
            <a:pPr>
              <a:buFont typeface="Wingdings" panose="05000000000000000000" pitchFamily="2" charset="2"/>
              <a:buChar char="à"/>
            </a:pPr>
            <a:r>
              <a:rPr lang="en-US" altLang="ko-KR" dirty="0" err="1">
                <a:sym typeface="Wingdings" panose="05000000000000000000" pitchFamily="2" charset="2"/>
              </a:rPr>
              <a:t>s</a:t>
            </a:r>
            <a:r>
              <a:rPr lang="en-US" altLang="ko-KR" dirty="0" err="1" smtClean="0">
                <a:sym typeface="Wingdings" panose="05000000000000000000" pitchFamily="2" charset="2"/>
              </a:rPr>
              <a:t>omefile</a:t>
            </a:r>
            <a:r>
              <a:rPr lang="en-US" altLang="ko-KR" dirty="0" smtClean="0">
                <a:sym typeface="Wingdings" panose="05000000000000000000" pitchFamily="2" charset="2"/>
              </a:rPr>
              <a:t> </a:t>
            </a:r>
            <a:r>
              <a:rPr lang="ko-KR" altLang="en-US" dirty="0" smtClean="0">
                <a:sym typeface="Wingdings" panose="05000000000000000000" pitchFamily="2" charset="2"/>
              </a:rPr>
              <a:t>파일의 내용이</a:t>
            </a:r>
            <a:r>
              <a:rPr lang="en-US" altLang="ko-KR" dirty="0" smtClean="0">
                <a:sym typeface="Wingdings" panose="05000000000000000000" pitchFamily="2" charset="2"/>
              </a:rPr>
              <a:t>(cat</a:t>
            </a:r>
            <a:r>
              <a:rPr lang="ko-KR" altLang="en-US" dirty="0" smtClean="0">
                <a:sym typeface="Wingdings" panose="05000000000000000000" pitchFamily="2" charset="2"/>
              </a:rPr>
              <a:t>의 </a:t>
            </a:r>
            <a:r>
              <a:rPr lang="en-US" altLang="ko-KR" dirty="0" err="1" smtClean="0">
                <a:sym typeface="Wingdings" panose="05000000000000000000" pitchFamily="2" charset="2"/>
              </a:rPr>
              <a:t>stdout</a:t>
            </a:r>
            <a:r>
              <a:rPr lang="en-US" altLang="ko-KR" dirty="0" smtClean="0">
                <a:sym typeface="Wingdings" panose="05000000000000000000" pitchFamily="2" charset="2"/>
              </a:rPr>
              <a:t>)</a:t>
            </a:r>
            <a:br>
              <a:rPr lang="en-US" altLang="ko-KR" dirty="0" smtClean="0">
                <a:sym typeface="Wingdings" panose="05000000000000000000" pitchFamily="2" charset="2"/>
              </a:rPr>
            </a:br>
            <a:r>
              <a:rPr lang="ko-KR" altLang="en-US" dirty="0">
                <a:sym typeface="Wingdings" panose="05000000000000000000" pitchFamily="2" charset="2"/>
              </a:rPr>
              <a:t> </a:t>
            </a:r>
            <a:r>
              <a:rPr lang="en-US" altLang="ko-KR" dirty="0" smtClean="0">
                <a:sym typeface="Wingdings" panose="05000000000000000000" pitchFamily="2" charset="2"/>
              </a:rPr>
              <a:t>sort </a:t>
            </a:r>
            <a:r>
              <a:rPr lang="ko-KR" altLang="en-US" dirty="0" smtClean="0">
                <a:sym typeface="Wingdings" panose="05000000000000000000" pitchFamily="2" charset="2"/>
              </a:rPr>
              <a:t>명령어의 </a:t>
            </a:r>
            <a:r>
              <a:rPr lang="en-US" altLang="ko-KR" dirty="0" err="1" smtClean="0">
                <a:sym typeface="Wingdings" panose="05000000000000000000" pitchFamily="2" charset="2"/>
              </a:rPr>
              <a:t>stdin</a:t>
            </a:r>
            <a:r>
              <a:rPr lang="en-US" altLang="ko-KR" dirty="0" smtClean="0">
                <a:sym typeface="Wingdings" panose="05000000000000000000" pitchFamily="2" charset="2"/>
              </a:rPr>
              <a:t> </a:t>
            </a:r>
            <a:r>
              <a:rPr lang="ko-KR" altLang="en-US" dirty="0" smtClean="0">
                <a:sym typeface="Wingdings" panose="05000000000000000000" pitchFamily="2" charset="2"/>
              </a:rPr>
              <a:t>으로 </a:t>
            </a:r>
            <a:r>
              <a:rPr lang="ko-KR" altLang="en-US" dirty="0" err="1" smtClean="0">
                <a:sym typeface="Wingdings" panose="05000000000000000000" pitchFamily="2" charset="2"/>
              </a:rPr>
              <a:t>리다이렉션</a:t>
            </a:r>
            <a:r>
              <a:rPr lang="ko-KR" altLang="en-US" dirty="0" smtClean="0">
                <a:sym typeface="Wingdings" panose="05000000000000000000" pitchFamily="2" charset="2"/>
              </a:rPr>
              <a:t> 된다</a:t>
            </a:r>
            <a:r>
              <a:rPr lang="en-US" altLang="ko-KR" dirty="0" smtClean="0">
                <a:sym typeface="Wingdings" panose="05000000000000000000" pitchFamily="2" charset="2"/>
              </a:rPr>
              <a:t>.</a:t>
            </a:r>
          </a:p>
          <a:p>
            <a:pPr>
              <a:buFont typeface="Wingdings" panose="05000000000000000000" pitchFamily="2" charset="2"/>
              <a:buChar char="à"/>
            </a:pPr>
            <a:endParaRPr lang="en-US" altLang="ko-KR" dirty="0">
              <a:sym typeface="Wingdings" panose="05000000000000000000" pitchFamily="2" charset="2"/>
            </a:endParaRPr>
          </a:p>
          <a:p>
            <a:pPr>
              <a:buFont typeface="Wingdings" panose="05000000000000000000" pitchFamily="2" charset="2"/>
              <a:buChar char="à"/>
            </a:pPr>
            <a:r>
              <a:rPr lang="ko-KR" altLang="en-US" dirty="0" smtClean="0">
                <a:sym typeface="Wingdings" panose="05000000000000000000" pitchFamily="2" charset="2"/>
              </a:rPr>
              <a:t>파이프는 </a:t>
            </a:r>
            <a:r>
              <a:rPr lang="en-US" altLang="ko-KR" dirty="0" err="1" smtClean="0">
                <a:sym typeface="Wingdings" panose="05000000000000000000" pitchFamily="2" charset="2"/>
              </a:rPr>
              <a:t>stdout</a:t>
            </a:r>
            <a:r>
              <a:rPr lang="en-US" altLang="ko-KR" dirty="0" smtClean="0">
                <a:sym typeface="Wingdings" panose="05000000000000000000" pitchFamily="2" charset="2"/>
              </a:rPr>
              <a:t> </a:t>
            </a:r>
            <a:r>
              <a:rPr lang="ko-KR" altLang="en-US" dirty="0" smtClean="0">
                <a:sym typeface="Wingdings" panose="05000000000000000000" pitchFamily="2" charset="2"/>
              </a:rPr>
              <a:t>을 </a:t>
            </a:r>
            <a:r>
              <a:rPr lang="en-US" altLang="ko-KR" dirty="0" err="1" smtClean="0">
                <a:sym typeface="Wingdings" panose="05000000000000000000" pitchFamily="2" charset="2"/>
              </a:rPr>
              <a:t>stdin</a:t>
            </a:r>
            <a:r>
              <a:rPr lang="ko-KR" altLang="en-US" dirty="0" smtClean="0">
                <a:sym typeface="Wingdings" panose="05000000000000000000" pitchFamily="2" charset="2"/>
              </a:rPr>
              <a:t>으로 연결해주지만</a:t>
            </a:r>
            <a:r>
              <a:rPr lang="en-US" altLang="ko-KR" dirty="0">
                <a:sym typeface="Wingdings" panose="05000000000000000000" pitchFamily="2" charset="2"/>
              </a:rPr>
              <a:t/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en-US" altLang="ko-KR" dirty="0" err="1" smtClean="0">
                <a:sym typeface="Wingdings" panose="05000000000000000000" pitchFamily="2" charset="2"/>
              </a:rPr>
              <a:t>stderr</a:t>
            </a:r>
            <a:r>
              <a:rPr lang="ko-KR" altLang="en-US" dirty="0" smtClean="0">
                <a:sym typeface="Wingdings" panose="05000000000000000000" pitchFamily="2" charset="2"/>
              </a:rPr>
              <a:t>는 터미널 화면</a:t>
            </a:r>
            <a:r>
              <a:rPr lang="en-US" altLang="ko-KR" dirty="0" smtClean="0">
                <a:sym typeface="Wingdings" panose="05000000000000000000" pitchFamily="2" charset="2"/>
              </a:rPr>
              <a:t>(</a:t>
            </a:r>
            <a:r>
              <a:rPr lang="ko-KR" altLang="en-US" dirty="0" smtClean="0">
                <a:sym typeface="Wingdings" panose="05000000000000000000" pitchFamily="2" charset="2"/>
              </a:rPr>
              <a:t>기본</a:t>
            </a:r>
            <a:r>
              <a:rPr lang="en-US" altLang="ko-KR" dirty="0" smtClean="0">
                <a:sym typeface="Wingdings" panose="05000000000000000000" pitchFamily="2" charset="2"/>
              </a:rPr>
              <a:t>)</a:t>
            </a:r>
            <a:r>
              <a:rPr lang="ko-KR" altLang="en-US" dirty="0" smtClean="0">
                <a:sym typeface="Wingdings" panose="05000000000000000000" pitchFamily="2" charset="2"/>
              </a:rPr>
              <a:t>이다</a:t>
            </a:r>
            <a:r>
              <a:rPr lang="en-US" altLang="ko-KR" dirty="0" smtClean="0">
                <a:sym typeface="Wingdings" panose="05000000000000000000" pitchFamily="2" charset="2"/>
              </a:rPr>
              <a:t>.</a:t>
            </a:r>
            <a:endParaRPr lang="en-US" altLang="ko-KR" dirty="0"/>
          </a:p>
          <a:p>
            <a:pPr marL="0" indent="0">
              <a:buNone/>
            </a:pPr>
            <a:endParaRPr lang="ko-KR" altLang="en-US" dirty="0"/>
          </a:p>
        </p:txBody>
      </p:sp>
      <p:pic>
        <p:nvPicPr>
          <p:cNvPr id="2050" name="Picture 2" descr="https://upload.wikimedia.org/wikipedia/commons/thumb/f/f6/Pipeline.svg/330px-Pipeline.svg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32618" y="3330574"/>
            <a:ext cx="3143250" cy="29813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420120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파일 </a:t>
            </a:r>
            <a:r>
              <a:rPr lang="ko-KR" altLang="en-US" dirty="0" err="1" smtClean="0"/>
              <a:t>디스크립터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ko-KR" altLang="en-US" dirty="0" smtClean="0"/>
              <a:t>프로세스가 열고 있는 파일을 관리</a:t>
            </a:r>
            <a:endParaRPr lang="en-US" altLang="ko-KR" dirty="0" smtClean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ko-KR" altLang="en-US" dirty="0" err="1" smtClean="0"/>
              <a:t>표준입력</a:t>
            </a:r>
            <a:r>
              <a:rPr lang="en-US" altLang="ko-KR" dirty="0" smtClean="0"/>
              <a:t>(0), </a:t>
            </a:r>
            <a:r>
              <a:rPr lang="ko-KR" altLang="en-US" dirty="0" err="1" smtClean="0"/>
              <a:t>표준출력</a:t>
            </a:r>
            <a:r>
              <a:rPr lang="en-US" altLang="ko-KR" dirty="0" smtClean="0"/>
              <a:t>(1), </a:t>
            </a:r>
            <a:r>
              <a:rPr lang="ko-KR" altLang="en-US" dirty="0" err="1" smtClean="0"/>
              <a:t>표준에러</a:t>
            </a:r>
            <a:r>
              <a:rPr lang="en-US" altLang="ko-KR" dirty="0" smtClean="0"/>
              <a:t>(2)</a:t>
            </a:r>
            <a:r>
              <a:rPr lang="ko-KR" altLang="en-US" dirty="0" smtClean="0"/>
              <a:t>가 기본으로 할당된다</a:t>
            </a:r>
            <a:r>
              <a:rPr lang="en-US" altLang="ko-KR" dirty="0" smtClean="0"/>
              <a:t>.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en-US" altLang="ko-KR" dirty="0" smtClean="0"/>
              <a:t>0 ~ open files </a:t>
            </a:r>
            <a:r>
              <a:rPr lang="ko-KR" altLang="en-US" dirty="0" smtClean="0"/>
              <a:t>까지의 값을 가질 수 있다</a:t>
            </a:r>
            <a:r>
              <a:rPr lang="en-US" altLang="ko-KR" dirty="0" smtClean="0"/>
              <a:t>.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ko-KR" altLang="en-US" dirty="0" smtClean="0"/>
              <a:t>이후에 일반 파일이나 소켓 등을 열 때에</a:t>
            </a:r>
            <a:endParaRPr lang="en-US" altLang="ko-KR" dirty="0" smtClean="0"/>
          </a:p>
          <a:p>
            <a:pPr marL="0" indent="0">
              <a:buNone/>
            </a:pPr>
            <a:r>
              <a:rPr lang="ko-KR" altLang="en-US" dirty="0" smtClean="0"/>
              <a:t>커널에 의해서 </a:t>
            </a:r>
            <a:r>
              <a:rPr lang="en-US" altLang="ko-KR" dirty="0" smtClean="0"/>
              <a:t>3</a:t>
            </a:r>
            <a:r>
              <a:rPr lang="ko-KR" altLang="en-US" dirty="0" smtClean="0"/>
              <a:t>번부터 </a:t>
            </a:r>
            <a:r>
              <a:rPr lang="en-US" altLang="ko-KR" dirty="0" err="1" smtClean="0"/>
              <a:t>fd</a:t>
            </a:r>
            <a:r>
              <a:rPr lang="ko-KR" altLang="en-US" dirty="0" smtClean="0"/>
              <a:t>가 생성 </a:t>
            </a:r>
            <a:r>
              <a:rPr lang="en-US" altLang="ko-KR" dirty="0" smtClean="0"/>
              <a:t>/ </a:t>
            </a:r>
            <a:r>
              <a:rPr lang="ko-KR" altLang="en-US" dirty="0" smtClean="0"/>
              <a:t>관리된다</a:t>
            </a:r>
            <a:r>
              <a:rPr lang="en-US" altLang="ko-KR" dirty="0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763104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43368D0-737E-43E1-85FC-E2062A108C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dirty="0">
                <a:latin typeface="Malgun Gothic"/>
                <a:ea typeface="Malgun Gothic"/>
              </a:rPr>
              <a:t>파일시스템</a:t>
            </a:r>
            <a:r>
              <a:rPr lang="en-US" altLang="ko-KR" dirty="0">
                <a:ea typeface="+mj-lt"/>
                <a:cs typeface="+mj-lt"/>
              </a:rPr>
              <a:t> </a:t>
            </a:r>
            <a:r>
              <a:rPr lang="ko-KR" dirty="0">
                <a:latin typeface="Malgun Gothic"/>
                <a:ea typeface="Malgun Gothic"/>
              </a:rPr>
              <a:t>계층구조</a:t>
            </a:r>
            <a:r>
              <a:rPr lang="en-US" altLang="ko-KR" dirty="0">
                <a:ea typeface="+mj-lt"/>
                <a:cs typeface="+mj-lt"/>
              </a:rPr>
              <a:t> </a:t>
            </a:r>
            <a:r>
              <a:rPr lang="ko-KR" dirty="0">
                <a:latin typeface="Malgun Gothic"/>
                <a:ea typeface="Malgun Gothic"/>
              </a:rPr>
              <a:t>표준</a:t>
            </a:r>
            <a:endParaRPr lang="ko-KR" dirty="0"/>
          </a:p>
        </p:txBody>
      </p:sp>
      <p:sp>
        <p:nvSpPr>
          <p:cNvPr id="12" name="내용 개체 틀 2">
            <a:extLst>
              <a:ext uri="{FF2B5EF4-FFF2-40B4-BE49-F238E27FC236}">
                <a16:creationId xmlns:a16="http://schemas.microsoft.com/office/drawing/2014/main" id="{FFD8B260-E198-4EAA-97E5-5ABB8817F61B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10000"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 err="1">
                <a:ea typeface="+mn-lt"/>
                <a:cs typeface="+mn-lt"/>
              </a:rPr>
              <a:t>Filesystem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smtClean="0">
                <a:ea typeface="+mn-lt"/>
                <a:cs typeface="+mn-lt"/>
              </a:rPr>
              <a:t>Hierarchy </a:t>
            </a:r>
            <a:r>
              <a:rPr lang="en-US" dirty="0">
                <a:ea typeface="+mn-lt"/>
                <a:cs typeface="+mn-lt"/>
              </a:rPr>
              <a:t>Standard, FHS </a:t>
            </a:r>
            <a:r>
              <a:rPr lang="ko-KR" altLang="en-US" dirty="0">
                <a:ea typeface="+mn-lt"/>
                <a:cs typeface="+mn-lt"/>
              </a:rPr>
              <a:t>라고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ko-KR" altLang="en-US" dirty="0">
                <a:ea typeface="+mn-lt"/>
                <a:cs typeface="+mn-lt"/>
              </a:rPr>
              <a:t>불리며</a:t>
            </a:r>
            <a:endParaRPr lang="ko-KR" altLang="en-US" dirty="0">
              <a:ea typeface="맑은 고딕"/>
            </a:endParaRPr>
          </a:p>
          <a:p>
            <a:pPr marL="0" indent="0">
              <a:buNone/>
            </a:pPr>
            <a:r>
              <a:rPr lang="ko-KR" altLang="en-US" dirty="0">
                <a:ea typeface="맑은 고딕"/>
              </a:rPr>
              <a:t>리눅스 운영 체제의 주 </a:t>
            </a:r>
            <a:r>
              <a:rPr lang="ko-KR" altLang="en-US" dirty="0" smtClean="0">
                <a:ea typeface="맑은 고딕"/>
              </a:rPr>
              <a:t>디렉터리를 </a:t>
            </a:r>
            <a:r>
              <a:rPr lang="ko-KR" altLang="en-US" dirty="0">
                <a:ea typeface="맑은 고딕"/>
              </a:rPr>
              <a:t>정의한다</a:t>
            </a:r>
            <a:r>
              <a:rPr lang="en-US" altLang="ko-KR" dirty="0">
                <a:ea typeface="맑은 고딕"/>
              </a:rPr>
              <a:t>.</a:t>
            </a:r>
            <a:endParaRPr lang="en-US" altLang="ko-KR" b="1" dirty="0">
              <a:ea typeface="맑은 고딕"/>
            </a:endParaRP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en-US" altLang="ko-KR" dirty="0">
                <a:sym typeface="Wingdings" panose="05000000000000000000" pitchFamily="2" charset="2"/>
              </a:rPr>
              <a:t>BSD </a:t>
            </a:r>
            <a:r>
              <a:rPr lang="ko-KR" altLang="en-US" dirty="0">
                <a:sym typeface="Wingdings" panose="05000000000000000000" pitchFamily="2" charset="2"/>
              </a:rPr>
              <a:t>시절부터 가지고 있던 기본 폴더 구조를 바탕으로 하고 있음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>
                <a:sym typeface="Wingdings" panose="05000000000000000000" pitchFamily="2" charset="2"/>
              </a:rPr>
              <a:t>/bin, /</a:t>
            </a:r>
            <a:r>
              <a:rPr lang="en-US" altLang="ko-KR" dirty="0" err="1">
                <a:sym typeface="Wingdings" panose="05000000000000000000" pitchFamily="2" charset="2"/>
              </a:rPr>
              <a:t>sbin</a:t>
            </a:r>
            <a:r>
              <a:rPr lang="en-US" altLang="ko-KR" dirty="0">
                <a:sym typeface="Wingdings" panose="05000000000000000000" pitchFamily="2" charset="2"/>
              </a:rPr>
              <a:t>, /boot, /dev, /home, /lib </a:t>
            </a:r>
            <a:r>
              <a:rPr lang="ko-KR" altLang="en-US" dirty="0">
                <a:sym typeface="Wingdings" panose="05000000000000000000" pitchFamily="2" charset="2"/>
              </a:rPr>
              <a:t>등 각 용도별로 존재</a:t>
            </a:r>
            <a:endParaRPr lang="en-US" altLang="ko-KR" dirty="0"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 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다양한 배포판이 나옴에 따라</a:t>
            </a:r>
            <a:endParaRPr lang="en-US" altLang="ko-KR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altLang="ko-KR" dirty="0">
                <a:sym typeface="Wingdings" panose="05000000000000000000" pitchFamily="2" charset="2"/>
              </a:rPr>
              <a:t>      </a:t>
            </a:r>
            <a:r>
              <a:rPr lang="ko-KR" altLang="en-US" dirty="0">
                <a:sym typeface="Wingdings" panose="05000000000000000000" pitchFamily="2" charset="2"/>
              </a:rPr>
              <a:t>표준 </a:t>
            </a:r>
            <a:r>
              <a:rPr lang="ko-KR" altLang="en-US" dirty="0" smtClean="0">
                <a:sym typeface="Wingdings" panose="05000000000000000000" pitchFamily="2" charset="2"/>
              </a:rPr>
              <a:t>디렉터리에 </a:t>
            </a:r>
            <a:r>
              <a:rPr lang="ko-KR" altLang="en-US" dirty="0">
                <a:sym typeface="Wingdings" panose="05000000000000000000" pitchFamily="2" charset="2"/>
              </a:rPr>
              <a:t>대한 요구가 생긴 것을</a:t>
            </a:r>
            <a:endParaRPr lang="en-US" altLang="ko-KR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altLang="ko-KR" dirty="0">
                <a:sym typeface="Wingdings" panose="05000000000000000000" pitchFamily="2" charset="2"/>
              </a:rPr>
              <a:t>      </a:t>
            </a:r>
            <a:r>
              <a:rPr lang="ko-KR" altLang="en-US" dirty="0">
                <a:sym typeface="Wingdings" panose="05000000000000000000" pitchFamily="2" charset="2"/>
              </a:rPr>
              <a:t>리눅스 재단에서 유지관리 하고 있음</a:t>
            </a:r>
            <a:endParaRPr lang="en-US" altLang="ko-KR" dirty="0"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8392078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>
            <a:extLst>
              <a:ext uri="{FF2B5EF4-FFF2-40B4-BE49-F238E27FC236}">
                <a16:creationId xmlns:a16="http://schemas.microsoft.com/office/drawing/2014/main" id="{73388DF1-2BF6-4D3C-A3DE-E2A9935E82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1116" y="1172794"/>
            <a:ext cx="9649767" cy="4052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42494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>
            <a:extLst>
              <a:ext uri="{FF2B5EF4-FFF2-40B4-BE49-F238E27FC236}">
                <a16:creationId xmlns:a16="http://schemas.microsoft.com/office/drawing/2014/main" id="{73388DF1-2BF6-4D3C-A3DE-E2A9935E82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1116" y="710571"/>
            <a:ext cx="9649767" cy="4052762"/>
          </a:xfrm>
          <a:prstGeom prst="rect">
            <a:avLst/>
          </a:prstGeom>
        </p:spPr>
      </p:pic>
      <p:sp>
        <p:nvSpPr>
          <p:cNvPr id="2" name="타원 1">
            <a:extLst>
              <a:ext uri="{FF2B5EF4-FFF2-40B4-BE49-F238E27FC236}">
                <a16:creationId xmlns:a16="http://schemas.microsoft.com/office/drawing/2014/main" id="{A08542B0-B931-4C79-B278-F87913DD1043}"/>
              </a:ext>
            </a:extLst>
          </p:cNvPr>
          <p:cNvSpPr/>
          <p:nvPr/>
        </p:nvSpPr>
        <p:spPr>
          <a:xfrm>
            <a:off x="5280407" y="2361361"/>
            <a:ext cx="994787" cy="994787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C3912B1-7103-41FC-A831-C8984FC4E2D9}"/>
              </a:ext>
            </a:extLst>
          </p:cNvPr>
          <p:cNvSpPr txBox="1"/>
          <p:nvPr/>
        </p:nvSpPr>
        <p:spPr>
          <a:xfrm>
            <a:off x="1050053" y="4632711"/>
            <a:ext cx="10274440" cy="5749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루트</a:t>
            </a:r>
            <a:r>
              <a:rPr lang="en-US" altLang="ko-KR" sz="2400" dirty="0"/>
              <a:t> </a:t>
            </a:r>
            <a:r>
              <a:rPr lang="ko-KR" altLang="en-US" sz="2400" dirty="0"/>
              <a:t>사용자 계정 홈 디렉터리</a:t>
            </a:r>
          </a:p>
        </p:txBody>
      </p:sp>
    </p:spTree>
    <p:extLst>
      <p:ext uri="{BB962C8B-B14F-4D97-AF65-F5344CB8AC3E}">
        <p14:creationId xmlns:p14="http://schemas.microsoft.com/office/powerpoint/2010/main" val="7524365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>
            <a:extLst>
              <a:ext uri="{FF2B5EF4-FFF2-40B4-BE49-F238E27FC236}">
                <a16:creationId xmlns:a16="http://schemas.microsoft.com/office/drawing/2014/main" id="{73388DF1-2BF6-4D3C-A3DE-E2A9935E82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1116" y="710571"/>
            <a:ext cx="9649767" cy="4052762"/>
          </a:xfrm>
          <a:prstGeom prst="rect">
            <a:avLst/>
          </a:prstGeom>
        </p:spPr>
      </p:pic>
      <p:sp>
        <p:nvSpPr>
          <p:cNvPr id="2" name="타원 1">
            <a:extLst>
              <a:ext uri="{FF2B5EF4-FFF2-40B4-BE49-F238E27FC236}">
                <a16:creationId xmlns:a16="http://schemas.microsoft.com/office/drawing/2014/main" id="{A08542B0-B931-4C79-B278-F87913DD1043}"/>
              </a:ext>
            </a:extLst>
          </p:cNvPr>
          <p:cNvSpPr/>
          <p:nvPr/>
        </p:nvSpPr>
        <p:spPr>
          <a:xfrm>
            <a:off x="4496636" y="2361361"/>
            <a:ext cx="994787" cy="994787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C3912B1-7103-41FC-A831-C8984FC4E2D9}"/>
              </a:ext>
            </a:extLst>
          </p:cNvPr>
          <p:cNvSpPr txBox="1"/>
          <p:nvPr/>
        </p:nvSpPr>
        <p:spPr>
          <a:xfrm>
            <a:off x="1050053" y="4632711"/>
            <a:ext cx="10274440" cy="5749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사용자 계정 홈 디렉터리</a:t>
            </a:r>
          </a:p>
        </p:txBody>
      </p:sp>
    </p:spTree>
    <p:extLst>
      <p:ext uri="{BB962C8B-B14F-4D97-AF65-F5344CB8AC3E}">
        <p14:creationId xmlns:p14="http://schemas.microsoft.com/office/powerpoint/2010/main" val="28343635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>
            <a:extLst>
              <a:ext uri="{FF2B5EF4-FFF2-40B4-BE49-F238E27FC236}">
                <a16:creationId xmlns:a16="http://schemas.microsoft.com/office/drawing/2014/main" id="{73388DF1-2BF6-4D3C-A3DE-E2A9935E82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1116" y="760813"/>
            <a:ext cx="9649767" cy="4052762"/>
          </a:xfrm>
          <a:prstGeom prst="rect">
            <a:avLst/>
          </a:prstGeom>
        </p:spPr>
      </p:pic>
      <p:sp>
        <p:nvSpPr>
          <p:cNvPr id="2" name="타원 1">
            <a:extLst>
              <a:ext uri="{FF2B5EF4-FFF2-40B4-BE49-F238E27FC236}">
                <a16:creationId xmlns:a16="http://schemas.microsoft.com/office/drawing/2014/main" id="{A08542B0-B931-4C79-B278-F87913DD1043}"/>
              </a:ext>
            </a:extLst>
          </p:cNvPr>
          <p:cNvSpPr/>
          <p:nvPr/>
        </p:nvSpPr>
        <p:spPr>
          <a:xfrm>
            <a:off x="1210828" y="2411604"/>
            <a:ext cx="994787" cy="994787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419E9A7-9B7B-467C-B43C-015D2948DD80}"/>
              </a:ext>
            </a:extLst>
          </p:cNvPr>
          <p:cNvSpPr txBox="1"/>
          <p:nvPr/>
        </p:nvSpPr>
        <p:spPr>
          <a:xfrm>
            <a:off x="1271116" y="4708743"/>
            <a:ext cx="651101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리눅스가 </a:t>
            </a:r>
            <a:r>
              <a:rPr lang="ko-KR" altLang="en-US" sz="2400" dirty="0" smtClean="0"/>
              <a:t>부팅될 때 </a:t>
            </a:r>
            <a:r>
              <a:rPr lang="ko-KR" altLang="en-US" sz="2400" dirty="0"/>
              <a:t>필요한 파일</a:t>
            </a:r>
            <a:endParaRPr lang="en-US" altLang="ko-KR" sz="2400" dirty="0"/>
          </a:p>
          <a:p>
            <a:pPr>
              <a:lnSpc>
                <a:spcPct val="150000"/>
              </a:lnSpc>
            </a:pPr>
            <a:r>
              <a:rPr lang="ko-KR" altLang="en-US" sz="2400" dirty="0" err="1" smtClean="0"/>
              <a:t>부트로더</a:t>
            </a:r>
            <a:r>
              <a:rPr lang="ko-KR" altLang="en-US" sz="2400" dirty="0" smtClean="0"/>
              <a:t> </a:t>
            </a:r>
            <a:r>
              <a:rPr lang="ko-KR" altLang="en-US" sz="2400" dirty="0"/>
              <a:t>설정 파일</a:t>
            </a:r>
            <a:r>
              <a:rPr lang="en-US" altLang="ko-KR" sz="2400" dirty="0"/>
              <a:t>, </a:t>
            </a:r>
            <a:r>
              <a:rPr lang="ko-KR" altLang="en-US" sz="2400" dirty="0"/>
              <a:t>커널 이미지 등</a:t>
            </a:r>
          </a:p>
        </p:txBody>
      </p:sp>
    </p:spTree>
    <p:extLst>
      <p:ext uri="{BB962C8B-B14F-4D97-AF65-F5344CB8AC3E}">
        <p14:creationId xmlns:p14="http://schemas.microsoft.com/office/powerpoint/2010/main" val="3875172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>
            <a:extLst>
              <a:ext uri="{FF2B5EF4-FFF2-40B4-BE49-F238E27FC236}">
                <a16:creationId xmlns:a16="http://schemas.microsoft.com/office/drawing/2014/main" id="{73388DF1-2BF6-4D3C-A3DE-E2A9935E82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1116" y="760813"/>
            <a:ext cx="9649767" cy="4052762"/>
          </a:xfrm>
          <a:prstGeom prst="rect">
            <a:avLst/>
          </a:prstGeom>
        </p:spPr>
      </p:pic>
      <p:sp>
        <p:nvSpPr>
          <p:cNvPr id="2" name="타원 1">
            <a:extLst>
              <a:ext uri="{FF2B5EF4-FFF2-40B4-BE49-F238E27FC236}">
                <a16:creationId xmlns:a16="http://schemas.microsoft.com/office/drawing/2014/main" id="{A08542B0-B931-4C79-B278-F87913DD1043}"/>
              </a:ext>
            </a:extLst>
          </p:cNvPr>
          <p:cNvSpPr/>
          <p:nvPr/>
        </p:nvSpPr>
        <p:spPr>
          <a:xfrm>
            <a:off x="2034789" y="2411604"/>
            <a:ext cx="994787" cy="994787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C3912B1-7103-41FC-A831-C8984FC4E2D9}"/>
              </a:ext>
            </a:extLst>
          </p:cNvPr>
          <p:cNvSpPr txBox="1"/>
          <p:nvPr/>
        </p:nvSpPr>
        <p:spPr>
          <a:xfrm>
            <a:off x="1271116" y="4708743"/>
            <a:ext cx="6511013" cy="16829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시스템의 전반적인 설정 파일</a:t>
            </a:r>
            <a:endParaRPr lang="en-US" altLang="ko-KR" sz="2400" dirty="0"/>
          </a:p>
          <a:p>
            <a:pPr>
              <a:lnSpc>
                <a:spcPct val="150000"/>
              </a:lnSpc>
            </a:pPr>
            <a:r>
              <a:rPr lang="ko-KR" altLang="en-US" sz="2400" dirty="0"/>
              <a:t>윈도우의 제어판이나 레지스트리에 해당</a:t>
            </a:r>
            <a:endParaRPr lang="en-US" altLang="ko-KR" sz="2400" dirty="0"/>
          </a:p>
          <a:p>
            <a:pPr>
              <a:lnSpc>
                <a:spcPct val="150000"/>
              </a:lnSpc>
            </a:pPr>
            <a:endParaRPr lang="ko-KR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3510622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>
            <a:extLst>
              <a:ext uri="{FF2B5EF4-FFF2-40B4-BE49-F238E27FC236}">
                <a16:creationId xmlns:a16="http://schemas.microsoft.com/office/drawing/2014/main" id="{73388DF1-2BF6-4D3C-A3DE-E2A9935E82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1116" y="750766"/>
            <a:ext cx="9649767" cy="4052762"/>
          </a:xfrm>
          <a:prstGeom prst="rect">
            <a:avLst/>
          </a:prstGeom>
        </p:spPr>
      </p:pic>
      <p:sp>
        <p:nvSpPr>
          <p:cNvPr id="2" name="타원 1">
            <a:extLst>
              <a:ext uri="{FF2B5EF4-FFF2-40B4-BE49-F238E27FC236}">
                <a16:creationId xmlns:a16="http://schemas.microsoft.com/office/drawing/2014/main" id="{A08542B0-B931-4C79-B278-F87913DD1043}"/>
              </a:ext>
            </a:extLst>
          </p:cNvPr>
          <p:cNvSpPr/>
          <p:nvPr/>
        </p:nvSpPr>
        <p:spPr>
          <a:xfrm>
            <a:off x="2034789" y="2401557"/>
            <a:ext cx="994787" cy="994787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C3912B1-7103-41FC-A831-C8984FC4E2D9}"/>
              </a:ext>
            </a:extLst>
          </p:cNvPr>
          <p:cNvSpPr txBox="1"/>
          <p:nvPr/>
        </p:nvSpPr>
        <p:spPr>
          <a:xfrm>
            <a:off x="1271116" y="4698696"/>
            <a:ext cx="8696849" cy="11289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어디에도 속하지 않는 기타 등등의 의미로도 보고</a:t>
            </a:r>
            <a:endParaRPr lang="en-US" altLang="ko-KR" sz="2400" dirty="0"/>
          </a:p>
          <a:p>
            <a:pPr>
              <a:lnSpc>
                <a:spcPct val="150000"/>
              </a:lnSpc>
            </a:pPr>
            <a:r>
              <a:rPr lang="en-US" altLang="ko-KR" sz="2400" dirty="0"/>
              <a:t>Editable Text Configuration </a:t>
            </a:r>
            <a:r>
              <a:rPr lang="ko-KR" altLang="en-US" sz="2400" dirty="0"/>
              <a:t>으로 해석하기도 함</a:t>
            </a:r>
          </a:p>
        </p:txBody>
      </p:sp>
    </p:spTree>
    <p:extLst>
      <p:ext uri="{BB962C8B-B14F-4D97-AF65-F5344CB8AC3E}">
        <p14:creationId xmlns:p14="http://schemas.microsoft.com/office/powerpoint/2010/main" val="42074490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>
            <a:extLst>
              <a:ext uri="{FF2B5EF4-FFF2-40B4-BE49-F238E27FC236}">
                <a16:creationId xmlns:a16="http://schemas.microsoft.com/office/drawing/2014/main" id="{73388DF1-2BF6-4D3C-A3DE-E2A9935E82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1116" y="710571"/>
            <a:ext cx="9649767" cy="4052762"/>
          </a:xfrm>
          <a:prstGeom prst="rect">
            <a:avLst/>
          </a:prstGeom>
        </p:spPr>
      </p:pic>
      <p:sp>
        <p:nvSpPr>
          <p:cNvPr id="2" name="타원 1">
            <a:extLst>
              <a:ext uri="{FF2B5EF4-FFF2-40B4-BE49-F238E27FC236}">
                <a16:creationId xmlns:a16="http://schemas.microsoft.com/office/drawing/2014/main" id="{A08542B0-B931-4C79-B278-F87913DD1043}"/>
              </a:ext>
            </a:extLst>
          </p:cNvPr>
          <p:cNvSpPr/>
          <p:nvPr/>
        </p:nvSpPr>
        <p:spPr>
          <a:xfrm>
            <a:off x="2868802" y="2371410"/>
            <a:ext cx="994787" cy="994787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C3912B1-7103-41FC-A831-C8984FC4E2D9}"/>
              </a:ext>
            </a:extLst>
          </p:cNvPr>
          <p:cNvSpPr txBox="1"/>
          <p:nvPr/>
        </p:nvSpPr>
        <p:spPr>
          <a:xfrm>
            <a:off x="958779" y="4399086"/>
            <a:ext cx="1027444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일종의 가상 파일시스템으로 동작 중인 프로세스의</a:t>
            </a:r>
            <a:endParaRPr lang="en-US" altLang="ko-KR" sz="2400" dirty="0"/>
          </a:p>
          <a:p>
            <a:pPr>
              <a:lnSpc>
                <a:spcPct val="150000"/>
              </a:lnSpc>
            </a:pPr>
            <a:r>
              <a:rPr lang="ko-KR" altLang="en-US" sz="2400" dirty="0"/>
              <a:t>상태정보</a:t>
            </a:r>
            <a:r>
              <a:rPr lang="en-US" altLang="ko-KR" sz="2400" dirty="0"/>
              <a:t>, </a:t>
            </a:r>
            <a:r>
              <a:rPr lang="ko-KR" altLang="en-US" sz="2400" dirty="0"/>
              <a:t>하드웨어 정보</a:t>
            </a:r>
            <a:r>
              <a:rPr lang="en-US" altLang="ko-KR" sz="2400" dirty="0"/>
              <a:t>, </a:t>
            </a:r>
            <a:r>
              <a:rPr lang="ko-KR" altLang="en-US" sz="2400" dirty="0"/>
              <a:t>시스템 정보 등을 알 수 있는 파일</a:t>
            </a:r>
            <a:endParaRPr lang="en-US" altLang="ko-KR" sz="2400" dirty="0"/>
          </a:p>
          <a:p>
            <a:pPr>
              <a:lnSpc>
                <a:spcPct val="150000"/>
              </a:lnSpc>
            </a:pPr>
            <a:r>
              <a:rPr lang="ko-KR" altLang="en-US" sz="2400" dirty="0"/>
              <a:t>현재 실행중인 </a:t>
            </a:r>
            <a:r>
              <a:rPr lang="ko-KR" altLang="en-US" sz="2400" dirty="0" smtClean="0"/>
              <a:t>프로세스들의 </a:t>
            </a:r>
            <a:r>
              <a:rPr lang="en-US" altLang="ko-KR" sz="2400" dirty="0"/>
              <a:t>PID</a:t>
            </a:r>
            <a:r>
              <a:rPr lang="ko-KR" altLang="en-US" sz="2400" dirty="0"/>
              <a:t>와 같은 이름의 </a:t>
            </a:r>
            <a:r>
              <a:rPr lang="ko-KR" altLang="en-US" sz="2400" dirty="0" smtClean="0"/>
              <a:t>디렉터리가 생성됨</a:t>
            </a:r>
            <a:endParaRPr lang="en-US" altLang="ko-KR" sz="2400" dirty="0"/>
          </a:p>
          <a:p>
            <a:pPr>
              <a:lnSpc>
                <a:spcPct val="150000"/>
              </a:lnSpc>
            </a:pPr>
            <a:r>
              <a:rPr lang="ko-KR" altLang="en-US" sz="2400" dirty="0"/>
              <a:t>가상의</a:t>
            </a:r>
            <a:r>
              <a:rPr lang="en-US" altLang="ko-KR" sz="2400" dirty="0"/>
              <a:t> </a:t>
            </a:r>
            <a:r>
              <a:rPr lang="ko-KR" altLang="en-US" sz="2400" dirty="0" smtClean="0"/>
              <a:t>디렉터리로서</a:t>
            </a:r>
            <a:r>
              <a:rPr lang="en-US" altLang="ko-KR" sz="2400" dirty="0" smtClean="0"/>
              <a:t> </a:t>
            </a:r>
            <a:r>
              <a:rPr lang="ko-KR" altLang="en-US" sz="2400" dirty="0"/>
              <a:t>실제</a:t>
            </a:r>
            <a:r>
              <a:rPr lang="en-US" altLang="ko-KR" sz="2400" dirty="0"/>
              <a:t> </a:t>
            </a:r>
            <a:r>
              <a:rPr lang="ko-KR" altLang="en-US" sz="2400" dirty="0"/>
              <a:t>디스크에는</a:t>
            </a:r>
            <a:r>
              <a:rPr lang="en-US" altLang="ko-KR" sz="2400" dirty="0"/>
              <a:t> </a:t>
            </a:r>
            <a:r>
              <a:rPr lang="ko-KR" altLang="en-US" sz="2400" dirty="0"/>
              <a:t>존재하지않음</a:t>
            </a:r>
          </a:p>
        </p:txBody>
      </p:sp>
    </p:spTree>
    <p:extLst>
      <p:ext uri="{BB962C8B-B14F-4D97-AF65-F5344CB8AC3E}">
        <p14:creationId xmlns:p14="http://schemas.microsoft.com/office/powerpoint/2010/main" val="10427166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>
            <a:extLst>
              <a:ext uri="{FF2B5EF4-FFF2-40B4-BE49-F238E27FC236}">
                <a16:creationId xmlns:a16="http://schemas.microsoft.com/office/drawing/2014/main" id="{73388DF1-2BF6-4D3C-A3DE-E2A9935E82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1116" y="710571"/>
            <a:ext cx="9649767" cy="4052762"/>
          </a:xfrm>
          <a:prstGeom prst="rect">
            <a:avLst/>
          </a:prstGeom>
        </p:spPr>
      </p:pic>
      <p:sp>
        <p:nvSpPr>
          <p:cNvPr id="2" name="타원 1">
            <a:extLst>
              <a:ext uri="{FF2B5EF4-FFF2-40B4-BE49-F238E27FC236}">
                <a16:creationId xmlns:a16="http://schemas.microsoft.com/office/drawing/2014/main" id="{A08542B0-B931-4C79-B278-F87913DD1043}"/>
              </a:ext>
            </a:extLst>
          </p:cNvPr>
          <p:cNvSpPr/>
          <p:nvPr/>
        </p:nvSpPr>
        <p:spPr>
          <a:xfrm>
            <a:off x="3682720" y="2351313"/>
            <a:ext cx="994787" cy="994787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C3912B1-7103-41FC-A831-C8984FC4E2D9}"/>
              </a:ext>
            </a:extLst>
          </p:cNvPr>
          <p:cNvSpPr txBox="1"/>
          <p:nvPr/>
        </p:nvSpPr>
        <p:spPr>
          <a:xfrm>
            <a:off x="1050053" y="4632711"/>
            <a:ext cx="1027444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디바이스 드라이버들과 관련된 파일들을 </a:t>
            </a:r>
            <a:r>
              <a:rPr lang="ko-KR" altLang="en-US" sz="2400" dirty="0" smtClean="0"/>
              <a:t>저장하는 </a:t>
            </a:r>
            <a:r>
              <a:rPr lang="ko-KR" altLang="en-US" sz="2400" dirty="0"/>
              <a:t>디렉터리</a:t>
            </a:r>
          </a:p>
          <a:p>
            <a:pPr>
              <a:lnSpc>
                <a:spcPct val="150000"/>
              </a:lnSpc>
            </a:pPr>
            <a:r>
              <a:rPr lang="ko-KR" altLang="en-US" sz="2400" dirty="0"/>
              <a:t>모든 하드웨어는 이 디렉터리에 있는 파일을 통해 접근 가능</a:t>
            </a:r>
          </a:p>
        </p:txBody>
      </p:sp>
    </p:spTree>
    <p:extLst>
      <p:ext uri="{BB962C8B-B14F-4D97-AF65-F5344CB8AC3E}">
        <p14:creationId xmlns:p14="http://schemas.microsoft.com/office/powerpoint/2010/main" val="7732566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43368D0-737E-43E1-85FC-E2062A108C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/dev</a:t>
            </a:r>
            <a:endParaRPr lang="ko-KR" dirty="0"/>
          </a:p>
        </p:txBody>
      </p:sp>
      <p:sp>
        <p:nvSpPr>
          <p:cNvPr id="12" name="내용 개체 틀 2">
            <a:extLst>
              <a:ext uri="{FF2B5EF4-FFF2-40B4-BE49-F238E27FC236}">
                <a16:creationId xmlns:a16="http://schemas.microsoft.com/office/drawing/2014/main" id="{FFD8B260-E198-4EAA-97E5-5ABB8817F61B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dirty="0">
                <a:ea typeface="+mn-lt"/>
                <a:cs typeface="+mn-lt"/>
              </a:rPr>
              <a:t>리눅스에서 장치들을 관리하기 위한 특별한 </a:t>
            </a:r>
            <a:r>
              <a:rPr lang="ko-KR" altLang="en-US" dirty="0" smtClean="0">
                <a:ea typeface="+mn-lt"/>
                <a:cs typeface="+mn-lt"/>
              </a:rPr>
              <a:t>디렉터리이다</a:t>
            </a:r>
            <a:r>
              <a:rPr lang="en-US" altLang="ko-KR" dirty="0">
                <a:ea typeface="+mn-lt"/>
                <a:cs typeface="+mn-lt"/>
              </a:rPr>
              <a:t>.</a:t>
            </a:r>
          </a:p>
          <a:p>
            <a:pPr marL="0" indent="0">
              <a:buNone/>
            </a:pPr>
            <a:endParaRPr lang="en-US" altLang="ko-KR" dirty="0">
              <a:ea typeface="+mn-lt"/>
              <a:cs typeface="+mn-lt"/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ko-KR" altLang="en-US" dirty="0">
                <a:ea typeface="+mn-lt"/>
                <a:cs typeface="+mn-lt"/>
                <a:sym typeface="Wingdings" panose="05000000000000000000" pitchFamily="2" charset="2"/>
              </a:rPr>
              <a:t>노드라고 불리는 요소를 </a:t>
            </a:r>
            <a:r>
              <a:rPr lang="ko-KR" altLang="en-US" dirty="0" smtClean="0">
                <a:ea typeface="+mn-lt"/>
                <a:cs typeface="+mn-lt"/>
                <a:sym typeface="Wingdings" panose="05000000000000000000" pitchFamily="2" charset="2"/>
              </a:rPr>
              <a:t>디렉터리로 </a:t>
            </a:r>
            <a:r>
              <a:rPr lang="ko-KR" altLang="en-US" dirty="0">
                <a:ea typeface="+mn-lt"/>
                <a:cs typeface="+mn-lt"/>
                <a:sym typeface="Wingdings" panose="05000000000000000000" pitchFamily="2" charset="2"/>
              </a:rPr>
              <a:t>표현하며</a:t>
            </a:r>
            <a:endParaRPr lang="en-US" altLang="ko-KR" dirty="0">
              <a:ea typeface="+mn-lt"/>
              <a:cs typeface="+mn-lt"/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ko-KR" altLang="en-US" dirty="0">
                <a:ea typeface="+mn-lt"/>
                <a:cs typeface="+mn-lt"/>
                <a:sym typeface="Wingdings" panose="05000000000000000000" pitchFamily="2" charset="2"/>
              </a:rPr>
              <a:t>이 노드는 실제 하드웨어 장치일 수도</a:t>
            </a:r>
            <a:r>
              <a:rPr lang="en-US" altLang="ko-KR" dirty="0">
                <a:ea typeface="+mn-lt"/>
                <a:cs typeface="+mn-lt"/>
                <a:sym typeface="Wingdings" panose="05000000000000000000" pitchFamily="2" charset="2"/>
              </a:rPr>
              <a:t> </a:t>
            </a:r>
            <a:r>
              <a:rPr lang="ko-KR" altLang="en-US" dirty="0">
                <a:ea typeface="+mn-lt"/>
                <a:cs typeface="+mn-lt"/>
                <a:sym typeface="Wingdings" panose="05000000000000000000" pitchFamily="2" charset="2"/>
              </a:rPr>
              <a:t>있고</a:t>
            </a:r>
            <a:endParaRPr lang="en-US" altLang="ko-KR" dirty="0">
              <a:ea typeface="+mn-lt"/>
              <a:cs typeface="+mn-lt"/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ko-KR" altLang="en-US" dirty="0">
                <a:ea typeface="+mn-lt"/>
                <a:cs typeface="+mn-lt"/>
                <a:sym typeface="Wingdings" panose="05000000000000000000" pitchFamily="2" charset="2"/>
              </a:rPr>
              <a:t>가상</a:t>
            </a:r>
            <a:r>
              <a:rPr lang="en-US" altLang="ko-KR" dirty="0">
                <a:ea typeface="+mn-lt"/>
                <a:cs typeface="+mn-lt"/>
                <a:sym typeface="Wingdings" panose="05000000000000000000" pitchFamily="2" charset="2"/>
              </a:rPr>
              <a:t>(pseudo)</a:t>
            </a:r>
            <a:r>
              <a:rPr lang="ko-KR" altLang="en-US" dirty="0">
                <a:ea typeface="+mn-lt"/>
                <a:cs typeface="+mn-lt"/>
                <a:sym typeface="Wingdings" panose="05000000000000000000" pitchFamily="2" charset="2"/>
              </a:rPr>
              <a:t> 장치일 수도 있다</a:t>
            </a:r>
            <a:r>
              <a:rPr lang="en-US" altLang="ko-KR" dirty="0">
                <a:ea typeface="+mn-lt"/>
                <a:cs typeface="+mn-lt"/>
                <a:sym typeface="Wingdings" panose="05000000000000000000" pitchFamily="2" charset="2"/>
              </a:rPr>
              <a:t>.</a:t>
            </a:r>
          </a:p>
          <a:p>
            <a:pPr marL="0" indent="0">
              <a:buNone/>
            </a:pPr>
            <a:endParaRPr lang="en-US" altLang="ko-KR" dirty="0">
              <a:ea typeface="+mn-lt"/>
              <a:cs typeface="+mn-lt"/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ko-KR" altLang="en-US" dirty="0">
                <a:ea typeface="+mn-lt"/>
                <a:cs typeface="+mn-lt"/>
                <a:sym typeface="Wingdings" panose="05000000000000000000" pitchFamily="2" charset="2"/>
              </a:rPr>
              <a:t>장치와의 입출력 연동을 편리하게 하기 위함으로 사용된다</a:t>
            </a:r>
            <a:r>
              <a:rPr lang="en-US" altLang="ko-KR" dirty="0">
                <a:ea typeface="+mn-lt"/>
                <a:cs typeface="+mn-lt"/>
                <a:sym typeface="Wingdings" panose="05000000000000000000" pitchFamily="2" charset="2"/>
              </a:rPr>
              <a:t>.</a:t>
            </a:r>
            <a:endParaRPr lang="en-US" altLang="ko-KR" dirty="0"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8945601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43368D0-737E-43E1-85FC-E2062A108C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/dev </a:t>
            </a:r>
            <a:r>
              <a:rPr lang="ko-KR" altLang="en-US" dirty="0"/>
              <a:t>장치 종류</a:t>
            </a:r>
            <a:endParaRPr lang="ko-KR" dirty="0"/>
          </a:p>
        </p:txBody>
      </p:sp>
      <p:sp>
        <p:nvSpPr>
          <p:cNvPr id="12" name="내용 개체 틀 2">
            <a:extLst>
              <a:ext uri="{FF2B5EF4-FFF2-40B4-BE49-F238E27FC236}">
                <a16:creationId xmlns:a16="http://schemas.microsoft.com/office/drawing/2014/main" id="{FFD8B260-E198-4EAA-97E5-5ABB8817F61B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dirty="0">
                <a:ea typeface="+mn-lt"/>
                <a:cs typeface="+mn-lt"/>
              </a:rPr>
              <a:t>가장 일반적인 장치 종류에는 다음과 같은 것이 있다</a:t>
            </a:r>
            <a:r>
              <a:rPr lang="en-US" altLang="ko-KR" dirty="0">
                <a:ea typeface="+mn-lt"/>
                <a:cs typeface="+mn-lt"/>
              </a:rPr>
              <a:t>.</a:t>
            </a:r>
          </a:p>
          <a:p>
            <a:pPr marL="0" indent="0">
              <a:buNone/>
            </a:pPr>
            <a:endParaRPr lang="en-US" altLang="ko-KR" dirty="0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altLang="ko-KR" dirty="0" err="1">
                <a:ea typeface="+mn-lt"/>
                <a:cs typeface="+mn-lt"/>
              </a:rPr>
              <a:t>cdrom</a:t>
            </a:r>
            <a:r>
              <a:rPr lang="en-US" altLang="ko-KR" dirty="0">
                <a:ea typeface="+mn-lt"/>
                <a:cs typeface="+mn-lt"/>
              </a:rPr>
              <a:t> : CD, DVD-ROM </a:t>
            </a:r>
            <a:r>
              <a:rPr lang="ko-KR" altLang="en-US" dirty="0">
                <a:ea typeface="+mn-lt"/>
                <a:cs typeface="+mn-lt"/>
              </a:rPr>
              <a:t>드라이브</a:t>
            </a:r>
          </a:p>
          <a:p>
            <a:pPr marL="0" indent="0">
              <a:buNone/>
            </a:pPr>
            <a:r>
              <a:rPr lang="en-US" altLang="ko-KR" dirty="0" err="1">
                <a:ea typeface="+mn-lt"/>
                <a:cs typeface="+mn-lt"/>
              </a:rPr>
              <a:t>fd</a:t>
            </a:r>
            <a:r>
              <a:rPr lang="en-US" altLang="ko-KR" dirty="0">
                <a:ea typeface="+mn-lt"/>
                <a:cs typeface="+mn-lt"/>
              </a:rPr>
              <a:t> : </a:t>
            </a:r>
            <a:r>
              <a:rPr lang="ko-KR" altLang="en-US" dirty="0">
                <a:ea typeface="+mn-lt"/>
                <a:cs typeface="+mn-lt"/>
              </a:rPr>
              <a:t>플로피 디스크 드라이브</a:t>
            </a:r>
            <a:endParaRPr lang="en-US" altLang="ko-KR" dirty="0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altLang="ko-KR" dirty="0" err="1">
                <a:ea typeface="+mn-lt"/>
                <a:cs typeface="+mn-lt"/>
              </a:rPr>
              <a:t>hd</a:t>
            </a:r>
            <a:r>
              <a:rPr lang="en-US" altLang="ko-KR" dirty="0">
                <a:ea typeface="+mn-lt"/>
                <a:cs typeface="+mn-lt"/>
              </a:rPr>
              <a:t> : </a:t>
            </a:r>
            <a:r>
              <a:rPr lang="ko-KR" altLang="en-US" dirty="0">
                <a:ea typeface="+mn-lt"/>
                <a:cs typeface="+mn-lt"/>
              </a:rPr>
              <a:t>하드 드라이브나 </a:t>
            </a:r>
            <a:r>
              <a:rPr lang="en-US" altLang="ko-KR" dirty="0">
                <a:ea typeface="+mn-lt"/>
                <a:cs typeface="+mn-lt"/>
              </a:rPr>
              <a:t>CD-ROM</a:t>
            </a:r>
            <a:r>
              <a:rPr lang="ko-KR" altLang="en-US" dirty="0">
                <a:ea typeface="+mn-lt"/>
                <a:cs typeface="+mn-lt"/>
              </a:rPr>
              <a:t>과 같이 </a:t>
            </a:r>
            <a:r>
              <a:rPr lang="en-US" altLang="ko-KR" dirty="0">
                <a:ea typeface="+mn-lt"/>
                <a:cs typeface="+mn-lt"/>
              </a:rPr>
              <a:t>IDE</a:t>
            </a:r>
            <a:r>
              <a:rPr lang="ko-KR" altLang="en-US" dirty="0">
                <a:ea typeface="+mn-lt"/>
                <a:cs typeface="+mn-lt"/>
              </a:rPr>
              <a:t>로 연결된 장치</a:t>
            </a:r>
            <a:endParaRPr lang="en-US" altLang="ko-KR" dirty="0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altLang="ko-KR" dirty="0">
                <a:ea typeface="+mn-lt"/>
                <a:cs typeface="+mn-lt"/>
              </a:rPr>
              <a:t>md : </a:t>
            </a:r>
            <a:r>
              <a:rPr lang="ko-KR" altLang="en-US" dirty="0">
                <a:ea typeface="+mn-lt"/>
                <a:cs typeface="+mn-lt"/>
              </a:rPr>
              <a:t>하드 드라이브와 같은 메타디스크와 </a:t>
            </a:r>
            <a:r>
              <a:rPr lang="en-US" altLang="ko-KR" dirty="0">
                <a:ea typeface="+mn-lt"/>
                <a:cs typeface="+mn-lt"/>
              </a:rPr>
              <a:t>RAID </a:t>
            </a:r>
            <a:r>
              <a:rPr lang="ko-KR" altLang="en-US" dirty="0">
                <a:ea typeface="+mn-lt"/>
                <a:cs typeface="+mn-lt"/>
              </a:rPr>
              <a:t>장치</a:t>
            </a:r>
          </a:p>
          <a:p>
            <a:pPr marL="0" indent="0">
              <a:buNone/>
            </a:pPr>
            <a:r>
              <a:rPr lang="en-US" altLang="ko-KR" dirty="0">
                <a:ea typeface="+mn-lt"/>
                <a:cs typeface="+mn-lt"/>
              </a:rPr>
              <a:t>ram : RAM </a:t>
            </a:r>
            <a:r>
              <a:rPr lang="ko-KR" altLang="en-US" dirty="0">
                <a:ea typeface="+mn-lt"/>
                <a:cs typeface="+mn-lt"/>
              </a:rPr>
              <a:t>디스크</a:t>
            </a:r>
          </a:p>
          <a:p>
            <a:pPr marL="0" indent="0">
              <a:buNone/>
            </a:pPr>
            <a:r>
              <a:rPr lang="en-US" altLang="ko-KR" dirty="0" err="1">
                <a:ea typeface="+mn-lt"/>
                <a:cs typeface="+mn-lt"/>
              </a:rPr>
              <a:t>sd</a:t>
            </a:r>
            <a:r>
              <a:rPr lang="en-US" altLang="ko-KR" dirty="0">
                <a:ea typeface="+mn-lt"/>
                <a:cs typeface="+mn-lt"/>
              </a:rPr>
              <a:t> : SCSI</a:t>
            </a:r>
            <a:r>
              <a:rPr lang="ko-KR" altLang="en-US" dirty="0">
                <a:ea typeface="+mn-lt"/>
                <a:cs typeface="+mn-lt"/>
              </a:rPr>
              <a:t>로 연결된 대용량 저장 장치</a:t>
            </a:r>
          </a:p>
          <a:p>
            <a:pPr marL="0" indent="0">
              <a:buNone/>
            </a:pPr>
            <a:r>
              <a:rPr lang="en-US" altLang="ko-KR" dirty="0" err="1">
                <a:ea typeface="+mn-lt"/>
                <a:cs typeface="+mn-lt"/>
              </a:rPr>
              <a:t>usb</a:t>
            </a:r>
            <a:r>
              <a:rPr lang="en-US" altLang="ko-KR" dirty="0">
                <a:ea typeface="+mn-lt"/>
                <a:cs typeface="+mn-lt"/>
              </a:rPr>
              <a:t> : USB</a:t>
            </a:r>
            <a:r>
              <a:rPr lang="ko-KR" altLang="en-US" dirty="0">
                <a:ea typeface="+mn-lt"/>
                <a:cs typeface="+mn-lt"/>
              </a:rPr>
              <a:t>로 연결된 장치</a:t>
            </a:r>
          </a:p>
        </p:txBody>
      </p:sp>
    </p:spTree>
    <p:extLst>
      <p:ext uri="{BB962C8B-B14F-4D97-AF65-F5344CB8AC3E}">
        <p14:creationId xmlns:p14="http://schemas.microsoft.com/office/powerpoint/2010/main" val="9373962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43368D0-737E-43E1-85FC-E2062A108C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/dev </a:t>
            </a:r>
            <a:r>
              <a:rPr lang="ko-KR" altLang="en-US" dirty="0"/>
              <a:t>가상장치 종류</a:t>
            </a:r>
            <a:endParaRPr lang="ko-KR" dirty="0"/>
          </a:p>
        </p:txBody>
      </p:sp>
      <p:sp>
        <p:nvSpPr>
          <p:cNvPr id="12" name="내용 개체 틀 2">
            <a:extLst>
              <a:ext uri="{FF2B5EF4-FFF2-40B4-BE49-F238E27FC236}">
                <a16:creationId xmlns:a16="http://schemas.microsoft.com/office/drawing/2014/main" id="{FFD8B260-E198-4EAA-97E5-5ABB8817F61B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b="1" dirty="0">
                <a:ea typeface="+mn-lt"/>
                <a:cs typeface="+mn-lt"/>
              </a:rPr>
              <a:t>/dev/null</a:t>
            </a:r>
          </a:p>
          <a:p>
            <a:pPr marL="0" indent="0">
              <a:buNone/>
            </a:pPr>
            <a:r>
              <a:rPr lang="en-US" altLang="ko-KR" dirty="0">
                <a:ea typeface="+mn-lt"/>
                <a:cs typeface="+mn-lt"/>
              </a:rPr>
              <a:t> </a:t>
            </a:r>
            <a:r>
              <a:rPr lang="en-US" altLang="ko-KR" dirty="0">
                <a:ea typeface="+mn-lt"/>
                <a:cs typeface="+mn-lt"/>
                <a:sym typeface="Wingdings" panose="05000000000000000000" pitchFamily="2" charset="2"/>
              </a:rPr>
              <a:t>  </a:t>
            </a:r>
            <a:r>
              <a:rPr lang="ko-KR" altLang="en-US" dirty="0">
                <a:ea typeface="+mn-lt"/>
                <a:cs typeface="+mn-lt"/>
                <a:sym typeface="Wingdings" panose="05000000000000000000" pitchFamily="2" charset="2"/>
              </a:rPr>
              <a:t>모든 입출력 데이터를 무시해버릴 목적으로 만들어졌다</a:t>
            </a:r>
            <a:r>
              <a:rPr lang="en-US" altLang="ko-KR" dirty="0">
                <a:ea typeface="+mn-lt"/>
                <a:cs typeface="+mn-lt"/>
                <a:sym typeface="Wingdings" panose="05000000000000000000" pitchFamily="2" charset="2"/>
              </a:rPr>
              <a:t>.</a:t>
            </a:r>
          </a:p>
          <a:p>
            <a:pPr marL="0" indent="0">
              <a:buNone/>
            </a:pPr>
            <a:r>
              <a:rPr lang="en-US" altLang="ko-KR" dirty="0">
                <a:ea typeface="+mn-lt"/>
                <a:cs typeface="+mn-lt"/>
                <a:sym typeface="Wingdings" panose="05000000000000000000" pitchFamily="2" charset="2"/>
              </a:rPr>
              <a:t>      </a:t>
            </a:r>
            <a:r>
              <a:rPr lang="ko-KR" altLang="en-US" dirty="0">
                <a:ea typeface="+mn-lt"/>
                <a:cs typeface="+mn-lt"/>
                <a:sym typeface="Wingdings" panose="05000000000000000000" pitchFamily="2" charset="2"/>
              </a:rPr>
              <a:t>그래서 블랙홀이라는 별명이 있다</a:t>
            </a:r>
            <a:r>
              <a:rPr lang="en-US" altLang="ko-KR" dirty="0">
                <a:ea typeface="+mn-lt"/>
                <a:cs typeface="+mn-lt"/>
                <a:sym typeface="Wingdings" panose="05000000000000000000" pitchFamily="2" charset="2"/>
              </a:rPr>
              <a:t>.</a:t>
            </a:r>
          </a:p>
          <a:p>
            <a:pPr marL="0" indent="0">
              <a:buNone/>
            </a:pPr>
            <a:endParaRPr lang="en-US" altLang="ko-KR" dirty="0">
              <a:ea typeface="+mn-lt"/>
              <a:cs typeface="+mn-lt"/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altLang="ko-KR" dirty="0">
                <a:ea typeface="+mn-lt"/>
                <a:cs typeface="+mn-lt"/>
                <a:sym typeface="Wingdings" panose="05000000000000000000" pitchFamily="2" charset="2"/>
              </a:rPr>
              <a:t>      </a:t>
            </a:r>
            <a:r>
              <a:rPr lang="ko-KR" altLang="en-US" dirty="0">
                <a:ea typeface="+mn-lt"/>
                <a:cs typeface="+mn-lt"/>
                <a:sym typeface="Wingdings" panose="05000000000000000000" pitchFamily="2" charset="2"/>
              </a:rPr>
              <a:t>쓰기 </a:t>
            </a:r>
            <a:r>
              <a:rPr lang="ko-KR" altLang="en-US" dirty="0" err="1">
                <a:ea typeface="+mn-lt"/>
                <a:cs typeface="+mn-lt"/>
                <a:sym typeface="Wingdings" panose="05000000000000000000" pitchFamily="2" charset="2"/>
              </a:rPr>
              <a:t>작업시</a:t>
            </a:r>
            <a:r>
              <a:rPr lang="ko-KR" altLang="en-US" dirty="0">
                <a:ea typeface="+mn-lt"/>
                <a:cs typeface="+mn-lt"/>
                <a:sym typeface="Wingdings" panose="05000000000000000000" pitchFamily="2" charset="2"/>
              </a:rPr>
              <a:t> 언제나 성공적으로 완료되며</a:t>
            </a:r>
            <a:endParaRPr lang="en-US" altLang="ko-KR" dirty="0">
              <a:ea typeface="+mn-lt"/>
              <a:cs typeface="+mn-lt"/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altLang="ko-KR" dirty="0">
                <a:ea typeface="+mn-lt"/>
                <a:cs typeface="+mn-lt"/>
                <a:sym typeface="Wingdings" panose="05000000000000000000" pitchFamily="2" charset="2"/>
              </a:rPr>
              <a:t>      </a:t>
            </a:r>
            <a:r>
              <a:rPr lang="ko-KR" altLang="en-US" dirty="0">
                <a:ea typeface="+mn-lt"/>
                <a:cs typeface="+mn-lt"/>
                <a:sym typeface="Wingdings" panose="05000000000000000000" pitchFamily="2" charset="2"/>
              </a:rPr>
              <a:t>읽기 </a:t>
            </a:r>
            <a:r>
              <a:rPr lang="ko-KR" altLang="en-US" dirty="0" err="1">
                <a:ea typeface="+mn-lt"/>
                <a:cs typeface="+mn-lt"/>
                <a:sym typeface="Wingdings" panose="05000000000000000000" pitchFamily="2" charset="2"/>
              </a:rPr>
              <a:t>작업시</a:t>
            </a:r>
            <a:r>
              <a:rPr lang="ko-KR" altLang="en-US" dirty="0">
                <a:ea typeface="+mn-lt"/>
                <a:cs typeface="+mn-lt"/>
                <a:sym typeface="Wingdings" panose="05000000000000000000" pitchFamily="2" charset="2"/>
              </a:rPr>
              <a:t> 아무 데이터도 넘어오지 않는다</a:t>
            </a:r>
            <a:r>
              <a:rPr lang="en-US" altLang="ko-KR" dirty="0">
                <a:ea typeface="+mn-lt"/>
                <a:cs typeface="+mn-lt"/>
                <a:sym typeface="Wingdings" panose="05000000000000000000" pitchFamily="2" charset="2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014620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43368D0-737E-43E1-85FC-E2062A108C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/dev </a:t>
            </a:r>
            <a:r>
              <a:rPr lang="ko-KR" altLang="en-US" dirty="0"/>
              <a:t>가상장치 종류</a:t>
            </a:r>
            <a:endParaRPr lang="ko-KR" dirty="0"/>
          </a:p>
        </p:txBody>
      </p:sp>
      <p:sp>
        <p:nvSpPr>
          <p:cNvPr id="12" name="내용 개체 틀 2">
            <a:extLst>
              <a:ext uri="{FF2B5EF4-FFF2-40B4-BE49-F238E27FC236}">
                <a16:creationId xmlns:a16="http://schemas.microsoft.com/office/drawing/2014/main" id="{FFD8B260-E198-4EAA-97E5-5ABB8817F61B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76609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b="1" dirty="0">
                <a:ea typeface="+mn-lt"/>
                <a:cs typeface="+mn-lt"/>
              </a:rPr>
              <a:t>/dev/full</a:t>
            </a:r>
          </a:p>
          <a:p>
            <a:pPr marL="0" indent="0">
              <a:buNone/>
            </a:pPr>
            <a:r>
              <a:rPr lang="en-US" altLang="ko-KR" dirty="0">
                <a:ea typeface="+mn-lt"/>
                <a:cs typeface="+mn-lt"/>
              </a:rPr>
              <a:t> </a:t>
            </a:r>
            <a:r>
              <a:rPr lang="en-US" altLang="ko-KR" dirty="0">
                <a:ea typeface="+mn-lt"/>
                <a:cs typeface="+mn-lt"/>
                <a:sym typeface="Wingdings" panose="05000000000000000000" pitchFamily="2" charset="2"/>
              </a:rPr>
              <a:t>  </a:t>
            </a:r>
            <a:r>
              <a:rPr lang="ko-KR" altLang="en-US" dirty="0">
                <a:ea typeface="+mn-lt"/>
                <a:cs typeface="+mn-lt"/>
                <a:sym typeface="Wingdings" panose="05000000000000000000" pitchFamily="2" charset="2"/>
              </a:rPr>
              <a:t>항상 꽉 찬 것으로 간주되는 가상 디바이스</a:t>
            </a:r>
            <a:endParaRPr lang="en-US" altLang="ko-KR" dirty="0">
              <a:ea typeface="+mn-lt"/>
              <a:cs typeface="+mn-lt"/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altLang="ko-KR" dirty="0">
                <a:ea typeface="+mn-lt"/>
                <a:cs typeface="+mn-lt"/>
                <a:sym typeface="Wingdings" panose="05000000000000000000" pitchFamily="2" charset="2"/>
              </a:rPr>
              <a:t>      </a:t>
            </a:r>
          </a:p>
          <a:p>
            <a:pPr marL="0" indent="0">
              <a:buNone/>
            </a:pPr>
            <a:r>
              <a:rPr lang="ko-KR" altLang="en-US" dirty="0">
                <a:ea typeface="+mn-lt"/>
                <a:cs typeface="+mn-lt"/>
                <a:sym typeface="Wingdings" panose="05000000000000000000" pitchFamily="2" charset="2"/>
              </a:rPr>
              <a:t>쓰기 시에는 에러가 </a:t>
            </a:r>
            <a:r>
              <a:rPr lang="ko-KR" altLang="en-US" dirty="0" err="1">
                <a:ea typeface="+mn-lt"/>
                <a:cs typeface="+mn-lt"/>
                <a:sym typeface="Wingdings" panose="05000000000000000000" pitchFamily="2" charset="2"/>
              </a:rPr>
              <a:t>리턴되고</a:t>
            </a:r>
            <a:endParaRPr lang="en-US" altLang="ko-KR" dirty="0">
              <a:ea typeface="+mn-lt"/>
              <a:cs typeface="+mn-lt"/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ko-KR" altLang="en-US" dirty="0">
                <a:ea typeface="+mn-lt"/>
                <a:cs typeface="+mn-lt"/>
                <a:sym typeface="Wingdings" panose="05000000000000000000" pitchFamily="2" charset="2"/>
              </a:rPr>
              <a:t>읽을 때는 널 문자가 무한히 </a:t>
            </a:r>
            <a:r>
              <a:rPr lang="ko-KR" altLang="en-US" dirty="0" err="1">
                <a:ea typeface="+mn-lt"/>
                <a:cs typeface="+mn-lt"/>
                <a:sym typeface="Wingdings" panose="05000000000000000000" pitchFamily="2" charset="2"/>
              </a:rPr>
              <a:t>리턴된다</a:t>
            </a:r>
            <a:r>
              <a:rPr lang="en-US" altLang="ko-KR" dirty="0">
                <a:ea typeface="+mn-lt"/>
                <a:cs typeface="+mn-lt"/>
                <a:sym typeface="Wingdings" panose="05000000000000000000" pitchFamily="2" charset="2"/>
              </a:rPr>
              <a:t>.</a:t>
            </a:r>
          </a:p>
          <a:p>
            <a:pPr marL="0" indent="0">
              <a:buNone/>
            </a:pPr>
            <a:endParaRPr lang="en-US" altLang="ko-KR" dirty="0">
              <a:ea typeface="+mn-lt"/>
              <a:cs typeface="+mn-lt"/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ko-KR" altLang="en-US" dirty="0">
                <a:ea typeface="+mn-lt"/>
                <a:cs typeface="+mn-lt"/>
                <a:sym typeface="Wingdings" panose="05000000000000000000" pitchFamily="2" charset="2"/>
              </a:rPr>
              <a:t>프로그래머 또는 관리자에게 의도적인 에러를 유발하는 작업을 제공하는 것이 목적</a:t>
            </a:r>
            <a:endParaRPr lang="en-US" altLang="ko-KR" dirty="0">
              <a:ea typeface="+mn-lt"/>
              <a:cs typeface="+mn-lt"/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3704616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43368D0-737E-43E1-85FC-E2062A108C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/dev </a:t>
            </a:r>
            <a:r>
              <a:rPr lang="ko-KR" altLang="en-US" dirty="0"/>
              <a:t>가상장치 종류</a:t>
            </a:r>
            <a:endParaRPr lang="ko-KR" dirty="0"/>
          </a:p>
        </p:txBody>
      </p:sp>
      <p:sp>
        <p:nvSpPr>
          <p:cNvPr id="12" name="내용 개체 틀 2">
            <a:extLst>
              <a:ext uri="{FF2B5EF4-FFF2-40B4-BE49-F238E27FC236}">
                <a16:creationId xmlns:a16="http://schemas.microsoft.com/office/drawing/2014/main" id="{FFD8B260-E198-4EAA-97E5-5ABB8817F61B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76609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b="1" dirty="0">
                <a:ea typeface="+mn-lt"/>
                <a:cs typeface="+mn-lt"/>
              </a:rPr>
              <a:t>/dev/zero</a:t>
            </a:r>
          </a:p>
          <a:p>
            <a:pPr marL="0" indent="0">
              <a:buNone/>
            </a:pPr>
            <a:r>
              <a:rPr lang="en-US" altLang="ko-KR" dirty="0">
                <a:ea typeface="+mn-lt"/>
                <a:cs typeface="+mn-lt"/>
              </a:rPr>
              <a:t> </a:t>
            </a:r>
            <a:r>
              <a:rPr lang="en-US" altLang="ko-KR" dirty="0">
                <a:ea typeface="+mn-lt"/>
                <a:cs typeface="+mn-lt"/>
                <a:sym typeface="Wingdings" panose="05000000000000000000" pitchFamily="2" charset="2"/>
              </a:rPr>
              <a:t>  /dev/null </a:t>
            </a:r>
            <a:r>
              <a:rPr lang="ko-KR" altLang="en-US" dirty="0">
                <a:ea typeface="+mn-lt"/>
                <a:cs typeface="+mn-lt"/>
                <a:sym typeface="Wingdings" panose="05000000000000000000" pitchFamily="2" charset="2"/>
              </a:rPr>
              <a:t>디바이스와 비슷하지만</a:t>
            </a:r>
            <a:endParaRPr lang="en-US" altLang="ko-KR" dirty="0">
              <a:ea typeface="+mn-lt"/>
              <a:cs typeface="+mn-lt"/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altLang="ko-KR" dirty="0">
                <a:ea typeface="+mn-lt"/>
                <a:cs typeface="+mn-lt"/>
                <a:sym typeface="Wingdings" panose="05000000000000000000" pitchFamily="2" charset="2"/>
              </a:rPr>
              <a:t>     </a:t>
            </a:r>
            <a:r>
              <a:rPr lang="ko-KR" altLang="en-US" dirty="0">
                <a:ea typeface="+mn-lt"/>
                <a:cs typeface="+mn-lt"/>
                <a:sym typeface="Wingdings" panose="05000000000000000000" pitchFamily="2" charset="2"/>
              </a:rPr>
              <a:t>읽기 시에 </a:t>
            </a:r>
            <a:r>
              <a:rPr lang="en-US" altLang="ko-KR" dirty="0">
                <a:ea typeface="+mn-lt"/>
                <a:cs typeface="+mn-lt"/>
                <a:sym typeface="Wingdings" panose="05000000000000000000" pitchFamily="2" charset="2"/>
              </a:rPr>
              <a:t>null </a:t>
            </a:r>
            <a:r>
              <a:rPr lang="ko-KR" altLang="en-US" dirty="0">
                <a:ea typeface="+mn-lt"/>
                <a:cs typeface="+mn-lt"/>
                <a:sym typeface="Wingdings" panose="05000000000000000000" pitchFamily="2" charset="2"/>
              </a:rPr>
              <a:t>문자를 무한히 </a:t>
            </a:r>
            <a:r>
              <a:rPr lang="ko-KR" altLang="en-US" dirty="0" err="1">
                <a:ea typeface="+mn-lt"/>
                <a:cs typeface="+mn-lt"/>
                <a:sym typeface="Wingdings" panose="05000000000000000000" pitchFamily="2" charset="2"/>
              </a:rPr>
              <a:t>리턴한다</a:t>
            </a:r>
            <a:r>
              <a:rPr lang="en-US" altLang="ko-KR" dirty="0">
                <a:ea typeface="+mn-lt"/>
                <a:cs typeface="+mn-lt"/>
                <a:sym typeface="Wingdings" panose="05000000000000000000" pitchFamily="2" charset="2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273105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43368D0-737E-43E1-85FC-E2062A108C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/dev </a:t>
            </a:r>
            <a:r>
              <a:rPr lang="ko-KR" altLang="en-US" dirty="0"/>
              <a:t>가상장치 종류</a:t>
            </a:r>
            <a:endParaRPr lang="ko-KR" dirty="0"/>
          </a:p>
        </p:txBody>
      </p:sp>
      <p:sp>
        <p:nvSpPr>
          <p:cNvPr id="12" name="내용 개체 틀 2">
            <a:extLst>
              <a:ext uri="{FF2B5EF4-FFF2-40B4-BE49-F238E27FC236}">
                <a16:creationId xmlns:a16="http://schemas.microsoft.com/office/drawing/2014/main" id="{FFD8B260-E198-4EAA-97E5-5ABB8817F61B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766094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70000" lnSpcReduction="20000"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b="1" dirty="0">
                <a:ea typeface="+mn-lt"/>
                <a:cs typeface="+mn-lt"/>
              </a:rPr>
              <a:t>/dev/random</a:t>
            </a:r>
          </a:p>
          <a:p>
            <a:pPr marL="0" indent="0">
              <a:buNone/>
            </a:pPr>
            <a:r>
              <a:rPr lang="en-US" altLang="ko-KR" dirty="0">
                <a:ea typeface="+mn-lt"/>
                <a:cs typeface="+mn-lt"/>
              </a:rPr>
              <a:t> </a:t>
            </a:r>
            <a:r>
              <a:rPr lang="en-US" altLang="ko-KR" dirty="0">
                <a:ea typeface="+mn-lt"/>
                <a:cs typeface="+mn-lt"/>
                <a:sym typeface="Wingdings" panose="05000000000000000000" pitchFamily="2" charset="2"/>
              </a:rPr>
              <a:t>  </a:t>
            </a:r>
            <a:r>
              <a:rPr lang="ko-KR" altLang="en-US" dirty="0">
                <a:ea typeface="+mn-lt"/>
                <a:cs typeface="+mn-lt"/>
                <a:sym typeface="Wingdings" panose="05000000000000000000" pitchFamily="2" charset="2"/>
              </a:rPr>
              <a:t>난수 발생기</a:t>
            </a:r>
            <a:endParaRPr lang="en-US" altLang="ko-KR" dirty="0">
              <a:ea typeface="+mn-lt"/>
              <a:cs typeface="+mn-lt"/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US" altLang="ko-KR" dirty="0">
              <a:ea typeface="+mn-lt"/>
              <a:cs typeface="+mn-lt"/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altLang="ko-KR" dirty="0">
                <a:ea typeface="+mn-lt"/>
                <a:cs typeface="+mn-lt"/>
                <a:sym typeface="Wingdings" panose="05000000000000000000" pitchFamily="2" charset="2"/>
              </a:rPr>
              <a:t>IO</a:t>
            </a:r>
            <a:r>
              <a:rPr lang="ko-KR" altLang="en-US" dirty="0">
                <a:ea typeface="+mn-lt"/>
                <a:cs typeface="+mn-lt"/>
                <a:sym typeface="Wingdings" panose="05000000000000000000" pitchFamily="2" charset="2"/>
              </a:rPr>
              <a:t> 디바이스 드라이버에서 발생하는</a:t>
            </a:r>
            <a:endParaRPr lang="en-US" altLang="ko-KR" dirty="0">
              <a:ea typeface="+mn-lt"/>
              <a:cs typeface="+mn-lt"/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ko-KR" altLang="en-US" dirty="0">
                <a:ea typeface="+mn-lt"/>
                <a:cs typeface="+mn-lt"/>
                <a:sym typeface="Wingdings" panose="05000000000000000000" pitchFamily="2" charset="2"/>
              </a:rPr>
              <a:t>입력 신호의 노이즈를 수집해서 비트연산 후 난수를 발생시킨다</a:t>
            </a:r>
            <a:r>
              <a:rPr lang="en-US" altLang="ko-KR" dirty="0">
                <a:ea typeface="+mn-lt"/>
                <a:cs typeface="+mn-lt"/>
                <a:sym typeface="Wingdings" panose="05000000000000000000" pitchFamily="2" charset="2"/>
              </a:rPr>
              <a:t>.</a:t>
            </a:r>
          </a:p>
          <a:p>
            <a:pPr marL="0" indent="0">
              <a:buNone/>
            </a:pPr>
            <a:r>
              <a:rPr lang="ko-KR" altLang="en-US" dirty="0">
                <a:ea typeface="+mn-lt"/>
                <a:cs typeface="+mn-lt"/>
                <a:sym typeface="Wingdings" panose="05000000000000000000" pitchFamily="2" charset="2"/>
              </a:rPr>
              <a:t>노이즈가 수집된 정도를 엔트로피라고 한다</a:t>
            </a:r>
            <a:r>
              <a:rPr lang="en-US" altLang="ko-KR" dirty="0">
                <a:ea typeface="+mn-lt"/>
                <a:cs typeface="+mn-lt"/>
                <a:sym typeface="Wingdings" panose="05000000000000000000" pitchFamily="2" charset="2"/>
              </a:rPr>
              <a:t>. (</a:t>
            </a:r>
            <a:r>
              <a:rPr lang="ko-KR" altLang="en-US" dirty="0">
                <a:ea typeface="+mn-lt"/>
                <a:cs typeface="+mn-lt"/>
                <a:sym typeface="Wingdings" panose="05000000000000000000" pitchFamily="2" charset="2"/>
              </a:rPr>
              <a:t>키보드나 마우스 입력 시 엔트로피 풀에 입력</a:t>
            </a:r>
            <a:r>
              <a:rPr lang="en-US" altLang="ko-KR" dirty="0">
                <a:ea typeface="+mn-lt"/>
                <a:cs typeface="+mn-lt"/>
                <a:sym typeface="Wingdings" panose="05000000000000000000" pitchFamily="2" charset="2"/>
              </a:rPr>
              <a:t>)</a:t>
            </a:r>
          </a:p>
          <a:p>
            <a:pPr marL="0" indent="0">
              <a:buNone/>
            </a:pPr>
            <a:endParaRPr lang="en-US" altLang="ko-KR" dirty="0">
              <a:ea typeface="+mn-lt"/>
              <a:cs typeface="+mn-lt"/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ko-KR" altLang="en-US" dirty="0">
                <a:ea typeface="+mn-lt"/>
                <a:cs typeface="+mn-lt"/>
                <a:sym typeface="Wingdings" panose="05000000000000000000" pitchFamily="2" charset="2"/>
              </a:rPr>
              <a:t>해당 장치는 엔트로피를 사용하여 난수를 생성해낸다</a:t>
            </a:r>
            <a:r>
              <a:rPr lang="en-US" altLang="ko-KR" dirty="0">
                <a:ea typeface="+mn-lt"/>
                <a:cs typeface="+mn-lt"/>
                <a:sym typeface="Wingdings" panose="05000000000000000000" pitchFamily="2" charset="2"/>
              </a:rPr>
              <a:t>.</a:t>
            </a:r>
          </a:p>
          <a:p>
            <a:pPr marL="0" indent="0">
              <a:buNone/>
            </a:pPr>
            <a:r>
              <a:rPr lang="ko-KR" altLang="en-US" dirty="0">
                <a:ea typeface="+mn-lt"/>
                <a:cs typeface="+mn-lt"/>
                <a:sym typeface="Wingdings" panose="05000000000000000000" pitchFamily="2" charset="2"/>
              </a:rPr>
              <a:t>즉 사용할 때마다 엔트로피는 내려간다</a:t>
            </a:r>
            <a:r>
              <a:rPr lang="en-US" altLang="ko-KR" dirty="0">
                <a:ea typeface="+mn-lt"/>
                <a:cs typeface="+mn-lt"/>
                <a:sym typeface="Wingdings" panose="05000000000000000000" pitchFamily="2" charset="2"/>
              </a:rPr>
              <a:t>.</a:t>
            </a:r>
          </a:p>
          <a:p>
            <a:pPr marL="0" indent="0">
              <a:buNone/>
            </a:pPr>
            <a:endParaRPr lang="en-US" altLang="ko-KR" dirty="0">
              <a:ea typeface="+mn-lt"/>
              <a:cs typeface="+mn-lt"/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ko-KR" altLang="en-US" dirty="0">
                <a:ea typeface="+mn-lt"/>
                <a:cs typeface="+mn-lt"/>
                <a:sym typeface="Wingdings" panose="05000000000000000000" pitchFamily="2" charset="2"/>
              </a:rPr>
              <a:t>따라서 서버 쪽 환경에서는 키보드나 마우스와 같은</a:t>
            </a:r>
            <a:endParaRPr lang="en-US" altLang="ko-KR" dirty="0">
              <a:ea typeface="+mn-lt"/>
              <a:cs typeface="+mn-lt"/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altLang="ko-KR" dirty="0">
                <a:ea typeface="+mn-lt"/>
                <a:cs typeface="+mn-lt"/>
                <a:sym typeface="Wingdings" panose="05000000000000000000" pitchFamily="2" charset="2"/>
              </a:rPr>
              <a:t>IO </a:t>
            </a:r>
            <a:r>
              <a:rPr lang="ko-KR" altLang="en-US" dirty="0">
                <a:ea typeface="+mn-lt"/>
                <a:cs typeface="+mn-lt"/>
                <a:sym typeface="Wingdings" panose="05000000000000000000" pitchFamily="2" charset="2"/>
              </a:rPr>
              <a:t>디바이스가 없기 때문에 엔트로피 수치가 부족하여</a:t>
            </a:r>
            <a:endParaRPr lang="en-US" altLang="ko-KR" dirty="0">
              <a:ea typeface="+mn-lt"/>
              <a:cs typeface="+mn-lt"/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ko-KR" altLang="en-US" dirty="0">
                <a:ea typeface="+mn-lt"/>
                <a:cs typeface="+mn-lt"/>
                <a:sym typeface="Wingdings" panose="05000000000000000000" pitchFamily="2" charset="2"/>
              </a:rPr>
              <a:t>엔트로피 풀에 쌓일 때까지 대기하게 되면서</a:t>
            </a:r>
            <a:endParaRPr lang="en-US" altLang="ko-KR" dirty="0">
              <a:ea typeface="+mn-lt"/>
              <a:cs typeface="+mn-lt"/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ko-KR" altLang="en-US" dirty="0">
                <a:ea typeface="+mn-lt"/>
                <a:cs typeface="+mn-lt"/>
                <a:sym typeface="Wingdings" panose="05000000000000000000" pitchFamily="2" charset="2"/>
              </a:rPr>
              <a:t>난수 생성 속도가 늦어지게 되고</a:t>
            </a:r>
            <a:r>
              <a:rPr lang="en-US" altLang="ko-KR" dirty="0">
                <a:ea typeface="+mn-lt"/>
                <a:cs typeface="+mn-lt"/>
                <a:sym typeface="Wingdings" panose="05000000000000000000" pitchFamily="2" charset="2"/>
              </a:rPr>
              <a:t> </a:t>
            </a:r>
            <a:r>
              <a:rPr lang="ko-KR" altLang="en-US" dirty="0">
                <a:ea typeface="+mn-lt"/>
                <a:cs typeface="+mn-lt"/>
                <a:sym typeface="Wingdings" panose="05000000000000000000" pitchFamily="2" charset="2"/>
              </a:rPr>
              <a:t>이는 프로그램상의 성능 저하로 이어진다</a:t>
            </a:r>
            <a:r>
              <a:rPr lang="en-US" altLang="ko-KR" dirty="0">
                <a:ea typeface="+mn-lt"/>
                <a:cs typeface="+mn-lt"/>
                <a:sym typeface="Wingdings" panose="05000000000000000000" pitchFamily="2" charset="2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703649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43368D0-737E-43E1-85FC-E2062A108C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/dev </a:t>
            </a:r>
            <a:r>
              <a:rPr lang="ko-KR" altLang="en-US" dirty="0"/>
              <a:t>가상장치 종류</a:t>
            </a:r>
            <a:endParaRPr lang="ko-KR" dirty="0"/>
          </a:p>
        </p:txBody>
      </p:sp>
      <p:sp>
        <p:nvSpPr>
          <p:cNvPr id="12" name="내용 개체 틀 2">
            <a:extLst>
              <a:ext uri="{FF2B5EF4-FFF2-40B4-BE49-F238E27FC236}">
                <a16:creationId xmlns:a16="http://schemas.microsoft.com/office/drawing/2014/main" id="{FFD8B260-E198-4EAA-97E5-5ABB8817F61B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76609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b="1" dirty="0">
                <a:ea typeface="+mn-lt"/>
                <a:cs typeface="+mn-lt"/>
              </a:rPr>
              <a:t>/dev/</a:t>
            </a:r>
            <a:r>
              <a:rPr lang="en-US" altLang="ko-KR" b="1" dirty="0" err="1">
                <a:ea typeface="+mn-lt"/>
                <a:cs typeface="+mn-lt"/>
              </a:rPr>
              <a:t>urandom</a:t>
            </a:r>
            <a:endParaRPr lang="en-US" altLang="ko-KR" b="1" dirty="0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altLang="ko-KR" dirty="0">
                <a:ea typeface="+mn-lt"/>
                <a:cs typeface="+mn-lt"/>
              </a:rPr>
              <a:t> </a:t>
            </a:r>
            <a:r>
              <a:rPr lang="en-US" altLang="ko-KR" dirty="0">
                <a:ea typeface="+mn-lt"/>
                <a:cs typeface="+mn-lt"/>
                <a:sym typeface="Wingdings" panose="05000000000000000000" pitchFamily="2" charset="2"/>
              </a:rPr>
              <a:t>  </a:t>
            </a:r>
            <a:r>
              <a:rPr lang="ko-KR" altLang="en-US" dirty="0">
                <a:ea typeface="+mn-lt"/>
                <a:cs typeface="+mn-lt"/>
                <a:sym typeface="Wingdings" panose="05000000000000000000" pitchFamily="2" charset="2"/>
              </a:rPr>
              <a:t>유사 난수 발생기</a:t>
            </a:r>
            <a:endParaRPr lang="en-US" altLang="ko-KR" dirty="0">
              <a:ea typeface="+mn-lt"/>
              <a:cs typeface="+mn-lt"/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altLang="ko-KR" dirty="0">
                <a:ea typeface="+mn-lt"/>
                <a:cs typeface="+mn-lt"/>
                <a:sym typeface="Wingdings" panose="05000000000000000000" pitchFamily="2" charset="2"/>
              </a:rPr>
              <a:t>      </a:t>
            </a:r>
          </a:p>
          <a:p>
            <a:pPr marL="0" indent="0">
              <a:buNone/>
            </a:pPr>
            <a:r>
              <a:rPr lang="ko-KR" altLang="en-US" dirty="0">
                <a:ea typeface="+mn-lt"/>
                <a:cs typeface="+mn-lt"/>
                <a:sym typeface="Wingdings" panose="05000000000000000000" pitchFamily="2" charset="2"/>
              </a:rPr>
              <a:t>엔트로피를 사용하지 않고 빠른 속도로 난수를 생성해야 할 때</a:t>
            </a:r>
            <a:endParaRPr lang="en-US" altLang="ko-KR" dirty="0">
              <a:ea typeface="+mn-lt"/>
              <a:cs typeface="+mn-lt"/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ko-KR" altLang="en-US" dirty="0">
                <a:ea typeface="+mn-lt"/>
                <a:cs typeface="+mn-lt"/>
                <a:sym typeface="Wingdings" panose="05000000000000000000" pitchFamily="2" charset="2"/>
              </a:rPr>
              <a:t>해당 가상 디바이스를 사용해 난수를 생성해낸다</a:t>
            </a:r>
            <a:r>
              <a:rPr lang="en-US" altLang="ko-KR" dirty="0">
                <a:ea typeface="+mn-lt"/>
                <a:cs typeface="+mn-lt"/>
                <a:sym typeface="Wingdings" panose="05000000000000000000" pitchFamily="2" charset="2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336851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>
            <a:extLst>
              <a:ext uri="{FF2B5EF4-FFF2-40B4-BE49-F238E27FC236}">
                <a16:creationId xmlns:a16="http://schemas.microsoft.com/office/drawing/2014/main" id="{73388DF1-2BF6-4D3C-A3DE-E2A9935E82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1116" y="710571"/>
            <a:ext cx="9649767" cy="4052762"/>
          </a:xfrm>
          <a:prstGeom prst="rect">
            <a:avLst/>
          </a:prstGeom>
        </p:spPr>
      </p:pic>
      <p:sp>
        <p:nvSpPr>
          <p:cNvPr id="2" name="타원 1">
            <a:extLst>
              <a:ext uri="{FF2B5EF4-FFF2-40B4-BE49-F238E27FC236}">
                <a16:creationId xmlns:a16="http://schemas.microsoft.com/office/drawing/2014/main" id="{A08542B0-B931-4C79-B278-F87913DD1043}"/>
              </a:ext>
            </a:extLst>
          </p:cNvPr>
          <p:cNvSpPr/>
          <p:nvPr/>
        </p:nvSpPr>
        <p:spPr>
          <a:xfrm>
            <a:off x="6075903" y="2351313"/>
            <a:ext cx="994787" cy="994787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C3912B1-7103-41FC-A831-C8984FC4E2D9}"/>
              </a:ext>
            </a:extLst>
          </p:cNvPr>
          <p:cNvSpPr txBox="1"/>
          <p:nvPr/>
        </p:nvSpPr>
        <p:spPr>
          <a:xfrm>
            <a:off x="958779" y="4347987"/>
            <a:ext cx="10274440" cy="11289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시스템 운영 중에 필요한 가변 자료들</a:t>
            </a:r>
          </a:p>
          <a:p>
            <a:pPr>
              <a:lnSpc>
                <a:spcPct val="150000"/>
              </a:lnSpc>
            </a:pPr>
            <a:r>
              <a:rPr lang="ko-KR" altLang="en-US" sz="2400" dirty="0"/>
              <a:t>주로 시스템 운영 로그</a:t>
            </a:r>
            <a:r>
              <a:rPr lang="en-US" altLang="ko-KR" sz="2400" dirty="0"/>
              <a:t>, </a:t>
            </a:r>
            <a:r>
              <a:rPr lang="ko-KR" altLang="en-US" sz="2400" dirty="0" err="1"/>
              <a:t>스풀</a:t>
            </a:r>
            <a:r>
              <a:rPr lang="ko-KR" altLang="en-US" sz="2400" dirty="0"/>
              <a:t> 디렉터리</a:t>
            </a:r>
            <a:r>
              <a:rPr lang="en-US" altLang="ko-KR" sz="2400" dirty="0"/>
              <a:t>, </a:t>
            </a:r>
            <a:r>
              <a:rPr lang="ko-KR" altLang="en-US" sz="2400" dirty="0"/>
              <a:t>임시 파일 등</a:t>
            </a:r>
          </a:p>
        </p:txBody>
      </p:sp>
    </p:spTree>
    <p:extLst>
      <p:ext uri="{BB962C8B-B14F-4D97-AF65-F5344CB8AC3E}">
        <p14:creationId xmlns:p14="http://schemas.microsoft.com/office/powerpoint/2010/main" val="2972927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>
            <a:extLst>
              <a:ext uri="{FF2B5EF4-FFF2-40B4-BE49-F238E27FC236}">
                <a16:creationId xmlns:a16="http://schemas.microsoft.com/office/drawing/2014/main" id="{73388DF1-2BF6-4D3C-A3DE-E2A9935E82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1116" y="710571"/>
            <a:ext cx="9649767" cy="4052762"/>
          </a:xfrm>
          <a:prstGeom prst="rect">
            <a:avLst/>
          </a:prstGeom>
        </p:spPr>
      </p:pic>
      <p:sp>
        <p:nvSpPr>
          <p:cNvPr id="2" name="타원 1">
            <a:extLst>
              <a:ext uri="{FF2B5EF4-FFF2-40B4-BE49-F238E27FC236}">
                <a16:creationId xmlns:a16="http://schemas.microsoft.com/office/drawing/2014/main" id="{A08542B0-B931-4C79-B278-F87913DD1043}"/>
              </a:ext>
            </a:extLst>
          </p:cNvPr>
          <p:cNvSpPr/>
          <p:nvPr/>
        </p:nvSpPr>
        <p:spPr>
          <a:xfrm>
            <a:off x="6839577" y="2351313"/>
            <a:ext cx="994787" cy="994787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C3912B1-7103-41FC-A831-C8984FC4E2D9}"/>
              </a:ext>
            </a:extLst>
          </p:cNvPr>
          <p:cNvSpPr txBox="1"/>
          <p:nvPr/>
        </p:nvSpPr>
        <p:spPr>
          <a:xfrm>
            <a:off x="958779" y="4347987"/>
            <a:ext cx="10274440" cy="5749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대부분의 프로그램이 설치된 </a:t>
            </a:r>
            <a:r>
              <a:rPr lang="ko-KR" altLang="en-US" sz="2400" dirty="0" smtClean="0"/>
              <a:t>위치</a:t>
            </a:r>
            <a:endParaRPr lang="en-US" altLang="ko-KR" sz="2400" dirty="0"/>
          </a:p>
        </p:txBody>
      </p:sp>
    </p:spTree>
    <p:extLst>
      <p:ext uri="{BB962C8B-B14F-4D97-AF65-F5344CB8AC3E}">
        <p14:creationId xmlns:p14="http://schemas.microsoft.com/office/powerpoint/2010/main" val="12556845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내용 개체 틀 2">
            <a:extLst>
              <a:ext uri="{FF2B5EF4-FFF2-40B4-BE49-F238E27FC236}">
                <a16:creationId xmlns:a16="http://schemas.microsoft.com/office/drawing/2014/main" id="{FFD8B260-E198-4EAA-97E5-5ABB8817F61B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766094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20000"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dirty="0">
                <a:ea typeface="+mn-lt"/>
                <a:cs typeface="+mn-lt"/>
                <a:sym typeface="Wingdings" panose="05000000000000000000" pitchFamily="2" charset="2"/>
              </a:rPr>
              <a:t>리눅스에서</a:t>
            </a:r>
            <a:r>
              <a:rPr lang="en-US" altLang="ko-KR" dirty="0">
                <a:ea typeface="+mn-lt"/>
                <a:cs typeface="+mn-lt"/>
                <a:sym typeface="Wingdings" panose="05000000000000000000" pitchFamily="2" charset="2"/>
              </a:rPr>
              <a:t> </a:t>
            </a:r>
            <a:r>
              <a:rPr lang="ko-KR" altLang="en-US" dirty="0">
                <a:ea typeface="+mn-lt"/>
                <a:cs typeface="+mn-lt"/>
                <a:sym typeface="Wingdings" panose="05000000000000000000" pitchFamily="2" charset="2"/>
              </a:rPr>
              <a:t>설치하거나</a:t>
            </a:r>
            <a:r>
              <a:rPr lang="en-US" altLang="ko-KR" dirty="0">
                <a:ea typeface="+mn-lt"/>
                <a:cs typeface="+mn-lt"/>
                <a:sym typeface="Wingdings" panose="05000000000000000000" pitchFamily="2" charset="2"/>
              </a:rPr>
              <a:t> </a:t>
            </a:r>
            <a:r>
              <a:rPr lang="ko-KR" altLang="en-US" dirty="0">
                <a:ea typeface="+mn-lt"/>
                <a:cs typeface="+mn-lt"/>
                <a:sym typeface="Wingdings" panose="05000000000000000000" pitchFamily="2" charset="2"/>
              </a:rPr>
              <a:t>제공하는</a:t>
            </a:r>
            <a:r>
              <a:rPr lang="en-US" altLang="ko-KR" dirty="0">
                <a:ea typeface="+mn-lt"/>
                <a:cs typeface="+mn-lt"/>
                <a:sym typeface="Wingdings" panose="05000000000000000000" pitchFamily="2" charset="2"/>
              </a:rPr>
              <a:t> </a:t>
            </a:r>
            <a:r>
              <a:rPr lang="ko-KR" altLang="en-US" dirty="0">
                <a:ea typeface="+mn-lt"/>
                <a:cs typeface="+mn-lt"/>
                <a:sym typeface="Wingdings" panose="05000000000000000000" pitchFamily="2" charset="2"/>
              </a:rPr>
              <a:t>프로그램을</a:t>
            </a:r>
            <a:endParaRPr lang="en-US" altLang="ko-KR" dirty="0">
              <a:ea typeface="+mn-lt"/>
              <a:cs typeface="+mn-lt"/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altLang="ko-KR" dirty="0">
                <a:ea typeface="+mn-lt"/>
                <a:cs typeface="+mn-lt"/>
                <a:sym typeface="Wingdings" panose="05000000000000000000" pitchFamily="2" charset="2"/>
              </a:rPr>
              <a:t>Read-only </a:t>
            </a:r>
            <a:r>
              <a:rPr lang="ko-KR" altLang="en-US" dirty="0">
                <a:ea typeface="+mn-lt"/>
                <a:cs typeface="+mn-lt"/>
                <a:sym typeface="Wingdings" panose="05000000000000000000" pitchFamily="2" charset="2"/>
              </a:rPr>
              <a:t>데이터로서</a:t>
            </a:r>
            <a:r>
              <a:rPr lang="en-US" altLang="ko-KR" dirty="0">
                <a:ea typeface="+mn-lt"/>
                <a:cs typeface="+mn-lt"/>
                <a:sym typeface="Wingdings" panose="05000000000000000000" pitchFamily="2" charset="2"/>
              </a:rPr>
              <a:t> </a:t>
            </a:r>
            <a:r>
              <a:rPr lang="ko-KR" altLang="en-US" dirty="0">
                <a:ea typeface="+mn-lt"/>
                <a:cs typeface="+mn-lt"/>
                <a:sym typeface="Wingdings" panose="05000000000000000000" pitchFamily="2" charset="2"/>
              </a:rPr>
              <a:t>저장되는</a:t>
            </a:r>
            <a:r>
              <a:rPr lang="en-US" altLang="ko-KR" dirty="0">
                <a:ea typeface="+mn-lt"/>
                <a:cs typeface="+mn-lt"/>
                <a:sym typeface="Wingdings" panose="05000000000000000000" pitchFamily="2" charset="2"/>
              </a:rPr>
              <a:t> </a:t>
            </a:r>
            <a:r>
              <a:rPr lang="ko-KR" altLang="en-US" dirty="0">
                <a:ea typeface="+mn-lt"/>
                <a:cs typeface="+mn-lt"/>
                <a:sym typeface="Wingdings" panose="05000000000000000000" pitchFamily="2" charset="2"/>
              </a:rPr>
              <a:t>계층</a:t>
            </a:r>
            <a:endParaRPr lang="en-US" altLang="ko-KR" dirty="0">
              <a:ea typeface="+mn-lt"/>
              <a:cs typeface="+mn-lt"/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US" altLang="ko-KR" dirty="0">
              <a:ea typeface="+mn-lt"/>
              <a:cs typeface="+mn-lt"/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ko-KR" altLang="en-US" dirty="0">
                <a:ea typeface="+mn-lt"/>
                <a:cs typeface="+mn-lt"/>
                <a:sym typeface="Wingdings" panose="05000000000000000000" pitchFamily="2" charset="2"/>
              </a:rPr>
              <a:t>초기</a:t>
            </a:r>
            <a:r>
              <a:rPr lang="en-US" altLang="ko-KR" dirty="0">
                <a:ea typeface="+mn-lt"/>
                <a:cs typeface="+mn-lt"/>
                <a:sym typeface="Wingdings" panose="05000000000000000000" pitchFamily="2" charset="2"/>
              </a:rPr>
              <a:t> </a:t>
            </a:r>
            <a:r>
              <a:rPr lang="ko-KR" altLang="en-US" dirty="0">
                <a:ea typeface="+mn-lt"/>
                <a:cs typeface="+mn-lt"/>
                <a:sym typeface="Wingdings" panose="05000000000000000000" pitchFamily="2" charset="2"/>
              </a:rPr>
              <a:t>유닉스</a:t>
            </a:r>
            <a:r>
              <a:rPr lang="en-US" altLang="ko-KR" dirty="0">
                <a:ea typeface="+mn-lt"/>
                <a:cs typeface="+mn-lt"/>
                <a:sym typeface="Wingdings" panose="05000000000000000000" pitchFamily="2" charset="2"/>
              </a:rPr>
              <a:t> </a:t>
            </a:r>
            <a:r>
              <a:rPr lang="ko-KR" altLang="en-US" dirty="0">
                <a:ea typeface="+mn-lt"/>
                <a:cs typeface="+mn-lt"/>
                <a:sym typeface="Wingdings" panose="05000000000000000000" pitchFamily="2" charset="2"/>
              </a:rPr>
              <a:t>시스템에서는</a:t>
            </a:r>
            <a:r>
              <a:rPr lang="en-US" altLang="ko-KR" dirty="0">
                <a:ea typeface="+mn-lt"/>
                <a:cs typeface="+mn-lt"/>
                <a:sym typeface="Wingdings" panose="05000000000000000000" pitchFamily="2" charset="2"/>
              </a:rPr>
              <a:t> </a:t>
            </a:r>
            <a:r>
              <a:rPr lang="ko-KR" altLang="en-US" dirty="0">
                <a:ea typeface="+mn-lt"/>
                <a:cs typeface="+mn-lt"/>
                <a:sym typeface="Wingdings" panose="05000000000000000000" pitchFamily="2" charset="2"/>
              </a:rPr>
              <a:t>부팅에</a:t>
            </a:r>
            <a:r>
              <a:rPr lang="en-US" altLang="ko-KR" dirty="0">
                <a:ea typeface="+mn-lt"/>
                <a:cs typeface="+mn-lt"/>
                <a:sym typeface="Wingdings" panose="05000000000000000000" pitchFamily="2" charset="2"/>
              </a:rPr>
              <a:t> </a:t>
            </a:r>
            <a:r>
              <a:rPr lang="ko-KR" altLang="en-US" dirty="0">
                <a:ea typeface="+mn-lt"/>
                <a:cs typeface="+mn-lt"/>
                <a:sym typeface="Wingdings" panose="05000000000000000000" pitchFamily="2" charset="2"/>
              </a:rPr>
              <a:t>필요한</a:t>
            </a:r>
            <a:r>
              <a:rPr lang="en-US" altLang="ko-KR" dirty="0">
                <a:ea typeface="+mn-lt"/>
                <a:cs typeface="+mn-lt"/>
                <a:sym typeface="Wingdings" panose="05000000000000000000" pitchFamily="2" charset="2"/>
              </a:rPr>
              <a:t> </a:t>
            </a:r>
            <a:r>
              <a:rPr lang="ko-KR" altLang="en-US" dirty="0">
                <a:ea typeface="+mn-lt"/>
                <a:cs typeface="+mn-lt"/>
                <a:sym typeface="Wingdings" panose="05000000000000000000" pitchFamily="2" charset="2"/>
              </a:rPr>
              <a:t>프로그램은</a:t>
            </a:r>
            <a:endParaRPr lang="en-US" altLang="ko-KR" dirty="0">
              <a:ea typeface="+mn-lt"/>
              <a:cs typeface="+mn-lt"/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altLang="ko-KR" dirty="0">
                <a:ea typeface="+mn-lt"/>
                <a:cs typeface="+mn-lt"/>
                <a:sym typeface="Wingdings" panose="05000000000000000000" pitchFamily="2" charset="2"/>
              </a:rPr>
              <a:t>/bin, /sbin, /lib </a:t>
            </a:r>
            <a:r>
              <a:rPr lang="ko-KR" altLang="en-US" dirty="0">
                <a:ea typeface="+mn-lt"/>
                <a:cs typeface="+mn-lt"/>
                <a:sym typeface="Wingdings" panose="05000000000000000000" pitchFamily="2" charset="2"/>
              </a:rPr>
              <a:t>에다가</a:t>
            </a:r>
            <a:r>
              <a:rPr lang="en-US" altLang="ko-KR" dirty="0">
                <a:ea typeface="+mn-lt"/>
                <a:cs typeface="+mn-lt"/>
                <a:sym typeface="Wingdings" panose="05000000000000000000" pitchFamily="2" charset="2"/>
              </a:rPr>
              <a:t> </a:t>
            </a:r>
            <a:r>
              <a:rPr lang="ko-KR" altLang="en-US" dirty="0">
                <a:ea typeface="+mn-lt"/>
                <a:cs typeface="+mn-lt"/>
                <a:sym typeface="Wingdings" panose="05000000000000000000" pitchFamily="2" charset="2"/>
              </a:rPr>
              <a:t>저장하고</a:t>
            </a:r>
            <a:r>
              <a:rPr lang="en-US" altLang="ko-KR" dirty="0">
                <a:ea typeface="+mn-lt"/>
                <a:cs typeface="+mn-lt"/>
                <a:sym typeface="Wingdings" panose="05000000000000000000" pitchFamily="2" charset="2"/>
              </a:rPr>
              <a:t> </a:t>
            </a:r>
            <a:r>
              <a:rPr lang="ko-KR" altLang="en-US" dirty="0">
                <a:ea typeface="+mn-lt"/>
                <a:cs typeface="+mn-lt"/>
                <a:sym typeface="Wingdings" panose="05000000000000000000" pitchFamily="2" charset="2"/>
              </a:rPr>
              <a:t>나머지를</a:t>
            </a:r>
            <a:r>
              <a:rPr lang="en-US" altLang="ko-KR" dirty="0">
                <a:ea typeface="+mn-lt"/>
                <a:cs typeface="+mn-lt"/>
                <a:sym typeface="Wingdings" panose="05000000000000000000" pitchFamily="2" charset="2"/>
              </a:rPr>
              <a:t> /usr </a:t>
            </a:r>
            <a:r>
              <a:rPr lang="ko-KR" altLang="en-US" dirty="0">
                <a:ea typeface="+mn-lt"/>
                <a:cs typeface="+mn-lt"/>
                <a:sym typeface="Wingdings" panose="05000000000000000000" pitchFamily="2" charset="2"/>
              </a:rPr>
              <a:t>아래</a:t>
            </a:r>
            <a:r>
              <a:rPr lang="en-US" altLang="ko-KR" dirty="0">
                <a:ea typeface="+mn-lt"/>
                <a:cs typeface="+mn-lt"/>
                <a:sym typeface="Wingdings" panose="05000000000000000000" pitchFamily="2" charset="2"/>
              </a:rPr>
              <a:t> </a:t>
            </a:r>
            <a:r>
              <a:rPr lang="ko-KR" altLang="en-US" dirty="0">
                <a:ea typeface="+mn-lt"/>
                <a:cs typeface="+mn-lt"/>
                <a:sym typeface="Wingdings" panose="05000000000000000000" pitchFamily="2" charset="2"/>
              </a:rPr>
              <a:t>두었으나</a:t>
            </a:r>
            <a:endParaRPr lang="en-US" altLang="ko-KR" dirty="0">
              <a:ea typeface="+mn-lt"/>
              <a:cs typeface="+mn-lt"/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ko-KR" altLang="en-US" dirty="0">
                <a:ea typeface="+mn-lt"/>
                <a:cs typeface="+mn-lt"/>
                <a:sym typeface="Wingdings" panose="05000000000000000000" pitchFamily="2" charset="2"/>
              </a:rPr>
              <a:t>대부분의</a:t>
            </a:r>
            <a:r>
              <a:rPr lang="en-US" altLang="ko-KR" dirty="0">
                <a:ea typeface="+mn-lt"/>
                <a:cs typeface="+mn-lt"/>
                <a:sym typeface="Wingdings" panose="05000000000000000000" pitchFamily="2" charset="2"/>
              </a:rPr>
              <a:t> </a:t>
            </a:r>
            <a:r>
              <a:rPr lang="ko-KR" altLang="en-US" dirty="0">
                <a:ea typeface="+mn-lt"/>
                <a:cs typeface="+mn-lt"/>
                <a:sym typeface="Wingdings" panose="05000000000000000000" pitchFamily="2" charset="2"/>
              </a:rPr>
              <a:t>최신</a:t>
            </a:r>
            <a:r>
              <a:rPr lang="en-US" altLang="ko-KR" dirty="0">
                <a:ea typeface="+mn-lt"/>
                <a:cs typeface="+mn-lt"/>
                <a:sym typeface="Wingdings" panose="05000000000000000000" pitchFamily="2" charset="2"/>
              </a:rPr>
              <a:t> </a:t>
            </a:r>
            <a:r>
              <a:rPr lang="ko-KR" altLang="en-US" dirty="0">
                <a:ea typeface="+mn-lt"/>
                <a:cs typeface="+mn-lt"/>
                <a:sym typeface="Wingdings" panose="05000000000000000000" pitchFamily="2" charset="2"/>
              </a:rPr>
              <a:t>배포판에서</a:t>
            </a:r>
            <a:r>
              <a:rPr lang="en-US" altLang="ko-KR" dirty="0">
                <a:ea typeface="+mn-lt"/>
                <a:cs typeface="+mn-lt"/>
                <a:sym typeface="Wingdings" panose="05000000000000000000" pitchFamily="2" charset="2"/>
              </a:rPr>
              <a:t> /usr</a:t>
            </a:r>
            <a:r>
              <a:rPr lang="ko-KR" altLang="en-US" dirty="0">
                <a:ea typeface="+mn-lt"/>
                <a:cs typeface="+mn-lt"/>
                <a:sym typeface="Wingdings" panose="05000000000000000000" pitchFamily="2" charset="2"/>
              </a:rPr>
              <a:t>로</a:t>
            </a:r>
            <a:r>
              <a:rPr lang="en-US" altLang="ko-KR" dirty="0">
                <a:ea typeface="+mn-lt"/>
                <a:cs typeface="+mn-lt"/>
                <a:sym typeface="Wingdings" panose="05000000000000000000" pitchFamily="2" charset="2"/>
              </a:rPr>
              <a:t> </a:t>
            </a:r>
            <a:r>
              <a:rPr lang="ko-KR" altLang="en-US" dirty="0">
                <a:ea typeface="+mn-lt"/>
                <a:cs typeface="+mn-lt"/>
                <a:sym typeface="Wingdings" panose="05000000000000000000" pitchFamily="2" charset="2"/>
              </a:rPr>
              <a:t>모두</a:t>
            </a:r>
            <a:r>
              <a:rPr lang="en-US" altLang="ko-KR" dirty="0">
                <a:ea typeface="+mn-lt"/>
                <a:cs typeface="+mn-lt"/>
                <a:sym typeface="Wingdings" panose="05000000000000000000" pitchFamily="2" charset="2"/>
              </a:rPr>
              <a:t> </a:t>
            </a:r>
            <a:r>
              <a:rPr lang="ko-KR" altLang="en-US" dirty="0">
                <a:ea typeface="+mn-lt"/>
                <a:cs typeface="+mn-lt"/>
                <a:sym typeface="Wingdings" panose="05000000000000000000" pitchFamily="2" charset="2"/>
              </a:rPr>
              <a:t>옮기는</a:t>
            </a:r>
            <a:r>
              <a:rPr lang="en-US" altLang="ko-KR" dirty="0">
                <a:ea typeface="+mn-lt"/>
                <a:cs typeface="+mn-lt"/>
                <a:sym typeface="Wingdings" panose="05000000000000000000" pitchFamily="2" charset="2"/>
              </a:rPr>
              <a:t> </a:t>
            </a:r>
            <a:r>
              <a:rPr lang="ko-KR" altLang="en-US" dirty="0">
                <a:ea typeface="+mn-lt"/>
                <a:cs typeface="+mn-lt"/>
                <a:sym typeface="Wingdings" panose="05000000000000000000" pitchFamily="2" charset="2"/>
              </a:rPr>
              <a:t>것을</a:t>
            </a:r>
            <a:r>
              <a:rPr lang="en-US" altLang="ko-KR" dirty="0">
                <a:ea typeface="+mn-lt"/>
                <a:cs typeface="+mn-lt"/>
                <a:sym typeface="Wingdings" panose="05000000000000000000" pitchFamily="2" charset="2"/>
              </a:rPr>
              <a:t> </a:t>
            </a:r>
            <a:r>
              <a:rPr lang="ko-KR" altLang="en-US" dirty="0">
                <a:ea typeface="+mn-lt"/>
                <a:cs typeface="+mn-lt"/>
                <a:sym typeface="Wingdings" panose="05000000000000000000" pitchFamily="2" charset="2"/>
              </a:rPr>
              <a:t>지향하고</a:t>
            </a:r>
            <a:r>
              <a:rPr lang="en-US" altLang="ko-KR" dirty="0">
                <a:ea typeface="+mn-lt"/>
                <a:cs typeface="+mn-lt"/>
                <a:sym typeface="Wingdings" panose="05000000000000000000" pitchFamily="2" charset="2"/>
              </a:rPr>
              <a:t> </a:t>
            </a:r>
            <a:r>
              <a:rPr lang="ko-KR" altLang="en-US" dirty="0">
                <a:ea typeface="+mn-lt"/>
                <a:cs typeface="+mn-lt"/>
                <a:sym typeface="Wingdings" panose="05000000000000000000" pitchFamily="2" charset="2"/>
              </a:rPr>
              <a:t>있음</a:t>
            </a:r>
            <a:endParaRPr lang="en-US" altLang="ko-KR" dirty="0">
              <a:ea typeface="+mn-lt"/>
              <a:cs typeface="+mn-lt"/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US" altLang="ko-KR" dirty="0">
              <a:ea typeface="+mn-lt"/>
              <a:cs typeface="+mn-lt"/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ko-KR" altLang="en-US" dirty="0">
                <a:ea typeface="+mn-lt"/>
                <a:cs typeface="+mn-lt"/>
                <a:sym typeface="Wingdings" panose="05000000000000000000" pitchFamily="2" charset="2"/>
              </a:rPr>
              <a:t>또한</a:t>
            </a:r>
            <a:r>
              <a:rPr lang="en-US" altLang="ko-KR" dirty="0">
                <a:ea typeface="+mn-lt"/>
                <a:cs typeface="+mn-lt"/>
                <a:sym typeface="Wingdings" panose="05000000000000000000" pitchFamily="2" charset="2"/>
              </a:rPr>
              <a:t> </a:t>
            </a:r>
            <a:r>
              <a:rPr lang="ko-KR" altLang="en-US" dirty="0">
                <a:ea typeface="+mn-lt"/>
                <a:cs typeface="+mn-lt"/>
                <a:sym typeface="Wingdings" panose="05000000000000000000" pitchFamily="2" charset="2"/>
              </a:rPr>
              <a:t>예전에는</a:t>
            </a:r>
            <a:r>
              <a:rPr lang="en-US" altLang="ko-KR" dirty="0">
                <a:ea typeface="+mn-lt"/>
                <a:cs typeface="+mn-lt"/>
                <a:sym typeface="Wingdings" panose="05000000000000000000" pitchFamily="2" charset="2"/>
              </a:rPr>
              <a:t> </a:t>
            </a:r>
            <a:r>
              <a:rPr lang="ko-KR" altLang="en-US" dirty="0">
                <a:ea typeface="+mn-lt"/>
                <a:cs typeface="+mn-lt"/>
                <a:sym typeface="Wingdings" panose="05000000000000000000" pitchFamily="2" charset="2"/>
              </a:rPr>
              <a:t>실제로</a:t>
            </a:r>
            <a:r>
              <a:rPr lang="en-US" altLang="ko-KR" dirty="0">
                <a:ea typeface="+mn-lt"/>
                <a:cs typeface="+mn-lt"/>
                <a:sym typeface="Wingdings" panose="05000000000000000000" pitchFamily="2" charset="2"/>
              </a:rPr>
              <a:t> </a:t>
            </a:r>
            <a:r>
              <a:rPr lang="ko-KR" altLang="en-US" dirty="0">
                <a:ea typeface="+mn-lt"/>
                <a:cs typeface="+mn-lt"/>
                <a:sym typeface="Wingdings" panose="05000000000000000000" pitchFamily="2" charset="2"/>
              </a:rPr>
              <a:t>사용자</a:t>
            </a:r>
            <a:r>
              <a:rPr lang="en-US" altLang="ko-KR" dirty="0">
                <a:ea typeface="+mn-lt"/>
                <a:cs typeface="+mn-lt"/>
                <a:sym typeface="Wingdings" panose="05000000000000000000" pitchFamily="2" charset="2"/>
              </a:rPr>
              <a:t> </a:t>
            </a:r>
            <a:r>
              <a:rPr lang="ko-KR" altLang="en-US" dirty="0">
                <a:ea typeface="+mn-lt"/>
                <a:cs typeface="+mn-lt"/>
                <a:sym typeface="Wingdings" panose="05000000000000000000" pitchFamily="2" charset="2"/>
              </a:rPr>
              <a:t>홈</a:t>
            </a:r>
            <a:r>
              <a:rPr lang="en-US" altLang="ko-KR" dirty="0">
                <a:ea typeface="+mn-lt"/>
                <a:cs typeface="+mn-lt"/>
                <a:sym typeface="Wingdings" panose="05000000000000000000" pitchFamily="2" charset="2"/>
              </a:rPr>
              <a:t> </a:t>
            </a:r>
            <a:r>
              <a:rPr lang="ko-KR" altLang="en-US" dirty="0">
                <a:ea typeface="+mn-lt"/>
                <a:cs typeface="+mn-lt"/>
                <a:sym typeface="Wingdings" panose="05000000000000000000" pitchFamily="2" charset="2"/>
              </a:rPr>
              <a:t>디렉토리로</a:t>
            </a:r>
            <a:r>
              <a:rPr lang="en-US" altLang="ko-KR" dirty="0">
                <a:ea typeface="+mn-lt"/>
                <a:cs typeface="+mn-lt"/>
                <a:sym typeface="Wingdings" panose="05000000000000000000" pitchFamily="2" charset="2"/>
              </a:rPr>
              <a:t> </a:t>
            </a:r>
            <a:r>
              <a:rPr lang="ko-KR" altLang="en-US" dirty="0">
                <a:ea typeface="+mn-lt"/>
                <a:cs typeface="+mn-lt"/>
                <a:sym typeface="Wingdings" panose="05000000000000000000" pitchFamily="2" charset="2"/>
              </a:rPr>
              <a:t>사용됨</a:t>
            </a:r>
            <a:endParaRPr lang="en-US" altLang="ko-KR" dirty="0">
              <a:ea typeface="+mn-lt"/>
              <a:cs typeface="+mn-lt"/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ko-KR" altLang="en-US" dirty="0">
                <a:ea typeface="+mn-lt"/>
                <a:cs typeface="+mn-lt"/>
                <a:sym typeface="Wingdings" panose="05000000000000000000" pitchFamily="2" charset="2"/>
              </a:rPr>
              <a:t>이후</a:t>
            </a:r>
            <a:r>
              <a:rPr lang="en-US" altLang="ko-KR" dirty="0">
                <a:ea typeface="+mn-lt"/>
                <a:cs typeface="+mn-lt"/>
                <a:sym typeface="Wingdings" panose="05000000000000000000" pitchFamily="2" charset="2"/>
              </a:rPr>
              <a:t> /home </a:t>
            </a:r>
            <a:r>
              <a:rPr lang="ko-KR" altLang="en-US" dirty="0">
                <a:ea typeface="+mn-lt"/>
                <a:cs typeface="+mn-lt"/>
                <a:sym typeface="Wingdings" panose="05000000000000000000" pitchFamily="2" charset="2"/>
              </a:rPr>
              <a:t>을</a:t>
            </a:r>
            <a:r>
              <a:rPr lang="en-US" altLang="ko-KR" dirty="0">
                <a:ea typeface="+mn-lt"/>
                <a:cs typeface="+mn-lt"/>
                <a:sym typeface="Wingdings" panose="05000000000000000000" pitchFamily="2" charset="2"/>
              </a:rPr>
              <a:t> </a:t>
            </a:r>
            <a:r>
              <a:rPr lang="ko-KR" altLang="en-US" dirty="0" smtClean="0">
                <a:ea typeface="+mn-lt"/>
                <a:cs typeface="+mn-lt"/>
                <a:sym typeface="Wingdings" panose="05000000000000000000" pitchFamily="2" charset="2"/>
              </a:rPr>
              <a:t>만들어 </a:t>
            </a:r>
            <a:r>
              <a:rPr lang="en-US" altLang="ko-KR" dirty="0" smtClean="0">
                <a:ea typeface="+mn-lt"/>
                <a:cs typeface="+mn-lt"/>
                <a:sym typeface="Wingdings" panose="05000000000000000000" pitchFamily="2" charset="2"/>
              </a:rPr>
              <a:t>/</a:t>
            </a:r>
            <a:r>
              <a:rPr lang="en-US" altLang="ko-KR" dirty="0" err="1" smtClean="0">
                <a:ea typeface="+mn-lt"/>
                <a:cs typeface="+mn-lt"/>
                <a:sym typeface="Wingdings" panose="05000000000000000000" pitchFamily="2" charset="2"/>
              </a:rPr>
              <a:t>usr</a:t>
            </a:r>
            <a:r>
              <a:rPr lang="en-US" altLang="ko-KR" dirty="0" smtClean="0">
                <a:ea typeface="+mn-lt"/>
                <a:cs typeface="+mn-lt"/>
                <a:sym typeface="Wingdings" panose="05000000000000000000" pitchFamily="2" charset="2"/>
              </a:rPr>
              <a:t> </a:t>
            </a:r>
            <a:r>
              <a:rPr lang="ko-KR" altLang="en-US" dirty="0" smtClean="0">
                <a:ea typeface="+mn-lt"/>
                <a:cs typeface="+mn-lt"/>
                <a:sym typeface="Wingdings" panose="05000000000000000000" pitchFamily="2" charset="2"/>
              </a:rPr>
              <a:t>은</a:t>
            </a:r>
            <a:r>
              <a:rPr lang="en-US" altLang="ko-KR" dirty="0" smtClean="0">
                <a:ea typeface="+mn-lt"/>
                <a:cs typeface="+mn-lt"/>
                <a:sym typeface="Wingdings" panose="05000000000000000000" pitchFamily="2" charset="2"/>
              </a:rPr>
              <a:t> </a:t>
            </a:r>
            <a:r>
              <a:rPr lang="ko-KR" altLang="en-US" dirty="0" smtClean="0">
                <a:ea typeface="+mn-lt"/>
                <a:cs typeface="+mn-lt"/>
                <a:sym typeface="Wingdings" panose="05000000000000000000" pitchFamily="2" charset="2"/>
              </a:rPr>
              <a:t>프로그램만을</a:t>
            </a:r>
            <a:r>
              <a:rPr lang="en-US" altLang="ko-KR" dirty="0" smtClean="0">
                <a:ea typeface="+mn-lt"/>
                <a:cs typeface="+mn-lt"/>
                <a:sym typeface="Wingdings" panose="05000000000000000000" pitchFamily="2" charset="2"/>
              </a:rPr>
              <a:t> </a:t>
            </a:r>
            <a:r>
              <a:rPr lang="ko-KR" altLang="en-US" dirty="0">
                <a:ea typeface="+mn-lt"/>
                <a:cs typeface="+mn-lt"/>
                <a:sym typeface="Wingdings" panose="05000000000000000000" pitchFamily="2" charset="2"/>
              </a:rPr>
              <a:t>위한</a:t>
            </a:r>
            <a:r>
              <a:rPr lang="en-US" altLang="ko-KR" dirty="0">
                <a:ea typeface="+mn-lt"/>
                <a:cs typeface="+mn-lt"/>
                <a:sym typeface="Wingdings" panose="05000000000000000000" pitchFamily="2" charset="2"/>
              </a:rPr>
              <a:t> </a:t>
            </a:r>
            <a:r>
              <a:rPr lang="ko-KR" altLang="en-US" dirty="0" smtClean="0">
                <a:ea typeface="+mn-lt"/>
                <a:cs typeface="+mn-lt"/>
                <a:sym typeface="Wingdings" panose="05000000000000000000" pitchFamily="2" charset="2"/>
              </a:rPr>
              <a:t>공간으로</a:t>
            </a:r>
            <a:r>
              <a:rPr lang="en-US" altLang="ko-KR" dirty="0" smtClean="0">
                <a:ea typeface="+mn-lt"/>
                <a:cs typeface="+mn-lt"/>
                <a:sym typeface="Wingdings" panose="05000000000000000000" pitchFamily="2" charset="2"/>
              </a:rPr>
              <a:t> </a:t>
            </a:r>
            <a:r>
              <a:rPr lang="ko-KR" altLang="en-US" dirty="0" smtClean="0">
                <a:ea typeface="+mn-lt"/>
                <a:cs typeface="+mn-lt"/>
                <a:sym typeface="Wingdings" panose="05000000000000000000" pitchFamily="2" charset="2"/>
              </a:rPr>
              <a:t>분리함</a:t>
            </a:r>
            <a:endParaRPr lang="en-US" altLang="ko-KR" dirty="0">
              <a:ea typeface="+mn-lt"/>
              <a:cs typeface="+mn-lt"/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ko-KR" altLang="en-US" dirty="0">
                <a:ea typeface="+mn-lt"/>
                <a:cs typeface="+mn-lt"/>
                <a:sym typeface="Wingdings" panose="05000000000000000000" pitchFamily="2" charset="2"/>
              </a:rPr>
              <a:t>이름을</a:t>
            </a:r>
            <a:r>
              <a:rPr lang="en-US" altLang="ko-KR" dirty="0">
                <a:ea typeface="+mn-lt"/>
                <a:cs typeface="+mn-lt"/>
                <a:sym typeface="Wingdings" panose="05000000000000000000" pitchFamily="2" charset="2"/>
              </a:rPr>
              <a:t> </a:t>
            </a:r>
            <a:r>
              <a:rPr lang="ko-KR" altLang="en-US" dirty="0">
                <a:ea typeface="+mn-lt"/>
                <a:cs typeface="+mn-lt"/>
                <a:sym typeface="Wingdings" panose="05000000000000000000" pitchFamily="2" charset="2"/>
              </a:rPr>
              <a:t>변경하지</a:t>
            </a:r>
            <a:r>
              <a:rPr lang="en-US" altLang="ko-KR" dirty="0">
                <a:ea typeface="+mn-lt"/>
                <a:cs typeface="+mn-lt"/>
                <a:sym typeface="Wingdings" panose="05000000000000000000" pitchFamily="2" charset="2"/>
              </a:rPr>
              <a:t> </a:t>
            </a:r>
            <a:r>
              <a:rPr lang="ko-KR" altLang="en-US" dirty="0">
                <a:ea typeface="+mn-lt"/>
                <a:cs typeface="+mn-lt"/>
                <a:sym typeface="Wingdings" panose="05000000000000000000" pitchFamily="2" charset="2"/>
              </a:rPr>
              <a:t>않고</a:t>
            </a:r>
            <a:r>
              <a:rPr lang="en-US" altLang="ko-KR" dirty="0">
                <a:ea typeface="+mn-lt"/>
                <a:cs typeface="+mn-lt"/>
                <a:sym typeface="Wingdings" panose="05000000000000000000" pitchFamily="2" charset="2"/>
              </a:rPr>
              <a:t> </a:t>
            </a:r>
            <a:r>
              <a:rPr lang="ko-KR" altLang="en-US" dirty="0">
                <a:ea typeface="+mn-lt"/>
                <a:cs typeface="+mn-lt"/>
                <a:sym typeface="Wingdings" panose="05000000000000000000" pitchFamily="2" charset="2"/>
              </a:rPr>
              <a:t>그대로</a:t>
            </a:r>
            <a:r>
              <a:rPr lang="en-US" altLang="ko-KR" dirty="0">
                <a:ea typeface="+mn-lt"/>
                <a:cs typeface="+mn-lt"/>
                <a:sym typeface="Wingdings" panose="05000000000000000000" pitchFamily="2" charset="2"/>
              </a:rPr>
              <a:t> </a:t>
            </a:r>
            <a:r>
              <a:rPr lang="ko-KR" altLang="en-US" dirty="0">
                <a:ea typeface="+mn-lt"/>
                <a:cs typeface="+mn-lt"/>
                <a:sym typeface="Wingdings" panose="05000000000000000000" pitchFamily="2" charset="2"/>
              </a:rPr>
              <a:t>계승하였으며</a:t>
            </a:r>
            <a:endParaRPr lang="en-US" altLang="ko-KR" dirty="0">
              <a:ea typeface="+mn-lt"/>
              <a:cs typeface="+mn-lt"/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altLang="ko-KR" dirty="0" smtClean="0">
                <a:ea typeface="+mn-lt"/>
                <a:cs typeface="+mn-lt"/>
                <a:sym typeface="Wingdings" panose="05000000000000000000" pitchFamily="2" charset="2"/>
              </a:rPr>
              <a:t>Universal(</a:t>
            </a:r>
            <a:r>
              <a:rPr lang="ko-KR" altLang="en-US" dirty="0" smtClean="0">
                <a:ea typeface="+mn-lt"/>
                <a:cs typeface="+mn-lt"/>
                <a:sym typeface="Wingdings" panose="05000000000000000000" pitchFamily="2" charset="2"/>
              </a:rPr>
              <a:t>또는</a:t>
            </a:r>
            <a:r>
              <a:rPr lang="en-US" altLang="ko-KR" dirty="0" smtClean="0">
                <a:ea typeface="+mn-lt"/>
                <a:cs typeface="+mn-lt"/>
                <a:sym typeface="Wingdings" panose="05000000000000000000" pitchFamily="2" charset="2"/>
              </a:rPr>
              <a:t> Unix) </a:t>
            </a:r>
            <a:r>
              <a:rPr lang="en-US" altLang="ko-KR" dirty="0">
                <a:ea typeface="+mn-lt"/>
                <a:cs typeface="+mn-lt"/>
                <a:sym typeface="Wingdings" panose="05000000000000000000" pitchFamily="2" charset="2"/>
              </a:rPr>
              <a:t>System Resource </a:t>
            </a:r>
            <a:r>
              <a:rPr lang="ko-KR" altLang="en-US" dirty="0">
                <a:ea typeface="+mn-lt"/>
                <a:cs typeface="+mn-lt"/>
                <a:sym typeface="Wingdings" panose="05000000000000000000" pitchFamily="2" charset="2"/>
              </a:rPr>
              <a:t>의</a:t>
            </a:r>
            <a:r>
              <a:rPr lang="en-US" altLang="ko-KR" dirty="0">
                <a:ea typeface="+mn-lt"/>
                <a:cs typeface="+mn-lt"/>
                <a:sym typeface="Wingdings" panose="05000000000000000000" pitchFamily="2" charset="2"/>
              </a:rPr>
              <a:t> </a:t>
            </a:r>
            <a:r>
              <a:rPr lang="ko-KR" altLang="en-US" dirty="0">
                <a:ea typeface="+mn-lt"/>
                <a:cs typeface="+mn-lt"/>
                <a:sym typeface="Wingdings" panose="05000000000000000000" pitchFamily="2" charset="2"/>
              </a:rPr>
              <a:t>의미를</a:t>
            </a:r>
            <a:r>
              <a:rPr lang="en-US" altLang="ko-KR" dirty="0">
                <a:ea typeface="+mn-lt"/>
                <a:cs typeface="+mn-lt"/>
                <a:sym typeface="Wingdings" panose="05000000000000000000" pitchFamily="2" charset="2"/>
              </a:rPr>
              <a:t> </a:t>
            </a:r>
            <a:r>
              <a:rPr lang="ko-KR" altLang="en-US" dirty="0">
                <a:ea typeface="+mn-lt"/>
                <a:cs typeface="+mn-lt"/>
                <a:sym typeface="Wingdings" panose="05000000000000000000" pitchFamily="2" charset="2"/>
              </a:rPr>
              <a:t>부여함</a:t>
            </a:r>
            <a:endParaRPr lang="en-US" altLang="ko-KR" dirty="0">
              <a:ea typeface="+mn-lt"/>
              <a:cs typeface="+mn-lt"/>
              <a:sym typeface="Wingdings" panose="05000000000000000000" pitchFamily="2" charset="2"/>
            </a:endParaRPr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AAADDE90-C7EC-8541-9CB0-DCC0DDEB31D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dirty="0"/>
              <a:t>/usr </a:t>
            </a:r>
            <a:r>
              <a:rPr lang="ko-KR" altLang="en-US" dirty="0"/>
              <a:t>이란</a:t>
            </a:r>
            <a:r>
              <a:rPr lang="en-US" altLang="ko-KR" dirty="0"/>
              <a:t>?</a:t>
            </a:r>
            <a:endParaRPr lang="ko-KR" dirty="0"/>
          </a:p>
        </p:txBody>
      </p:sp>
    </p:spTree>
    <p:extLst>
      <p:ext uri="{BB962C8B-B14F-4D97-AF65-F5344CB8AC3E}">
        <p14:creationId xmlns:p14="http://schemas.microsoft.com/office/powerpoint/2010/main" val="25497480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/</a:t>
            </a:r>
            <a:r>
              <a:rPr lang="en-US" altLang="ko-KR" dirty="0" err="1" smtClean="0"/>
              <a:t>usr</a:t>
            </a:r>
            <a:r>
              <a:rPr lang="ko-KR" altLang="en-US" dirty="0"/>
              <a:t> </a:t>
            </a:r>
            <a:r>
              <a:rPr lang="ko-KR" altLang="en-US" dirty="0" smtClean="0"/>
              <a:t>합병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ko-KR" altLang="en-US" dirty="0" smtClean="0"/>
              <a:t>최근 여러 </a:t>
            </a:r>
            <a:r>
              <a:rPr lang="ko-KR" altLang="en-US" dirty="0" err="1" smtClean="0"/>
              <a:t>배포판에서</a:t>
            </a:r>
            <a:r>
              <a:rPr lang="ko-KR" altLang="en-US" dirty="0" smtClean="0"/>
              <a:t> 추진하고 있는 방법으로</a:t>
            </a:r>
            <a:endParaRPr lang="en-US" altLang="ko-KR" dirty="0" smtClean="0"/>
          </a:p>
          <a:p>
            <a:pPr marL="0" indent="0">
              <a:buNone/>
            </a:pPr>
            <a:r>
              <a:rPr lang="en-US" altLang="ko-KR" dirty="0" smtClean="0"/>
              <a:t>/bin, /</a:t>
            </a:r>
            <a:r>
              <a:rPr lang="en-US" altLang="ko-KR" dirty="0" err="1" smtClean="0"/>
              <a:t>sbin</a:t>
            </a:r>
            <a:r>
              <a:rPr lang="en-US" altLang="ko-KR" dirty="0" smtClean="0"/>
              <a:t>, /lib, /lib64</a:t>
            </a:r>
            <a:r>
              <a:rPr lang="ko-KR" altLang="en-US" dirty="0" smtClean="0"/>
              <a:t>를 </a:t>
            </a:r>
            <a:r>
              <a:rPr lang="en-US" altLang="ko-KR" dirty="0" smtClean="0"/>
              <a:t>/</a:t>
            </a:r>
            <a:r>
              <a:rPr lang="en-US" altLang="ko-KR" dirty="0" err="1" smtClean="0"/>
              <a:t>usr</a:t>
            </a:r>
            <a:r>
              <a:rPr lang="en-US" altLang="ko-KR" dirty="0" smtClean="0"/>
              <a:t> </a:t>
            </a:r>
            <a:r>
              <a:rPr lang="ko-KR" altLang="en-US" dirty="0" smtClean="0"/>
              <a:t>아래로 모두 옮겨서 통합 후</a:t>
            </a:r>
            <a:endParaRPr lang="en-US" altLang="ko-KR" dirty="0" smtClean="0"/>
          </a:p>
          <a:p>
            <a:pPr marL="0" indent="0">
              <a:buNone/>
            </a:pPr>
            <a:r>
              <a:rPr lang="ko-KR" altLang="en-US" dirty="0" err="1" smtClean="0"/>
              <a:t>심볼릭</a:t>
            </a:r>
            <a:r>
              <a:rPr lang="ko-KR" altLang="en-US" dirty="0" smtClean="0"/>
              <a:t> 링크만 만들어 배포하고 있다</a:t>
            </a:r>
            <a:r>
              <a:rPr lang="en-US" altLang="ko-KR" dirty="0" smtClean="0"/>
              <a:t>.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ko-KR" altLang="en-US" dirty="0" smtClean="0"/>
              <a:t>다른 </a:t>
            </a:r>
            <a:r>
              <a:rPr lang="en-US" altLang="ko-KR" dirty="0" smtClean="0"/>
              <a:t>Unix / Linux </a:t>
            </a:r>
            <a:r>
              <a:rPr lang="ko-KR" altLang="en-US" dirty="0" smtClean="0"/>
              <a:t>시스템과의 호환성이 좋아지고</a:t>
            </a:r>
            <a:endParaRPr lang="en-US" altLang="ko-KR" dirty="0" smtClean="0"/>
          </a:p>
          <a:p>
            <a:pPr marL="0" indent="0">
              <a:buNone/>
            </a:pPr>
            <a:r>
              <a:rPr lang="en-US" altLang="ko-KR" dirty="0" smtClean="0"/>
              <a:t>GNU </a:t>
            </a:r>
            <a:r>
              <a:rPr lang="ko-KR" altLang="en-US" dirty="0" smtClean="0"/>
              <a:t>빌드 시스템과의 호환성도 매우 좋아진다</a:t>
            </a:r>
            <a:r>
              <a:rPr lang="en-US" altLang="ko-KR" dirty="0" smtClean="0"/>
              <a:t>.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en-US" altLang="ko-KR" dirty="0" smtClean="0">
                <a:sym typeface="Wingdings" panose="05000000000000000000" pitchFamily="2" charset="2"/>
              </a:rPr>
              <a:t> </a:t>
            </a:r>
            <a:r>
              <a:rPr lang="ko-KR" altLang="en-US" dirty="0"/>
              <a:t>시스템 유지보수 면으로 훨씬 용이하다</a:t>
            </a:r>
            <a:r>
              <a:rPr lang="en-US" altLang="ko-KR" dirty="0" smtClean="0"/>
              <a:t>.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42229456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내용 개체 틀 2">
            <a:extLst>
              <a:ext uri="{FF2B5EF4-FFF2-40B4-BE49-F238E27FC236}">
                <a16:creationId xmlns:a16="http://schemas.microsoft.com/office/drawing/2014/main" id="{FFD8B260-E198-4EAA-97E5-5ABB8817F61B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76609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dirty="0">
                <a:ea typeface="+mn-lt"/>
                <a:cs typeface="+mn-lt"/>
                <a:sym typeface="Wingdings" panose="05000000000000000000" pitchFamily="2" charset="2"/>
              </a:rPr>
              <a:t>일반</a:t>
            </a:r>
            <a:r>
              <a:rPr lang="en-US" altLang="ko-KR" dirty="0">
                <a:ea typeface="+mn-lt"/>
                <a:cs typeface="+mn-lt"/>
                <a:sym typeface="Wingdings" panose="05000000000000000000" pitchFamily="2" charset="2"/>
              </a:rPr>
              <a:t> </a:t>
            </a:r>
            <a:r>
              <a:rPr lang="ko-KR" altLang="en-US" dirty="0">
                <a:ea typeface="+mn-lt"/>
                <a:cs typeface="+mn-lt"/>
                <a:sym typeface="Wingdings" panose="05000000000000000000" pitchFamily="2" charset="2"/>
              </a:rPr>
              <a:t>사용자가</a:t>
            </a:r>
            <a:r>
              <a:rPr lang="en-US" altLang="ko-KR" dirty="0">
                <a:ea typeface="+mn-lt"/>
                <a:cs typeface="+mn-lt"/>
                <a:sym typeface="Wingdings" panose="05000000000000000000" pitchFamily="2" charset="2"/>
              </a:rPr>
              <a:t> </a:t>
            </a:r>
            <a:r>
              <a:rPr lang="ko-KR" altLang="en-US" dirty="0">
                <a:ea typeface="+mn-lt"/>
                <a:cs typeface="+mn-lt"/>
                <a:sym typeface="Wingdings" panose="05000000000000000000" pitchFamily="2" charset="2"/>
              </a:rPr>
              <a:t>실행할</a:t>
            </a:r>
            <a:r>
              <a:rPr lang="en-US" altLang="ko-KR" dirty="0">
                <a:ea typeface="+mn-lt"/>
                <a:cs typeface="+mn-lt"/>
                <a:sym typeface="Wingdings" panose="05000000000000000000" pitchFamily="2" charset="2"/>
              </a:rPr>
              <a:t> </a:t>
            </a:r>
            <a:r>
              <a:rPr lang="ko-KR" altLang="en-US" dirty="0">
                <a:ea typeface="+mn-lt"/>
                <a:cs typeface="+mn-lt"/>
                <a:sym typeface="Wingdings" panose="05000000000000000000" pitchFamily="2" charset="2"/>
              </a:rPr>
              <a:t>수</a:t>
            </a:r>
            <a:r>
              <a:rPr lang="en-US" altLang="ko-KR" dirty="0">
                <a:ea typeface="+mn-lt"/>
                <a:cs typeface="+mn-lt"/>
                <a:sym typeface="Wingdings" panose="05000000000000000000" pitchFamily="2" charset="2"/>
              </a:rPr>
              <a:t> </a:t>
            </a:r>
            <a:r>
              <a:rPr lang="ko-KR" altLang="en-US" dirty="0">
                <a:ea typeface="+mn-lt"/>
                <a:cs typeface="+mn-lt"/>
                <a:sym typeface="Wingdings" panose="05000000000000000000" pitchFamily="2" charset="2"/>
              </a:rPr>
              <a:t>있는</a:t>
            </a:r>
            <a:r>
              <a:rPr lang="en-US" altLang="ko-KR" dirty="0">
                <a:ea typeface="+mn-lt"/>
                <a:cs typeface="+mn-lt"/>
                <a:sym typeface="Wingdings" panose="05000000000000000000" pitchFamily="2" charset="2"/>
              </a:rPr>
              <a:t> </a:t>
            </a:r>
            <a:r>
              <a:rPr lang="ko-KR" altLang="en-US" dirty="0">
                <a:ea typeface="+mn-lt"/>
                <a:cs typeface="+mn-lt"/>
                <a:sym typeface="Wingdings" panose="05000000000000000000" pitchFamily="2" charset="2"/>
              </a:rPr>
              <a:t>명령어</a:t>
            </a:r>
            <a:r>
              <a:rPr lang="en-US" altLang="ko-KR" dirty="0">
                <a:ea typeface="+mn-lt"/>
                <a:cs typeface="+mn-lt"/>
                <a:sym typeface="Wingdings" panose="05000000000000000000" pitchFamily="2" charset="2"/>
              </a:rPr>
              <a:t> binary </a:t>
            </a:r>
            <a:r>
              <a:rPr lang="ko-KR" altLang="en-US" dirty="0">
                <a:ea typeface="+mn-lt"/>
                <a:cs typeface="+mn-lt"/>
                <a:sym typeface="Wingdings" panose="05000000000000000000" pitchFamily="2" charset="2"/>
              </a:rPr>
              <a:t>파일</a:t>
            </a:r>
            <a:endParaRPr lang="en-US" altLang="ko-KR" dirty="0">
              <a:ea typeface="+mn-lt"/>
              <a:cs typeface="+mn-lt"/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US" altLang="ko-KR" dirty="0">
              <a:ea typeface="+mn-lt"/>
              <a:cs typeface="+mn-lt"/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altLang="ko-KR" dirty="0">
                <a:ea typeface="+mn-lt"/>
                <a:cs typeface="+mn-lt"/>
                <a:sym typeface="Wingdings" panose="05000000000000000000" pitchFamily="2" charset="2"/>
              </a:rPr>
              <a:t>vi, gcc, more, cat, chmod </a:t>
            </a:r>
            <a:r>
              <a:rPr lang="ko-KR" altLang="en-US" dirty="0">
                <a:ea typeface="+mn-lt"/>
                <a:cs typeface="+mn-lt"/>
                <a:sym typeface="Wingdings" panose="05000000000000000000" pitchFamily="2" charset="2"/>
              </a:rPr>
              <a:t>등</a:t>
            </a:r>
            <a:endParaRPr lang="en-US" altLang="ko-KR" dirty="0">
              <a:ea typeface="+mn-lt"/>
              <a:cs typeface="+mn-lt"/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US" altLang="ko-KR" dirty="0">
              <a:ea typeface="+mn-lt"/>
              <a:cs typeface="+mn-lt"/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ko-KR" altLang="en-US" dirty="0">
                <a:ea typeface="+mn-lt"/>
                <a:cs typeface="+mn-lt"/>
                <a:sym typeface="Wingdings" panose="05000000000000000000" pitchFamily="2" charset="2"/>
              </a:rPr>
              <a:t>일반</a:t>
            </a:r>
            <a:r>
              <a:rPr lang="en-US" altLang="ko-KR" dirty="0">
                <a:ea typeface="+mn-lt"/>
                <a:cs typeface="+mn-lt"/>
                <a:sym typeface="Wingdings" panose="05000000000000000000" pitchFamily="2" charset="2"/>
              </a:rPr>
              <a:t> </a:t>
            </a:r>
            <a:r>
              <a:rPr lang="ko-KR" altLang="en-US" dirty="0">
                <a:ea typeface="+mn-lt"/>
                <a:cs typeface="+mn-lt"/>
                <a:sym typeface="Wingdings" panose="05000000000000000000" pitchFamily="2" charset="2"/>
              </a:rPr>
              <a:t>사용자와</a:t>
            </a:r>
            <a:r>
              <a:rPr lang="en-US" altLang="ko-KR" dirty="0">
                <a:ea typeface="+mn-lt"/>
                <a:cs typeface="+mn-lt"/>
                <a:sym typeface="Wingdings" panose="05000000000000000000" pitchFamily="2" charset="2"/>
              </a:rPr>
              <a:t> </a:t>
            </a:r>
            <a:r>
              <a:rPr lang="ko-KR" altLang="en-US" dirty="0">
                <a:ea typeface="+mn-lt"/>
                <a:cs typeface="+mn-lt"/>
                <a:sym typeface="Wingdings" panose="05000000000000000000" pitchFamily="2" charset="2"/>
              </a:rPr>
              <a:t>루트</a:t>
            </a:r>
            <a:r>
              <a:rPr lang="en-US" altLang="ko-KR" dirty="0">
                <a:ea typeface="+mn-lt"/>
                <a:cs typeface="+mn-lt"/>
                <a:sym typeface="Wingdings" panose="05000000000000000000" pitchFamily="2" charset="2"/>
              </a:rPr>
              <a:t> </a:t>
            </a:r>
            <a:r>
              <a:rPr lang="ko-KR" altLang="en-US" dirty="0">
                <a:ea typeface="+mn-lt"/>
                <a:cs typeface="+mn-lt"/>
                <a:sym typeface="Wingdings" panose="05000000000000000000" pitchFamily="2" charset="2"/>
              </a:rPr>
              <a:t>사용자</a:t>
            </a:r>
            <a:r>
              <a:rPr lang="en-US" altLang="ko-KR" dirty="0">
                <a:ea typeface="+mn-lt"/>
                <a:cs typeface="+mn-lt"/>
                <a:sym typeface="Wingdings" panose="05000000000000000000" pitchFamily="2" charset="2"/>
              </a:rPr>
              <a:t> </a:t>
            </a:r>
            <a:r>
              <a:rPr lang="ko-KR" altLang="en-US" dirty="0">
                <a:ea typeface="+mn-lt"/>
                <a:cs typeface="+mn-lt"/>
                <a:sym typeface="Wingdings" panose="05000000000000000000" pitchFamily="2" charset="2"/>
              </a:rPr>
              <a:t>모두</a:t>
            </a:r>
            <a:r>
              <a:rPr lang="en-US" altLang="ko-KR" dirty="0">
                <a:ea typeface="+mn-lt"/>
                <a:cs typeface="+mn-lt"/>
                <a:sym typeface="Wingdings" panose="05000000000000000000" pitchFamily="2" charset="2"/>
              </a:rPr>
              <a:t> </a:t>
            </a:r>
            <a:r>
              <a:rPr lang="ko-KR" altLang="en-US" dirty="0">
                <a:ea typeface="+mn-lt"/>
                <a:cs typeface="+mn-lt"/>
                <a:sym typeface="Wingdings" panose="05000000000000000000" pitchFamily="2" charset="2"/>
              </a:rPr>
              <a:t>접근이</a:t>
            </a:r>
            <a:r>
              <a:rPr lang="en-US" altLang="ko-KR" dirty="0">
                <a:ea typeface="+mn-lt"/>
                <a:cs typeface="+mn-lt"/>
                <a:sym typeface="Wingdings" panose="05000000000000000000" pitchFamily="2" charset="2"/>
              </a:rPr>
              <a:t> </a:t>
            </a:r>
            <a:r>
              <a:rPr lang="ko-KR" altLang="en-US" dirty="0">
                <a:ea typeface="+mn-lt"/>
                <a:cs typeface="+mn-lt"/>
                <a:sym typeface="Wingdings" panose="05000000000000000000" pitchFamily="2" charset="2"/>
              </a:rPr>
              <a:t>가능</a:t>
            </a:r>
            <a:endParaRPr lang="en-US" altLang="ko-KR" dirty="0">
              <a:ea typeface="+mn-lt"/>
              <a:cs typeface="+mn-lt"/>
              <a:sym typeface="Wingdings" panose="05000000000000000000" pitchFamily="2" charset="2"/>
            </a:endParaRPr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AAADDE90-C7EC-8541-9CB0-DCC0DDEB31D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dirty="0"/>
              <a:t>/usr/bin</a:t>
            </a:r>
            <a:endParaRPr lang="ko-KR" dirty="0"/>
          </a:p>
        </p:txBody>
      </p:sp>
    </p:spTree>
    <p:extLst>
      <p:ext uri="{BB962C8B-B14F-4D97-AF65-F5344CB8AC3E}">
        <p14:creationId xmlns:p14="http://schemas.microsoft.com/office/powerpoint/2010/main" val="38851561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내용 개체 틀 2">
            <a:extLst>
              <a:ext uri="{FF2B5EF4-FFF2-40B4-BE49-F238E27FC236}">
                <a16:creationId xmlns:a16="http://schemas.microsoft.com/office/drawing/2014/main" id="{FFD8B260-E198-4EAA-97E5-5ABB8817F61B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76609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dirty="0">
                <a:ea typeface="+mn-lt"/>
                <a:cs typeface="+mn-lt"/>
                <a:sym typeface="Wingdings" panose="05000000000000000000" pitchFamily="2" charset="2"/>
              </a:rPr>
              <a:t>관리에</a:t>
            </a:r>
            <a:r>
              <a:rPr lang="en-US" altLang="ko-KR" dirty="0">
                <a:ea typeface="+mn-lt"/>
                <a:cs typeface="+mn-lt"/>
                <a:sym typeface="Wingdings" panose="05000000000000000000" pitchFamily="2" charset="2"/>
              </a:rPr>
              <a:t> </a:t>
            </a:r>
            <a:r>
              <a:rPr lang="ko-KR" altLang="en-US" dirty="0">
                <a:ea typeface="+mn-lt"/>
                <a:cs typeface="+mn-lt"/>
                <a:sym typeface="Wingdings" panose="05000000000000000000" pitchFamily="2" charset="2"/>
              </a:rPr>
              <a:t>필요한</a:t>
            </a:r>
            <a:r>
              <a:rPr lang="en-US" altLang="ko-KR" dirty="0">
                <a:ea typeface="+mn-lt"/>
                <a:cs typeface="+mn-lt"/>
                <a:sym typeface="Wingdings" panose="05000000000000000000" pitchFamily="2" charset="2"/>
              </a:rPr>
              <a:t> </a:t>
            </a:r>
            <a:r>
              <a:rPr lang="ko-KR" altLang="en-US" dirty="0">
                <a:ea typeface="+mn-lt"/>
                <a:cs typeface="+mn-lt"/>
                <a:sym typeface="Wingdings" panose="05000000000000000000" pitchFamily="2" charset="2"/>
              </a:rPr>
              <a:t>관리자용</a:t>
            </a:r>
            <a:r>
              <a:rPr lang="en-US" altLang="ko-KR" dirty="0">
                <a:ea typeface="+mn-lt"/>
                <a:cs typeface="+mn-lt"/>
                <a:sym typeface="Wingdings" panose="05000000000000000000" pitchFamily="2" charset="2"/>
              </a:rPr>
              <a:t> </a:t>
            </a:r>
            <a:r>
              <a:rPr lang="ko-KR" altLang="en-US" dirty="0">
                <a:ea typeface="+mn-lt"/>
                <a:cs typeface="+mn-lt"/>
                <a:sym typeface="Wingdings" panose="05000000000000000000" pitchFamily="2" charset="2"/>
              </a:rPr>
              <a:t>명령어</a:t>
            </a:r>
            <a:r>
              <a:rPr lang="en-US" altLang="ko-KR" dirty="0">
                <a:ea typeface="+mn-lt"/>
                <a:cs typeface="+mn-lt"/>
                <a:sym typeface="Wingdings" panose="05000000000000000000" pitchFamily="2" charset="2"/>
              </a:rPr>
              <a:t> </a:t>
            </a:r>
            <a:r>
              <a:rPr lang="ko-KR" altLang="en-US" dirty="0" smtClean="0">
                <a:ea typeface="+mn-lt"/>
                <a:cs typeface="+mn-lt"/>
                <a:sym typeface="Wingdings" panose="05000000000000000000" pitchFamily="2" charset="2"/>
              </a:rPr>
              <a:t>파일</a:t>
            </a:r>
            <a:endParaRPr lang="en-US" altLang="ko-KR" dirty="0">
              <a:ea typeface="+mn-lt"/>
              <a:cs typeface="+mn-lt"/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US" altLang="ko-KR" dirty="0">
              <a:ea typeface="+mn-lt"/>
              <a:cs typeface="+mn-lt"/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altLang="ko-KR" dirty="0" smtClean="0">
                <a:ea typeface="+mn-lt"/>
                <a:cs typeface="+mn-lt"/>
                <a:sym typeface="Wingdings" panose="05000000000000000000" pitchFamily="2" charset="2"/>
              </a:rPr>
              <a:t>shutdown</a:t>
            </a:r>
            <a:r>
              <a:rPr lang="en-US" altLang="ko-KR" dirty="0">
                <a:ea typeface="+mn-lt"/>
                <a:cs typeface="+mn-lt"/>
                <a:sym typeface="Wingdings" panose="05000000000000000000" pitchFamily="2" charset="2"/>
              </a:rPr>
              <a:t>, </a:t>
            </a:r>
            <a:r>
              <a:rPr lang="en-US" altLang="ko-KR" dirty="0" smtClean="0">
                <a:ea typeface="+mn-lt"/>
                <a:cs typeface="+mn-lt"/>
                <a:sym typeface="Wingdings" panose="05000000000000000000" pitchFamily="2" charset="2"/>
              </a:rPr>
              <a:t>halt, </a:t>
            </a:r>
            <a:r>
              <a:rPr lang="en-US" altLang="ko-KR" dirty="0" err="1" smtClean="0">
                <a:ea typeface="+mn-lt"/>
                <a:cs typeface="+mn-lt"/>
                <a:sym typeface="Wingdings" panose="05000000000000000000" pitchFamily="2" charset="2"/>
              </a:rPr>
              <a:t>ifconfig</a:t>
            </a:r>
            <a:r>
              <a:rPr lang="en-US" altLang="ko-KR" dirty="0" smtClean="0">
                <a:ea typeface="+mn-lt"/>
                <a:cs typeface="+mn-lt"/>
                <a:sym typeface="Wingdings" panose="05000000000000000000" pitchFamily="2" charset="2"/>
              </a:rPr>
              <a:t>, </a:t>
            </a:r>
            <a:r>
              <a:rPr lang="en-US" altLang="ko-KR" dirty="0" err="1" smtClean="0">
                <a:ea typeface="+mn-lt"/>
                <a:cs typeface="+mn-lt"/>
                <a:sym typeface="Wingdings" panose="05000000000000000000" pitchFamily="2" charset="2"/>
              </a:rPr>
              <a:t>fdisk</a:t>
            </a:r>
            <a:r>
              <a:rPr lang="en-US" altLang="ko-KR" dirty="0">
                <a:ea typeface="+mn-lt"/>
                <a:cs typeface="+mn-lt"/>
                <a:sym typeface="Wingdings" panose="05000000000000000000" pitchFamily="2" charset="2"/>
              </a:rPr>
              <a:t> </a:t>
            </a:r>
            <a:r>
              <a:rPr lang="ko-KR" altLang="en-US" dirty="0" smtClean="0">
                <a:ea typeface="+mn-lt"/>
                <a:cs typeface="+mn-lt"/>
                <a:sym typeface="Wingdings" panose="05000000000000000000" pitchFamily="2" charset="2"/>
              </a:rPr>
              <a:t>등</a:t>
            </a:r>
            <a:endParaRPr lang="en-US" altLang="ko-KR" dirty="0">
              <a:ea typeface="+mn-lt"/>
              <a:cs typeface="+mn-lt"/>
              <a:sym typeface="Wingdings" panose="05000000000000000000" pitchFamily="2" charset="2"/>
            </a:endParaRPr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AAADDE90-C7EC-8541-9CB0-DCC0DDEB31D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dirty="0"/>
              <a:t>/usr/sbin</a:t>
            </a:r>
            <a:endParaRPr lang="ko-KR" dirty="0"/>
          </a:p>
        </p:txBody>
      </p:sp>
    </p:spTree>
    <p:extLst>
      <p:ext uri="{BB962C8B-B14F-4D97-AF65-F5344CB8AC3E}">
        <p14:creationId xmlns:p14="http://schemas.microsoft.com/office/powerpoint/2010/main" val="11848452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내용 개체 틀 2">
            <a:extLst>
              <a:ext uri="{FF2B5EF4-FFF2-40B4-BE49-F238E27FC236}">
                <a16:creationId xmlns:a16="http://schemas.microsoft.com/office/drawing/2014/main" id="{FFD8B260-E198-4EAA-97E5-5ABB8817F61B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76609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dirty="0" smtClean="0">
                <a:ea typeface="+mn-lt"/>
                <a:cs typeface="+mn-lt"/>
                <a:sym typeface="Wingdings" panose="05000000000000000000" pitchFamily="2" charset="2"/>
              </a:rPr>
              <a:t>C, C++ </a:t>
            </a:r>
            <a:r>
              <a:rPr lang="ko-KR" altLang="en-US" dirty="0">
                <a:ea typeface="+mn-lt"/>
                <a:cs typeface="+mn-lt"/>
                <a:sym typeface="Wingdings" panose="05000000000000000000" pitchFamily="2" charset="2"/>
              </a:rPr>
              <a:t>프로그램에서</a:t>
            </a:r>
            <a:r>
              <a:rPr lang="en-US" altLang="ko-KR" dirty="0">
                <a:ea typeface="+mn-lt"/>
                <a:cs typeface="+mn-lt"/>
                <a:sym typeface="Wingdings" panose="05000000000000000000" pitchFamily="2" charset="2"/>
              </a:rPr>
              <a:t> </a:t>
            </a:r>
            <a:r>
              <a:rPr lang="ko-KR" altLang="en-US" dirty="0">
                <a:ea typeface="+mn-lt"/>
                <a:cs typeface="+mn-lt"/>
                <a:sym typeface="Wingdings" panose="05000000000000000000" pitchFamily="2" charset="2"/>
              </a:rPr>
              <a:t>필요한</a:t>
            </a:r>
            <a:r>
              <a:rPr lang="en-US" altLang="ko-KR" dirty="0">
                <a:ea typeface="+mn-lt"/>
                <a:cs typeface="+mn-lt"/>
                <a:sym typeface="Wingdings" panose="05000000000000000000" pitchFamily="2" charset="2"/>
              </a:rPr>
              <a:t> </a:t>
            </a:r>
            <a:r>
              <a:rPr lang="ko-KR" altLang="en-US" dirty="0">
                <a:ea typeface="+mn-lt"/>
                <a:cs typeface="+mn-lt"/>
                <a:sym typeface="Wingdings" panose="05000000000000000000" pitchFamily="2" charset="2"/>
              </a:rPr>
              <a:t>헤더</a:t>
            </a:r>
            <a:r>
              <a:rPr lang="en-US" altLang="ko-KR" dirty="0">
                <a:ea typeface="+mn-lt"/>
                <a:cs typeface="+mn-lt"/>
                <a:sym typeface="Wingdings" panose="05000000000000000000" pitchFamily="2" charset="2"/>
              </a:rPr>
              <a:t> </a:t>
            </a:r>
            <a:r>
              <a:rPr lang="ko-KR" altLang="en-US" dirty="0">
                <a:ea typeface="+mn-lt"/>
                <a:cs typeface="+mn-lt"/>
                <a:sym typeface="Wingdings" panose="05000000000000000000" pitchFamily="2" charset="2"/>
              </a:rPr>
              <a:t>파일</a:t>
            </a:r>
            <a:r>
              <a:rPr lang="en-US" altLang="ko-KR" dirty="0">
                <a:ea typeface="+mn-lt"/>
                <a:cs typeface="+mn-lt"/>
                <a:sym typeface="Wingdings" panose="05000000000000000000" pitchFamily="2" charset="2"/>
              </a:rPr>
              <a:t> (*.h)</a:t>
            </a:r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AAADDE90-C7EC-8541-9CB0-DCC0DDEB31D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dirty="0"/>
              <a:t>/usr/include</a:t>
            </a:r>
            <a:endParaRPr lang="ko-KR" dirty="0"/>
          </a:p>
        </p:txBody>
      </p:sp>
    </p:spTree>
    <p:extLst>
      <p:ext uri="{BB962C8B-B14F-4D97-AF65-F5344CB8AC3E}">
        <p14:creationId xmlns:p14="http://schemas.microsoft.com/office/powerpoint/2010/main" val="12741630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내용 개체 틀 2">
            <a:extLst>
              <a:ext uri="{FF2B5EF4-FFF2-40B4-BE49-F238E27FC236}">
                <a16:creationId xmlns:a16="http://schemas.microsoft.com/office/drawing/2014/main" id="{FFD8B260-E198-4EAA-97E5-5ABB8817F61B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76609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dirty="0">
                <a:ea typeface="+mn-lt"/>
                <a:cs typeface="+mn-lt"/>
                <a:sym typeface="Wingdings" panose="05000000000000000000" pitchFamily="2" charset="2"/>
              </a:rPr>
              <a:t>커널</a:t>
            </a:r>
            <a:r>
              <a:rPr lang="en-US" altLang="ko-KR" dirty="0">
                <a:ea typeface="+mn-lt"/>
                <a:cs typeface="+mn-lt"/>
                <a:sym typeface="Wingdings" panose="05000000000000000000" pitchFamily="2" charset="2"/>
              </a:rPr>
              <a:t> </a:t>
            </a:r>
            <a:r>
              <a:rPr lang="ko-KR" altLang="en-US" dirty="0">
                <a:ea typeface="+mn-lt"/>
                <a:cs typeface="+mn-lt"/>
                <a:sym typeface="Wingdings" panose="05000000000000000000" pitchFamily="2" charset="2"/>
              </a:rPr>
              <a:t>모듈</a:t>
            </a:r>
            <a:r>
              <a:rPr lang="en-US" altLang="ko-KR" dirty="0">
                <a:ea typeface="+mn-lt"/>
                <a:cs typeface="+mn-lt"/>
                <a:sym typeface="Wingdings" panose="05000000000000000000" pitchFamily="2" charset="2"/>
              </a:rPr>
              <a:t> </a:t>
            </a:r>
            <a:r>
              <a:rPr lang="ko-KR" altLang="en-US" dirty="0">
                <a:ea typeface="+mn-lt"/>
                <a:cs typeface="+mn-lt"/>
                <a:sym typeface="Wingdings" panose="05000000000000000000" pitchFamily="2" charset="2"/>
              </a:rPr>
              <a:t>또는</a:t>
            </a:r>
            <a:r>
              <a:rPr lang="en-US" altLang="ko-KR" dirty="0">
                <a:ea typeface="+mn-lt"/>
                <a:cs typeface="+mn-lt"/>
                <a:sym typeface="Wingdings" panose="05000000000000000000" pitchFamily="2" charset="2"/>
              </a:rPr>
              <a:t> </a:t>
            </a:r>
            <a:r>
              <a:rPr lang="ko-KR" altLang="en-US" dirty="0">
                <a:ea typeface="+mn-lt"/>
                <a:cs typeface="+mn-lt"/>
                <a:sym typeface="Wingdings" panose="05000000000000000000" pitchFamily="2" charset="2"/>
              </a:rPr>
              <a:t>사용자</a:t>
            </a:r>
            <a:r>
              <a:rPr lang="en-US" altLang="ko-KR" dirty="0">
                <a:ea typeface="+mn-lt"/>
                <a:cs typeface="+mn-lt"/>
                <a:sym typeface="Wingdings" panose="05000000000000000000" pitchFamily="2" charset="2"/>
              </a:rPr>
              <a:t> </a:t>
            </a:r>
            <a:r>
              <a:rPr lang="ko-KR" altLang="en-US" dirty="0">
                <a:ea typeface="+mn-lt"/>
                <a:cs typeface="+mn-lt"/>
                <a:sym typeface="Wingdings" panose="05000000000000000000" pitchFamily="2" charset="2"/>
              </a:rPr>
              <a:t>프로그램에서</a:t>
            </a:r>
            <a:r>
              <a:rPr lang="en-US" altLang="ko-KR" dirty="0">
                <a:ea typeface="+mn-lt"/>
                <a:cs typeface="+mn-lt"/>
                <a:sym typeface="Wingdings" panose="05000000000000000000" pitchFamily="2" charset="2"/>
              </a:rPr>
              <a:t> </a:t>
            </a:r>
            <a:r>
              <a:rPr lang="ko-KR" altLang="en-US" dirty="0">
                <a:ea typeface="+mn-lt"/>
                <a:cs typeface="+mn-lt"/>
                <a:sym typeface="Wingdings" panose="05000000000000000000" pitchFamily="2" charset="2"/>
              </a:rPr>
              <a:t>필요한</a:t>
            </a:r>
            <a:r>
              <a:rPr lang="en-US" altLang="ko-KR" dirty="0">
                <a:ea typeface="+mn-lt"/>
                <a:cs typeface="+mn-lt"/>
                <a:sym typeface="Wingdings" panose="05000000000000000000" pitchFamily="2" charset="2"/>
              </a:rPr>
              <a:t> </a:t>
            </a:r>
            <a:r>
              <a:rPr lang="ko-KR" altLang="en-US" dirty="0">
                <a:ea typeface="+mn-lt"/>
                <a:cs typeface="+mn-lt"/>
                <a:sym typeface="Wingdings" panose="05000000000000000000" pitchFamily="2" charset="2"/>
              </a:rPr>
              <a:t>라이브러리</a:t>
            </a:r>
            <a:r>
              <a:rPr lang="en-US" altLang="ko-KR" dirty="0">
                <a:ea typeface="+mn-lt"/>
                <a:cs typeface="+mn-lt"/>
                <a:sym typeface="Wingdings" panose="05000000000000000000" pitchFamily="2" charset="2"/>
              </a:rPr>
              <a:t> </a:t>
            </a:r>
            <a:r>
              <a:rPr lang="ko-KR" altLang="en-US" dirty="0" smtClean="0">
                <a:ea typeface="+mn-lt"/>
                <a:cs typeface="+mn-lt"/>
                <a:sym typeface="Wingdings" panose="05000000000000000000" pitchFamily="2" charset="2"/>
              </a:rPr>
              <a:t>파일</a:t>
            </a:r>
            <a:endParaRPr lang="en-US" altLang="ko-KR" dirty="0" smtClean="0">
              <a:ea typeface="+mn-lt"/>
              <a:cs typeface="+mn-lt"/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US" altLang="ko-KR" dirty="0">
              <a:ea typeface="+mn-lt"/>
              <a:cs typeface="+mn-lt"/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ko-KR" altLang="en-US" dirty="0" smtClean="0">
                <a:ea typeface="+mn-lt"/>
                <a:cs typeface="+mn-lt"/>
                <a:sym typeface="Wingdings" panose="05000000000000000000" pitchFamily="2" charset="2"/>
              </a:rPr>
              <a:t>주로 </a:t>
            </a:r>
            <a:r>
              <a:rPr lang="en-US" altLang="ko-KR" dirty="0" smtClean="0">
                <a:ea typeface="+mn-lt"/>
                <a:cs typeface="+mn-lt"/>
                <a:sym typeface="Wingdings" panose="05000000000000000000" pitchFamily="2" charset="2"/>
              </a:rPr>
              <a:t>.so </a:t>
            </a:r>
            <a:r>
              <a:rPr lang="ko-KR" altLang="en-US" dirty="0" smtClean="0">
                <a:ea typeface="+mn-lt"/>
                <a:cs typeface="+mn-lt"/>
                <a:sym typeface="Wingdings" panose="05000000000000000000" pitchFamily="2" charset="2"/>
              </a:rPr>
              <a:t>파일인 동적 라이브러리 파일이 위치한다</a:t>
            </a:r>
            <a:r>
              <a:rPr lang="en-US" altLang="ko-KR" dirty="0" smtClean="0">
                <a:ea typeface="+mn-lt"/>
                <a:cs typeface="+mn-lt"/>
                <a:sym typeface="Wingdings" panose="05000000000000000000" pitchFamily="2" charset="2"/>
              </a:rPr>
              <a:t>.</a:t>
            </a:r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AAADDE90-C7EC-8541-9CB0-DCC0DDEB31D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dirty="0"/>
              <a:t>/</a:t>
            </a:r>
            <a:r>
              <a:rPr lang="en-US" altLang="ko-KR" dirty="0" err="1" smtClean="0"/>
              <a:t>usr</a:t>
            </a:r>
            <a:r>
              <a:rPr lang="en-US" altLang="ko-KR" dirty="0" smtClean="0"/>
              <a:t>/lib, </a:t>
            </a:r>
            <a:r>
              <a:rPr lang="en-US" altLang="ko-KR" dirty="0"/>
              <a:t>/usr/lib64</a:t>
            </a:r>
            <a:endParaRPr lang="ko-KR" dirty="0"/>
          </a:p>
        </p:txBody>
      </p:sp>
    </p:spTree>
    <p:extLst>
      <p:ext uri="{BB962C8B-B14F-4D97-AF65-F5344CB8AC3E}">
        <p14:creationId xmlns:p14="http://schemas.microsoft.com/office/powerpoint/2010/main" val="32508342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내용 개체 틀 2">
            <a:extLst>
              <a:ext uri="{FF2B5EF4-FFF2-40B4-BE49-F238E27FC236}">
                <a16:creationId xmlns:a16="http://schemas.microsoft.com/office/drawing/2014/main" id="{FFD8B260-E198-4EAA-97E5-5ABB8817F61B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76609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dirty="0" smtClean="0">
                <a:ea typeface="+mn-lt"/>
                <a:cs typeface="+mn-lt"/>
                <a:sym typeface="Wingdings" panose="05000000000000000000" pitchFamily="2" charset="2"/>
              </a:rPr>
              <a:t>패키지 매니저에 의해 설치되지 않고</a:t>
            </a:r>
            <a:endParaRPr lang="en-US" altLang="ko-KR" dirty="0" smtClean="0">
              <a:ea typeface="+mn-lt"/>
              <a:cs typeface="+mn-lt"/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ko-KR" altLang="en-US" dirty="0" smtClean="0">
                <a:ea typeface="+mn-lt"/>
                <a:cs typeface="+mn-lt"/>
                <a:sym typeface="Wingdings" panose="05000000000000000000" pitchFamily="2" charset="2"/>
              </a:rPr>
              <a:t>사용자가 직접 컴파일</a:t>
            </a:r>
            <a:r>
              <a:rPr lang="en-US" altLang="ko-KR" dirty="0" smtClean="0">
                <a:ea typeface="+mn-lt"/>
                <a:cs typeface="+mn-lt"/>
                <a:sym typeface="Wingdings" panose="05000000000000000000" pitchFamily="2" charset="2"/>
              </a:rPr>
              <a:t>/</a:t>
            </a:r>
            <a:r>
              <a:rPr lang="ko-KR" altLang="en-US" dirty="0" smtClean="0">
                <a:ea typeface="+mn-lt"/>
                <a:cs typeface="+mn-lt"/>
                <a:sym typeface="Wingdings" panose="05000000000000000000" pitchFamily="2" charset="2"/>
              </a:rPr>
              <a:t>빌드하여 수동설치 한 경우에</a:t>
            </a:r>
            <a:endParaRPr lang="en-US" altLang="ko-KR" dirty="0" smtClean="0">
              <a:ea typeface="+mn-lt"/>
              <a:cs typeface="+mn-lt"/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altLang="ko-KR" dirty="0" smtClean="0">
                <a:ea typeface="+mn-lt"/>
                <a:cs typeface="+mn-lt"/>
                <a:sym typeface="Wingdings" panose="05000000000000000000" pitchFamily="2" charset="2"/>
              </a:rPr>
              <a:t>/</a:t>
            </a:r>
            <a:r>
              <a:rPr lang="en-US" altLang="ko-KR" dirty="0" err="1" smtClean="0">
                <a:ea typeface="+mn-lt"/>
                <a:cs typeface="+mn-lt"/>
                <a:sym typeface="Wingdings" panose="05000000000000000000" pitchFamily="2" charset="2"/>
              </a:rPr>
              <a:t>usr</a:t>
            </a:r>
            <a:r>
              <a:rPr lang="en-US" altLang="ko-KR" dirty="0" smtClean="0">
                <a:ea typeface="+mn-lt"/>
                <a:cs typeface="+mn-lt"/>
                <a:sym typeface="Wingdings" panose="05000000000000000000" pitchFamily="2" charset="2"/>
              </a:rPr>
              <a:t>/local </a:t>
            </a:r>
            <a:r>
              <a:rPr lang="ko-KR" altLang="en-US" dirty="0" smtClean="0">
                <a:ea typeface="+mn-lt"/>
                <a:cs typeface="+mn-lt"/>
                <a:sym typeface="Wingdings" panose="05000000000000000000" pitchFamily="2" charset="2"/>
              </a:rPr>
              <a:t>에 위치하도록 되어있다</a:t>
            </a:r>
            <a:r>
              <a:rPr lang="en-US" altLang="ko-KR" dirty="0" smtClean="0">
                <a:ea typeface="+mn-lt"/>
                <a:cs typeface="+mn-lt"/>
                <a:sym typeface="Wingdings" panose="05000000000000000000" pitchFamily="2" charset="2"/>
              </a:rPr>
              <a:t>.</a:t>
            </a:r>
          </a:p>
          <a:p>
            <a:pPr marL="0" indent="0">
              <a:buNone/>
            </a:pPr>
            <a:endParaRPr lang="en-US" altLang="ko-KR" dirty="0">
              <a:ea typeface="+mn-lt"/>
              <a:cs typeface="+mn-lt"/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altLang="ko-KR" dirty="0" smtClean="0">
                <a:ea typeface="+mn-lt"/>
                <a:cs typeface="+mn-lt"/>
                <a:sym typeface="Wingdings" panose="05000000000000000000" pitchFamily="2" charset="2"/>
              </a:rPr>
              <a:t>/bin, /</a:t>
            </a:r>
            <a:r>
              <a:rPr lang="en-US" altLang="ko-KR" dirty="0" err="1" smtClean="0">
                <a:ea typeface="+mn-lt"/>
                <a:cs typeface="+mn-lt"/>
                <a:sym typeface="Wingdings" panose="05000000000000000000" pitchFamily="2" charset="2"/>
              </a:rPr>
              <a:t>sbin</a:t>
            </a:r>
            <a:r>
              <a:rPr lang="en-US" altLang="ko-KR" dirty="0" smtClean="0">
                <a:ea typeface="+mn-lt"/>
                <a:cs typeface="+mn-lt"/>
                <a:sym typeface="Wingdings" panose="05000000000000000000" pitchFamily="2" charset="2"/>
              </a:rPr>
              <a:t> </a:t>
            </a:r>
            <a:r>
              <a:rPr lang="ko-KR" altLang="en-US" dirty="0" smtClean="0">
                <a:ea typeface="+mn-lt"/>
                <a:cs typeface="+mn-lt"/>
                <a:sym typeface="Wingdings" panose="05000000000000000000" pitchFamily="2" charset="2"/>
              </a:rPr>
              <a:t>과 같은 경우에는</a:t>
            </a:r>
            <a:r>
              <a:rPr lang="en-US" altLang="ko-KR" dirty="0">
                <a:ea typeface="+mn-lt"/>
                <a:cs typeface="+mn-lt"/>
                <a:sym typeface="Wingdings" panose="05000000000000000000" pitchFamily="2" charset="2"/>
              </a:rPr>
              <a:t> </a:t>
            </a:r>
            <a:r>
              <a:rPr lang="ko-KR" altLang="en-US" dirty="0" smtClean="0">
                <a:ea typeface="+mn-lt"/>
                <a:cs typeface="+mn-lt"/>
                <a:sym typeface="Wingdings" panose="05000000000000000000" pitchFamily="2" charset="2"/>
              </a:rPr>
              <a:t>패키지 매니저가 업그레이드</a:t>
            </a:r>
            <a:r>
              <a:rPr lang="en-US" altLang="ko-KR" dirty="0" smtClean="0">
                <a:ea typeface="+mn-lt"/>
                <a:cs typeface="+mn-lt"/>
                <a:sym typeface="Wingdings" panose="05000000000000000000" pitchFamily="2" charset="2"/>
              </a:rPr>
              <a:t>, </a:t>
            </a:r>
            <a:r>
              <a:rPr lang="ko-KR" altLang="en-US" dirty="0" smtClean="0">
                <a:ea typeface="+mn-lt"/>
                <a:cs typeface="+mn-lt"/>
                <a:sym typeface="Wingdings" panose="05000000000000000000" pitchFamily="2" charset="2"/>
              </a:rPr>
              <a:t>설치하여 관리되는 프로그램들만 들어가게 된다</a:t>
            </a:r>
            <a:r>
              <a:rPr lang="en-US" altLang="ko-KR" dirty="0" smtClean="0">
                <a:ea typeface="+mn-lt"/>
                <a:cs typeface="+mn-lt"/>
                <a:sym typeface="Wingdings" panose="05000000000000000000" pitchFamily="2" charset="2"/>
              </a:rPr>
              <a:t>.</a:t>
            </a:r>
          </a:p>
          <a:p>
            <a:pPr marL="0" indent="0">
              <a:buNone/>
            </a:pPr>
            <a:endParaRPr lang="en-US" altLang="ko-KR" dirty="0">
              <a:ea typeface="+mn-lt"/>
              <a:cs typeface="+mn-lt"/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US" altLang="ko-KR" dirty="0">
              <a:ea typeface="+mn-lt"/>
              <a:cs typeface="+mn-lt"/>
              <a:sym typeface="Wingdings" panose="05000000000000000000" pitchFamily="2" charset="2"/>
            </a:endParaRPr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AAADDE90-C7EC-8541-9CB0-DCC0DDEB31D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dirty="0"/>
              <a:t>/</a:t>
            </a:r>
            <a:r>
              <a:rPr lang="en-US" altLang="ko-KR" dirty="0" err="1" smtClean="0"/>
              <a:t>usr</a:t>
            </a:r>
            <a:r>
              <a:rPr lang="en-US" altLang="ko-KR" dirty="0" smtClean="0"/>
              <a:t>/local</a:t>
            </a:r>
            <a:endParaRPr lang="ko-KR" dirty="0"/>
          </a:p>
        </p:txBody>
      </p:sp>
    </p:spTree>
    <p:extLst>
      <p:ext uri="{BB962C8B-B14F-4D97-AF65-F5344CB8AC3E}">
        <p14:creationId xmlns:p14="http://schemas.microsoft.com/office/powerpoint/2010/main" val="19830116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내용 개체 틀 2">
            <a:extLst>
              <a:ext uri="{FF2B5EF4-FFF2-40B4-BE49-F238E27FC236}">
                <a16:creationId xmlns:a16="http://schemas.microsoft.com/office/drawing/2014/main" id="{FFD8B260-E198-4EAA-97E5-5ABB8817F61B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76609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dirty="0" smtClean="0">
                <a:ea typeface="+mn-lt"/>
                <a:cs typeface="+mn-lt"/>
                <a:sym typeface="Wingdings" panose="05000000000000000000" pitchFamily="2" charset="2"/>
              </a:rPr>
              <a:t>시스템</a:t>
            </a:r>
            <a:r>
              <a:rPr lang="en-US" altLang="ko-KR" dirty="0" smtClean="0">
                <a:ea typeface="+mn-lt"/>
                <a:cs typeface="+mn-lt"/>
                <a:sym typeface="Wingdings" panose="05000000000000000000" pitchFamily="2" charset="2"/>
              </a:rPr>
              <a:t>, </a:t>
            </a:r>
            <a:r>
              <a:rPr lang="ko-KR" altLang="en-US" dirty="0" smtClean="0">
                <a:ea typeface="+mn-lt"/>
                <a:cs typeface="+mn-lt"/>
                <a:sym typeface="Wingdings" panose="05000000000000000000" pitchFamily="2" charset="2"/>
              </a:rPr>
              <a:t>사용자 모두가 사용할 수 있는 파일을 저장</a:t>
            </a:r>
            <a:endParaRPr lang="en-US" altLang="ko-KR" dirty="0" smtClean="0">
              <a:ea typeface="+mn-lt"/>
              <a:cs typeface="+mn-lt"/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US" altLang="ko-KR" dirty="0">
              <a:ea typeface="+mn-lt"/>
              <a:cs typeface="+mn-lt"/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US" altLang="ko-KR" dirty="0">
              <a:ea typeface="+mn-lt"/>
              <a:cs typeface="+mn-lt"/>
              <a:sym typeface="Wingdings" panose="05000000000000000000" pitchFamily="2" charset="2"/>
            </a:endParaRPr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AAADDE90-C7EC-8541-9CB0-DCC0DDEB31D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dirty="0"/>
              <a:t>/</a:t>
            </a:r>
            <a:r>
              <a:rPr lang="en-US" altLang="ko-KR" dirty="0" err="1" smtClean="0"/>
              <a:t>usr</a:t>
            </a:r>
            <a:r>
              <a:rPr lang="en-US" altLang="ko-KR" dirty="0" smtClean="0"/>
              <a:t>/share</a:t>
            </a:r>
            <a:endParaRPr lang="ko-KR" dirty="0"/>
          </a:p>
        </p:txBody>
      </p:sp>
    </p:spTree>
    <p:extLst>
      <p:ext uri="{BB962C8B-B14F-4D97-AF65-F5344CB8AC3E}">
        <p14:creationId xmlns:p14="http://schemas.microsoft.com/office/powerpoint/2010/main" val="38430998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>
            <a:extLst>
              <a:ext uri="{FF2B5EF4-FFF2-40B4-BE49-F238E27FC236}">
                <a16:creationId xmlns:a16="http://schemas.microsoft.com/office/drawing/2014/main" id="{73388DF1-2BF6-4D3C-A3DE-E2A9935E82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1116" y="710571"/>
            <a:ext cx="9649767" cy="4052762"/>
          </a:xfrm>
          <a:prstGeom prst="rect">
            <a:avLst/>
          </a:prstGeom>
        </p:spPr>
      </p:pic>
      <p:sp>
        <p:nvSpPr>
          <p:cNvPr id="2" name="타원 1">
            <a:extLst>
              <a:ext uri="{FF2B5EF4-FFF2-40B4-BE49-F238E27FC236}">
                <a16:creationId xmlns:a16="http://schemas.microsoft.com/office/drawing/2014/main" id="{A08542B0-B931-4C79-B278-F87913DD1043}"/>
              </a:ext>
            </a:extLst>
          </p:cNvPr>
          <p:cNvSpPr/>
          <p:nvPr/>
        </p:nvSpPr>
        <p:spPr>
          <a:xfrm>
            <a:off x="7639678" y="2351313"/>
            <a:ext cx="994787" cy="994787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C3912B1-7103-41FC-A831-C8984FC4E2D9}"/>
              </a:ext>
            </a:extLst>
          </p:cNvPr>
          <p:cNvSpPr txBox="1"/>
          <p:nvPr/>
        </p:nvSpPr>
        <p:spPr>
          <a:xfrm>
            <a:off x="958779" y="4347987"/>
            <a:ext cx="1027444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 smtClean="0"/>
              <a:t>부트 때부터 작동하는 시스템에 대한 정보</a:t>
            </a:r>
            <a:r>
              <a:rPr lang="en-US" altLang="ko-KR" sz="2400" dirty="0" smtClean="0"/>
              <a:t>,</a:t>
            </a:r>
          </a:p>
          <a:p>
            <a:pPr>
              <a:lnSpc>
                <a:spcPct val="150000"/>
              </a:lnSpc>
            </a:pPr>
            <a:r>
              <a:rPr lang="ko-KR" altLang="en-US" sz="2400" dirty="0" smtClean="0"/>
              <a:t>현재 로그인 정보나 작동하고 있는 </a:t>
            </a:r>
            <a:r>
              <a:rPr lang="ko-KR" altLang="en-US" sz="2400" dirty="0" err="1" smtClean="0"/>
              <a:t>데몬의</a:t>
            </a:r>
            <a:r>
              <a:rPr lang="ko-KR" altLang="en-US" sz="2400" dirty="0" smtClean="0"/>
              <a:t> 정보</a:t>
            </a:r>
            <a:r>
              <a:rPr lang="en-US" altLang="ko-KR" sz="2400" dirty="0" smtClean="0"/>
              <a:t>,</a:t>
            </a:r>
          </a:p>
          <a:p>
            <a:pPr>
              <a:lnSpc>
                <a:spcPct val="150000"/>
              </a:lnSpc>
            </a:pPr>
            <a:r>
              <a:rPr lang="ko-KR" altLang="en-US" sz="2400" dirty="0" smtClean="0"/>
              <a:t>프로세스 이름</a:t>
            </a:r>
            <a:r>
              <a:rPr lang="en-US" altLang="ko-KR" sz="2400" dirty="0" smtClean="0"/>
              <a:t>.</a:t>
            </a:r>
            <a:r>
              <a:rPr lang="en-US" altLang="ko-KR" sz="2400" dirty="0" err="1" smtClean="0"/>
              <a:t>pid</a:t>
            </a:r>
            <a:r>
              <a:rPr lang="en-US" altLang="ko-KR" sz="2400" dirty="0" smtClean="0"/>
              <a:t> </a:t>
            </a:r>
            <a:r>
              <a:rPr lang="ko-KR" altLang="en-US" sz="2400" dirty="0" smtClean="0"/>
              <a:t>형식의 파일로 </a:t>
            </a:r>
            <a:r>
              <a:rPr lang="en-US" altLang="ko-KR" sz="2400" dirty="0" smtClean="0"/>
              <a:t>PID </a:t>
            </a:r>
            <a:r>
              <a:rPr lang="ko-KR" altLang="en-US" sz="2400" dirty="0" smtClean="0"/>
              <a:t>자체를 저장하는 등의</a:t>
            </a:r>
            <a:r>
              <a:rPr lang="en-US" altLang="ko-KR" sz="2400" dirty="0"/>
              <a:t> </a:t>
            </a:r>
            <a:r>
              <a:rPr lang="ko-KR" altLang="en-US" sz="2400" dirty="0" smtClean="0"/>
              <a:t>용도로 사용</a:t>
            </a:r>
            <a:endParaRPr lang="en-US" altLang="ko-KR" sz="2400" dirty="0" smtClean="0"/>
          </a:p>
        </p:txBody>
      </p:sp>
    </p:spTree>
    <p:extLst>
      <p:ext uri="{BB962C8B-B14F-4D97-AF65-F5344CB8AC3E}">
        <p14:creationId xmlns:p14="http://schemas.microsoft.com/office/powerpoint/2010/main" val="20571326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>
            <a:extLst>
              <a:ext uri="{FF2B5EF4-FFF2-40B4-BE49-F238E27FC236}">
                <a16:creationId xmlns:a16="http://schemas.microsoft.com/office/drawing/2014/main" id="{73388DF1-2BF6-4D3C-A3DE-E2A9935E82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1116" y="710571"/>
            <a:ext cx="9649767" cy="4052762"/>
          </a:xfrm>
          <a:prstGeom prst="rect">
            <a:avLst/>
          </a:prstGeom>
        </p:spPr>
      </p:pic>
      <p:sp>
        <p:nvSpPr>
          <p:cNvPr id="2" name="타원 1">
            <a:extLst>
              <a:ext uri="{FF2B5EF4-FFF2-40B4-BE49-F238E27FC236}">
                <a16:creationId xmlns:a16="http://schemas.microsoft.com/office/drawing/2014/main" id="{A08542B0-B931-4C79-B278-F87913DD1043}"/>
              </a:ext>
            </a:extLst>
          </p:cNvPr>
          <p:cNvSpPr/>
          <p:nvPr/>
        </p:nvSpPr>
        <p:spPr>
          <a:xfrm>
            <a:off x="8387025" y="2351313"/>
            <a:ext cx="994787" cy="994787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C3912B1-7103-41FC-A831-C8984FC4E2D9}"/>
              </a:ext>
            </a:extLst>
          </p:cNvPr>
          <p:cNvSpPr txBox="1"/>
          <p:nvPr/>
        </p:nvSpPr>
        <p:spPr>
          <a:xfrm>
            <a:off x="958779" y="4422360"/>
            <a:ext cx="10274440" cy="11289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 smtClean="0"/>
              <a:t>임시 파일이 필요한 프로그램이 사용할 수 있는 디렉터리이다</a:t>
            </a:r>
            <a:r>
              <a:rPr lang="en-US" altLang="ko-KR" sz="2400" dirty="0" smtClean="0"/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2400" dirty="0" smtClean="0"/>
              <a:t>일반적으로는 재부팅 시 삭제되니 보존된다고 가정해서는 안 된다</a:t>
            </a:r>
            <a:r>
              <a:rPr lang="en-US" altLang="ko-KR" sz="2400" dirty="0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964304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>
            <a:extLst>
              <a:ext uri="{FF2B5EF4-FFF2-40B4-BE49-F238E27FC236}">
                <a16:creationId xmlns:a16="http://schemas.microsoft.com/office/drawing/2014/main" id="{73388DF1-2BF6-4D3C-A3DE-E2A9935E82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1116" y="710571"/>
            <a:ext cx="9649767" cy="4052762"/>
          </a:xfrm>
          <a:prstGeom prst="rect">
            <a:avLst/>
          </a:prstGeom>
        </p:spPr>
      </p:pic>
      <p:sp>
        <p:nvSpPr>
          <p:cNvPr id="2" name="타원 1">
            <a:extLst>
              <a:ext uri="{FF2B5EF4-FFF2-40B4-BE49-F238E27FC236}">
                <a16:creationId xmlns:a16="http://schemas.microsoft.com/office/drawing/2014/main" id="{A08542B0-B931-4C79-B278-F87913DD1043}"/>
              </a:ext>
            </a:extLst>
          </p:cNvPr>
          <p:cNvSpPr/>
          <p:nvPr/>
        </p:nvSpPr>
        <p:spPr>
          <a:xfrm>
            <a:off x="9143164" y="2351313"/>
            <a:ext cx="994787" cy="994787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C3912B1-7103-41FC-A831-C8984FC4E2D9}"/>
              </a:ext>
            </a:extLst>
          </p:cNvPr>
          <p:cNvSpPr txBox="1"/>
          <p:nvPr/>
        </p:nvSpPr>
        <p:spPr>
          <a:xfrm>
            <a:off x="958779" y="4468823"/>
            <a:ext cx="1027444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 smtClean="0"/>
              <a:t>주로 파일 시스템이나 장치를 마운트 할 때의 포인트를 </a:t>
            </a:r>
            <a:r>
              <a:rPr lang="en-US" altLang="ko-KR" sz="2400" dirty="0" smtClean="0"/>
              <a:t>/</a:t>
            </a:r>
            <a:r>
              <a:rPr lang="en-US" altLang="ko-KR" sz="2400" dirty="0" err="1" smtClean="0"/>
              <a:t>mnt</a:t>
            </a:r>
            <a:r>
              <a:rPr lang="en-US" altLang="ko-KR" sz="2400" dirty="0" smtClean="0"/>
              <a:t> </a:t>
            </a:r>
            <a:r>
              <a:rPr lang="ko-KR" altLang="en-US" sz="2400" dirty="0" smtClean="0"/>
              <a:t>로 권장한다</a:t>
            </a:r>
            <a:r>
              <a:rPr lang="en-US" altLang="ko-KR" sz="2400" dirty="0" smtClean="0"/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2400" dirty="0" smtClean="0"/>
              <a:t>2.3 </a:t>
            </a:r>
            <a:r>
              <a:rPr lang="ko-KR" altLang="en-US" sz="2400" dirty="0" smtClean="0"/>
              <a:t>버전 이후부터는 시스템 관리자가 필요한 경우에 임시로</a:t>
            </a:r>
            <a:r>
              <a:rPr lang="en-US" altLang="ko-KR" sz="2400" dirty="0" smtClean="0"/>
              <a:t> </a:t>
            </a:r>
            <a:r>
              <a:rPr lang="ko-KR" altLang="en-US" sz="2400" dirty="0" smtClean="0"/>
              <a:t>마운트 지점으로서 활용하라는 목적으로 변경되었다</a:t>
            </a:r>
            <a:r>
              <a:rPr lang="en-US" altLang="ko-KR" sz="2400" dirty="0" smtClean="0"/>
              <a:t>.</a:t>
            </a:r>
            <a:endParaRPr lang="en-US" altLang="ko-KR" sz="2400" dirty="0"/>
          </a:p>
        </p:txBody>
      </p:sp>
    </p:spTree>
    <p:extLst>
      <p:ext uri="{BB962C8B-B14F-4D97-AF65-F5344CB8AC3E}">
        <p14:creationId xmlns:p14="http://schemas.microsoft.com/office/powerpoint/2010/main" val="11850111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>
            <a:extLst>
              <a:ext uri="{FF2B5EF4-FFF2-40B4-BE49-F238E27FC236}">
                <a16:creationId xmlns:a16="http://schemas.microsoft.com/office/drawing/2014/main" id="{73388DF1-2BF6-4D3C-A3DE-E2A9935E82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1116" y="710571"/>
            <a:ext cx="9649767" cy="4052762"/>
          </a:xfrm>
          <a:prstGeom prst="rect">
            <a:avLst/>
          </a:prstGeom>
        </p:spPr>
      </p:pic>
      <p:sp>
        <p:nvSpPr>
          <p:cNvPr id="2" name="타원 1">
            <a:extLst>
              <a:ext uri="{FF2B5EF4-FFF2-40B4-BE49-F238E27FC236}">
                <a16:creationId xmlns:a16="http://schemas.microsoft.com/office/drawing/2014/main" id="{A08542B0-B931-4C79-B278-F87913DD1043}"/>
              </a:ext>
            </a:extLst>
          </p:cNvPr>
          <p:cNvSpPr/>
          <p:nvPr/>
        </p:nvSpPr>
        <p:spPr>
          <a:xfrm>
            <a:off x="9978434" y="2368897"/>
            <a:ext cx="994787" cy="994787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C3912B1-7103-41FC-A831-C8984FC4E2D9}"/>
              </a:ext>
            </a:extLst>
          </p:cNvPr>
          <p:cNvSpPr txBox="1"/>
          <p:nvPr/>
        </p:nvSpPr>
        <p:spPr>
          <a:xfrm>
            <a:off x="958779" y="4609500"/>
            <a:ext cx="1027444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 smtClean="0"/>
              <a:t>기본 설치된 프로그램이 아니라 추가적으로 설치된 프로그램</a:t>
            </a:r>
            <a:r>
              <a:rPr lang="en-US" altLang="ko-KR" sz="2400" dirty="0" smtClean="0"/>
              <a:t>(add-on)</a:t>
            </a:r>
            <a:r>
              <a:rPr lang="ko-KR" altLang="en-US" sz="2400" dirty="0" smtClean="0"/>
              <a:t>이 위치되어 관리되는 디렉터리다</a:t>
            </a:r>
            <a:r>
              <a:rPr lang="en-US" altLang="ko-KR" sz="2400" dirty="0" smtClean="0"/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2400" dirty="0" smtClean="0"/>
              <a:t>FHS </a:t>
            </a:r>
            <a:r>
              <a:rPr lang="ko-KR" altLang="en-US" sz="2400" dirty="0" smtClean="0"/>
              <a:t>를 준수하려면 모든 타사 응용프로그램이 </a:t>
            </a:r>
            <a:r>
              <a:rPr lang="en-US" altLang="ko-KR" sz="2400" dirty="0" smtClean="0"/>
              <a:t>/opt </a:t>
            </a:r>
            <a:r>
              <a:rPr lang="ko-KR" altLang="en-US" sz="2400" dirty="0" smtClean="0"/>
              <a:t>에 존재해야한다</a:t>
            </a:r>
            <a:r>
              <a:rPr lang="en-US" altLang="ko-KR" sz="2400" dirty="0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927678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파일 종류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smtClean="0"/>
              <a:t>- </a:t>
            </a:r>
            <a:r>
              <a:rPr lang="ko-KR" altLang="en-US" dirty="0" smtClean="0"/>
              <a:t>일반 파일</a:t>
            </a:r>
            <a:endParaRPr lang="en-US" altLang="ko-KR" dirty="0" smtClean="0"/>
          </a:p>
          <a:p>
            <a:r>
              <a:rPr lang="en-US" altLang="ko-KR" dirty="0" smtClean="0"/>
              <a:t>d </a:t>
            </a:r>
            <a:r>
              <a:rPr lang="ko-KR" altLang="en-US" dirty="0" smtClean="0"/>
              <a:t>디렉토리 파일</a:t>
            </a:r>
            <a:endParaRPr lang="en-US" altLang="ko-KR" dirty="0" smtClean="0"/>
          </a:p>
          <a:p>
            <a:r>
              <a:rPr lang="en-US" altLang="ko-KR" dirty="0"/>
              <a:t>b</a:t>
            </a:r>
            <a:r>
              <a:rPr lang="en-US" altLang="ko-KR" dirty="0" smtClean="0"/>
              <a:t> </a:t>
            </a:r>
            <a:r>
              <a:rPr lang="ko-KR" altLang="en-US" dirty="0" smtClean="0"/>
              <a:t>블록 디바이스 파일</a:t>
            </a:r>
            <a:endParaRPr lang="en-US" altLang="ko-KR" dirty="0" smtClean="0"/>
          </a:p>
          <a:p>
            <a:r>
              <a:rPr lang="en-US" altLang="ko-KR" dirty="0"/>
              <a:t>c</a:t>
            </a:r>
            <a:r>
              <a:rPr lang="en-US" altLang="ko-KR" dirty="0" smtClean="0"/>
              <a:t> </a:t>
            </a:r>
            <a:r>
              <a:rPr lang="ko-KR" altLang="en-US" dirty="0" smtClean="0"/>
              <a:t>문자 디바이스 파일</a:t>
            </a:r>
            <a:endParaRPr lang="en-US" altLang="ko-KR" dirty="0" smtClean="0"/>
          </a:p>
          <a:p>
            <a:r>
              <a:rPr lang="en-US" altLang="ko-KR" dirty="0"/>
              <a:t>l</a:t>
            </a:r>
            <a:r>
              <a:rPr lang="en-US" altLang="ko-KR" dirty="0" smtClean="0"/>
              <a:t> </a:t>
            </a:r>
            <a:r>
              <a:rPr lang="ko-KR" altLang="en-US" dirty="0" err="1" smtClean="0"/>
              <a:t>심볼릭</a:t>
            </a:r>
            <a:r>
              <a:rPr lang="ko-KR" altLang="en-US" dirty="0" smtClean="0"/>
              <a:t> 링크</a:t>
            </a:r>
            <a:endParaRPr lang="en-US" altLang="ko-KR" dirty="0" smtClean="0"/>
          </a:p>
          <a:p>
            <a:r>
              <a:rPr lang="en-US" altLang="ko-KR" dirty="0"/>
              <a:t>p</a:t>
            </a:r>
            <a:r>
              <a:rPr lang="en-US" altLang="ko-KR" dirty="0" smtClean="0"/>
              <a:t> </a:t>
            </a:r>
            <a:r>
              <a:rPr lang="ko-KR" altLang="en-US" dirty="0" smtClean="0"/>
              <a:t>파이프 파일</a:t>
            </a:r>
            <a:endParaRPr lang="en-US" altLang="ko-KR" dirty="0" smtClean="0"/>
          </a:p>
          <a:p>
            <a:r>
              <a:rPr lang="en-US" altLang="ko-KR" dirty="0"/>
              <a:t>s</a:t>
            </a:r>
            <a:r>
              <a:rPr lang="en-US" altLang="ko-KR" dirty="0" smtClean="0"/>
              <a:t> </a:t>
            </a:r>
            <a:r>
              <a:rPr lang="ko-KR" altLang="en-US" dirty="0" smtClean="0"/>
              <a:t>소켓 파일</a:t>
            </a:r>
            <a:endParaRPr lang="ko-KR" altLang="en-US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2100" y="4568703"/>
            <a:ext cx="5981700" cy="1495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65567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893</TotalTime>
  <Words>2127</Words>
  <Application>Microsoft Office PowerPoint</Application>
  <PresentationFormat>와이드스크린</PresentationFormat>
  <Paragraphs>442</Paragraphs>
  <Slides>46</Slides>
  <Notes>42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46</vt:i4>
      </vt:variant>
    </vt:vector>
  </HeadingPairs>
  <TitlesOfParts>
    <vt:vector size="52" baseType="lpstr">
      <vt:lpstr>맑은 고딕</vt:lpstr>
      <vt:lpstr>맑은 고딕</vt:lpstr>
      <vt:lpstr>Arial</vt:lpstr>
      <vt:lpstr>Calibri</vt:lpstr>
      <vt:lpstr>Wingdings</vt:lpstr>
      <vt:lpstr>Office 테마</vt:lpstr>
      <vt:lpstr>리눅스 시스템 이해</vt:lpstr>
      <vt:lpstr>운영체제란?</vt:lpstr>
      <vt:lpstr>리눅스의 역사</vt:lpstr>
      <vt:lpstr>리눅스 특징</vt:lpstr>
      <vt:lpstr>리눅스의 구조</vt:lpstr>
      <vt:lpstr>시스템 호출이란?</vt:lpstr>
      <vt:lpstr>시스템 호출의 유형과 종류</vt:lpstr>
      <vt:lpstr>시스템 호출의 흐름</vt:lpstr>
      <vt:lpstr>쉘의 종류</vt:lpstr>
      <vt:lpstr>쉘의 Job Control</vt:lpstr>
      <vt:lpstr>포그라운드, 백그라운드</vt:lpstr>
      <vt:lpstr>표준 입력, 표준 출력, 표준 에러</vt:lpstr>
      <vt:lpstr>리다이렉션</vt:lpstr>
      <vt:lpstr>파이프</vt:lpstr>
      <vt:lpstr>파일 디스크립터</vt:lpstr>
      <vt:lpstr>파일시스템 계층구조 표준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/dev</vt:lpstr>
      <vt:lpstr>/dev 장치 종류</vt:lpstr>
      <vt:lpstr>/dev 가상장치 종류</vt:lpstr>
      <vt:lpstr>/dev 가상장치 종류</vt:lpstr>
      <vt:lpstr>/dev 가상장치 종류</vt:lpstr>
      <vt:lpstr>/dev 가상장치 종류</vt:lpstr>
      <vt:lpstr>/dev 가상장치 종류</vt:lpstr>
      <vt:lpstr>PowerPoint 프레젠테이션</vt:lpstr>
      <vt:lpstr>PowerPoint 프레젠테이션</vt:lpstr>
      <vt:lpstr>/usr 이란?</vt:lpstr>
      <vt:lpstr>/usr 합병</vt:lpstr>
      <vt:lpstr>/usr/bin</vt:lpstr>
      <vt:lpstr>/usr/sbin</vt:lpstr>
      <vt:lpstr>/usr/include</vt:lpstr>
      <vt:lpstr>/usr/lib, /usr/lib64</vt:lpstr>
      <vt:lpstr>/usr/local</vt:lpstr>
      <vt:lpstr>/usr/share</vt:lpstr>
      <vt:lpstr>PowerPoint 프레젠테이션</vt:lpstr>
      <vt:lpstr>PowerPoint 프레젠테이션</vt:lpstr>
      <vt:lpstr>PowerPoint 프레젠테이션</vt:lpstr>
      <vt:lpstr>PowerPoint 프레젠테이션</vt:lpstr>
      <vt:lpstr>파일 종류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리눅스 시스템 이해</dc:title>
  <dc:creator>Windows 사용자</dc:creator>
  <cp:lastModifiedBy>Windows 사용자</cp:lastModifiedBy>
  <cp:revision>91</cp:revision>
  <dcterms:created xsi:type="dcterms:W3CDTF">2021-04-15T06:18:54Z</dcterms:created>
  <dcterms:modified xsi:type="dcterms:W3CDTF">2021-07-12T07:15:33Z</dcterms:modified>
</cp:coreProperties>
</file>